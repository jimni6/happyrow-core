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7" r:id="rId2"/>
  </p:sldMasterIdLst>
  <p:notesMasterIdLst>
    <p:notesMasterId r:id="rId66"/>
  </p:notesMasterIdLst>
  <p:handoutMasterIdLst>
    <p:handoutMasterId r:id="rId67"/>
  </p:handoutMasterIdLst>
  <p:sldIdLst>
    <p:sldId id="264"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 id="311" r:id="rId50"/>
    <p:sldId id="312" r:id="rId51"/>
    <p:sldId id="313" r:id="rId52"/>
    <p:sldId id="314" r:id="rId53"/>
    <p:sldId id="315" r:id="rId54"/>
    <p:sldId id="316" r:id="rId55"/>
    <p:sldId id="317" r:id="rId56"/>
    <p:sldId id="318" r:id="rId57"/>
    <p:sldId id="319" r:id="rId58"/>
    <p:sldId id="320" r:id="rId59"/>
    <p:sldId id="321" r:id="rId60"/>
    <p:sldId id="322" r:id="rId61"/>
    <p:sldId id="323" r:id="rId62"/>
    <p:sldId id="324" r:id="rId63"/>
    <p:sldId id="325" r:id="rId64"/>
    <p:sldId id="326" r:id="rId65"/>
  </p:sldIdLst>
  <p:sldSz cx="18288000" cy="10287000"/>
  <p:notesSz cx="6858000" cy="9144000"/>
  <p:embeddedFontLst>
    <p:embeddedFont>
      <p:font typeface="Consolas" panose="020B0609020204030204" pitchFamily="49" charset="0"/>
      <p:regular r:id="rId68"/>
      <p:bold r:id="rId69"/>
      <p:italic r:id="rId70"/>
      <p:boldItalic r:id="rId71"/>
    </p:embeddedFont>
    <p:embeddedFont>
      <p:font typeface="Neue Einstellung" pitchFamily="2" charset="77"/>
      <p:regular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56" autoAdjust="0"/>
    <p:restoredTop sz="94521" autoAdjust="0"/>
  </p:normalViewPr>
  <p:slideViewPr>
    <p:cSldViewPr>
      <p:cViewPr varScale="1">
        <p:scale>
          <a:sx n="80" d="100"/>
          <a:sy n="80" d="100"/>
        </p:scale>
        <p:origin x="560"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96" d="100"/>
          <a:sy n="96" d="100"/>
        </p:scale>
        <p:origin x="3976" y="17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font" Target="fonts/font1.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3.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51E505-31BE-E094-3485-C495FA256F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2ABD085-553C-3FFC-A0FD-9DF34B8A429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5121D7-BE6C-7F41-B54C-CE4521069306}" type="datetimeFigureOut">
              <a:rPr lang="en-US" smtClean="0"/>
              <a:t>3/13/26</a:t>
            </a:fld>
            <a:endParaRPr lang="en-US"/>
          </a:p>
        </p:txBody>
      </p:sp>
      <p:sp>
        <p:nvSpPr>
          <p:cNvPr id="4" name="Footer Placeholder 3">
            <a:extLst>
              <a:ext uri="{FF2B5EF4-FFF2-40B4-BE49-F238E27FC236}">
                <a16:creationId xmlns:a16="http://schemas.microsoft.com/office/drawing/2014/main" id="{AA4BE8A4-27BD-6831-FF1E-0FC026595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C610A83-B5BC-1AFB-D862-B217EF496B5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4E196D-61CD-7D4E-A392-EA6A2849D22A}" type="slidenum">
              <a:rPr lang="en-US" smtClean="0"/>
              <a:t>‹#›</a:t>
            </a:fld>
            <a:endParaRPr lang="en-US"/>
          </a:p>
        </p:txBody>
      </p:sp>
    </p:spTree>
    <p:extLst>
      <p:ext uri="{BB962C8B-B14F-4D97-AF65-F5344CB8AC3E}">
        <p14:creationId xmlns:p14="http://schemas.microsoft.com/office/powerpoint/2010/main" val="4960905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9975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Bonjour, je m'appelle *[Prénom Nom]* et je vous présente aujourd'hui mon projet **HappyRow**, réalisé dans le cadre du titre professionnel Concepteur Développeur d'Applications. HappyRow est une plateforme collaborative de gestion d'événements, développée en Kotlin avec Ktor pour le back-end, et React TypeScript pour le front-end.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 présentation est organisée en 13 parties. Je commencerai par le contexte et le cahier des charges, puis la gestion de projet. Ensuite, les spécifications fonctionnelles — architecture, maquettes, modèle de données. Puis les réalisations concrètes, organisées par couche : interfaces utilisateur, composants métier, accès aux données, et autres composants. Je poursuivrai avec la sécurité, les tests et le jeu d'essai, le déploiement et DevOps, la veille sécurité. Et je terminerai par la synthèse et la conclusion.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d'entrer dans le projet, je vais vous montrer comment HappyRow couvre les 11 compétences du référentiel CDA, réparties dans les 3 CCP. Pour le CCP 1 — Développer une application sécurisée : j'ai installé et configuré mon environnement avec Kotlin, JDK 21, Gradle multi-modules et Docker. J'ai développé les interfaces utilisateur côté front-end avec React et côté back-end avec les endpoints REST Ktor. Les composants métier sont les 12 use cases du module domaine. Et la gestion de projet s'appuie sur Kanban, GitHub Projects et les pipelines CI/CD. Pour le CCP 2 — Concevoir et développer une application organisée en couches : l'analyse des besoins et les maquettes Figma, l'architecture hexagonale Ports et Adapters, le modèle de données PostgreSQL avec 4 tables et contraintes, et les 4 repositories SQL avec Exposed ORM. Pour le CCP 3 — Préparer le déploiement : les tests unitaires et d'intégration avec Kotest, MockK, Testcontainers, Vitest et Playwright. Le déploiement documenté avec Docker multi-stage et Render. Et la mise en production DevOps avec les pipelines GitHub Actions.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projet a été réalisé pendant ma formation CDA au sein de *[nom du centre de formation]*. Notre promotion comptait *[X]* apprenants, encadrés par *[X]* formateurs techniques. La formation est organisée autour de projets individuels et collectifs. Chaque apprenant développe un projet personnel full-stack qui doit couvrir l'ensemble des compétences du référentiel CDA.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HappyRow</a:t>
            </a:r>
            <a:r>
              <a:rPr dirty="0"/>
              <a:t> est un </a:t>
            </a:r>
            <a:r>
              <a:rPr dirty="0" err="1"/>
              <a:t>projet</a:t>
            </a:r>
            <a:r>
              <a:rPr dirty="0"/>
              <a:t> personnel </a:t>
            </a:r>
            <a:r>
              <a:rPr dirty="0" err="1"/>
              <a:t>que</a:t>
            </a:r>
            <a:r>
              <a:rPr dirty="0"/>
              <a:t> </a:t>
            </a:r>
            <a:r>
              <a:rPr dirty="0" err="1"/>
              <a:t>j'ai</a:t>
            </a:r>
            <a:r>
              <a:rPr dirty="0"/>
              <a:t> </a:t>
            </a:r>
            <a:r>
              <a:rPr dirty="0" err="1"/>
              <a:t>conçu</a:t>
            </a:r>
            <a:r>
              <a:rPr dirty="0"/>
              <a:t>, </a:t>
            </a:r>
            <a:r>
              <a:rPr dirty="0" err="1"/>
              <a:t>développé</a:t>
            </a:r>
            <a:r>
              <a:rPr dirty="0"/>
              <a:t> et </a:t>
            </a:r>
            <a:r>
              <a:rPr dirty="0" err="1"/>
              <a:t>déployé</a:t>
            </a:r>
            <a:r>
              <a:rPr dirty="0"/>
              <a:t> </a:t>
            </a:r>
            <a:r>
              <a:rPr dirty="0" err="1"/>
              <a:t>en</a:t>
            </a:r>
            <a:r>
              <a:rPr dirty="0"/>
              <a:t> </a:t>
            </a:r>
            <a:r>
              <a:rPr dirty="0" err="1"/>
              <a:t>totale</a:t>
            </a:r>
            <a:r>
              <a:rPr dirty="0"/>
              <a:t> </a:t>
            </a:r>
            <a:r>
              <a:rPr dirty="0" err="1"/>
              <a:t>autonomie</a:t>
            </a:r>
            <a:r>
              <a:rPr dirty="0"/>
              <a:t>, de </a:t>
            </a:r>
            <a:r>
              <a:rPr dirty="0" err="1"/>
              <a:t>l'analyse</a:t>
            </a:r>
            <a:r>
              <a:rPr dirty="0"/>
              <a:t> des </a:t>
            </a:r>
            <a:r>
              <a:rPr dirty="0" err="1"/>
              <a:t>besoins</a:t>
            </a:r>
            <a:r>
              <a:rPr dirty="0"/>
              <a:t> </a:t>
            </a:r>
            <a:r>
              <a:rPr dirty="0" err="1"/>
              <a:t>jusqu'à</a:t>
            </a:r>
            <a:r>
              <a:rPr dirty="0"/>
              <a:t> la mise </a:t>
            </a:r>
            <a:r>
              <a:rPr dirty="0" err="1"/>
              <a:t>en</a:t>
            </a:r>
            <a:r>
              <a:rPr dirty="0"/>
              <a:t> production. </a:t>
            </a:r>
            <a:r>
              <a:rPr dirty="0" err="1"/>
              <a:t>J'ai</a:t>
            </a:r>
            <a:r>
              <a:rPr dirty="0"/>
              <a:t> </a:t>
            </a:r>
            <a:r>
              <a:rPr dirty="0" err="1"/>
              <a:t>été</a:t>
            </a:r>
            <a:r>
              <a:rPr dirty="0"/>
              <a:t> </a:t>
            </a:r>
            <a:r>
              <a:rPr dirty="0" err="1"/>
              <a:t>responsable</a:t>
            </a:r>
            <a:r>
              <a:rPr dirty="0"/>
              <a:t> de </a:t>
            </a:r>
            <a:r>
              <a:rPr dirty="0" err="1"/>
              <a:t>l'ensemble</a:t>
            </a:r>
            <a:r>
              <a:rPr dirty="0"/>
              <a:t> de la </a:t>
            </a:r>
            <a:r>
              <a:rPr dirty="0" err="1"/>
              <a:t>chaîne</a:t>
            </a:r>
            <a:r>
              <a:rPr dirty="0"/>
              <a:t> : la conception de </a:t>
            </a:r>
            <a:r>
              <a:rPr dirty="0" err="1"/>
              <a:t>l'architecture</a:t>
            </a:r>
            <a:r>
              <a:rPr dirty="0"/>
              <a:t>, le </a:t>
            </a:r>
            <a:r>
              <a:rPr dirty="0" err="1"/>
              <a:t>développement</a:t>
            </a:r>
            <a:r>
              <a:rPr dirty="0"/>
              <a:t> back-end et front-end, la mise </a:t>
            </a:r>
            <a:r>
              <a:rPr dirty="0" err="1"/>
              <a:t>en</a:t>
            </a:r>
            <a:r>
              <a:rPr dirty="0"/>
              <a:t> place de la base de données, </a:t>
            </a:r>
            <a:r>
              <a:rPr dirty="0" err="1"/>
              <a:t>l'écriture</a:t>
            </a:r>
            <a:r>
              <a:rPr dirty="0"/>
              <a:t> des tests, la configuration du CI/CD, et le </a:t>
            </a:r>
            <a:r>
              <a:rPr dirty="0" err="1"/>
              <a:t>déploiement</a:t>
            </a:r>
            <a:r>
              <a:rPr dirty="0"/>
              <a:t> </a:t>
            </a:r>
            <a:r>
              <a:rPr dirty="0" err="1"/>
              <a:t>en</a:t>
            </a:r>
            <a:r>
              <a:rPr dirty="0"/>
              <a:t> production. Les </a:t>
            </a:r>
            <a:r>
              <a:rPr dirty="0" err="1"/>
              <a:t>formateurs</a:t>
            </a:r>
            <a:r>
              <a:rPr dirty="0"/>
              <a:t> </a:t>
            </a:r>
            <a:r>
              <a:rPr dirty="0" err="1"/>
              <a:t>ont</a:t>
            </a:r>
            <a:r>
              <a:rPr dirty="0"/>
              <a:t> </a:t>
            </a:r>
            <a:r>
              <a:rPr dirty="0" err="1"/>
              <a:t>joué</a:t>
            </a:r>
            <a:r>
              <a:rPr dirty="0"/>
              <a:t> un </a:t>
            </a:r>
            <a:r>
              <a:rPr dirty="0" err="1"/>
              <a:t>rôle</a:t>
            </a:r>
            <a:r>
              <a:rPr dirty="0"/>
              <a:t> de conseil et de validation, sans </a:t>
            </a:r>
            <a:r>
              <a:rPr dirty="0" err="1"/>
              <a:t>intervenir</a:t>
            </a:r>
            <a:r>
              <a:rPr dirty="0"/>
              <a:t> </a:t>
            </a:r>
            <a:r>
              <a:rPr dirty="0" err="1"/>
              <a:t>directement</a:t>
            </a:r>
            <a:r>
              <a:rPr dirty="0"/>
              <a:t> dans le code.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le développement, j'utilise IntelliJ IDEA comme IDE principal pour le back-end Kotlin et Gradle, et VS Code pour le front-end React et TypeScript. Le runtime est JDK 21 Eclipse Temurin pour le back-end et Node.js 22 pour le front-end. Docker Desktop permet de lancer un conteneur PostgreSQL en local via docker-compose. La configuration du projet est centralisée : `application.conf` pour Ktor, un fichier `.env` pour les secrets locaux, et un catalogue de dépendances dans `gradle/libs.versions.toml`. Point important sur la structure : le projet est organisé en deux modules Gradle séparés — `domain` pour la logique métier pure, sans aucune dépendance technique, et `infrastructure` pour les adapters REST, SQL et l'authentification JWT. Cette séparation est au cœur de l'architecture hexagonale.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projet HappyRow est né d'un constat simple : quand on organise un événement entre amis ou collègues — une fête, un dîner — la coordination repose souvent sur des messages informels ou des tableurs partagés, qui manquent de structure. Qui apporte quoi ? Est-ce qu'on a assez de boissons ? L'objectif est de centraliser cette coordination dans une application dédiée. Un utilisateur authentifié peut créer un événement, inviter des participants, définir les ressources nécessaires, et chaque participant peut déclarer sa contribution. Un point clé : quand plusieurs personnes contribuent en même temps sur la même ressource, il faut gérer les accès concurrents. C'est ce qui m'a amené à implémenter un verrou optimiste.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 niveau des contraintes techniques : le back-end est en Kotlin sur JVM 21 avec Ktor. La base de données est PostgreSQL. L'authentification est déléguée à Supabase avec un JWT signé en HMAC256. L'architecture est hexagonale. Le front-end est une SPA React 19 en TypeScript, déployée comme PWA. Et l'analyse statique avec Detekt et le formatage avec Spotless sont obligatoires dans le pipeline CI/CD. Les livrables sont : une API REST avec 15 endpoints, une base PostgreSQL avec 4 tables, un front-end React avec 8 écrans, des pipelines CI/CD, et des tests unitaires, d'intégration et E2E.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J'ai adopté une approche Kanban, adaptée au contexte d'un développeur en autonomie. Les tâches sont organisées en tickets dans GitHub Issues, visualisées dans un tableau GitHub Projects avec trois colonnes : To Do, In Progress, Done. Le projet a été découpé en 5 phases itératives. La phase 1 pose les fondations : architecture hexagonale, Gradle multi-modules, Docker, PostgreSQL et le pipeline CI/CD. Les phases 2 et 3 couvrent les événements et les participants. La phase 4, la plus complexe, implémente les ressources et les contributions avec le verrou optimiste. Et la phase 5 se concentre sur la qualité et le déploiement en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suivi du projet s'appuie sur 4 outils complémentaires. GitHub Issues pour le suivi des tâches — chaque ticket correspond à une fonctionnalité ou un bug. GitHub Projects pour la visualisation du tableau Kanban. Git avec des branches par fonctionnalité et merge via pull request. Et GitHub Actions pour le feedback automatisé à chaque push. Le workflow Git est structuré : la branche `main` contient le code stable et est déployée automatiquement. Chaque fonctionnalité est développée dans une branche isolée, et chaque push sur `main` déclenche les pipelines CI/CD des deux dépôts — back-end et front-end.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termes de qualité, le projet repose sur plusieurs outils complémentaires. L'analyse statique avec Detekt détecte les code smells, les problèmes de complexité et les violations de conventions. Le formatage est assuré par Spotless avec ktlint côté back-end et Prettier côté front-end. Les tests automatisés couvrent les use cases avec Kotest et MockK, et les fonctionnalités front-end avec Vitest et Playwright. La sécurité de la chaîne d'approvisionnement est vérifiée quotidiennement côté front-end avec npm audit et lockfile-lint. L'objectif est clair : zéro régression en production. Si Detekt ou les tests échouent, le pipeline est bloqué et le déploiement n'a pas lieu.</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L'architecture suit strictement le pattern Ports et Adapters. Au centre, le domaine contient toute la logique métier : les use cases, les modèles et les interfaces de repository — qu'on appelle les ports. Autour du domaine, deux types d'adapters. Les adapters driving, côté entrant, ce sont les endpoints REST qui reçoivent les requêtes HTTP et appellent les use cases. Les adapters driven, côté sortant, ce sont les repositories SQL qui implémentent les interfaces définies dans le domaine. Le principe fondamental, c'est l'inversion de dépendance : le domaine ne dépend d'aucune bibliothèque technique — ni Ktor, ni Exposed, ni Jackson. C'est l'infrastructure qui dépend du domaine.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Concrètement, le code est organisé en deux modules Gradle séparés. Le module `domain` ne contient que la logique métier pure — les use cases, les modèles, les interfaces de repository. Il a zéro dépendance technique. Le module `infrastructure` contient les adapters : les endpoints REST dans des dossiers `driving`, les repositories SQL dans des dossiers `driven`, et les composants techniques comme l'authentification JWT, la configuration de la base de données et l'injection de dépendances avec Koin. Chaque bounded context — événements, participants, ressources, contributions — a sa propre arborescence dans les deux modules.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L'application est une SPA avec React Router. L'enchaînement repose sur l'état d'authentification : si l'utilisateur n'est pas connecté, il voit la page d'accueil avec les boutons Login et Register. Une fois authentifié, il accède au dashboard avec la liste de ses événements. En cliquant sur un événement, il accède à la vue détail avec les ressources organisées par catégorie. C'est ici que la fonctionnalité de contribution est accessible : les boutons plus/moins pour sélectionner un delta, et le bouton Validate pour confirmer. La charte graphique utilise des Design Tokens CSS avec les couleurs teal, navy et coral, et la police Comic Neue pour un ton convivial.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modèle conceptuel comprend 4 entités. Un événement héberge des participants et nécessite des ressources. Un participant apporte des contributions, et une ressource reçoit des contributions. Les points importants : la table `resource` a un champ `version` pour le verrou optimiste, incrémenté à chaque modification de quantité. Les relations sont toutes en 1-N. Et les contraintes d'intégrité — clés étrangères, index uniques, contraintes CHECK — sont définies au niveau physique.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 niveau physique, les tables sont définies avec Exposed ORM en Kotlin. Ici, la table `resource` dans le schéma `configuration` avec ses champs, l'enum pour la catégorie, la version initialisée à 0, et la clé étrangère vers la table `event`. Le script SQL correspondant crée le schéma, la table avec les contraintes — `NOT NULL`, `CHECK` sur les quantités positives, `DEFAULT` pour la version. Exposed génère les requêtes SQL paramétrées à partir de ces définitions.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projet couvre 12 cas d'utilisation répartis dans les 4 bounded contexts. Événements : créer, consulter, modifier, supprimer. Participants : ajouter, consulter, modifier le statut. Ressources : créer, consulter. Contributions : ajouter, réduire, supprimer. Deux règles métier notables : la création d'un événement inclut automatiquement l'ajout du créateur comme participant confirmé — c'est le lien « inclut ». Et la suppression d'un événement déclenche la cascade de toutes les données liées.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diagramme montre le flux complet de la création d'un événement. Le front-end envoie un POST avec le JWT et le body. Le plugin d'authentification valide le token HMAC256 et extrait l'utilisateur. Le endpoint désérialise la requête et appelle le use case. Le use case crée l'événement dans le repository, puis crée automatiquement le participant avec le statut CONFIRMED — c'est la règle métier encapsulée dans le domaine. Enfin, le endpoint convertit le résultat en DTO et retourne un 201 Created. Le point important, c'est l'utilisation d'Arrow Either. Si la création de l'événement échoue, le `flatMap` empêche la création du participant. L'erreur remonte proprement.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fonctionnalité la plus complexe du projet. Quand un utilisateur contribue à une ressource, le système doit mettre à jour la quantité de façon atomique. Le repository cherche d'abord si une contribution existe déjà. S'il s'agit d'une nouvelle contribution, il l'insère. Ensuite, il appelle `updateQuantity` sur la ressource avec le delta et la version attendue. Le SQL exécute un UPDATE conditionnel : `WHERE version = expectedVersion`. Si une autre personne a modifié la ressource entre-temps, la version en base ne correspond plus, zéro lignes sont mises à jour, et une `OptimisticLockException` est levée. Cette exception remonte et le endpoint retourne un 409 Conflict. Le client doit rafraîchir et réessayer. L'avantage par rapport au verrou pessimiste, c'est que ça ne bloque pas les autres transactions.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résumer la stack technique : côté back-end, Kotlin 2.2 sur JVM 21, Ktor 3.2 pour le web, Exposed pour l'ORM, HikariCP pour le pool de connexions, Koin pour l'injection de dépendances, Arrow pour la gestion fonctionnelle des erreurs, Jackson pour la sérialisation JSON, et Auth0 JWT pour l'authentification. Côté front-end : React 19 en TypeScript strict, Vite pour le build, React Router pour la navigation, Supabase SDK pour l'authentification, CSS natif avec Design Tokens, et PWA avec Workbox. Point notable : le front-end n'a que 3 dépendances de production. Pas d'Axios, pas de framework CSS lourd. L'API native `fetch` est utilisée directement.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le dashboard de l'application. Il affiche les événements de l'utilisateur sous forme de cartes — les EventCards — avec la date, le nom, le nombre de participants et la localisation. La barre de navigation permet d'accéder au profil, de créer un nouvel événement avec le bouton plus, et de revenir à l'accueil. L'application est une PWA installable, avec un mode offline grâce au Service Worker Workbox. Et je le rappelle : seulement 3 dépendances de production — React, React Router et Supabase.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vue détail d'un événement montre les ressources organisées par catégorie — Food, Drinks, et cetera. Chaque ressource affiche la quantité courante par rapport à la quantité suggérée. Les contrôles de contribution sont intégrés directement : les boutons plus et moins pour sélectionner un delta de quantité. Quand un delta est sélectionné, le bouton Validate apparaît pour confirmer la contribution. Le design utilise les Design Tokens CSS — les couleurs teal, navy et coral définies comme variables CSS — ce qui garantit la cohérence graphique et facilite la maintenance.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composant `ResourceItem` gère l'interaction de contribution. La logique est intéressante : selon l'état actuel, le composant décide s'il faut ajouter, mettre à jour ou supprimer la contribution. Le `selectedQuantity` est un delta par rapport à la contribution existante. Si la quantité résultante tombe à zéro ou moins, c'est une suppression. Si l'utilisateur n'avait pas de contribution, c'est un ajout. Sinon, c'est une mise à jour. Le bouton Validate n'apparaît que quand un delta est sélectionné — on ne peut pas soumettre une contribution vide. Et le state `isSaving` empêche les doubles soumissions pendant l'appel API.</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front-end suit le même principe d'inversion de dépendance que le back-end. Le flux est : Composants React → Context/Provider → Use Cases → Repository interface → HttpRepository qui utilise l'API native `fetch`. Chaque domaine fonctionnel — auth, events, participants, resources, contributions — est un module isolé dans `src/features/` avec ses propres composants, hooks, services, use cases et types. Le token JWT est injecté via une callback `getToken` dans les providers. Chaque repository HTTP ajoute le header Authorization Bearer automatiquement. Cette architecture permet de mocker les repositories dans les tests — exactement comme côté back-end.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use case illustre la composition fonctionnelle avec Arrow Either. La méthode `create` enchaîne deux opérations : la création de l'événement et l'ajout du participant. Le `flatMap` assure que le participant n'est créé que si l'événement a réussi. Le `mapLeft` enveloppe les erreurs de repository dans une exception domaine pour préserver le contexte. Le point fondamental, c'est que ce use case ne dépend que des interfaces — les ports — jamais des implémentations SQL. Il est testable avec des mocks, sans base de données. Et la règle métier — le créateur est automatiquement participant confirmé — est encapsulée dans le domaine, pas dans l'infrastructure.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deuxième use case montre la chaîne fonctionnelle complète pour l'ajout d'une contribution. Il orchestre deux repositories : le repository de participants et celui des contributions. D'abord, il cherche ou crée le participant avec `findOrCreate` — si le participant n'existe pas encore pour cet événement, il est créé automatiquement. Ensuite, il appelle `addOrUpdate` sur le repository de contributions, qui inclut le verrou optimiste dans son implémentation SQL. Le use case ne connaît pas les détails de l'implémentation. Il ne sait pas qu'il y a un verrou optimiste ou une transaction SQL. Il sait seulement qu'il orchestre deux opérations qui peuvent réussir ou échouer, et il compose les résultats avec `flatMap`.</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modèles du domaine sont des `data class` Kotlin pures. Aucune annotation framework — pas de `@Entity`, pas de `@Column`. Le domaine est complètement isolé de l'infrastructure. Le type `Creator` est un `@JvmInline value class` : c'est un typage fort qui encapsule un String, mais sans coût mémoire à l'exécution — le compilateur l'inline. Ça empêche de confondre un email avec un nom ou un identifiant. Le champ `version` dans `Resource` porte la sémantique du verrou optimiste directement au niveau du modèle. Ce n'est pas un détail technique caché dans l'infrastructure — c'est un concept métier explicite.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résumer le pattern de gestion d'erreurs : chaque opération retourne un `Either&lt;Error, Success&gt;`. Le type de retour est explicite — on voit dans la signature que l'opération peut échouer. La composition se fait via `flatMap` pour chaîner les opérations qui dépendent du résultat précédent, et `mapLeft` pour envelopper les erreurs avec du contexte supplémentaire. Et `fold` résout le résultat final en séparant le chemin d'erreur du chemin de succès. Les avantages par rapport aux exceptions classiques : c'est composable, il n'y a pas de coût de stack trace, et la traçabilité est meilleure car chaque couche enveloppe les erreurs de la couche inférieure.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l'extrait de code le plus significatif du projet. La méthode `updateQuantity` implémente le verrou optimiste en deux temps. D'abord, elle lit la ressource avec une clause `WHERE version = expectedVersion`. Si aucune ligne n'est retournée, elle distingue deux cas : la ressource n'existe pas — erreur 404 — ou la version a changé — conflit de concurrence. Ensuite, elle exécute un UPDATE conditionnel avec la même clause sur la version. Si entre la lecture et l'écriture un autre thread a modifié la ressource, l'UPDATE retourne zéro lignes, et une `OptimisticLockException` est levée. La double vérification — à la lecture et à l'écriture — est une défense en profondeur contre les race conditions. Le delta de quantité, plutôt qu'une valeur absolue, permet des mises à jour concurrentes valides si elles ne concernent pas la même version.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table Exposed pour les contributions montre l'approche de défense en profondeur au niveau de la base de données. L'index unique composite sur `participantId` et `resourceId` empêche qu'un participant contribue deux fois à la même ressource — même si un bug applicatif tentait de le faire. La contrainte CHECK garantit que les quantités sont positives. Les index sur les clés étrangères optimisent les requêtes de recherche. C'est le principe : les contraintes ne sont pas seulement dans le code applicatif, elles sont aussi dans la base.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repository illustre l'implémentation concrète d'un port du domaine. La méthode `addOrUpdate` recherche d'abord une contribution existante pour le participant et la ressource. Si elle existe, elle met à jour la quantité. Sinon, elle insère une nouvelle contribution. Tout est encapsulé dans une transaction Exposed, ce qui garantit l'atomicité. Et les requêtes sont automatiquement paramétrées par Exposed — pas de risque d'injection SQL. Après l'opération sur la contribution, le use case appelle `updateQuantity` sur la ressource pour mettre à jour la quantité courante avec le verrou optimiste.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résumé, l'intégrité des données repose sur cinq mécanismes complémentaires. Le verrou optimiste empêche les mises à jour concurrentes silencieuses. Les clés étrangères en cascade assurent la suppression propre des données liées. Les index uniques composites empêchent les doublons. Les contraintes CHECK garantissent la validité des données. Et chaque opération est encapsulée dans une transaction. Pour la suppression en cascade, l'ordre est imposé par les clés étrangères : d'abord les contributions, puis les ressources, puis les participants, et enfin l'événement. Cet ordre est géré manuellement dans le repository pour garder le contrôle.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L'authentification utilise un plugin Ktor personnalisé plutôt que le module auth standard. Ça donne un contrôle total sur le flux. Le plugin intercepte chaque requête. Les routes OPTIONS — pour le pré-vol CORS — et les routes publiques sont exclues. Si le token est absent, c'est un 401 avec le type `MISSING_TOKEN`. Sinon, le `SupabaseJwtService` vérifie la signature HMAC256, l'issuer, l'audience et l'expiration. Si tout est valide, l'utilisateur authentifié est stocké dans les attributs du call. Le secret JWT est chargé depuis une variable d'environnement, jamais codé en dur. Detekt vérifie l'absence de secrets dans le code.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 endpoint est un example typique de driving adapter. Il reçoit la requête HTTP, la désérialise, appelle le use case du domaine, et formate la réponse. `Either.catch` capture les exceptions de désérialisation et les transforme en erreur typée. `flatMap` chaîne l'appel au use case — si la désérialisation échoue, le use case n'est pas appelé. Les fonctions `toDomain()` et `toDto()` assurent l'isolation entre les objets de l'API et ceux du domaine. Et `fold` sépare clairement le chemin d'erreur du chemin de succès. Ce pattern est appliqué à tous les 15 endpoints de l'application.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gestion des erreurs HTTP est typée et centralisée. Pour la contribution, le `handleFailure` remonte la cause racine via `generateSequence` pour distinguer un conflit de concurrence d'une erreur technique. Si c'est une `OptimisticLockException`, on retourne un 409 Conflict avec un message explicite. Sinon, c'est un 500 avec un message générique — aucune stack trace exposée au client. Les codes HTTP utilisés dans l'application sont standards : 201 pour la création, 200 pour le succès, 400 pour les requêtes invalides, 401 pour l'authentification manquante, 403 pour l'autorisation refusée, 409 pour les conflits, et 500 pour les erreurs techniques.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flux d'authentification complet passe par Supabase. L'utilisateur saisit son email et mot de passe côté front-end. Le SDK Supabase obtient un JWT signé en HMAC256. Ce token est envoyé dans le header Authorization à chaque requête API. Côté autorisation, la suppression d'un événement est réservée au créateur. L'identité est toujours extraite du JWT côté serveur — jamais transmise par le client. C'est ce qui empêche un utilisateur de contribuer au nom d'un autre.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les mesures de sécurité applicatives. Contre l'injection SQL : Exposed ORM avec des requêtes paramétrées, aucune requête SQL brute. Contre le XSS : l'API ne retourne que du JSON, et React assure l'échappement côté front-end. Le CORS est configuré avec une liste blanche d'origines — pas de wildcard. Les secrets ne sont jamais dans le code, et Detekt le vérifie. L'usurpation d'identité est impossible car l'email est extrait du JWT serveur, jamais du body client. La validation des entrées se fait à 3 niveaux : endpoint, DTO Jackson, et contraintes en base de données.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 niveau infrastructure : HTTPS est forcé par Render avec un certificat TLS automatique. La connexion PostgreSQL utilise SSL en mode `require`. Le conteneur Docker tourne en utilisateur non-root. L'utilisateur de base de données a des droits restreints au schéma `configuration`. Les secrets CI/CD sont dans GitHub Secrets. Et Dependabot surveille les vulnérabilités des dépendances. Pour l'intégrité des données, on combine le verrou optimiste, les clés étrangères en cascade, les index uniques et les transactions.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conception de </a:t>
            </a:r>
            <a:r>
              <a:rPr dirty="0" err="1"/>
              <a:t>HappyRow</a:t>
            </a:r>
            <a:r>
              <a:rPr dirty="0"/>
              <a:t> </a:t>
            </a:r>
            <a:r>
              <a:rPr dirty="0" err="1"/>
              <a:t>intègre</a:t>
            </a:r>
            <a:r>
              <a:rPr dirty="0"/>
              <a:t> des principes </a:t>
            </a:r>
            <a:r>
              <a:rPr dirty="0" err="1"/>
              <a:t>d'éco</a:t>
            </a:r>
            <a:r>
              <a:rPr dirty="0"/>
              <a:t>-conception numérique. La </a:t>
            </a:r>
            <a:r>
              <a:rPr dirty="0" err="1"/>
              <a:t>sobriété</a:t>
            </a:r>
            <a:r>
              <a:rPr dirty="0"/>
              <a:t> </a:t>
            </a:r>
            <a:r>
              <a:rPr dirty="0" err="1"/>
              <a:t>fonctionnelle</a:t>
            </a:r>
            <a:r>
              <a:rPr dirty="0"/>
              <a:t> </a:t>
            </a:r>
            <a:r>
              <a:rPr dirty="0" err="1"/>
              <a:t>limite</a:t>
            </a:r>
            <a:r>
              <a:rPr dirty="0"/>
              <a:t> le </a:t>
            </a:r>
            <a:r>
              <a:rPr dirty="0" err="1"/>
              <a:t>périmètre</a:t>
            </a:r>
            <a:r>
              <a:rPr dirty="0"/>
              <a:t> aux </a:t>
            </a:r>
            <a:r>
              <a:rPr dirty="0" err="1"/>
              <a:t>besoins</a:t>
            </a:r>
            <a:r>
              <a:rPr dirty="0"/>
              <a:t> </a:t>
            </a:r>
            <a:r>
              <a:rPr dirty="0" err="1"/>
              <a:t>réels</a:t>
            </a:r>
            <a:r>
              <a:rPr dirty="0"/>
              <a:t>. Le </a:t>
            </a:r>
            <a:r>
              <a:rPr dirty="0" err="1"/>
              <a:t>minimalisme</a:t>
            </a:r>
            <a:r>
              <a:rPr dirty="0"/>
              <a:t> des </a:t>
            </a:r>
            <a:r>
              <a:rPr dirty="0" err="1"/>
              <a:t>dépendances</a:t>
            </a:r>
            <a:r>
              <a:rPr dirty="0"/>
              <a:t> : </a:t>
            </a:r>
            <a:r>
              <a:rPr dirty="0" err="1"/>
              <a:t>seulement</a:t>
            </a:r>
            <a:r>
              <a:rPr dirty="0"/>
              <a:t> 3 </a:t>
            </a:r>
            <a:r>
              <a:rPr dirty="0" err="1"/>
              <a:t>dépendances</a:t>
            </a:r>
            <a:r>
              <a:rPr dirty="0"/>
              <a:t> de production </a:t>
            </a:r>
            <a:r>
              <a:rPr dirty="0" err="1"/>
              <a:t>côté</a:t>
            </a:r>
            <a:r>
              <a:rPr dirty="0"/>
              <a:t> front-end, API fetch native. Les images Docker </a:t>
            </a:r>
            <a:r>
              <a:rPr dirty="0" err="1"/>
              <a:t>sont</a:t>
            </a:r>
            <a:r>
              <a:rPr dirty="0"/>
              <a:t> </a:t>
            </a:r>
            <a:r>
              <a:rPr dirty="0" err="1"/>
              <a:t>optimisées</a:t>
            </a:r>
            <a:r>
              <a:rPr dirty="0"/>
              <a:t> avec le build multi-stage — </a:t>
            </a:r>
            <a:r>
              <a:rPr dirty="0" err="1"/>
              <a:t>l'image</a:t>
            </a:r>
            <a:r>
              <a:rPr dirty="0"/>
              <a:t> de production ne </a:t>
            </a:r>
            <a:r>
              <a:rPr dirty="0" err="1"/>
              <a:t>contient</a:t>
            </a:r>
            <a:r>
              <a:rPr dirty="0"/>
              <a:t> </a:t>
            </a:r>
            <a:r>
              <a:rPr dirty="0" err="1"/>
              <a:t>que</a:t>
            </a:r>
            <a:r>
              <a:rPr dirty="0"/>
              <a:t> le JRE et le JAR. La PWA avec le Service Worker Workbox </a:t>
            </a:r>
            <a:r>
              <a:rPr dirty="0" err="1"/>
              <a:t>réduit</a:t>
            </a:r>
            <a:r>
              <a:rPr dirty="0"/>
              <a:t> les </a:t>
            </a:r>
            <a:r>
              <a:rPr dirty="0" err="1"/>
              <a:t>requêtes</a:t>
            </a:r>
            <a:r>
              <a:rPr dirty="0"/>
              <a:t> réseau grâce au cache. Le pool de </a:t>
            </a:r>
            <a:r>
              <a:rPr dirty="0" err="1"/>
              <a:t>connexions</a:t>
            </a:r>
            <a:r>
              <a:rPr dirty="0"/>
              <a:t> </a:t>
            </a:r>
            <a:r>
              <a:rPr dirty="0" err="1"/>
              <a:t>HikariCP</a:t>
            </a:r>
            <a:r>
              <a:rPr dirty="0"/>
              <a:t> </a:t>
            </a:r>
            <a:r>
              <a:rPr dirty="0" err="1"/>
              <a:t>mutualise</a:t>
            </a:r>
            <a:r>
              <a:rPr dirty="0"/>
              <a:t> les </a:t>
            </a:r>
            <a:r>
              <a:rPr dirty="0" err="1"/>
              <a:t>connexions</a:t>
            </a:r>
            <a:r>
              <a:rPr dirty="0"/>
              <a:t> PostgreSQL. Et la JVM est </a:t>
            </a:r>
            <a:r>
              <a:rPr dirty="0" err="1"/>
              <a:t>tunée</a:t>
            </a:r>
            <a:r>
              <a:rPr dirty="0"/>
              <a:t> avec des </a:t>
            </a:r>
            <a:r>
              <a:rPr dirty="0" err="1"/>
              <a:t>limites</a:t>
            </a:r>
            <a:r>
              <a:rPr dirty="0"/>
              <a:t> </a:t>
            </a:r>
            <a:r>
              <a:rPr dirty="0" err="1"/>
              <a:t>mémoire</a:t>
            </a:r>
            <a:r>
              <a:rPr dirty="0"/>
              <a:t> </a:t>
            </a:r>
            <a:r>
              <a:rPr dirty="0" err="1"/>
              <a:t>adaptées</a:t>
            </a:r>
            <a:r>
              <a:rPr dirty="0"/>
              <a:t> au </a:t>
            </a:r>
            <a:r>
              <a:rPr dirty="0" err="1"/>
              <a:t>besoin</a:t>
            </a:r>
            <a:r>
              <a:rPr dirty="0"/>
              <a:t> </a:t>
            </a:r>
            <a:r>
              <a:rPr dirty="0" err="1"/>
              <a:t>réel</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stratégie suit une pyramide de tests. Les tests unitaires avec Kotest et MockK testent les use cases et la logique métier. Les tests d'intégration avec Testcontainers testent les repositories avec une vraie base PostgreSQL dans un conteneur Docker jetable. L'analyse statique avec Detekt tourne à chaque push. Côté front-end, Vitest couvre l'authentification avec 46 tests unitaires, et Playwright vérifie les capacités PWA avec 6 tests E2E. Les tests d'intégration Testcontainers sont exclus du pipeline CI pour la performance, mais sont exécutés localement avant chaque mise en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tests suivent une structure BDD — Given, When, Then — avec des fonctions d'aide pour la lisibilité. Le premier test vérifie le scénario nominal : créer un événement et vérifier que le créateur est automatiquement ajouté comme participant. Le deuxième test vérifie la propagation des erreurs : si le repository échoue, l'erreur est correctement enveloppée dans une exception domaine. Les données de test sont centralisées dans des objets Persona réutilisables. Les assertions Arrow — `shouldBeRight` et `shouldBeLeft` — vérifient le contenu de l'Either.</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fonctionnalité la plus représentative est l'ajout d'une contribution avec verrou optimiste, car elle traverse toutes les couches. Le scénario nominal montre les 6 étapes : la requête HTTP, l'extraction du JWT, la recherche du participant, la création de la contribution, la mise à jour de la ressource avec le verrou optimiste, et la réponse 200 OK. Pour chaque étape, j'ai vérifié la donnée en entrée, le résultat attendu et le résultat obtenu. Aucun écart constaté. Le scénario de conflit montre ce qui se passe quand deux utilisateurs contribuent en même temps. L'utilisateur A réussit et fait passer la version de 0 à 1. L'utilisateur B, qui avait lu la version 0, échoue avec une `OptimisticLockException` et reçoit un 409 Conflict.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J'ai élaboré 7 tests de sécurité spécifiques à la fonctionnalité contribution. Sans JWT : 401. JWT expiré : 401. Mauvaise signature : 401. Quantité négative : 400. Quantité non numérique : 400. Injection SQL via le body : 400 — double protection par Jackson et Exposed. Et tentative d'usurpation d'identité : la contribution est créée avec l'email du JWT, pas celui du body. Tous les tests sont conformes. La stratégie de défense en profondeur fonctionne à chaque niveau.</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L'architecture de déploiement a trois environnements. En local, docker-compose lance PostgreSQL dans un conteneur, et les deux applications — back-end et front-end — tournent en mode développement. En CI, GitHub Actions exécute les pipelines à chaque push sur `main`. Les secrets sont dans GitHub Secrets, jamais dans le code. En production, le back-end est déployé sur Render à Francfort dans un conteneur Docker. Le front-end est déployé sur Vercel. La base de données PostgreSQL est hébergée par Supabase. Vercel communique avec Render via les appels API REST.</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pipeline back-end s'exécute en 3 étapes séquentielles : d'abord Detekt pour l'analyse statique, puis les tests unitaires avec Kotest et MockK — sans les tests d'intégration pour la performance — et enfin le déploiement sur Render via son API. Le pipeline front-end a 4 étapes : d'abord les tests avec lockfile-lint, npm ci en mode sécurisé, ESLint et Vitest. Ensuite le build Docker avec push sur le registry GitHub. Puis une approbation manuelle — un gate de sécurité humain. Et enfin le déploiement sur Vercel. En plus, un workflow de sécurité s'exécute quotidiennement en cron : audit npm pour les vulnérabilités connues, vérification de l'intégrité du lockfile, et détection de scripts d'installation suspects.</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déploiement back-end utilise un Dockerfile multi-stage. Le premier stage utilise l'image Gradle complète pour le build. Le second stage ne conserve que le JRE 21 et le JAR — le SDK et les sources ne sont pas dans l'image de production. Le conteneur tourne en utilisateur non-root et la JVM est configurée avec des limites mémoire. Les variables d'environnement sur Render configurent la connexion à la base de données, le secret JWT Supabase, le mode SSL, et les origines CORS autorisées. La procédure est automatisée : push sur main, pipeline, déploiement zero-downtime.</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veille sécurité a été menée tout au long du projet, pas seulement à la fin. En début de projet, j'ai étudié le OWASP Top 10 pour établir la stratégie de sécurité. Pendant la phase d'authentification, j'ai consulté les documentations Ktor Security et Supabase Auth, et vérifié les CVE sur la librairie auth0 java-jwt — aucune CVE critique, choix validé par la RFC 7518. J'ai activé Dependabot sur le dépôt GitHub dès la phase 3. Pendant la phase contributions, j'ai recherché les vulnérabilités liées à la concurrence — les problèmes de type TOCTOU, Time-Of-Check-Time-Of-Use — ce qui a renforcé ma décision d'implémenter le verrou optimiste avec double vérification. En phase 5, le workflow Security Audit a été mis en place pour une surveillance quotidienne automatisée côté front-end. Les sources consultées incluent le OWASP, la base CVE, GitHub Dependabot, les documentations officielles de Ktor, Supabase, PostgreSQL, et les recommandations de l'ANSSI.</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 les 10 catégories du OWASP 2021, j'en ai traité 6 explicitement. Broken Access Control avec le JWT obligatoire et l'autorisation par créateur. Cryptographic Failures avec HMAC256, HTTPS et SSL. Injection avec Exposed ORM et les requêtes paramétrées. Security Misconfiguration avec CORS whitelist et Docker non-root. XSS avec l'API JSON-only et l'échappement React. Et Data Integrity avec Dependabot, le verrou optimiste et les contraintes en base. Pour les 4 restantes : Insecure Design est couvert implicitement par l'architecture hexagonale. Vulnerable Components est couvert par Dependabot. Security Logging est identifié comme perspective d'évolution. Et SSRF n'est pas applicable car l'API ne fait aucun appel HTTP sortant basé sur des données utilisateur. Aucune CVE critique n'a été identifiée pendant la durée du projet.</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résumé, le projet HappyRow a abouti à une application full-stack fonctionnelle et déployée. Le back-end compte 15 endpoints REST, 12 use cases, environ 5 000 lignes de Kotlin. Le front-end est une PWA React 19 avec 8 écrans, 46 tests unitaires et 6 tests E2E. Seulement 3 dépendances de production. Mes satisfactions principales : l'architecture hexagonale a tenu ses promesses en termes de testabilité et d'évolutivité. Arrow Either a transformé la gestion d'erreurs en la rendant explicite et composable. Le verrou optimiste m'a permis de résoudre un vrai problème de concurrence. La Clean Architecture côté front-end assure la cohérence architecturale. Et les pipelines CI/CD apportent une confiance réelle à chaque déploiement.</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difficultés principales ont été : la propagation de la version du verrou optimiste à travers toutes les couches, de la base de données jusqu'au 409 côté client. La suppression en cascade imposée par les clés étrangères, qui nécessite un ordre précis. Et la configuration SSL lors du déploiement alternatif sur Raspberry Pi, qui a conduit à centraliser tous les secrets en variables d'environnement. En termes de perspectives : une application mobile native ou cross-platform, des notifications temps réel via WebSocket, l'exploration du NoSQL pour les logs d'activité, l'intégration des tests Testcontainers dans le pipeline CI, et l'ajout de monitoring avec Micrometer et Grafana. Merci pour votre attention. Je suis disponible pour vos questions. | Slides | Section | Timing | |--------|---------|--------| | 1-3 | Introduction (titre, sommaire, compétences) | 2:00 | | 4-6 | Contexte de formation | 2:30 | | 7-8 | Cahier des charges | 1:45 | | 9-11 | Gestion de projet | 3:00 | | 12-14 | Specs — Architecture + Maquettes | 2:30 | | 15-16 | Specs — MCD + MPD | 1:45 | | 17 | Specs — Cas d'utilisation | 0:45 | | 18-19 | Specs — Diagrammes de séquence | 2:15 | | 20 | Specs — Stack technique | 0:45 | | 21-22 | Réalisations UI — Captures | 1:30 | | 23-24 | Réalisations UI — Code React + Archi front | 2:30 | | 25-26 | Réalisations métier — Use cases | 2:15 | | 27-28 | Réalisations métier — Modèles + Arrow | 1:45 | | 29-30 | Réalisations données — Verrou + Table | 2:15 | | 31-32 | Réalisations données — Repo + Transactions | 1:45 | | 33-35 | Autres composants — JWT + Endpoint + Erreurs | 3:00 | | 36-39 | Sécurité | 3:00 | | 40-43 | Tests et jeu d'essai | 3:15 | | 44-46 | Déploiement et DevOps | 2:30 | | 47-48 | Veille sécurité | 2:00 | | 49-50 | Synthèse et conclusion | 2:00 | | | **TOTAL** | **~41 min** |</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3/13/26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97C21-22FD-638F-54C0-E2D6AAEDC6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8AF1BF-9C4C-A833-CE2B-602A72BE26A7}"/>
              </a:ext>
            </a:extLst>
          </p:cNvPr>
          <p:cNvSpPr>
            <a:spLocks noGrp="1"/>
          </p:cNvSpPr>
          <p:nvPr>
            <p:ph type="dt" sz="half" idx="10"/>
          </p:nvPr>
        </p:nvSpPr>
        <p:spPr/>
        <p:txBody>
          <a:bodyPr/>
          <a:lstStyle/>
          <a:p>
            <a:fld id="{1D8BD707-D9CF-40AE-B4C6-C98DA3205C09}" type="datetimeFigureOut">
              <a:rPr lang="en-US" smtClean="0"/>
              <a:pPr/>
              <a:t>3/13/26</a:t>
            </a:fld>
            <a:endParaRPr lang="en-US"/>
          </a:p>
        </p:txBody>
      </p:sp>
      <p:sp>
        <p:nvSpPr>
          <p:cNvPr id="4" name="Footer Placeholder 3">
            <a:extLst>
              <a:ext uri="{FF2B5EF4-FFF2-40B4-BE49-F238E27FC236}">
                <a16:creationId xmlns:a16="http://schemas.microsoft.com/office/drawing/2014/main" id="{4FEF0E2E-CAF6-779C-D056-A1546CA53C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D62D81-7E9F-5A76-1C92-856FFD92FED8}"/>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28266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84188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97C21-22FD-638F-54C0-E2D6AAEDC6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8AF1BF-9C4C-A833-CE2B-602A72BE26A7}"/>
              </a:ext>
            </a:extLst>
          </p:cNvPr>
          <p:cNvSpPr>
            <a:spLocks noGrp="1"/>
          </p:cNvSpPr>
          <p:nvPr>
            <p:ph type="dt" sz="half" idx="10"/>
          </p:nvPr>
        </p:nvSpPr>
        <p:spPr/>
        <p:txBody>
          <a:bodyPr/>
          <a:lstStyle/>
          <a:p>
            <a:fld id="{1D8BD707-D9CF-40AE-B4C6-C98DA3205C09}" type="datetimeFigureOut">
              <a:rPr lang="en-US" smtClean="0"/>
              <a:pPr/>
              <a:t>3/13/26</a:t>
            </a:fld>
            <a:endParaRPr lang="en-US"/>
          </a:p>
        </p:txBody>
      </p:sp>
      <p:sp>
        <p:nvSpPr>
          <p:cNvPr id="4" name="Footer Placeholder 3">
            <a:extLst>
              <a:ext uri="{FF2B5EF4-FFF2-40B4-BE49-F238E27FC236}">
                <a16:creationId xmlns:a16="http://schemas.microsoft.com/office/drawing/2014/main" id="{4FEF0E2E-CAF6-779C-D056-A1546CA53C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D62D81-7E9F-5A76-1C92-856FFD92FED8}"/>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81853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222309829"/>
      </p:ext>
    </p:extLst>
  </p:cSld>
  <p:clrMap bg1="lt1" tx1="dk1" bg2="lt2" tx2="dk2" accent1="accent1" accent2="accent2" accent3="accent3" accent4="accent4" accent5="accent5" accent6="accent6" hlink="hlink" folHlink="folHlink"/>
  <p:sldLayoutIdLst>
    <p:sldLayoutId id="2147483658" r:id="rId1"/>
    <p:sldLayoutId id="2147483659"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4.sv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4.sv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sv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4.svg"/><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4.svg"/><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4.svg"/><Relationship Id="rId4" Type="http://schemas.openxmlformats.org/officeDocument/2006/relationships/image" Target="../media/image7.svg"/></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4.svg"/><Relationship Id="rId4" Type="http://schemas.openxmlformats.org/officeDocument/2006/relationships/image" Target="../media/image7.svg"/></Relationships>
</file>

<file path=ppt/slides/_rels/slide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8.svg"/><Relationship Id="rId4" Type="http://schemas.openxmlformats.org/officeDocument/2006/relationships/image" Target="../media/image9.svg"/></Relationships>
</file>

<file path=ppt/slides/_rels/slide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8.svg"/><Relationship Id="rId4" Type="http://schemas.openxmlformats.org/officeDocument/2006/relationships/image" Target="../media/image9.svg"/></Relationships>
</file>

<file path=ppt/slides/_rels/slide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8.svg"/><Relationship Id="rId4" Type="http://schemas.openxmlformats.org/officeDocument/2006/relationships/image" Target="../media/image9.svg"/></Relationships>
</file>

<file path=ppt/slides/_rels/slide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8.svg"/><Relationship Id="rId4" Type="http://schemas.openxmlformats.org/officeDocument/2006/relationships/image" Target="../media/image9.svg"/></Relationships>
</file>

<file path=ppt/slides/_rels/slide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2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4.svg"/><Relationship Id="rId4" Type="http://schemas.openxmlformats.org/officeDocument/2006/relationships/image" Target="../media/image7.svg"/></Relationships>
</file>

<file path=ppt/slides/_rels/slide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8.svg"/><Relationship Id="rId4" Type="http://schemas.openxmlformats.org/officeDocument/2006/relationships/image" Target="../media/image9.svg"/></Relationships>
</file>

<file path=ppt/slides/_rels/slide4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4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8.svg"/><Relationship Id="rId4" Type="http://schemas.openxmlformats.org/officeDocument/2006/relationships/image" Target="../media/image9.svg"/></Relationships>
</file>

<file path=ppt/slides/_rels/slide5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4.svg"/><Relationship Id="rId4" Type="http://schemas.openxmlformats.org/officeDocument/2006/relationships/image" Target="../media/image7.sv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8.svg"/><Relationship Id="rId4" Type="http://schemas.openxmlformats.org/officeDocument/2006/relationships/image" Target="../media/image9.svg"/></Relationships>
</file>

<file path=ppt/slides/_rels/slide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4.svg"/><Relationship Id="rId4" Type="http://schemas.openxmlformats.org/officeDocument/2006/relationships/image" Target="../media/image7.svg"/></Relationships>
</file>

<file path=ppt/slides/_rels/slide6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9.sv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4.sv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21.svg"/><Relationship Id="rId4" Type="http://schemas.openxmlformats.org/officeDocument/2006/relationships/image" Target="../media/image20.svg"/></Relationships>
</file>

<file path=ppt/slides/_rels/slide6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4.sv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21.svg"/><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376656" y="7422523"/>
            <a:ext cx="4063088" cy="2864477"/>
          </a:xfrm>
          <a:custGeom>
            <a:avLst/>
            <a:gdLst/>
            <a:ahLst/>
            <a:cxnLst/>
            <a:rect l="l" t="t" r="r" b="b"/>
            <a:pathLst>
              <a:path w="4063088" h="2864477">
                <a:moveTo>
                  <a:pt x="0" y="0"/>
                </a:moveTo>
                <a:lnTo>
                  <a:pt x="4063089" y="0"/>
                </a:lnTo>
                <a:lnTo>
                  <a:pt x="4063089" y="2864477"/>
                </a:lnTo>
                <a:lnTo>
                  <a:pt x="0" y="286447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0" y="0"/>
            <a:ext cx="2487559" cy="3512151"/>
          </a:xfrm>
          <a:custGeom>
            <a:avLst/>
            <a:gdLst/>
            <a:ahLst/>
            <a:cxnLst/>
            <a:rect l="l" t="t" r="r" b="b"/>
            <a:pathLst>
              <a:path w="2487559" h="3512151">
                <a:moveTo>
                  <a:pt x="0" y="0"/>
                </a:moveTo>
                <a:lnTo>
                  <a:pt x="2487559" y="0"/>
                </a:lnTo>
                <a:lnTo>
                  <a:pt x="2487559" y="3512151"/>
                </a:lnTo>
                <a:lnTo>
                  <a:pt x="0" y="3512151"/>
                </a:lnTo>
                <a:lnTo>
                  <a:pt x="0" y="0"/>
                </a:lnTo>
                <a:close/>
              </a:path>
            </a:pathLst>
          </a:custGeom>
          <a:blipFill>
            <a:blip>
              <a:alphaModFix amt="28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rot="5239631">
            <a:off x="2378811" y="1167770"/>
            <a:ext cx="3024000" cy="1176611"/>
          </a:xfrm>
          <a:custGeom>
            <a:avLst/>
            <a:gdLst/>
            <a:ahLst/>
            <a:cxnLst/>
            <a:rect l="l" t="t" r="r" b="b"/>
            <a:pathLst>
              <a:path w="3024000" h="1176611">
                <a:moveTo>
                  <a:pt x="0" y="0"/>
                </a:moveTo>
                <a:lnTo>
                  <a:pt x="3024000" y="0"/>
                </a:lnTo>
                <a:lnTo>
                  <a:pt x="3024000" y="1176611"/>
                </a:lnTo>
                <a:lnTo>
                  <a:pt x="0" y="1176611"/>
                </a:lnTo>
                <a:lnTo>
                  <a:pt x="0" y="0"/>
                </a:lnTo>
                <a:close/>
              </a:path>
            </a:pathLst>
          </a:custGeom>
          <a:blipFill>
            <a:blip>
              <a:alphaModFix amt="2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5813314" y="456830"/>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Freeform 6"/>
          <p:cNvSpPr/>
          <p:nvPr/>
        </p:nvSpPr>
        <p:spPr>
          <a:xfrm>
            <a:off x="7036401" y="1600570"/>
            <a:ext cx="10680511" cy="2291455"/>
          </a:xfrm>
          <a:custGeom>
            <a:avLst/>
            <a:gdLst/>
            <a:ahLst/>
            <a:cxnLst/>
            <a:rect l="l" t="t" r="r" b="b"/>
            <a:pathLst>
              <a:path w="10680511" h="2291455">
                <a:moveTo>
                  <a:pt x="0" y="0"/>
                </a:moveTo>
                <a:lnTo>
                  <a:pt x="10680511" y="0"/>
                </a:lnTo>
                <a:lnTo>
                  <a:pt x="10680511" y="2291455"/>
                </a:lnTo>
                <a:lnTo>
                  <a:pt x="0" y="2291455"/>
                </a:lnTo>
                <a:lnTo>
                  <a:pt x="0" y="0"/>
                </a:lnTo>
                <a:close/>
              </a:path>
            </a:pathLst>
          </a:custGeom>
          <a:blipFill>
            <a:blip>
              <a:alphaModFix amt="25000"/>
            </a:blip>
            <a:stretch>
              <a:fillRect/>
            </a:stretch>
          </a:blipFill>
        </p:spPr>
        <p:txBody>
          <a:bodyPr/>
          <a:lstStyle/>
          <a:p>
            <a:endParaRPr lang="en-US"/>
          </a:p>
        </p:txBody>
      </p:sp>
      <p:sp>
        <p:nvSpPr>
          <p:cNvPr id="7" name="Freeform 7"/>
          <p:cNvSpPr/>
          <p:nvPr/>
        </p:nvSpPr>
        <p:spPr>
          <a:xfrm>
            <a:off x="208637" y="4585218"/>
            <a:ext cx="3024000" cy="4269544"/>
          </a:xfrm>
          <a:custGeom>
            <a:avLst/>
            <a:gdLst/>
            <a:ahLst/>
            <a:cxnLst/>
            <a:rect l="l" t="t" r="r" b="b"/>
            <a:pathLst>
              <a:path w="3024000" h="4269544">
                <a:moveTo>
                  <a:pt x="0" y="0"/>
                </a:moveTo>
                <a:lnTo>
                  <a:pt x="3024000" y="0"/>
                </a:lnTo>
                <a:lnTo>
                  <a:pt x="3024000" y="4269543"/>
                </a:lnTo>
                <a:lnTo>
                  <a:pt x="0" y="4269543"/>
                </a:lnTo>
                <a:lnTo>
                  <a:pt x="0" y="0"/>
                </a:lnTo>
                <a:close/>
              </a:path>
            </a:pathLst>
          </a:custGeom>
          <a:blipFill>
            <a:blip>
              <a:alphaModFix amt="3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rot="5239631">
            <a:off x="3411082" y="6131684"/>
            <a:ext cx="3024000" cy="1176611"/>
          </a:xfrm>
          <a:custGeom>
            <a:avLst/>
            <a:gdLst/>
            <a:ahLst/>
            <a:cxnLst/>
            <a:rect l="l" t="t" r="r" b="b"/>
            <a:pathLst>
              <a:path w="3024000" h="1176611">
                <a:moveTo>
                  <a:pt x="0" y="0"/>
                </a:moveTo>
                <a:lnTo>
                  <a:pt x="3024000" y="0"/>
                </a:lnTo>
                <a:lnTo>
                  <a:pt x="3024000" y="1176611"/>
                </a:lnTo>
                <a:lnTo>
                  <a:pt x="0" y="1176611"/>
                </a:lnTo>
                <a:lnTo>
                  <a:pt x="0" y="0"/>
                </a:lnTo>
                <a:close/>
              </a:path>
            </a:pathLst>
          </a:custGeom>
          <a:blipFill>
            <a:blip>
              <a:alphaModFix amt="2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8"/>
          <p:cNvSpPr txBox="1"/>
          <p:nvPr/>
        </p:nvSpPr>
        <p:spPr>
          <a:xfrm>
            <a:off x="3657600" y="2286000"/>
            <a:ext cx="10972800" cy="1828800"/>
          </a:xfrm>
          <a:prstGeom prst="rect">
            <a:avLst/>
          </a:prstGeom>
          <a:noFill/>
        </p:spPr>
        <p:txBody>
          <a:bodyPr wrap="square">
            <a:spAutoFit/>
          </a:bodyPr>
          <a:lstStyle/>
          <a:p>
            <a:pPr algn="ctr"/>
            <a:r>
              <a:rPr sz="3600" b="1" i="0">
                <a:solidFill>
                  <a:srgbClr val="3D5A6C"/>
                </a:solidFill>
                <a:latin typeface="Calibri"/>
              </a:rPr>
              <a:t>HappyRow</a:t>
            </a:r>
          </a:p>
        </p:txBody>
      </p:sp>
      <p:sp>
        <p:nvSpPr>
          <p:cNvPr id="10" name="TextBox 9"/>
          <p:cNvSpPr txBox="1"/>
          <p:nvPr/>
        </p:nvSpPr>
        <p:spPr>
          <a:xfrm>
            <a:off x="3657600" y="4572000"/>
            <a:ext cx="10972800" cy="3657600"/>
          </a:xfrm>
          <a:prstGeom prst="rect">
            <a:avLst/>
          </a:prstGeom>
          <a:noFill/>
        </p:spPr>
        <p:txBody>
          <a:bodyPr wrap="square">
            <a:spAutoFit/>
          </a:bodyPr>
          <a:lstStyle/>
          <a:p>
            <a:pPr algn="ctr"/>
            <a:r>
              <a:rPr sz="1800" b="0" i="0">
                <a:solidFill>
                  <a:srgbClr val="5FBDB4"/>
                </a:solidFill>
                <a:latin typeface="Calibri"/>
              </a:rPr>
              <a:t>Plateforme collaborative de gestion d'événements</a:t>
            </a:r>
          </a:p>
          <a:p>
            <a:pPr algn="ctr">
              <a:spcBef>
                <a:spcPts val="1600"/>
              </a:spcBef>
            </a:pPr>
            <a:r>
              <a:rPr sz="1400" b="0" i="0">
                <a:solidFill>
                  <a:srgbClr val="2D3A3A"/>
                </a:solidFill>
                <a:latin typeface="Calibri"/>
              </a:rPr>
              <a:t>Titre Professionnel CDA — Niveau 6</a:t>
            </a:r>
          </a:p>
          <a:p>
            <a:pPr algn="ctr">
              <a:spcBef>
                <a:spcPts val="800"/>
              </a:spcBef>
            </a:pPr>
            <a:r>
              <a:rPr sz="1200" b="0" i="0">
                <a:solidFill>
                  <a:srgbClr val="999999"/>
                </a:solidFill>
                <a:latin typeface="Calibri"/>
              </a:rPr>
              <a:t>[Nom Prénom] · [Date de session]</a:t>
            </a:r>
          </a:p>
        </p:txBody>
      </p:sp>
      <p:sp>
        <p:nvSpPr>
          <p:cNvPr id="11" name="TextBox 10"/>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2169174" y="7273568"/>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6686336" y="-520255"/>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7796283" y="2284321"/>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6"/>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Sommaire</a:t>
            </a:r>
          </a:p>
        </p:txBody>
      </p:sp>
      <p:sp>
        <p:nvSpPr>
          <p:cNvPr id="9" name="TextBox 8"/>
          <p:cNvSpPr txBox="1"/>
          <p:nvPr/>
        </p:nvSpPr>
        <p:spPr>
          <a:xfrm>
            <a:off x="914400" y="1280160"/>
            <a:ext cx="16002000" cy="4304995"/>
          </a:xfrm>
          <a:prstGeom prst="rect">
            <a:avLst/>
          </a:prstGeom>
          <a:noFill/>
        </p:spPr>
        <p:txBody>
          <a:bodyPr wrap="square">
            <a:spAutoFit/>
          </a:bodyPr>
          <a:lstStyle/>
          <a:p>
            <a:pPr algn="ctr">
              <a:spcBef>
                <a:spcPts val="400"/>
              </a:spcBef>
            </a:pPr>
            <a:r>
              <a:rPr sz="2200" b="1" i="0">
                <a:solidFill>
                  <a:srgbClr val="3D5A6C"/>
                </a:solidFill>
                <a:latin typeface="Calibri"/>
              </a:rPr>
              <a:t>Plan de la présentation</a:t>
            </a:r>
          </a:p>
          <a:p>
            <a:pPr>
              <a:spcBef>
                <a:spcPts val="200"/>
              </a:spcBef>
              <a:spcAft>
                <a:spcPts val="200"/>
              </a:spcAft>
            </a:pPr>
            <a:r>
              <a:rPr sz="1300" b="0" i="0">
                <a:solidFill>
                  <a:srgbClr val="2D3A3A"/>
                </a:solidFill>
                <a:latin typeface="Calibri"/>
              </a:rPr>
              <a:t>1. </a:t>
            </a:r>
            <a:r>
              <a:rPr sz="1300" b="1" i="0">
                <a:solidFill>
                  <a:srgbClr val="2D3A3A"/>
                </a:solidFill>
                <a:latin typeface="Calibri"/>
              </a:rPr>
              <a:t>Contexte</a:t>
            </a:r>
            <a:r>
              <a:rPr sz="1300" b="0" i="0">
                <a:solidFill>
                  <a:srgbClr val="2D3A3A"/>
                </a:solidFill>
                <a:latin typeface="Calibri"/>
              </a:rPr>
              <a:t> — Formation, rôle, environnement de travail</a:t>
            </a:r>
          </a:p>
          <a:p>
            <a:pPr>
              <a:spcBef>
                <a:spcPts val="200"/>
              </a:spcBef>
              <a:spcAft>
                <a:spcPts val="200"/>
              </a:spcAft>
            </a:pPr>
            <a:r>
              <a:rPr sz="1300" b="0" i="0">
                <a:solidFill>
                  <a:srgbClr val="2D3A3A"/>
                </a:solidFill>
                <a:latin typeface="Calibri"/>
              </a:rPr>
              <a:t>2. </a:t>
            </a:r>
            <a:r>
              <a:rPr sz="1300" b="1" i="0">
                <a:solidFill>
                  <a:srgbClr val="2D3A3A"/>
                </a:solidFill>
                <a:latin typeface="Calibri"/>
              </a:rPr>
              <a:t>Cahier des charges</a:t>
            </a:r>
            <a:r>
              <a:rPr sz="1300" b="0" i="0">
                <a:solidFill>
                  <a:srgbClr val="2D3A3A"/>
                </a:solidFill>
                <a:latin typeface="Calibri"/>
              </a:rPr>
              <a:t> — Besoins, contraintes, livrables</a:t>
            </a:r>
          </a:p>
          <a:p>
            <a:pPr>
              <a:spcBef>
                <a:spcPts val="200"/>
              </a:spcBef>
              <a:spcAft>
                <a:spcPts val="200"/>
              </a:spcAft>
            </a:pPr>
            <a:r>
              <a:rPr sz="1300" b="0" i="0">
                <a:solidFill>
                  <a:srgbClr val="2D3A3A"/>
                </a:solidFill>
                <a:latin typeface="Calibri"/>
              </a:rPr>
              <a:t>3. </a:t>
            </a:r>
            <a:r>
              <a:rPr sz="1300" b="1" i="0">
                <a:solidFill>
                  <a:srgbClr val="2D3A3A"/>
                </a:solidFill>
                <a:latin typeface="Calibri"/>
              </a:rPr>
              <a:t>Gestion de projet</a:t>
            </a:r>
            <a:r>
              <a:rPr sz="1300" b="0" i="0">
                <a:solidFill>
                  <a:srgbClr val="2D3A3A"/>
                </a:solidFill>
                <a:latin typeface="Calibri"/>
              </a:rPr>
              <a:t> — Kanban, suivi, qualité</a:t>
            </a:r>
          </a:p>
          <a:p>
            <a:pPr>
              <a:spcBef>
                <a:spcPts val="200"/>
              </a:spcBef>
              <a:spcAft>
                <a:spcPts val="200"/>
              </a:spcAft>
            </a:pPr>
            <a:r>
              <a:rPr sz="1300" b="0" i="0">
                <a:solidFill>
                  <a:srgbClr val="2D3A3A"/>
                </a:solidFill>
                <a:latin typeface="Calibri"/>
              </a:rPr>
              <a:t>4. </a:t>
            </a:r>
            <a:r>
              <a:rPr sz="1300" b="1" i="0">
                <a:solidFill>
                  <a:srgbClr val="2D3A3A"/>
                </a:solidFill>
                <a:latin typeface="Calibri"/>
              </a:rPr>
              <a:t>Spécifications fonctionnelles</a:t>
            </a:r>
            <a:r>
              <a:rPr sz="1300" b="0" i="0">
                <a:solidFill>
                  <a:srgbClr val="2D3A3A"/>
                </a:solidFill>
                <a:latin typeface="Calibri"/>
              </a:rPr>
              <a:t> — Architecture, maquettes, MCD, séquences</a:t>
            </a:r>
          </a:p>
          <a:p>
            <a:pPr>
              <a:spcBef>
                <a:spcPts val="200"/>
              </a:spcBef>
              <a:spcAft>
                <a:spcPts val="200"/>
              </a:spcAft>
            </a:pPr>
            <a:r>
              <a:rPr sz="1300" b="0" i="0">
                <a:solidFill>
                  <a:srgbClr val="2D3A3A"/>
                </a:solidFill>
                <a:latin typeface="Calibri"/>
              </a:rPr>
              <a:t>5. </a:t>
            </a:r>
            <a:r>
              <a:rPr sz="1300" b="1" i="0">
                <a:solidFill>
                  <a:srgbClr val="2D3A3A"/>
                </a:solidFill>
                <a:latin typeface="Calibri"/>
              </a:rPr>
              <a:t>Réalisations — UI</a:t>
            </a:r>
            <a:r>
              <a:rPr sz="1300" b="0" i="0">
                <a:solidFill>
                  <a:srgbClr val="2D3A3A"/>
                </a:solidFill>
                <a:latin typeface="Calibri"/>
              </a:rPr>
              <a:t> — Captures d'écran, code React</a:t>
            </a:r>
          </a:p>
          <a:p>
            <a:pPr>
              <a:spcBef>
                <a:spcPts val="200"/>
              </a:spcBef>
              <a:spcAft>
                <a:spcPts val="200"/>
              </a:spcAft>
            </a:pPr>
            <a:r>
              <a:rPr sz="1300" b="0" i="0">
                <a:solidFill>
                  <a:srgbClr val="2D3A3A"/>
                </a:solidFill>
                <a:latin typeface="Calibri"/>
              </a:rPr>
              <a:t>6. </a:t>
            </a:r>
            <a:r>
              <a:rPr sz="1300" b="1" i="0">
                <a:solidFill>
                  <a:srgbClr val="2D3A3A"/>
                </a:solidFill>
                <a:latin typeface="Calibri"/>
              </a:rPr>
              <a:t>Réalisations — Métier</a:t>
            </a:r>
            <a:r>
              <a:rPr sz="1300" b="0" i="0">
                <a:solidFill>
                  <a:srgbClr val="2D3A3A"/>
                </a:solidFill>
                <a:latin typeface="Calibri"/>
              </a:rPr>
              <a:t> — Use cases, modèles domaine, Arrow Either</a:t>
            </a:r>
          </a:p>
          <a:p>
            <a:pPr>
              <a:spcBef>
                <a:spcPts val="200"/>
              </a:spcBef>
              <a:spcAft>
                <a:spcPts val="200"/>
              </a:spcAft>
            </a:pPr>
            <a:r>
              <a:rPr sz="1300" b="0" i="0">
                <a:solidFill>
                  <a:srgbClr val="2D3A3A"/>
                </a:solidFill>
                <a:latin typeface="Calibri"/>
              </a:rPr>
              <a:t>7. </a:t>
            </a:r>
            <a:r>
              <a:rPr sz="1300" b="1" i="0">
                <a:solidFill>
                  <a:srgbClr val="2D3A3A"/>
                </a:solidFill>
                <a:latin typeface="Calibri"/>
              </a:rPr>
              <a:t>Réalisations — Données</a:t>
            </a:r>
            <a:r>
              <a:rPr sz="1300" b="0" i="0">
                <a:solidFill>
                  <a:srgbClr val="2D3A3A"/>
                </a:solidFill>
                <a:latin typeface="Calibri"/>
              </a:rPr>
              <a:t> — Verrou optimiste, repositories SQL</a:t>
            </a:r>
          </a:p>
          <a:p>
            <a:pPr>
              <a:spcBef>
                <a:spcPts val="200"/>
              </a:spcBef>
              <a:spcAft>
                <a:spcPts val="200"/>
              </a:spcAft>
            </a:pPr>
            <a:r>
              <a:rPr sz="1300" b="0" i="0">
                <a:solidFill>
                  <a:srgbClr val="2D3A3A"/>
                </a:solidFill>
                <a:latin typeface="Calibri"/>
              </a:rPr>
              <a:t>8. </a:t>
            </a:r>
            <a:r>
              <a:rPr sz="1300" b="1" i="0">
                <a:solidFill>
                  <a:srgbClr val="2D3A3A"/>
                </a:solidFill>
                <a:latin typeface="Calibri"/>
              </a:rPr>
              <a:t>Réalisations — Autres composants</a:t>
            </a:r>
            <a:r>
              <a:rPr sz="1300" b="0" i="0">
                <a:solidFill>
                  <a:srgbClr val="2D3A3A"/>
                </a:solidFill>
                <a:latin typeface="Calibri"/>
              </a:rPr>
              <a:t> — JWT, endpoints REST, erreurs</a:t>
            </a:r>
          </a:p>
          <a:p>
            <a:pPr>
              <a:spcBef>
                <a:spcPts val="200"/>
              </a:spcBef>
              <a:spcAft>
                <a:spcPts val="200"/>
              </a:spcAft>
            </a:pPr>
            <a:r>
              <a:rPr sz="1300" b="0" i="0">
                <a:solidFill>
                  <a:srgbClr val="2D3A3A"/>
                </a:solidFill>
                <a:latin typeface="Calibri"/>
              </a:rPr>
              <a:t>9. </a:t>
            </a:r>
            <a:r>
              <a:rPr sz="1300" b="1" i="0">
                <a:solidFill>
                  <a:srgbClr val="2D3A3A"/>
                </a:solidFill>
                <a:latin typeface="Calibri"/>
              </a:rPr>
              <a:t>Sécurité</a:t>
            </a:r>
            <a:r>
              <a:rPr sz="1300" b="0" i="0">
                <a:solidFill>
                  <a:srgbClr val="2D3A3A"/>
                </a:solidFill>
                <a:latin typeface="Calibri"/>
              </a:rPr>
              <a:t> — Auth, applicative, infrastructure, éco-conception</a:t>
            </a:r>
          </a:p>
          <a:p>
            <a:pPr>
              <a:spcBef>
                <a:spcPts val="200"/>
              </a:spcBef>
              <a:spcAft>
                <a:spcPts val="200"/>
              </a:spcAft>
            </a:pPr>
            <a:r>
              <a:rPr sz="1300" b="0" i="0">
                <a:solidFill>
                  <a:srgbClr val="2D3A3A"/>
                </a:solidFill>
                <a:latin typeface="Calibri"/>
              </a:rPr>
              <a:t>10. </a:t>
            </a:r>
            <a:r>
              <a:rPr sz="1300" b="1" i="0">
                <a:solidFill>
                  <a:srgbClr val="2D3A3A"/>
                </a:solidFill>
                <a:latin typeface="Calibri"/>
              </a:rPr>
              <a:t>Tests et jeu d'essai</a:t>
            </a:r>
            <a:r>
              <a:rPr sz="1300" b="0" i="0">
                <a:solidFill>
                  <a:srgbClr val="2D3A3A"/>
                </a:solidFill>
                <a:latin typeface="Calibri"/>
              </a:rPr>
              <a:t> — Stratégie, Kotest, scénarios</a:t>
            </a:r>
          </a:p>
          <a:p>
            <a:pPr>
              <a:spcBef>
                <a:spcPts val="200"/>
              </a:spcBef>
              <a:spcAft>
                <a:spcPts val="200"/>
              </a:spcAft>
            </a:pPr>
            <a:r>
              <a:rPr sz="1300" b="0" i="0">
                <a:solidFill>
                  <a:srgbClr val="2D3A3A"/>
                </a:solidFill>
                <a:latin typeface="Calibri"/>
              </a:rPr>
              <a:t>11. </a:t>
            </a:r>
            <a:r>
              <a:rPr sz="1300" b="1" i="0">
                <a:solidFill>
                  <a:srgbClr val="2D3A3A"/>
                </a:solidFill>
                <a:latin typeface="Calibri"/>
              </a:rPr>
              <a:t>Déploiement et DevOps</a:t>
            </a:r>
            <a:r>
              <a:rPr sz="1300" b="0" i="0">
                <a:solidFill>
                  <a:srgbClr val="2D3A3A"/>
                </a:solidFill>
                <a:latin typeface="Calibri"/>
              </a:rPr>
              <a:t> — Docker, CI/CD, mise en production</a:t>
            </a:r>
          </a:p>
          <a:p>
            <a:pPr>
              <a:spcBef>
                <a:spcPts val="200"/>
              </a:spcBef>
              <a:spcAft>
                <a:spcPts val="200"/>
              </a:spcAft>
            </a:pPr>
            <a:r>
              <a:rPr sz="1300" b="0" i="0">
                <a:solidFill>
                  <a:srgbClr val="2D3A3A"/>
                </a:solidFill>
                <a:latin typeface="Calibri"/>
              </a:rPr>
              <a:t>12. </a:t>
            </a:r>
            <a:r>
              <a:rPr sz="1300" b="1" i="0">
                <a:solidFill>
                  <a:srgbClr val="2D3A3A"/>
                </a:solidFill>
                <a:latin typeface="Calibri"/>
              </a:rPr>
              <a:t>Veille sécurité</a:t>
            </a:r>
            <a:r>
              <a:rPr sz="1300" b="0" i="0">
                <a:solidFill>
                  <a:srgbClr val="2D3A3A"/>
                </a:solidFill>
                <a:latin typeface="Calibri"/>
              </a:rPr>
              <a:t> — OWASP Top 10, CVE</a:t>
            </a:r>
          </a:p>
          <a:p>
            <a:pPr>
              <a:spcBef>
                <a:spcPts val="200"/>
              </a:spcBef>
              <a:spcAft>
                <a:spcPts val="200"/>
              </a:spcAft>
            </a:pPr>
            <a:r>
              <a:rPr sz="1300" b="0" i="0">
                <a:solidFill>
                  <a:srgbClr val="2D3A3A"/>
                </a:solidFill>
                <a:latin typeface="Calibri"/>
              </a:rPr>
              <a:t>13. </a:t>
            </a:r>
            <a:r>
              <a:rPr sz="1300" b="1" i="0">
                <a:solidFill>
                  <a:srgbClr val="2D3A3A"/>
                </a:solidFill>
                <a:latin typeface="Calibri"/>
              </a:rPr>
              <a:t>Synthèse et conclusion</a:t>
            </a:r>
            <a:r>
              <a:rPr sz="1300" b="0" i="0">
                <a:solidFill>
                  <a:srgbClr val="2D3A3A"/>
                </a:solidFill>
                <a:latin typeface="Calibri"/>
              </a:rPr>
              <a:t> — Bilan, perspectives</a:t>
            </a:r>
          </a:p>
        </p:txBody>
      </p:sp>
      <p:sp>
        <p:nvSpPr>
          <p:cNvPr id="10" name="TextBox 9"/>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Compétences CDA mises en œuvre</a:t>
            </a:r>
          </a:p>
        </p:txBody>
      </p:sp>
      <p:sp>
        <p:nvSpPr>
          <p:cNvPr id="9" name="TextBox 8"/>
          <p:cNvSpPr txBox="1"/>
          <p:nvPr/>
        </p:nvSpPr>
        <p:spPr>
          <a:xfrm>
            <a:off x="914400" y="1280160"/>
            <a:ext cx="16002000" cy="1104595"/>
          </a:xfrm>
          <a:prstGeom prst="rect">
            <a:avLst/>
          </a:prstGeom>
          <a:noFill/>
        </p:spPr>
        <p:txBody>
          <a:bodyPr wrap="square">
            <a:spAutoFit/>
          </a:bodyPr>
          <a:lstStyle/>
          <a:p>
            <a:pPr algn="ctr">
              <a:spcBef>
                <a:spcPts val="400"/>
              </a:spcBef>
            </a:pPr>
            <a:r>
              <a:rPr sz="2200" b="1" i="0">
                <a:solidFill>
                  <a:srgbClr val="3D5A6C"/>
                </a:solidFill>
                <a:latin typeface="Calibri"/>
              </a:rPr>
              <a:t>Compétences du référentiel CDA</a:t>
            </a:r>
          </a:p>
          <a:p>
            <a:pPr>
              <a:spcBef>
                <a:spcPts val="800"/>
              </a:spcBef>
              <a:spcAft>
                <a:spcPts val="200"/>
              </a:spcAft>
            </a:pPr>
            <a:r>
              <a:rPr sz="1400" b="1" i="0">
                <a:solidFill>
                  <a:srgbClr val="3D5A6C"/>
                </a:solidFill>
                <a:latin typeface="Calibri"/>
              </a:rPr>
              <a:t>CCP 1 — Développer une application sécurisée</a:t>
            </a:r>
          </a:p>
        </p:txBody>
      </p:sp>
      <p:graphicFrame>
        <p:nvGraphicFramePr>
          <p:cNvPr id="10" name="Table 9"/>
          <p:cNvGraphicFramePr>
            <a:graphicFrameLocks noGrp="1"/>
          </p:cNvGraphicFramePr>
          <p:nvPr/>
        </p:nvGraphicFramePr>
        <p:xfrm>
          <a:off x="914400" y="2476195"/>
          <a:ext cx="16002000" cy="1508760"/>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01752">
                <a:tc>
                  <a:txBody>
                    <a:bodyPr/>
                    <a:lstStyle/>
                    <a:p>
                      <a:pPr>
                        <a:defRPr sz="1000" b="1">
                          <a:solidFill>
                            <a:srgbClr val="3D5A6C"/>
                          </a:solidFill>
                        </a:defRPr>
                      </a:pPr>
                      <a:r>
                        <a:t>Compétence</a:t>
                      </a:r>
                    </a:p>
                  </a:txBody>
                  <a:tcPr/>
                </a:tc>
                <a:tc>
                  <a:txBody>
                    <a:bodyPr/>
                    <a:lstStyle/>
                    <a:p>
                      <a:pPr>
                        <a:defRPr sz="1000" b="1">
                          <a:solidFill>
                            <a:srgbClr val="3D5A6C"/>
                          </a:solidFill>
                        </a:defRPr>
                      </a:pPr>
                      <a:r>
                        <a:t>Mise en œuvre</a:t>
                      </a:r>
                    </a:p>
                  </a:txBody>
                  <a:tcPr/>
                </a:tc>
                <a:extLst>
                  <a:ext uri="{0D108BD9-81ED-4DB2-BD59-A6C34878D82A}">
                    <a16:rowId xmlns:a16="http://schemas.microsoft.com/office/drawing/2014/main" val="10000"/>
                  </a:ext>
                </a:extLst>
              </a:tr>
              <a:tr h="301752">
                <a:tc>
                  <a:txBody>
                    <a:bodyPr/>
                    <a:lstStyle/>
                    <a:p>
                      <a:pPr>
                        <a:defRPr sz="1000">
                          <a:solidFill>
                            <a:srgbClr val="2D3A3A"/>
                          </a:solidFill>
                        </a:defRPr>
                      </a:pPr>
                      <a:r>
                        <a:t>C1 — Installer et configurer l'environnement</a:t>
                      </a:r>
                    </a:p>
                  </a:txBody>
                  <a:tcPr/>
                </a:tc>
                <a:tc>
                  <a:txBody>
                    <a:bodyPr/>
                    <a:lstStyle/>
                    <a:p>
                      <a:pPr>
                        <a:defRPr sz="1000">
                          <a:solidFill>
                            <a:srgbClr val="2D3A3A"/>
                          </a:solidFill>
                        </a:defRPr>
                      </a:pPr>
                      <a:r>
                        <a:t>Kotlin 2.2 / JDK 21, Gradle multi-modules, Docker, IntelliJ IDEA, docker-compose</a:t>
                      </a:r>
                    </a:p>
                  </a:txBody>
                  <a:tcPr/>
                </a:tc>
                <a:extLst>
                  <a:ext uri="{0D108BD9-81ED-4DB2-BD59-A6C34878D82A}">
                    <a16:rowId xmlns:a16="http://schemas.microsoft.com/office/drawing/2014/main" val="10001"/>
                  </a:ext>
                </a:extLst>
              </a:tr>
              <a:tr h="301752">
                <a:tc>
                  <a:txBody>
                    <a:bodyPr/>
                    <a:lstStyle/>
                    <a:p>
                      <a:pPr>
                        <a:defRPr sz="1000">
                          <a:solidFill>
                            <a:srgbClr val="2D3A3A"/>
                          </a:solidFill>
                        </a:defRPr>
                      </a:pPr>
                      <a:r>
                        <a:t>C2 — Développer des interfaces utilisateur</a:t>
                      </a:r>
                    </a:p>
                  </a:txBody>
                  <a:tcPr/>
                </a:tc>
                <a:tc>
                  <a:txBody>
                    <a:bodyPr/>
                    <a:lstStyle/>
                    <a:p>
                      <a:pPr>
                        <a:defRPr sz="1000">
                          <a:solidFill>
                            <a:srgbClr val="2D3A3A"/>
                          </a:solidFill>
                        </a:defRPr>
                      </a:pPr>
                      <a:r>
                        <a:t>Endpoints REST Ktor + SPA React 19 / TypeScript (8 vues, 6 modales)</a:t>
                      </a:r>
                    </a:p>
                  </a:txBody>
                  <a:tcPr/>
                </a:tc>
                <a:extLst>
                  <a:ext uri="{0D108BD9-81ED-4DB2-BD59-A6C34878D82A}">
                    <a16:rowId xmlns:a16="http://schemas.microsoft.com/office/drawing/2014/main" val="10002"/>
                  </a:ext>
                </a:extLst>
              </a:tr>
              <a:tr h="301752">
                <a:tc>
                  <a:txBody>
                    <a:bodyPr/>
                    <a:lstStyle/>
                    <a:p>
                      <a:pPr>
                        <a:defRPr sz="1000">
                          <a:solidFill>
                            <a:srgbClr val="2D3A3A"/>
                          </a:solidFill>
                        </a:defRPr>
                      </a:pPr>
                      <a:r>
                        <a:t>C3 — Développer des composants métier</a:t>
                      </a:r>
                    </a:p>
                  </a:txBody>
                  <a:tcPr/>
                </a:tc>
                <a:tc>
                  <a:txBody>
                    <a:bodyPr/>
                    <a:lstStyle/>
                    <a:p>
                      <a:pPr>
                        <a:defRPr sz="1000">
                          <a:solidFill>
                            <a:srgbClr val="2D3A3A"/>
                          </a:solidFill>
                        </a:defRPr>
                      </a:pPr>
                      <a:r>
                        <a:t>12 use cases (module domain), Arrow Either, verrou optimiste</a:t>
                      </a:r>
                    </a:p>
                  </a:txBody>
                  <a:tcPr/>
                </a:tc>
                <a:extLst>
                  <a:ext uri="{0D108BD9-81ED-4DB2-BD59-A6C34878D82A}">
                    <a16:rowId xmlns:a16="http://schemas.microsoft.com/office/drawing/2014/main" val="10003"/>
                  </a:ext>
                </a:extLst>
              </a:tr>
              <a:tr h="301752">
                <a:tc>
                  <a:txBody>
                    <a:bodyPr/>
                    <a:lstStyle/>
                    <a:p>
                      <a:pPr>
                        <a:defRPr sz="1000">
                          <a:solidFill>
                            <a:srgbClr val="2D3A3A"/>
                          </a:solidFill>
                        </a:defRPr>
                      </a:pPr>
                      <a:r>
                        <a:t>C4 — Contribuer à la gestion de projet</a:t>
                      </a:r>
                    </a:p>
                  </a:txBody>
                  <a:tcPr/>
                </a:tc>
                <a:tc>
                  <a:txBody>
                    <a:bodyPr/>
                    <a:lstStyle/>
                    <a:p>
                      <a:pPr>
                        <a:defRPr sz="1000">
                          <a:solidFill>
                            <a:srgbClr val="2D3A3A"/>
                          </a:solidFill>
                        </a:defRPr>
                      </a:pPr>
                      <a:r>
                        <a:t>Kanban GitHub, CI/CD GitHub Actions, Detekt + Spotless</a:t>
                      </a:r>
                    </a:p>
                  </a:txBody>
                  <a:tcPr/>
                </a:tc>
                <a:extLst>
                  <a:ext uri="{0D108BD9-81ED-4DB2-BD59-A6C34878D82A}">
                    <a16:rowId xmlns:a16="http://schemas.microsoft.com/office/drawing/2014/main" val="10004"/>
                  </a:ext>
                </a:extLst>
              </a:tr>
            </a:tbl>
          </a:graphicData>
        </a:graphic>
      </p:graphicFrame>
      <p:sp>
        <p:nvSpPr>
          <p:cNvPr id="11" name="TextBox 10"/>
          <p:cNvSpPr txBox="1"/>
          <p:nvPr/>
        </p:nvSpPr>
        <p:spPr>
          <a:xfrm>
            <a:off x="914400" y="4094683"/>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CCP 2 — Concevoir et développer une application sécurisée organisée en couches</a:t>
            </a:r>
          </a:p>
        </p:txBody>
      </p:sp>
      <p:graphicFrame>
        <p:nvGraphicFramePr>
          <p:cNvPr id="12" name="Table 11"/>
          <p:cNvGraphicFramePr>
            <a:graphicFrameLocks noGrp="1"/>
          </p:cNvGraphicFramePr>
          <p:nvPr/>
        </p:nvGraphicFramePr>
        <p:xfrm>
          <a:off x="914400" y="4829860"/>
          <a:ext cx="16002000" cy="1508760"/>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01752">
                <a:tc>
                  <a:txBody>
                    <a:bodyPr/>
                    <a:lstStyle/>
                    <a:p>
                      <a:pPr>
                        <a:defRPr sz="1000" b="1">
                          <a:solidFill>
                            <a:srgbClr val="3D5A6C"/>
                          </a:solidFill>
                        </a:defRPr>
                      </a:pPr>
                      <a:r>
                        <a:t>Compétence</a:t>
                      </a:r>
                    </a:p>
                  </a:txBody>
                  <a:tcPr/>
                </a:tc>
                <a:tc>
                  <a:txBody>
                    <a:bodyPr/>
                    <a:lstStyle/>
                    <a:p>
                      <a:pPr>
                        <a:defRPr sz="1000" b="1">
                          <a:solidFill>
                            <a:srgbClr val="3D5A6C"/>
                          </a:solidFill>
                        </a:defRPr>
                      </a:pPr>
                      <a:r>
                        <a:t>Mise en œuvre</a:t>
                      </a:r>
                    </a:p>
                  </a:txBody>
                  <a:tcPr/>
                </a:tc>
                <a:extLst>
                  <a:ext uri="{0D108BD9-81ED-4DB2-BD59-A6C34878D82A}">
                    <a16:rowId xmlns:a16="http://schemas.microsoft.com/office/drawing/2014/main" val="10000"/>
                  </a:ext>
                </a:extLst>
              </a:tr>
              <a:tr h="301752">
                <a:tc>
                  <a:txBody>
                    <a:bodyPr/>
                    <a:lstStyle/>
                    <a:p>
                      <a:pPr>
                        <a:defRPr sz="1000">
                          <a:solidFill>
                            <a:srgbClr val="2D3A3A"/>
                          </a:solidFill>
                        </a:defRPr>
                      </a:pPr>
                      <a:r>
                        <a:t>C5 — Analyser les besoins et maquetter</a:t>
                      </a:r>
                    </a:p>
                  </a:txBody>
                  <a:tcPr/>
                </a:tc>
                <a:tc>
                  <a:txBody>
                    <a:bodyPr/>
                    <a:lstStyle/>
                    <a:p>
                      <a:pPr>
                        <a:defRPr sz="1000">
                          <a:solidFill>
                            <a:srgbClr val="2D3A3A"/>
                          </a:solidFill>
                        </a:defRPr>
                      </a:pPr>
                      <a:r>
                        <a:t>Expression des besoins, maquettes Figma, Design Tokens CSS</a:t>
                      </a:r>
                    </a:p>
                  </a:txBody>
                  <a:tcPr/>
                </a:tc>
                <a:extLst>
                  <a:ext uri="{0D108BD9-81ED-4DB2-BD59-A6C34878D82A}">
                    <a16:rowId xmlns:a16="http://schemas.microsoft.com/office/drawing/2014/main" val="10001"/>
                  </a:ext>
                </a:extLst>
              </a:tr>
              <a:tr h="301752">
                <a:tc>
                  <a:txBody>
                    <a:bodyPr/>
                    <a:lstStyle/>
                    <a:p>
                      <a:pPr>
                        <a:defRPr sz="1000">
                          <a:solidFill>
                            <a:srgbClr val="2D3A3A"/>
                          </a:solidFill>
                        </a:defRPr>
                      </a:pPr>
                      <a:r>
                        <a:t>C6 — Définir l'architecture logicielle</a:t>
                      </a:r>
                    </a:p>
                  </a:txBody>
                  <a:tcPr/>
                </a:tc>
                <a:tc>
                  <a:txBody>
                    <a:bodyPr/>
                    <a:lstStyle/>
                    <a:p>
                      <a:pPr>
                        <a:defRPr sz="1000">
                          <a:solidFill>
                            <a:srgbClr val="2D3A3A"/>
                          </a:solidFill>
                        </a:defRPr>
                      </a:pPr>
                      <a:r>
                        <a:t>Architecture hexagonale (Ports &amp; Adapters), 2 modules Gradle, Koin DI</a:t>
                      </a:r>
                    </a:p>
                  </a:txBody>
                  <a:tcPr/>
                </a:tc>
                <a:extLst>
                  <a:ext uri="{0D108BD9-81ED-4DB2-BD59-A6C34878D82A}">
                    <a16:rowId xmlns:a16="http://schemas.microsoft.com/office/drawing/2014/main" val="10002"/>
                  </a:ext>
                </a:extLst>
              </a:tr>
              <a:tr h="301752">
                <a:tc>
                  <a:txBody>
                    <a:bodyPr/>
                    <a:lstStyle/>
                    <a:p>
                      <a:pPr>
                        <a:defRPr sz="1000">
                          <a:solidFill>
                            <a:srgbClr val="2D3A3A"/>
                          </a:solidFill>
                        </a:defRPr>
                      </a:pPr>
                      <a:r>
                        <a:t>C7 — Concevoir et mettre en place une BDD</a:t>
                      </a:r>
                    </a:p>
                  </a:txBody>
                  <a:tcPr/>
                </a:tc>
                <a:tc>
                  <a:txBody>
                    <a:bodyPr/>
                    <a:lstStyle/>
                    <a:p>
                      <a:pPr>
                        <a:defRPr sz="1000">
                          <a:solidFill>
                            <a:srgbClr val="2D3A3A"/>
                          </a:solidFill>
                        </a:defRPr>
                      </a:pPr>
                      <a:r>
                        <a:t>MCD 4 entités, PostgreSQL, FK, CHECK, UNIQUE, verrou optimiste</a:t>
                      </a:r>
                    </a:p>
                  </a:txBody>
                  <a:tcPr/>
                </a:tc>
                <a:extLst>
                  <a:ext uri="{0D108BD9-81ED-4DB2-BD59-A6C34878D82A}">
                    <a16:rowId xmlns:a16="http://schemas.microsoft.com/office/drawing/2014/main" val="10003"/>
                  </a:ext>
                </a:extLst>
              </a:tr>
              <a:tr h="301752">
                <a:tc>
                  <a:txBody>
                    <a:bodyPr/>
                    <a:lstStyle/>
                    <a:p>
                      <a:pPr>
                        <a:defRPr sz="1000">
                          <a:solidFill>
                            <a:srgbClr val="2D3A3A"/>
                          </a:solidFill>
                        </a:defRPr>
                      </a:pPr>
                      <a:r>
                        <a:t>C8 — Développer des composants d'accès aux données</a:t>
                      </a:r>
                    </a:p>
                  </a:txBody>
                  <a:tcPr/>
                </a:tc>
                <a:tc>
                  <a:txBody>
                    <a:bodyPr/>
                    <a:lstStyle/>
                    <a:p>
                      <a:pPr>
                        <a:defRPr sz="1000">
                          <a:solidFill>
                            <a:srgbClr val="2D3A3A"/>
                          </a:solidFill>
                        </a:defRPr>
                      </a:pPr>
                      <a:r>
                        <a:t>4 repositories SQL (Exposed ORM), requêtes paramétrées, transactions</a:t>
                      </a:r>
                    </a:p>
                  </a:txBody>
                  <a:tcPr/>
                </a:tc>
                <a:extLst>
                  <a:ext uri="{0D108BD9-81ED-4DB2-BD59-A6C34878D82A}">
                    <a16:rowId xmlns:a16="http://schemas.microsoft.com/office/drawing/2014/main" val="10004"/>
                  </a:ext>
                </a:extLst>
              </a:tr>
            </a:tbl>
          </a:graphicData>
        </a:graphic>
      </p:graphicFrame>
      <p:sp>
        <p:nvSpPr>
          <p:cNvPr id="13" name="TextBox 12"/>
          <p:cNvSpPr txBox="1"/>
          <p:nvPr/>
        </p:nvSpPr>
        <p:spPr>
          <a:xfrm>
            <a:off x="914400" y="6448348"/>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CCP 3 — Préparer le déploiement d'une application sécurisée</a:t>
            </a:r>
          </a:p>
        </p:txBody>
      </p:sp>
      <p:graphicFrame>
        <p:nvGraphicFramePr>
          <p:cNvPr id="14" name="Table 13"/>
          <p:cNvGraphicFramePr>
            <a:graphicFrameLocks noGrp="1"/>
          </p:cNvGraphicFramePr>
          <p:nvPr/>
        </p:nvGraphicFramePr>
        <p:xfrm>
          <a:off x="914400" y="7183526"/>
          <a:ext cx="16002000" cy="1234439"/>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08609">
                <a:tc>
                  <a:txBody>
                    <a:bodyPr/>
                    <a:lstStyle/>
                    <a:p>
                      <a:pPr>
                        <a:defRPr sz="1000" b="1">
                          <a:solidFill>
                            <a:srgbClr val="3D5A6C"/>
                          </a:solidFill>
                        </a:defRPr>
                      </a:pPr>
                      <a:r>
                        <a:t>Compétence</a:t>
                      </a:r>
                    </a:p>
                  </a:txBody>
                  <a:tcPr/>
                </a:tc>
                <a:tc>
                  <a:txBody>
                    <a:bodyPr/>
                    <a:lstStyle/>
                    <a:p>
                      <a:pPr>
                        <a:defRPr sz="1000" b="1">
                          <a:solidFill>
                            <a:srgbClr val="3D5A6C"/>
                          </a:solidFill>
                        </a:defRPr>
                      </a:pPr>
                      <a:r>
                        <a:t>Mise en œuvre</a:t>
                      </a:r>
                    </a:p>
                  </a:txBody>
                  <a:tcPr/>
                </a:tc>
                <a:extLst>
                  <a:ext uri="{0D108BD9-81ED-4DB2-BD59-A6C34878D82A}">
                    <a16:rowId xmlns:a16="http://schemas.microsoft.com/office/drawing/2014/main" val="10000"/>
                  </a:ext>
                </a:extLst>
              </a:tr>
              <a:tr h="308609">
                <a:tc>
                  <a:txBody>
                    <a:bodyPr/>
                    <a:lstStyle/>
                    <a:p>
                      <a:pPr>
                        <a:defRPr sz="1000">
                          <a:solidFill>
                            <a:srgbClr val="2D3A3A"/>
                          </a:solidFill>
                        </a:defRPr>
                      </a:pPr>
                      <a:r>
                        <a:t>C9 — Préparer et exécuter les plans de tests</a:t>
                      </a:r>
                    </a:p>
                  </a:txBody>
                  <a:tcPr/>
                </a:tc>
                <a:tc>
                  <a:txBody>
                    <a:bodyPr/>
                    <a:lstStyle/>
                    <a:p>
                      <a:pPr>
                        <a:defRPr sz="1000">
                          <a:solidFill>
                            <a:srgbClr val="2D3A3A"/>
                          </a:solidFill>
                        </a:defRPr>
                      </a:pPr>
                      <a:r>
                        <a:t>Kotest + MockK, Testcontainers, Vitest, Playwright, Detekt</a:t>
                      </a:r>
                    </a:p>
                  </a:txBody>
                  <a:tcPr/>
                </a:tc>
                <a:extLst>
                  <a:ext uri="{0D108BD9-81ED-4DB2-BD59-A6C34878D82A}">
                    <a16:rowId xmlns:a16="http://schemas.microsoft.com/office/drawing/2014/main" val="10001"/>
                  </a:ext>
                </a:extLst>
              </a:tr>
              <a:tr h="308609">
                <a:tc>
                  <a:txBody>
                    <a:bodyPr/>
                    <a:lstStyle/>
                    <a:p>
                      <a:pPr>
                        <a:defRPr sz="1000">
                          <a:solidFill>
                            <a:srgbClr val="2D3A3A"/>
                          </a:solidFill>
                        </a:defRPr>
                      </a:pPr>
                      <a:r>
                        <a:t>C10 — Préparer et documenter le déploiement</a:t>
                      </a:r>
                    </a:p>
                  </a:txBody>
                  <a:tcPr/>
                </a:tc>
                <a:tc>
                  <a:txBody>
                    <a:bodyPr/>
                    <a:lstStyle/>
                    <a:p>
                      <a:pPr>
                        <a:defRPr sz="1000">
                          <a:solidFill>
                            <a:srgbClr val="2D3A3A"/>
                          </a:solidFill>
                        </a:defRPr>
                      </a:pPr>
                      <a:r>
                        <a:t>Dockerfile multi-stage, render.yaml, docker-compose, procédure documentée</a:t>
                      </a:r>
                    </a:p>
                  </a:txBody>
                  <a:tcPr/>
                </a:tc>
                <a:extLst>
                  <a:ext uri="{0D108BD9-81ED-4DB2-BD59-A6C34878D82A}">
                    <a16:rowId xmlns:a16="http://schemas.microsoft.com/office/drawing/2014/main" val="10002"/>
                  </a:ext>
                </a:extLst>
              </a:tr>
              <a:tr h="308612">
                <a:tc>
                  <a:txBody>
                    <a:bodyPr/>
                    <a:lstStyle/>
                    <a:p>
                      <a:pPr>
                        <a:defRPr sz="1000">
                          <a:solidFill>
                            <a:srgbClr val="2D3A3A"/>
                          </a:solidFill>
                        </a:defRPr>
                      </a:pPr>
                      <a:r>
                        <a:t>C11 — Contribuer à la mise en production DevOps</a:t>
                      </a:r>
                    </a:p>
                  </a:txBody>
                  <a:tcPr/>
                </a:tc>
                <a:tc>
                  <a:txBody>
                    <a:bodyPr/>
                    <a:lstStyle/>
                    <a:p>
                      <a:pPr>
                        <a:defRPr sz="1000">
                          <a:solidFill>
                            <a:srgbClr val="2D3A3A"/>
                          </a:solidFill>
                        </a:defRPr>
                      </a:pPr>
                      <a:r>
                        <a:t>2 pipelines CI/CD GitHub Actions, audit sécurité quotidien, Dependabot</a:t>
                      </a:r>
                    </a:p>
                  </a:txBody>
                  <a:tcPr/>
                </a:tc>
                <a:extLst>
                  <a:ext uri="{0D108BD9-81ED-4DB2-BD59-A6C34878D82A}">
                    <a16:rowId xmlns:a16="http://schemas.microsoft.com/office/drawing/2014/main" val="10003"/>
                  </a:ext>
                </a:extLst>
              </a:tr>
            </a:tbl>
          </a:graphicData>
        </a:graphic>
      </p:graphicFrame>
      <p:sp>
        <p:nvSpPr>
          <p:cNvPr id="15" name="TextBox 14"/>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B5C73"/>
        </a:solidFill>
        <a:effectLst/>
      </p:bgPr>
    </p:bg>
    <p:spTree>
      <p:nvGrpSpPr>
        <p:cNvPr id="1" name=""/>
        <p:cNvGrpSpPr/>
        <p:nvPr/>
      </p:nvGrpSpPr>
      <p:grpSpPr>
        <a:xfrm>
          <a:off x="0" y="0"/>
          <a:ext cx="0" cy="0"/>
          <a:chOff x="0" y="0"/>
          <a:chExt cx="0" cy="0"/>
        </a:xfrm>
      </p:grpSpPr>
      <p:sp>
        <p:nvSpPr>
          <p:cNvPr id="2" name="TextBox 2"/>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p:nvSpPr>
        <p:spPr>
          <a:xfrm>
            <a:off x="-810449" y="4666508"/>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p:nvSpPr>
        <p:spPr>
          <a:xfrm>
            <a:off x="-658049" y="4818908"/>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extBox 4"/>
          <p:cNvSpPr txBox="1"/>
          <p:nvPr/>
        </p:nvSpPr>
        <p:spPr>
          <a:xfrm>
            <a:off x="1828800" y="3200400"/>
            <a:ext cx="14630400" cy="3657600"/>
          </a:xfrm>
          <a:prstGeom prst="rect">
            <a:avLst/>
          </a:prstGeom>
          <a:noFill/>
        </p:spPr>
        <p:txBody>
          <a:bodyPr wrap="square">
            <a:spAutoFit/>
          </a:bodyPr>
          <a:lstStyle/>
          <a:p>
            <a:pPr algn="ctr"/>
            <a:r>
              <a:rPr sz="2800" b="1" i="0">
                <a:solidFill>
                  <a:srgbClr val="FFFFFF"/>
                </a:solidFill>
                <a:latin typeface="Calibri"/>
              </a:rPr>
              <a:t>Contexte de formation</a:t>
            </a:r>
          </a:p>
        </p:txBody>
      </p:sp>
      <p:sp>
        <p:nvSpPr>
          <p:cNvPr id="6" name="TextBox 5"/>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L'organisme et la promotion</a:t>
            </a:r>
          </a:p>
        </p:txBody>
      </p:sp>
      <p:graphicFrame>
        <p:nvGraphicFramePr>
          <p:cNvPr id="9" name="Table 8"/>
          <p:cNvGraphicFramePr>
            <a:graphicFrameLocks noGrp="1"/>
          </p:cNvGraphicFramePr>
          <p:nvPr/>
        </p:nvGraphicFramePr>
        <p:xfrm>
          <a:off x="914400" y="1280160"/>
          <a:ext cx="16002000" cy="1508760"/>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01752">
                <a:tc>
                  <a:txBody>
                    <a:bodyPr/>
                    <a:lstStyle/>
                    <a:p>
                      <a:pPr>
                        <a:defRPr sz="1000" b="1">
                          <a:solidFill>
                            <a:srgbClr val="3D5A6C"/>
                          </a:solidFill>
                        </a:defRPr>
                      </a:pPr>
                      <a:r>
                        <a:t>Organisme</a:t>
                      </a:r>
                    </a:p>
                  </a:txBody>
                  <a:tcPr/>
                </a:tc>
                <a:tc>
                  <a:txBody>
                    <a:bodyPr/>
                    <a:lstStyle/>
                    <a:p>
                      <a:pPr>
                        <a:defRPr sz="1000" b="1">
                          <a:solidFill>
                            <a:srgbClr val="3D5A6C"/>
                          </a:solidFill>
                        </a:defRPr>
                      </a:pPr>
                      <a:r>
                        <a:t>[Nom du centre de formation]</a:t>
                      </a:r>
                    </a:p>
                  </a:txBody>
                  <a:tcPr/>
                </a:tc>
                <a:extLst>
                  <a:ext uri="{0D108BD9-81ED-4DB2-BD59-A6C34878D82A}">
                    <a16:rowId xmlns:a16="http://schemas.microsoft.com/office/drawing/2014/main" val="10000"/>
                  </a:ext>
                </a:extLst>
              </a:tr>
              <a:tr h="301752">
                <a:tc>
                  <a:txBody>
                    <a:bodyPr/>
                    <a:lstStyle/>
                    <a:p>
                      <a:pPr>
                        <a:defRPr sz="1000">
                          <a:solidFill>
                            <a:srgbClr val="2D3A3A"/>
                          </a:solidFill>
                        </a:defRPr>
                      </a:pPr>
                      <a:r>
                        <a:t>Formation</a:t>
                      </a:r>
                    </a:p>
                  </a:txBody>
                  <a:tcPr/>
                </a:tc>
                <a:tc>
                  <a:txBody>
                    <a:bodyPr/>
                    <a:lstStyle/>
                    <a:p>
                      <a:pPr>
                        <a:defRPr sz="1000">
                          <a:solidFill>
                            <a:srgbClr val="2D3A3A"/>
                          </a:solidFill>
                        </a:defRPr>
                      </a:pPr>
                      <a:r>
                        <a:t>Titre Professionnel CDA — Niveau 6</a:t>
                      </a:r>
                    </a:p>
                  </a:txBody>
                  <a:tcPr/>
                </a:tc>
                <a:extLst>
                  <a:ext uri="{0D108BD9-81ED-4DB2-BD59-A6C34878D82A}">
                    <a16:rowId xmlns:a16="http://schemas.microsoft.com/office/drawing/2014/main" val="10001"/>
                  </a:ext>
                </a:extLst>
              </a:tr>
              <a:tr h="301752">
                <a:tc>
                  <a:txBody>
                    <a:bodyPr/>
                    <a:lstStyle/>
                    <a:p>
                      <a:pPr>
                        <a:defRPr sz="1000">
                          <a:solidFill>
                            <a:srgbClr val="2D3A3A"/>
                          </a:solidFill>
                        </a:defRPr>
                      </a:pPr>
                      <a:r>
                        <a:t>Promotion</a:t>
                      </a:r>
                    </a:p>
                  </a:txBody>
                  <a:tcPr/>
                </a:tc>
                <a:tc>
                  <a:txBody>
                    <a:bodyPr/>
                    <a:lstStyle/>
                    <a:p>
                      <a:pPr>
                        <a:defRPr sz="1000">
                          <a:solidFill>
                            <a:srgbClr val="2D3A3A"/>
                          </a:solidFill>
                        </a:defRPr>
                      </a:pPr>
                      <a:r>
                        <a:t>[Promotion CDA 2025-2026]</a:t>
                      </a:r>
                    </a:p>
                  </a:txBody>
                  <a:tcPr/>
                </a:tc>
                <a:extLst>
                  <a:ext uri="{0D108BD9-81ED-4DB2-BD59-A6C34878D82A}">
                    <a16:rowId xmlns:a16="http://schemas.microsoft.com/office/drawing/2014/main" val="10002"/>
                  </a:ext>
                </a:extLst>
              </a:tr>
              <a:tr h="301752">
                <a:tc>
                  <a:txBody>
                    <a:bodyPr/>
                    <a:lstStyle/>
                    <a:p>
                      <a:pPr>
                        <a:defRPr sz="1000">
                          <a:solidFill>
                            <a:srgbClr val="2D3A3A"/>
                          </a:solidFill>
                        </a:defRPr>
                      </a:pPr>
                      <a:r>
                        <a:t>Effectif</a:t>
                      </a:r>
                    </a:p>
                  </a:txBody>
                  <a:tcPr/>
                </a:tc>
                <a:tc>
                  <a:txBody>
                    <a:bodyPr/>
                    <a:lstStyle/>
                    <a:p>
                      <a:pPr>
                        <a:defRPr sz="1000">
                          <a:solidFill>
                            <a:srgbClr val="2D3A3A"/>
                          </a:solidFill>
                        </a:defRPr>
                      </a:pPr>
                      <a:r>
                        <a:t>[X apprenants]</a:t>
                      </a:r>
                    </a:p>
                  </a:txBody>
                  <a:tcPr/>
                </a:tc>
                <a:extLst>
                  <a:ext uri="{0D108BD9-81ED-4DB2-BD59-A6C34878D82A}">
                    <a16:rowId xmlns:a16="http://schemas.microsoft.com/office/drawing/2014/main" val="10003"/>
                  </a:ext>
                </a:extLst>
              </a:tr>
              <a:tr h="301752">
                <a:tc>
                  <a:txBody>
                    <a:bodyPr/>
                    <a:lstStyle/>
                    <a:p>
                      <a:pPr>
                        <a:defRPr sz="1000">
                          <a:solidFill>
                            <a:srgbClr val="2D3A3A"/>
                          </a:solidFill>
                        </a:defRPr>
                      </a:pPr>
                      <a:r>
                        <a:t>Encadrement</a:t>
                      </a:r>
                    </a:p>
                  </a:txBody>
                  <a:tcPr/>
                </a:tc>
                <a:tc>
                  <a:txBody>
                    <a:bodyPr/>
                    <a:lstStyle/>
                    <a:p>
                      <a:pPr>
                        <a:defRPr sz="1000">
                          <a:solidFill>
                            <a:srgbClr val="2D3A3A"/>
                          </a:solidFill>
                        </a:defRPr>
                      </a:pPr>
                      <a:r>
                        <a:t>[X formateurs techniques]</a:t>
                      </a:r>
                    </a:p>
                  </a:txBody>
                  <a:tcPr/>
                </a:tc>
                <a:extLst>
                  <a:ext uri="{0D108BD9-81ED-4DB2-BD59-A6C34878D82A}">
                    <a16:rowId xmlns:a16="http://schemas.microsoft.com/office/drawing/2014/main" val="10004"/>
                  </a:ext>
                </a:extLst>
              </a:tr>
            </a:tbl>
          </a:graphicData>
        </a:graphic>
      </p:graphicFrame>
      <p:sp>
        <p:nvSpPr>
          <p:cNvPr id="10" name="TextBox 9"/>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2169174" y="7273568"/>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6686336" y="-520255"/>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7796283" y="2284321"/>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6"/>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Mon rôle et le projet</a:t>
            </a:r>
          </a:p>
        </p:txBody>
      </p:sp>
      <p:sp>
        <p:nvSpPr>
          <p:cNvPr id="9" name="TextBox 8"/>
          <p:cNvSpPr txBox="1"/>
          <p:nvPr/>
        </p:nvSpPr>
        <p:spPr>
          <a:xfrm>
            <a:off x="914400" y="1280160"/>
            <a:ext cx="16002000" cy="2154326"/>
          </a:xfrm>
          <a:prstGeom prst="rect">
            <a:avLst/>
          </a:prstGeom>
          <a:noFill/>
        </p:spPr>
        <p:txBody>
          <a:bodyPr wrap="square">
            <a:spAutoFit/>
          </a:bodyPr>
          <a:lstStyle/>
          <a:p>
            <a:pPr>
              <a:spcBef>
                <a:spcPts val="200"/>
              </a:spcBef>
              <a:spcAft>
                <a:spcPts val="200"/>
              </a:spcAft>
            </a:pPr>
            <a:r>
              <a:rPr sz="1300" b="1" i="0">
                <a:solidFill>
                  <a:srgbClr val="2D3A3A"/>
                </a:solidFill>
                <a:latin typeface="Calibri"/>
              </a:rPr>
              <a:t>Projet personnel</a:t>
            </a:r>
            <a:r>
              <a:rPr sz="1300" b="0" i="0">
                <a:solidFill>
                  <a:srgbClr val="2D3A3A"/>
                </a:solidFill>
                <a:latin typeface="Calibri"/>
              </a:rPr>
              <a:t> réalisé en autonomie pendant la formation</a:t>
            </a:r>
          </a:p>
          <a:p>
            <a:pPr>
              <a:spcBef>
                <a:spcPts val="200"/>
              </a:spcBef>
              <a:spcAft>
                <a:spcPts val="200"/>
              </a:spcAft>
            </a:pPr>
            <a:r>
              <a:rPr sz="1300" b="0" i="0">
                <a:solidFill>
                  <a:srgbClr val="2D3A3A"/>
                </a:solidFill>
                <a:latin typeface="Calibri"/>
              </a:rPr>
              <a:t>• </a:t>
            </a:r>
            <a:r>
              <a:rPr sz="1300" b="1" i="0">
                <a:solidFill>
                  <a:srgbClr val="2D3A3A"/>
                </a:solidFill>
                <a:latin typeface="Calibri"/>
              </a:rPr>
              <a:t>Conception</a:t>
            </a:r>
            <a:r>
              <a:rPr sz="1300" b="0" i="0">
                <a:solidFill>
                  <a:srgbClr val="2D3A3A"/>
                </a:solidFill>
                <a:latin typeface="Calibri"/>
              </a:rPr>
              <a:t> : architecture, modèle de données, choix techniques</a:t>
            </a:r>
          </a:p>
          <a:p>
            <a:pPr>
              <a:spcBef>
                <a:spcPts val="200"/>
              </a:spcBef>
              <a:spcAft>
                <a:spcPts val="200"/>
              </a:spcAft>
            </a:pPr>
            <a:r>
              <a:rPr sz="1300" b="0" i="0">
                <a:solidFill>
                  <a:srgbClr val="2D3A3A"/>
                </a:solidFill>
                <a:latin typeface="Calibri"/>
              </a:rPr>
              <a:t>• </a:t>
            </a:r>
            <a:r>
              <a:rPr sz="1300" b="1" i="0">
                <a:solidFill>
                  <a:srgbClr val="2D3A3A"/>
                </a:solidFill>
                <a:latin typeface="Calibri"/>
              </a:rPr>
              <a:t>Développement</a:t>
            </a:r>
            <a:r>
              <a:rPr sz="1300" b="0" i="0">
                <a:solidFill>
                  <a:srgbClr val="2D3A3A"/>
                </a:solidFill>
                <a:latin typeface="Calibri"/>
              </a:rPr>
              <a:t> : back-end (Kotlin/Ktor) + front-end (React/TypeScript)</a:t>
            </a:r>
          </a:p>
          <a:p>
            <a:pPr>
              <a:spcBef>
                <a:spcPts val="200"/>
              </a:spcBef>
              <a:spcAft>
                <a:spcPts val="200"/>
              </a:spcAft>
            </a:pPr>
            <a:r>
              <a:rPr sz="1300" b="0" i="0">
                <a:solidFill>
                  <a:srgbClr val="2D3A3A"/>
                </a:solidFill>
                <a:latin typeface="Calibri"/>
              </a:rPr>
              <a:t>• </a:t>
            </a:r>
            <a:r>
              <a:rPr sz="1300" b="1" i="0">
                <a:solidFill>
                  <a:srgbClr val="2D3A3A"/>
                </a:solidFill>
                <a:latin typeface="Calibri"/>
              </a:rPr>
              <a:t>Tests</a:t>
            </a:r>
            <a:r>
              <a:rPr sz="1300" b="0" i="0">
                <a:solidFill>
                  <a:srgbClr val="2D3A3A"/>
                </a:solidFill>
                <a:latin typeface="Calibri"/>
              </a:rPr>
              <a:t> : unitaires, intégration, E2E, analyse statique</a:t>
            </a:r>
          </a:p>
          <a:p>
            <a:pPr>
              <a:spcBef>
                <a:spcPts val="200"/>
              </a:spcBef>
              <a:spcAft>
                <a:spcPts val="200"/>
              </a:spcAft>
            </a:pPr>
            <a:r>
              <a:rPr sz="1300" b="0" i="0">
                <a:solidFill>
                  <a:srgbClr val="2D3A3A"/>
                </a:solidFill>
                <a:latin typeface="Calibri"/>
              </a:rPr>
              <a:t>• </a:t>
            </a:r>
            <a:r>
              <a:rPr sz="1300" b="1" i="0">
                <a:solidFill>
                  <a:srgbClr val="2D3A3A"/>
                </a:solidFill>
                <a:latin typeface="Calibri"/>
              </a:rPr>
              <a:t>Déploiement</a:t>
            </a:r>
            <a:r>
              <a:rPr sz="1300" b="0" i="0">
                <a:solidFill>
                  <a:srgbClr val="2D3A3A"/>
                </a:solidFill>
                <a:latin typeface="Calibri"/>
              </a:rPr>
              <a:t> : Docker, CI/CD GitHub Actions, Render + Vercel</a:t>
            </a:r>
          </a:p>
          <a:p>
            <a:pPr>
              <a:spcBef>
                <a:spcPts val="200"/>
              </a:spcBef>
              <a:spcAft>
                <a:spcPts val="200"/>
              </a:spcAft>
            </a:pPr>
            <a:r>
              <a:rPr sz="1300" b="0" i="0">
                <a:solidFill>
                  <a:srgbClr val="2D3A3A"/>
                </a:solidFill>
                <a:latin typeface="Calibri"/>
              </a:rPr>
              <a:t>• </a:t>
            </a:r>
            <a:r>
              <a:rPr sz="1300" b="1" i="0">
                <a:solidFill>
                  <a:srgbClr val="2D3A3A"/>
                </a:solidFill>
                <a:latin typeface="Calibri"/>
              </a:rPr>
              <a:t>Encadrement</a:t>
            </a:r>
            <a:r>
              <a:rPr sz="1300" b="0" i="0">
                <a:solidFill>
                  <a:srgbClr val="2D3A3A"/>
                </a:solidFill>
                <a:latin typeface="Calibri"/>
              </a:rPr>
              <a:t> : formateurs en rôle de conseil et validation</a:t>
            </a:r>
          </a:p>
          <a:p>
            <a:pPr>
              <a:spcBef>
                <a:spcPts val="200"/>
              </a:spcBef>
            </a:pPr>
            <a:r>
              <a:rPr sz="1200" b="0" i="0">
                <a:solidFill>
                  <a:srgbClr val="999999"/>
                </a:solidFill>
                <a:latin typeface="Calibri"/>
              </a:rPr>
              <a:t>Objectif : couvrir les 11 compétences professionnelles du référentiel CDA</a:t>
            </a:r>
          </a:p>
        </p:txBody>
      </p:sp>
      <p:sp>
        <p:nvSpPr>
          <p:cNvPr id="10" name="TextBox 9"/>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16654075" y="1183089"/>
            <a:ext cx="16786266" cy="17346124"/>
          </a:xfrm>
          <a:custGeom>
            <a:avLst/>
            <a:gdLst/>
            <a:ahLst/>
            <a:cxnLst/>
            <a:rect l="l" t="t" r="r" b="b"/>
            <a:pathLst>
              <a:path w="16786266" h="17346124">
                <a:moveTo>
                  <a:pt x="0" y="0"/>
                </a:moveTo>
                <a:lnTo>
                  <a:pt x="16786265" y="0"/>
                </a:lnTo>
                <a:lnTo>
                  <a:pt x="16786265" y="17346123"/>
                </a:lnTo>
                <a:lnTo>
                  <a:pt x="0" y="17346123"/>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6" name="Freeform 6"/>
          <p:cNvSpPr/>
          <p:nvPr/>
        </p:nvSpPr>
        <p:spPr>
          <a:xfrm rot="212015">
            <a:off x="11180952" y="9451718"/>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rot="-7156610">
            <a:off x="5714056" y="8851957"/>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5"/>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Environnement de travail</a:t>
            </a:r>
          </a:p>
        </p:txBody>
      </p:sp>
      <p:sp>
        <p:nvSpPr>
          <p:cNvPr id="9" name="TextBox 8"/>
          <p:cNvSpPr txBox="1"/>
          <p:nvPr/>
        </p:nvSpPr>
        <p:spPr>
          <a:xfrm>
            <a:off x="914400" y="1280160"/>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Outils de développement</a:t>
            </a:r>
          </a:p>
        </p:txBody>
      </p:sp>
      <p:graphicFrame>
        <p:nvGraphicFramePr>
          <p:cNvPr id="10" name="Table 9"/>
          <p:cNvGraphicFramePr>
            <a:graphicFrameLocks noGrp="1"/>
          </p:cNvGraphicFramePr>
          <p:nvPr/>
        </p:nvGraphicFramePr>
        <p:xfrm>
          <a:off x="914400" y="2015337"/>
          <a:ext cx="16002000" cy="2057400"/>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293914">
                <a:tc>
                  <a:txBody>
                    <a:bodyPr/>
                    <a:lstStyle/>
                    <a:p>
                      <a:pPr>
                        <a:defRPr sz="1000" b="1">
                          <a:solidFill>
                            <a:srgbClr val="3D5A6C"/>
                          </a:solidFill>
                        </a:defRPr>
                      </a:pPr>
                      <a:r>
                        <a:t>Outil</a:t>
                      </a:r>
                    </a:p>
                  </a:txBody>
                  <a:tcPr/>
                </a:tc>
                <a:tc>
                  <a:txBody>
                    <a:bodyPr/>
                    <a:lstStyle/>
                    <a:p>
                      <a:pPr>
                        <a:defRPr sz="1000" b="1">
                          <a:solidFill>
                            <a:srgbClr val="3D5A6C"/>
                          </a:solidFill>
                        </a:defRPr>
                      </a:pPr>
                      <a:r>
                        <a:t>Usage</a:t>
                      </a:r>
                    </a:p>
                  </a:txBody>
                  <a:tcPr/>
                </a:tc>
                <a:extLst>
                  <a:ext uri="{0D108BD9-81ED-4DB2-BD59-A6C34878D82A}">
                    <a16:rowId xmlns:a16="http://schemas.microsoft.com/office/drawing/2014/main" val="10000"/>
                  </a:ext>
                </a:extLst>
              </a:tr>
              <a:tr h="293914">
                <a:tc>
                  <a:txBody>
                    <a:bodyPr/>
                    <a:lstStyle/>
                    <a:p>
                      <a:pPr>
                        <a:defRPr sz="1000">
                          <a:solidFill>
                            <a:srgbClr val="2D3A3A"/>
                          </a:solidFill>
                        </a:defRPr>
                      </a:pPr>
                      <a:r>
                        <a:t>IntelliJ IDEA</a:t>
                      </a:r>
                    </a:p>
                  </a:txBody>
                  <a:tcPr/>
                </a:tc>
                <a:tc>
                  <a:txBody>
                    <a:bodyPr/>
                    <a:lstStyle/>
                    <a:p>
                      <a:pPr>
                        <a:defRPr sz="1000">
                          <a:solidFill>
                            <a:srgbClr val="2D3A3A"/>
                          </a:solidFill>
                        </a:defRPr>
                      </a:pPr>
                      <a:r>
                        <a:t>IDE principal (Kotlin, Gradle, Docker)</a:t>
                      </a:r>
                    </a:p>
                  </a:txBody>
                  <a:tcPr/>
                </a:tc>
                <a:extLst>
                  <a:ext uri="{0D108BD9-81ED-4DB2-BD59-A6C34878D82A}">
                    <a16:rowId xmlns:a16="http://schemas.microsoft.com/office/drawing/2014/main" val="10001"/>
                  </a:ext>
                </a:extLst>
              </a:tr>
              <a:tr h="293914">
                <a:tc>
                  <a:txBody>
                    <a:bodyPr/>
                    <a:lstStyle/>
                    <a:p>
                      <a:pPr>
                        <a:defRPr sz="1000">
                          <a:solidFill>
                            <a:srgbClr val="2D3A3A"/>
                          </a:solidFill>
                        </a:defRPr>
                      </a:pPr>
                      <a:r>
                        <a:t>VS Code</a:t>
                      </a:r>
                    </a:p>
                  </a:txBody>
                  <a:tcPr/>
                </a:tc>
                <a:tc>
                  <a:txBody>
                    <a:bodyPr/>
                    <a:lstStyle/>
                    <a:p>
                      <a:pPr>
                        <a:defRPr sz="1000">
                          <a:solidFill>
                            <a:srgbClr val="2D3A3A"/>
                          </a:solidFill>
                        </a:defRPr>
                      </a:pPr>
                      <a:r>
                        <a:t>Développement front-end (React, TypeScript)</a:t>
                      </a:r>
                    </a:p>
                  </a:txBody>
                  <a:tcPr/>
                </a:tc>
                <a:extLst>
                  <a:ext uri="{0D108BD9-81ED-4DB2-BD59-A6C34878D82A}">
                    <a16:rowId xmlns:a16="http://schemas.microsoft.com/office/drawing/2014/main" val="10002"/>
                  </a:ext>
                </a:extLst>
              </a:tr>
              <a:tr h="293914">
                <a:tc>
                  <a:txBody>
                    <a:bodyPr/>
                    <a:lstStyle/>
                    <a:p>
                      <a:pPr>
                        <a:defRPr sz="1000">
                          <a:solidFill>
                            <a:srgbClr val="2D3A3A"/>
                          </a:solidFill>
                        </a:defRPr>
                      </a:pPr>
                      <a:r>
                        <a:t>JDK 21 (Eclipse Temurin)</a:t>
                      </a:r>
                    </a:p>
                  </a:txBody>
                  <a:tcPr/>
                </a:tc>
                <a:tc>
                  <a:txBody>
                    <a:bodyPr/>
                    <a:lstStyle/>
                    <a:p>
                      <a:pPr>
                        <a:defRPr sz="1000">
                          <a:solidFill>
                            <a:srgbClr val="2D3A3A"/>
                          </a:solidFill>
                        </a:defRPr>
                      </a:pPr>
                      <a:r>
                        <a:t>Runtime JVM pour le back-end</a:t>
                      </a:r>
                    </a:p>
                  </a:txBody>
                  <a:tcPr/>
                </a:tc>
                <a:extLst>
                  <a:ext uri="{0D108BD9-81ED-4DB2-BD59-A6C34878D82A}">
                    <a16:rowId xmlns:a16="http://schemas.microsoft.com/office/drawing/2014/main" val="10003"/>
                  </a:ext>
                </a:extLst>
              </a:tr>
              <a:tr h="293914">
                <a:tc>
                  <a:txBody>
                    <a:bodyPr/>
                    <a:lstStyle/>
                    <a:p>
                      <a:pPr>
                        <a:defRPr sz="1000">
                          <a:solidFill>
                            <a:srgbClr val="2D3A3A"/>
                          </a:solidFill>
                        </a:defRPr>
                      </a:pPr>
                      <a:r>
                        <a:t>Node.js 22</a:t>
                      </a:r>
                    </a:p>
                  </a:txBody>
                  <a:tcPr/>
                </a:tc>
                <a:tc>
                  <a:txBody>
                    <a:bodyPr/>
                    <a:lstStyle/>
                    <a:p>
                      <a:pPr>
                        <a:defRPr sz="1000">
                          <a:solidFill>
                            <a:srgbClr val="2D3A3A"/>
                          </a:solidFill>
                        </a:defRPr>
                      </a:pPr>
                      <a:r>
                        <a:t>Runtime front-end, npm, Vite</a:t>
                      </a:r>
                    </a:p>
                  </a:txBody>
                  <a:tcPr/>
                </a:tc>
                <a:extLst>
                  <a:ext uri="{0D108BD9-81ED-4DB2-BD59-A6C34878D82A}">
                    <a16:rowId xmlns:a16="http://schemas.microsoft.com/office/drawing/2014/main" val="10004"/>
                  </a:ext>
                </a:extLst>
              </a:tr>
              <a:tr h="293914">
                <a:tc>
                  <a:txBody>
                    <a:bodyPr/>
                    <a:lstStyle/>
                    <a:p>
                      <a:pPr>
                        <a:defRPr sz="1000">
                          <a:solidFill>
                            <a:srgbClr val="2D3A3A"/>
                          </a:solidFill>
                        </a:defRPr>
                      </a:pPr>
                      <a:r>
                        <a:t>Docker Desktop</a:t>
                      </a:r>
                    </a:p>
                  </a:txBody>
                  <a:tcPr/>
                </a:tc>
                <a:tc>
                  <a:txBody>
                    <a:bodyPr/>
                    <a:lstStyle/>
                    <a:p>
                      <a:pPr>
                        <a:defRPr sz="1000">
                          <a:solidFill>
                            <a:srgbClr val="2D3A3A"/>
                          </a:solidFill>
                        </a:defRPr>
                      </a:pPr>
                      <a:r>
                        <a:t>Conteneurisation, PostgreSQL local</a:t>
                      </a:r>
                    </a:p>
                  </a:txBody>
                  <a:tcPr/>
                </a:tc>
                <a:extLst>
                  <a:ext uri="{0D108BD9-81ED-4DB2-BD59-A6C34878D82A}">
                    <a16:rowId xmlns:a16="http://schemas.microsoft.com/office/drawing/2014/main" val="10005"/>
                  </a:ext>
                </a:extLst>
              </a:tr>
              <a:tr h="293916">
                <a:tc>
                  <a:txBody>
                    <a:bodyPr/>
                    <a:lstStyle/>
                    <a:p>
                      <a:pPr>
                        <a:defRPr sz="1000">
                          <a:solidFill>
                            <a:srgbClr val="2D3A3A"/>
                          </a:solidFill>
                        </a:defRPr>
                      </a:pPr>
                      <a:r>
                        <a:t>Git + GitHub</a:t>
                      </a:r>
                    </a:p>
                  </a:txBody>
                  <a:tcPr/>
                </a:tc>
                <a:tc>
                  <a:txBody>
                    <a:bodyPr/>
                    <a:lstStyle/>
                    <a:p>
                      <a:pPr>
                        <a:defRPr sz="1000">
                          <a:solidFill>
                            <a:srgbClr val="2D3A3A"/>
                          </a:solidFill>
                        </a:defRPr>
                      </a:pPr>
                      <a:r>
                        <a:t>Gestion de versions, collaboration, CI/CD</a:t>
                      </a:r>
                    </a:p>
                  </a:txBody>
                  <a:tcPr/>
                </a:tc>
                <a:extLst>
                  <a:ext uri="{0D108BD9-81ED-4DB2-BD59-A6C34878D82A}">
                    <a16:rowId xmlns:a16="http://schemas.microsoft.com/office/drawing/2014/main" val="10006"/>
                  </a:ext>
                </a:extLst>
              </a:tr>
            </a:tbl>
          </a:graphicData>
        </a:graphic>
      </p:graphicFrame>
      <p:sp>
        <p:nvSpPr>
          <p:cNvPr id="12" name="TextBox 11"/>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B5C73"/>
        </a:solidFill>
        <a:effectLst/>
      </p:bgPr>
    </p:bg>
    <p:spTree>
      <p:nvGrpSpPr>
        <p:cNvPr id="1" name=""/>
        <p:cNvGrpSpPr/>
        <p:nvPr/>
      </p:nvGrpSpPr>
      <p:grpSpPr>
        <a:xfrm>
          <a:off x="0" y="0"/>
          <a:ext cx="0" cy="0"/>
          <a:chOff x="0" y="0"/>
          <a:chExt cx="0" cy="0"/>
        </a:xfrm>
      </p:grpSpPr>
      <p:sp>
        <p:nvSpPr>
          <p:cNvPr id="2" name="TextBox 2"/>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p:nvSpPr>
        <p:spPr>
          <a:xfrm>
            <a:off x="-810449" y="4666508"/>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p:nvSpPr>
        <p:spPr>
          <a:xfrm>
            <a:off x="-658049" y="4818908"/>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extBox 4"/>
          <p:cNvSpPr txBox="1"/>
          <p:nvPr/>
        </p:nvSpPr>
        <p:spPr>
          <a:xfrm>
            <a:off x="1828800" y="3200400"/>
            <a:ext cx="14630400" cy="3657600"/>
          </a:xfrm>
          <a:prstGeom prst="rect">
            <a:avLst/>
          </a:prstGeom>
          <a:noFill/>
        </p:spPr>
        <p:txBody>
          <a:bodyPr wrap="square">
            <a:spAutoFit/>
          </a:bodyPr>
          <a:lstStyle/>
          <a:p>
            <a:pPr algn="ctr"/>
            <a:r>
              <a:rPr sz="2800" b="1" i="0">
                <a:solidFill>
                  <a:srgbClr val="FFFFFF"/>
                </a:solidFill>
                <a:latin typeface="Calibri"/>
              </a:rPr>
              <a:t>Cahier des charges</a:t>
            </a:r>
          </a:p>
        </p:txBody>
      </p:sp>
      <p:sp>
        <p:nvSpPr>
          <p:cNvPr id="6" name="TextBox 5"/>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Contexte et objectifs</a:t>
            </a:r>
          </a:p>
        </p:txBody>
      </p:sp>
      <p:sp>
        <p:nvSpPr>
          <p:cNvPr id="9" name="TextBox 8"/>
          <p:cNvSpPr txBox="1"/>
          <p:nvPr/>
        </p:nvSpPr>
        <p:spPr>
          <a:xfrm>
            <a:off x="914400" y="1280160"/>
            <a:ext cx="16002000" cy="2896819"/>
          </a:xfrm>
          <a:prstGeom prst="rect">
            <a:avLst/>
          </a:prstGeom>
          <a:noFill/>
        </p:spPr>
        <p:txBody>
          <a:bodyPr wrap="square">
            <a:spAutoFit/>
          </a:bodyPr>
          <a:lstStyle/>
          <a:p>
            <a:pPr>
              <a:spcBef>
                <a:spcPts val="200"/>
              </a:spcBef>
              <a:spcAft>
                <a:spcPts val="200"/>
              </a:spcAft>
            </a:pPr>
            <a:r>
              <a:rPr sz="1300" b="1" i="0">
                <a:solidFill>
                  <a:srgbClr val="2D3A3A"/>
                </a:solidFill>
                <a:latin typeface="Calibri"/>
              </a:rPr>
              <a:t>HappyRow</a:t>
            </a:r>
            <a:r>
              <a:rPr sz="1300" b="0" i="0">
                <a:solidFill>
                  <a:srgbClr val="2D3A3A"/>
                </a:solidFill>
                <a:latin typeface="Calibri"/>
              </a:rPr>
              <a:t> — Application web collaborative de gestion d'événements</a:t>
            </a:r>
          </a:p>
          <a:p>
            <a:pPr>
              <a:spcBef>
                <a:spcPts val="200"/>
              </a:spcBef>
              <a:spcAft>
                <a:spcPts val="200"/>
              </a:spcAft>
            </a:pPr>
            <a:r>
              <a:rPr sz="1300" b="1" i="0">
                <a:solidFill>
                  <a:srgbClr val="2D3A3A"/>
                </a:solidFill>
                <a:latin typeface="Calibri"/>
              </a:rPr>
              <a:t>Problème</a:t>
            </a:r>
            <a:r>
              <a:rPr sz="1300" b="0" i="0">
                <a:solidFill>
                  <a:srgbClr val="2D3A3A"/>
                </a:solidFill>
                <a:latin typeface="Calibri"/>
              </a:rPr>
              <a:t> : organiser un événement entre plusieurs personnes repose sur des échanges informels (messages, tableurs) — manque de structure et de visibilité</a:t>
            </a:r>
          </a:p>
          <a:p>
            <a:pPr>
              <a:spcBef>
                <a:spcPts val="200"/>
              </a:spcBef>
              <a:spcAft>
                <a:spcPts val="200"/>
              </a:spcAft>
            </a:pPr>
            <a:r>
              <a:rPr sz="1300" b="1" i="0">
                <a:solidFill>
                  <a:srgbClr val="2D3A3A"/>
                </a:solidFill>
                <a:latin typeface="Calibri"/>
              </a:rPr>
              <a:t>Solution</a:t>
            </a:r>
            <a:r>
              <a:rPr sz="1300" b="0" i="0">
                <a:solidFill>
                  <a:srgbClr val="2D3A3A"/>
                </a:solidFill>
                <a:latin typeface="Calibri"/>
              </a:rPr>
              <a:t> : centraliser la coordination dans une application dédiée</a:t>
            </a:r>
          </a:p>
          <a:p>
            <a:pPr>
              <a:spcBef>
                <a:spcPts val="800"/>
              </a:spcBef>
              <a:spcAft>
                <a:spcPts val="200"/>
              </a:spcAft>
            </a:pPr>
            <a:r>
              <a:rPr sz="1400" b="1" i="0">
                <a:solidFill>
                  <a:srgbClr val="3D5A6C"/>
                </a:solidFill>
                <a:latin typeface="Calibri"/>
              </a:rPr>
              <a:t>Objectifs fonctionnels</a:t>
            </a:r>
          </a:p>
          <a:p>
            <a:pPr>
              <a:spcBef>
                <a:spcPts val="200"/>
              </a:spcBef>
              <a:spcAft>
                <a:spcPts val="200"/>
              </a:spcAft>
            </a:pPr>
            <a:r>
              <a:rPr sz="1300" b="0" i="0">
                <a:solidFill>
                  <a:srgbClr val="2D3A3A"/>
                </a:solidFill>
                <a:latin typeface="Calibri"/>
              </a:rPr>
              <a:t>• Créer et gérer des événements (fête, anniversaire, dîner…)</a:t>
            </a:r>
          </a:p>
          <a:p>
            <a:pPr>
              <a:spcBef>
                <a:spcPts val="200"/>
              </a:spcBef>
              <a:spcAft>
                <a:spcPts val="200"/>
              </a:spcAft>
            </a:pPr>
            <a:r>
              <a:rPr sz="1300" b="0" i="0">
                <a:solidFill>
                  <a:srgbClr val="2D3A3A"/>
                </a:solidFill>
                <a:latin typeface="Calibri"/>
              </a:rPr>
              <a:t>• Inviter des participants et suivre leur statut</a:t>
            </a:r>
          </a:p>
          <a:p>
            <a:pPr>
              <a:spcBef>
                <a:spcPts val="200"/>
              </a:spcBef>
              <a:spcAft>
                <a:spcPts val="200"/>
              </a:spcAft>
            </a:pPr>
            <a:r>
              <a:rPr sz="1300" b="0" i="0">
                <a:solidFill>
                  <a:srgbClr val="2D3A3A"/>
                </a:solidFill>
                <a:latin typeface="Calibri"/>
              </a:rPr>
              <a:t>• Définir les ressources nécessaires (nourriture, boissons, ustensiles…)</a:t>
            </a:r>
          </a:p>
          <a:p>
            <a:pPr>
              <a:spcBef>
                <a:spcPts val="200"/>
              </a:spcBef>
              <a:spcAft>
                <a:spcPts val="200"/>
              </a:spcAft>
            </a:pPr>
            <a:r>
              <a:rPr sz="1300" b="0" i="0">
                <a:solidFill>
                  <a:srgbClr val="2D3A3A"/>
                </a:solidFill>
                <a:latin typeface="Calibri"/>
              </a:rPr>
              <a:t>• Permettre aux participants de déclarer leurs contributions</a:t>
            </a:r>
          </a:p>
          <a:p>
            <a:pPr>
              <a:spcBef>
                <a:spcPts val="200"/>
              </a:spcBef>
              <a:spcAft>
                <a:spcPts val="200"/>
              </a:spcAft>
            </a:pPr>
            <a:r>
              <a:rPr sz="1300" b="0" i="0">
                <a:solidFill>
                  <a:srgbClr val="2D3A3A"/>
                </a:solidFill>
                <a:latin typeface="Calibri"/>
              </a:rPr>
              <a:t>• Gérer les accès concurrents sur les ressources (verrou optimiste)</a:t>
            </a:r>
          </a:p>
        </p:txBody>
      </p:sp>
      <p:sp>
        <p:nvSpPr>
          <p:cNvPr id="10" name="TextBox 9"/>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Contraintes techniques et livrables</a:t>
            </a:r>
          </a:p>
        </p:txBody>
      </p:sp>
      <p:sp>
        <p:nvSpPr>
          <p:cNvPr id="9" name="TextBox 8"/>
          <p:cNvSpPr txBox="1"/>
          <p:nvPr/>
        </p:nvSpPr>
        <p:spPr>
          <a:xfrm>
            <a:off x="914400" y="1280160"/>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Contraintes techniques</a:t>
            </a:r>
          </a:p>
        </p:txBody>
      </p:sp>
      <p:graphicFrame>
        <p:nvGraphicFramePr>
          <p:cNvPr id="10" name="Table 9"/>
          <p:cNvGraphicFramePr>
            <a:graphicFrameLocks noGrp="1"/>
          </p:cNvGraphicFramePr>
          <p:nvPr/>
        </p:nvGraphicFramePr>
        <p:xfrm>
          <a:off x="914400" y="2015337"/>
          <a:ext cx="16002000" cy="2606039"/>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289559">
                <a:tc>
                  <a:txBody>
                    <a:bodyPr/>
                    <a:lstStyle/>
                    <a:p>
                      <a:pPr>
                        <a:defRPr sz="1000" b="1">
                          <a:solidFill>
                            <a:srgbClr val="3D5A6C"/>
                          </a:solidFill>
                        </a:defRPr>
                      </a:pPr>
                      <a:r>
                        <a:t>Contrainte</a:t>
                      </a:r>
                    </a:p>
                  </a:txBody>
                  <a:tcPr/>
                </a:tc>
                <a:tc>
                  <a:txBody>
                    <a:bodyPr/>
                    <a:lstStyle/>
                    <a:p>
                      <a:pPr>
                        <a:defRPr sz="1000" b="1">
                          <a:solidFill>
                            <a:srgbClr val="3D5A6C"/>
                          </a:solidFill>
                        </a:defRPr>
                      </a:pPr>
                      <a:r>
                        <a:t>Choix</a:t>
                      </a:r>
                    </a:p>
                  </a:txBody>
                  <a:tcPr/>
                </a:tc>
                <a:extLst>
                  <a:ext uri="{0D108BD9-81ED-4DB2-BD59-A6C34878D82A}">
                    <a16:rowId xmlns:a16="http://schemas.microsoft.com/office/drawing/2014/main" val="10000"/>
                  </a:ext>
                </a:extLst>
              </a:tr>
              <a:tr h="289559">
                <a:tc>
                  <a:txBody>
                    <a:bodyPr/>
                    <a:lstStyle/>
                    <a:p>
                      <a:pPr>
                        <a:defRPr sz="1000">
                          <a:solidFill>
                            <a:srgbClr val="2D3A3A"/>
                          </a:solidFill>
                        </a:defRPr>
                      </a:pPr>
                      <a:r>
                        <a:t>Langage</a:t>
                      </a:r>
                    </a:p>
                  </a:txBody>
                  <a:tcPr/>
                </a:tc>
                <a:tc>
                  <a:txBody>
                    <a:bodyPr/>
                    <a:lstStyle/>
                    <a:p>
                      <a:pPr>
                        <a:defRPr sz="1000">
                          <a:solidFill>
                            <a:srgbClr val="2D3A3A"/>
                          </a:solidFill>
                        </a:defRPr>
                      </a:pPr>
                      <a:r>
                        <a:t>Kotlin 2.2 / JVM 21</a:t>
                      </a:r>
                    </a:p>
                  </a:txBody>
                  <a:tcPr/>
                </a:tc>
                <a:extLst>
                  <a:ext uri="{0D108BD9-81ED-4DB2-BD59-A6C34878D82A}">
                    <a16:rowId xmlns:a16="http://schemas.microsoft.com/office/drawing/2014/main" val="10001"/>
                  </a:ext>
                </a:extLst>
              </a:tr>
              <a:tr h="289559">
                <a:tc>
                  <a:txBody>
                    <a:bodyPr/>
                    <a:lstStyle/>
                    <a:p>
                      <a:pPr>
                        <a:defRPr sz="1000">
                          <a:solidFill>
                            <a:srgbClr val="2D3A3A"/>
                          </a:solidFill>
                        </a:defRPr>
                      </a:pPr>
                      <a:r>
                        <a:t>Framework web</a:t>
                      </a:r>
                    </a:p>
                  </a:txBody>
                  <a:tcPr/>
                </a:tc>
                <a:tc>
                  <a:txBody>
                    <a:bodyPr/>
                    <a:lstStyle/>
                    <a:p>
                      <a:pPr>
                        <a:defRPr sz="1000">
                          <a:solidFill>
                            <a:srgbClr val="2D3A3A"/>
                          </a:solidFill>
                        </a:defRPr>
                      </a:pPr>
                      <a:r>
                        <a:t>Ktor 3.2.2</a:t>
                      </a:r>
                    </a:p>
                  </a:txBody>
                  <a:tcPr/>
                </a:tc>
                <a:extLst>
                  <a:ext uri="{0D108BD9-81ED-4DB2-BD59-A6C34878D82A}">
                    <a16:rowId xmlns:a16="http://schemas.microsoft.com/office/drawing/2014/main" val="10002"/>
                  </a:ext>
                </a:extLst>
              </a:tr>
              <a:tr h="289559">
                <a:tc>
                  <a:txBody>
                    <a:bodyPr/>
                    <a:lstStyle/>
                    <a:p>
                      <a:pPr>
                        <a:defRPr sz="1000">
                          <a:solidFill>
                            <a:srgbClr val="2D3A3A"/>
                          </a:solidFill>
                        </a:defRPr>
                      </a:pPr>
                      <a:r>
                        <a:t>Base de données</a:t>
                      </a:r>
                    </a:p>
                  </a:txBody>
                  <a:tcPr/>
                </a:tc>
                <a:tc>
                  <a:txBody>
                    <a:bodyPr/>
                    <a:lstStyle/>
                    <a:p>
                      <a:pPr>
                        <a:defRPr sz="1000">
                          <a:solidFill>
                            <a:srgbClr val="2D3A3A"/>
                          </a:solidFill>
                        </a:defRPr>
                      </a:pPr>
                      <a:r>
                        <a:t>PostgreSQL</a:t>
                      </a:r>
                    </a:p>
                  </a:txBody>
                  <a:tcPr/>
                </a:tc>
                <a:extLst>
                  <a:ext uri="{0D108BD9-81ED-4DB2-BD59-A6C34878D82A}">
                    <a16:rowId xmlns:a16="http://schemas.microsoft.com/office/drawing/2014/main" val="10003"/>
                  </a:ext>
                </a:extLst>
              </a:tr>
              <a:tr h="289559">
                <a:tc>
                  <a:txBody>
                    <a:bodyPr/>
                    <a:lstStyle/>
                    <a:p>
                      <a:pPr>
                        <a:defRPr sz="1000">
                          <a:solidFill>
                            <a:srgbClr val="2D3A3A"/>
                          </a:solidFill>
                        </a:defRPr>
                      </a:pPr>
                      <a:r>
                        <a:t>Authentification</a:t>
                      </a:r>
                    </a:p>
                  </a:txBody>
                  <a:tcPr/>
                </a:tc>
                <a:tc>
                  <a:txBody>
                    <a:bodyPr/>
                    <a:lstStyle/>
                    <a:p>
                      <a:pPr>
                        <a:defRPr sz="1000">
                          <a:solidFill>
                            <a:srgbClr val="2D3A3A"/>
                          </a:solidFill>
                        </a:defRPr>
                      </a:pPr>
                      <a:r>
                        <a:t>JWT via Supabase (HMAC256)</a:t>
                      </a:r>
                    </a:p>
                  </a:txBody>
                  <a:tcPr/>
                </a:tc>
                <a:extLst>
                  <a:ext uri="{0D108BD9-81ED-4DB2-BD59-A6C34878D82A}">
                    <a16:rowId xmlns:a16="http://schemas.microsoft.com/office/drawing/2014/main" val="10004"/>
                  </a:ext>
                </a:extLst>
              </a:tr>
              <a:tr h="289559">
                <a:tc>
                  <a:txBody>
                    <a:bodyPr/>
                    <a:lstStyle/>
                    <a:p>
                      <a:pPr>
                        <a:defRPr sz="1000">
                          <a:solidFill>
                            <a:srgbClr val="2D3A3A"/>
                          </a:solidFill>
                        </a:defRPr>
                      </a:pPr>
                      <a:r>
                        <a:t>Architecture</a:t>
                      </a:r>
                    </a:p>
                  </a:txBody>
                  <a:tcPr/>
                </a:tc>
                <a:tc>
                  <a:txBody>
                    <a:bodyPr/>
                    <a:lstStyle/>
                    <a:p>
                      <a:pPr>
                        <a:defRPr sz="1000">
                          <a:solidFill>
                            <a:srgbClr val="2D3A3A"/>
                          </a:solidFill>
                        </a:defRPr>
                      </a:pPr>
                      <a:r>
                        <a:t>Hexagonale (Ports &amp; Adapters)</a:t>
                      </a:r>
                    </a:p>
                  </a:txBody>
                  <a:tcPr/>
                </a:tc>
                <a:extLst>
                  <a:ext uri="{0D108BD9-81ED-4DB2-BD59-A6C34878D82A}">
                    <a16:rowId xmlns:a16="http://schemas.microsoft.com/office/drawing/2014/main" val="10005"/>
                  </a:ext>
                </a:extLst>
              </a:tr>
              <a:tr h="289559">
                <a:tc>
                  <a:txBody>
                    <a:bodyPr/>
                    <a:lstStyle/>
                    <a:p>
                      <a:pPr>
                        <a:defRPr sz="1000">
                          <a:solidFill>
                            <a:srgbClr val="2D3A3A"/>
                          </a:solidFill>
                        </a:defRPr>
                      </a:pPr>
                      <a:r>
                        <a:t>Front-end</a:t>
                      </a:r>
                    </a:p>
                  </a:txBody>
                  <a:tcPr/>
                </a:tc>
                <a:tc>
                  <a:txBody>
                    <a:bodyPr/>
                    <a:lstStyle/>
                    <a:p>
                      <a:pPr>
                        <a:defRPr sz="1000">
                          <a:solidFill>
                            <a:srgbClr val="2D3A3A"/>
                          </a:solidFill>
                        </a:defRPr>
                      </a:pPr>
                      <a:r>
                        <a:t>React 19 / TypeScript — SPA + PWA</a:t>
                      </a:r>
                    </a:p>
                  </a:txBody>
                  <a:tcPr/>
                </a:tc>
                <a:extLst>
                  <a:ext uri="{0D108BD9-81ED-4DB2-BD59-A6C34878D82A}">
                    <a16:rowId xmlns:a16="http://schemas.microsoft.com/office/drawing/2014/main" val="10006"/>
                  </a:ext>
                </a:extLst>
              </a:tr>
              <a:tr h="289559">
                <a:tc>
                  <a:txBody>
                    <a:bodyPr/>
                    <a:lstStyle/>
                    <a:p>
                      <a:pPr>
                        <a:defRPr sz="1000">
                          <a:solidFill>
                            <a:srgbClr val="2D3A3A"/>
                          </a:solidFill>
                        </a:defRPr>
                      </a:pPr>
                      <a:r>
                        <a:t>Déploiement</a:t>
                      </a:r>
                    </a:p>
                  </a:txBody>
                  <a:tcPr/>
                </a:tc>
                <a:tc>
                  <a:txBody>
                    <a:bodyPr/>
                    <a:lstStyle/>
                    <a:p>
                      <a:pPr>
                        <a:defRPr sz="1000">
                          <a:solidFill>
                            <a:srgbClr val="2D3A3A"/>
                          </a:solidFill>
                        </a:defRPr>
                      </a:pPr>
                      <a:r>
                        <a:t>Docker + Render (back) / Vercel (front)</a:t>
                      </a:r>
                    </a:p>
                  </a:txBody>
                  <a:tcPr/>
                </a:tc>
                <a:extLst>
                  <a:ext uri="{0D108BD9-81ED-4DB2-BD59-A6C34878D82A}">
                    <a16:rowId xmlns:a16="http://schemas.microsoft.com/office/drawing/2014/main" val="10007"/>
                  </a:ext>
                </a:extLst>
              </a:tr>
              <a:tr h="289567">
                <a:tc>
                  <a:txBody>
                    <a:bodyPr/>
                    <a:lstStyle/>
                    <a:p>
                      <a:pPr>
                        <a:defRPr sz="1000">
                          <a:solidFill>
                            <a:srgbClr val="2D3A3A"/>
                          </a:solidFill>
                        </a:defRPr>
                      </a:pPr>
                      <a:r>
                        <a:t>Qualité</a:t>
                      </a:r>
                    </a:p>
                  </a:txBody>
                  <a:tcPr/>
                </a:tc>
                <a:tc>
                  <a:txBody>
                    <a:bodyPr/>
                    <a:lstStyle/>
                    <a:p>
                      <a:pPr>
                        <a:defRPr sz="1000">
                          <a:solidFill>
                            <a:srgbClr val="2D3A3A"/>
                          </a:solidFill>
                        </a:defRPr>
                      </a:pPr>
                      <a:r>
                        <a:t>Detekt + Spotless obligatoires en CI</a:t>
                      </a:r>
                    </a:p>
                  </a:txBody>
                  <a:tcPr/>
                </a:tc>
                <a:extLst>
                  <a:ext uri="{0D108BD9-81ED-4DB2-BD59-A6C34878D82A}">
                    <a16:rowId xmlns:a16="http://schemas.microsoft.com/office/drawing/2014/main" val="10008"/>
                  </a:ext>
                </a:extLst>
              </a:tr>
            </a:tbl>
          </a:graphicData>
        </a:graphic>
      </p:graphicFrame>
      <p:sp>
        <p:nvSpPr>
          <p:cNvPr id="11" name="TextBox 10"/>
          <p:cNvSpPr txBox="1"/>
          <p:nvPr/>
        </p:nvSpPr>
        <p:spPr>
          <a:xfrm>
            <a:off x="914400" y="4731105"/>
            <a:ext cx="16002000" cy="2051913"/>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Livrables</a:t>
            </a:r>
          </a:p>
          <a:p>
            <a:pPr>
              <a:spcBef>
                <a:spcPts val="200"/>
              </a:spcBef>
              <a:spcAft>
                <a:spcPts val="200"/>
              </a:spcAft>
            </a:pPr>
            <a:r>
              <a:rPr sz="1300" b="0" i="0">
                <a:solidFill>
                  <a:srgbClr val="2D3A3A"/>
                </a:solidFill>
                <a:latin typeface="Calibri"/>
              </a:rPr>
              <a:t>1. API REST — 15 endpoints, 4 domaines métier</a:t>
            </a:r>
          </a:p>
          <a:p>
            <a:pPr>
              <a:spcBef>
                <a:spcPts val="200"/>
              </a:spcBef>
              <a:spcAft>
                <a:spcPts val="200"/>
              </a:spcAft>
            </a:pPr>
            <a:r>
              <a:rPr sz="1300" b="0" i="0">
                <a:solidFill>
                  <a:srgbClr val="2D3A3A"/>
                </a:solidFill>
                <a:latin typeface="Calibri"/>
              </a:rPr>
              <a:t>2. Base PostgreSQL — 4 tables, contraintes, index</a:t>
            </a:r>
          </a:p>
          <a:p>
            <a:pPr>
              <a:spcBef>
                <a:spcPts val="200"/>
              </a:spcBef>
              <a:spcAft>
                <a:spcPts val="200"/>
              </a:spcAft>
            </a:pPr>
            <a:r>
              <a:rPr sz="1300" b="0" i="0">
                <a:solidFill>
                  <a:srgbClr val="2D3A3A"/>
                </a:solidFill>
                <a:latin typeface="Calibri"/>
              </a:rPr>
              <a:t>3. Front-end React 19 — PWA, 8 écrans, 6 modales</a:t>
            </a:r>
          </a:p>
          <a:p>
            <a:pPr>
              <a:spcBef>
                <a:spcPts val="200"/>
              </a:spcBef>
              <a:spcAft>
                <a:spcPts val="200"/>
              </a:spcAft>
            </a:pPr>
            <a:r>
              <a:rPr sz="1300" b="0" i="0">
                <a:solidFill>
                  <a:srgbClr val="2D3A3A"/>
                </a:solidFill>
                <a:latin typeface="Calibri"/>
              </a:rPr>
              <a:t>4. Pipelines CI/CD — back-end + front-end</a:t>
            </a:r>
          </a:p>
          <a:p>
            <a:pPr>
              <a:spcBef>
                <a:spcPts val="200"/>
              </a:spcBef>
              <a:spcAft>
                <a:spcPts val="200"/>
              </a:spcAft>
            </a:pPr>
            <a:r>
              <a:rPr sz="1300" b="0" i="0">
                <a:solidFill>
                  <a:srgbClr val="2D3A3A"/>
                </a:solidFill>
                <a:latin typeface="Calibri"/>
              </a:rPr>
              <a:t>5. Tests — unitaires, intégration, E2E</a:t>
            </a:r>
          </a:p>
        </p:txBody>
      </p:sp>
      <p:sp>
        <p:nvSpPr>
          <p:cNvPr id="12" name="TextBox 11"/>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B5C73"/>
        </a:solidFill>
        <a:effectLst/>
      </p:bgPr>
    </p:bg>
    <p:spTree>
      <p:nvGrpSpPr>
        <p:cNvPr id="1" name=""/>
        <p:cNvGrpSpPr/>
        <p:nvPr/>
      </p:nvGrpSpPr>
      <p:grpSpPr>
        <a:xfrm>
          <a:off x="0" y="0"/>
          <a:ext cx="0" cy="0"/>
          <a:chOff x="0" y="0"/>
          <a:chExt cx="0" cy="0"/>
        </a:xfrm>
      </p:grpSpPr>
      <p:sp>
        <p:nvSpPr>
          <p:cNvPr id="2" name="TextBox 2"/>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p:nvSpPr>
        <p:spPr>
          <a:xfrm>
            <a:off x="-810449" y="4666508"/>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p:nvSpPr>
        <p:spPr>
          <a:xfrm>
            <a:off x="-658049" y="4818908"/>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extBox 4"/>
          <p:cNvSpPr txBox="1"/>
          <p:nvPr/>
        </p:nvSpPr>
        <p:spPr>
          <a:xfrm>
            <a:off x="1828800" y="3200400"/>
            <a:ext cx="14630400" cy="3657600"/>
          </a:xfrm>
          <a:prstGeom prst="rect">
            <a:avLst/>
          </a:prstGeom>
          <a:noFill/>
        </p:spPr>
        <p:txBody>
          <a:bodyPr wrap="square">
            <a:spAutoFit/>
          </a:bodyPr>
          <a:lstStyle/>
          <a:p>
            <a:pPr algn="ctr"/>
            <a:r>
              <a:rPr sz="2800" b="1" i="0">
                <a:solidFill>
                  <a:srgbClr val="FFFFFF"/>
                </a:solidFill>
                <a:latin typeface="Calibri"/>
              </a:rPr>
              <a:t>Gestion de projet</a:t>
            </a:r>
          </a:p>
        </p:txBody>
      </p:sp>
      <p:sp>
        <p:nvSpPr>
          <p:cNvPr id="6" name="TextBox 5"/>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Méthodologie et planning</a:t>
            </a:r>
          </a:p>
        </p:txBody>
      </p:sp>
      <p:sp>
        <p:nvSpPr>
          <p:cNvPr id="9" name="TextBox 8"/>
          <p:cNvSpPr txBox="1"/>
          <p:nvPr/>
        </p:nvSpPr>
        <p:spPr>
          <a:xfrm>
            <a:off x="914400" y="1280160"/>
            <a:ext cx="16002000" cy="1949500"/>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Kanban — GitHub Issues + Projects</a:t>
            </a:r>
          </a:p>
          <a:p>
            <a:pPr>
              <a:spcBef>
                <a:spcPts val="200"/>
              </a:spcBef>
              <a:spcAft>
                <a:spcPts val="200"/>
              </a:spcAft>
            </a:pPr>
            <a:r>
              <a:rPr sz="1300" b="0" i="0">
                <a:solidFill>
                  <a:srgbClr val="2D3A3A"/>
                </a:solidFill>
                <a:latin typeface="Calibri"/>
              </a:rPr>
              <a:t>• </a:t>
            </a:r>
            <a:r>
              <a:rPr sz="1300" b="1" i="0">
                <a:solidFill>
                  <a:srgbClr val="2D3A3A"/>
                </a:solidFill>
                <a:latin typeface="Calibri"/>
              </a:rPr>
              <a:t>To Do</a:t>
            </a:r>
            <a:r>
              <a:rPr sz="1300" b="0" i="0">
                <a:solidFill>
                  <a:srgbClr val="2D3A3A"/>
                </a:solidFill>
                <a:latin typeface="Calibri"/>
              </a:rPr>
              <a:t> → </a:t>
            </a:r>
            <a:r>
              <a:rPr sz="1300" b="1" i="0">
                <a:solidFill>
                  <a:srgbClr val="2D3A3A"/>
                </a:solidFill>
                <a:latin typeface="Calibri"/>
              </a:rPr>
              <a:t>In Progress</a:t>
            </a:r>
            <a:r>
              <a:rPr sz="1300" b="0" i="0">
                <a:solidFill>
                  <a:srgbClr val="2D3A3A"/>
                </a:solidFill>
                <a:latin typeface="Calibri"/>
              </a:rPr>
              <a:t> → </a:t>
            </a:r>
            <a:r>
              <a:rPr sz="1300" b="1" i="0">
                <a:solidFill>
                  <a:srgbClr val="2D3A3A"/>
                </a:solidFill>
                <a:latin typeface="Calibri"/>
              </a:rPr>
              <a:t>Done</a:t>
            </a:r>
          </a:p>
          <a:p>
            <a:pPr>
              <a:spcBef>
                <a:spcPts val="200"/>
              </a:spcBef>
              <a:spcAft>
                <a:spcPts val="200"/>
              </a:spcAft>
            </a:pPr>
            <a:r>
              <a:rPr sz="1300" b="0" i="0">
                <a:solidFill>
                  <a:srgbClr val="2D3A3A"/>
                </a:solidFill>
                <a:latin typeface="Calibri"/>
              </a:rPr>
              <a:t>• WIP limité pour rester focalisé</a:t>
            </a:r>
          </a:p>
          <a:p>
            <a:pPr>
              <a:spcBef>
                <a:spcPts val="200"/>
              </a:spcBef>
              <a:spcAft>
                <a:spcPts val="200"/>
              </a:spcAft>
            </a:pPr>
            <a:r>
              <a:rPr sz="1300" b="0" i="0">
                <a:solidFill>
                  <a:srgbClr val="2D3A3A"/>
                </a:solidFill>
                <a:latin typeface="Calibri"/>
              </a:rPr>
              <a:t>• Livraison continue et incrémentale</a:t>
            </a:r>
          </a:p>
          <a:p>
            <a:pPr>
              <a:spcBef>
                <a:spcPts val="800"/>
              </a:spcBef>
              <a:spcAft>
                <a:spcPts val="200"/>
              </a:spcAft>
            </a:pPr>
            <a:r>
              <a:rPr sz="1400" b="1" i="0">
                <a:solidFill>
                  <a:srgbClr val="3D5A6C"/>
                </a:solidFill>
                <a:latin typeface="Calibri"/>
              </a:rPr>
              <a:t>Planning en 5 phases</a:t>
            </a:r>
          </a:p>
        </p:txBody>
      </p:sp>
      <p:graphicFrame>
        <p:nvGraphicFramePr>
          <p:cNvPr id="10" name="Table 9"/>
          <p:cNvGraphicFramePr>
            <a:graphicFrameLocks noGrp="1"/>
          </p:cNvGraphicFramePr>
          <p:nvPr/>
        </p:nvGraphicFramePr>
        <p:xfrm>
          <a:off x="914400" y="3321100"/>
          <a:ext cx="16002000" cy="1783079"/>
        </p:xfrm>
        <a:graphic>
          <a:graphicData uri="http://schemas.openxmlformats.org/drawingml/2006/table">
            <a:tbl>
              <a:tblPr firstRow="1" bandRow="1">
                <a:tableStyleId>{5C22544A-7EE6-4342-B048-85BDC9FD1C3A}</a:tableStyleId>
              </a:tblPr>
              <a:tblGrid>
                <a:gridCol w="5334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5334000">
                  <a:extLst>
                    <a:ext uri="{9D8B030D-6E8A-4147-A177-3AD203B41FA5}">
                      <a16:colId xmlns:a16="http://schemas.microsoft.com/office/drawing/2014/main" val="20002"/>
                    </a:ext>
                  </a:extLst>
                </a:gridCol>
              </a:tblGrid>
              <a:tr h="297179">
                <a:tc>
                  <a:txBody>
                    <a:bodyPr/>
                    <a:lstStyle/>
                    <a:p>
                      <a:pPr>
                        <a:defRPr sz="1000" b="1">
                          <a:solidFill>
                            <a:srgbClr val="3D5A6C"/>
                          </a:solidFill>
                        </a:defRPr>
                      </a:pPr>
                      <a:r>
                        <a:t>Phase</a:t>
                      </a:r>
                    </a:p>
                  </a:txBody>
                  <a:tcPr/>
                </a:tc>
                <a:tc>
                  <a:txBody>
                    <a:bodyPr/>
                    <a:lstStyle/>
                    <a:p>
                      <a:pPr>
                        <a:defRPr sz="1000" b="1">
                          <a:solidFill>
                            <a:srgbClr val="3D5A6C"/>
                          </a:solidFill>
                        </a:defRPr>
                      </a:pPr>
                      <a:r>
                        <a:t>Contenu</a:t>
                      </a:r>
                    </a:p>
                  </a:txBody>
                  <a:tcPr/>
                </a:tc>
                <a:tc>
                  <a:txBody>
                    <a:bodyPr/>
                    <a:lstStyle/>
                    <a:p>
                      <a:pPr>
                        <a:defRPr sz="1000" b="1">
                          <a:solidFill>
                            <a:srgbClr val="3D5A6C"/>
                          </a:solidFill>
                        </a:defRPr>
                      </a:pPr>
                      <a:r>
                        <a:t>Livrables</a:t>
                      </a:r>
                    </a:p>
                  </a:txBody>
                  <a:tcPr/>
                </a:tc>
                <a:extLst>
                  <a:ext uri="{0D108BD9-81ED-4DB2-BD59-A6C34878D82A}">
                    <a16:rowId xmlns:a16="http://schemas.microsoft.com/office/drawing/2014/main" val="10000"/>
                  </a:ext>
                </a:extLst>
              </a:tr>
              <a:tr h="297179">
                <a:tc>
                  <a:txBody>
                    <a:bodyPr/>
                    <a:lstStyle/>
                    <a:p>
                      <a:pPr>
                        <a:defRPr sz="1000">
                          <a:solidFill>
                            <a:srgbClr val="2D3A3A"/>
                          </a:solidFill>
                        </a:defRPr>
                      </a:pPr>
                      <a:r>
                        <a:t>1. Fondations</a:t>
                      </a:r>
                    </a:p>
                  </a:txBody>
                  <a:tcPr/>
                </a:tc>
                <a:tc>
                  <a:txBody>
                    <a:bodyPr/>
                    <a:lstStyle/>
                    <a:p>
                      <a:pPr>
                        <a:defRPr sz="1000">
                          <a:solidFill>
                            <a:srgbClr val="2D3A3A"/>
                          </a:solidFill>
                        </a:defRPr>
                      </a:pPr>
                      <a:r>
                        <a:t>Architecture hexagonale, Gradle, Docker, PostgreSQL, CI/CD</a:t>
                      </a:r>
                    </a:p>
                  </a:txBody>
                  <a:tcPr/>
                </a:tc>
                <a:tc>
                  <a:txBody>
                    <a:bodyPr/>
                    <a:lstStyle/>
                    <a:p>
                      <a:pPr>
                        <a:defRPr sz="1000">
                          <a:solidFill>
                            <a:srgbClr val="2D3A3A"/>
                          </a:solidFill>
                        </a:defRPr>
                      </a:pPr>
                      <a:r>
                        <a:t>Projet compilable, pipeline fonctionnel</a:t>
                      </a:r>
                    </a:p>
                  </a:txBody>
                  <a:tcPr/>
                </a:tc>
                <a:extLst>
                  <a:ext uri="{0D108BD9-81ED-4DB2-BD59-A6C34878D82A}">
                    <a16:rowId xmlns:a16="http://schemas.microsoft.com/office/drawing/2014/main" val="10001"/>
                  </a:ext>
                </a:extLst>
              </a:tr>
              <a:tr h="297179">
                <a:tc>
                  <a:txBody>
                    <a:bodyPr/>
                    <a:lstStyle/>
                    <a:p>
                      <a:pPr>
                        <a:defRPr sz="1000">
                          <a:solidFill>
                            <a:srgbClr val="2D3A3A"/>
                          </a:solidFill>
                        </a:defRPr>
                      </a:pPr>
                      <a:r>
                        <a:t>2. Événements</a:t>
                      </a:r>
                    </a:p>
                  </a:txBody>
                  <a:tcPr/>
                </a:tc>
                <a:tc>
                  <a:txBody>
                    <a:bodyPr/>
                    <a:lstStyle/>
                    <a:p>
                      <a:pPr>
                        <a:defRPr sz="1000">
                          <a:solidFill>
                            <a:srgbClr val="2D3A3A"/>
                          </a:solidFill>
                        </a:defRPr>
                      </a:pPr>
                      <a:r>
                        <a:t>CRUD événements, authentification JWT Supabase</a:t>
                      </a:r>
                    </a:p>
                  </a:txBody>
                  <a:tcPr/>
                </a:tc>
                <a:tc>
                  <a:txBody>
                    <a:bodyPr/>
                    <a:lstStyle/>
                    <a:p>
                      <a:pPr>
                        <a:defRPr sz="1000">
                          <a:solidFill>
                            <a:srgbClr val="2D3A3A"/>
                          </a:solidFill>
                        </a:defRPr>
                      </a:pPr>
                      <a:r>
                        <a:t>Endpoints events, auth fonctionnelle</a:t>
                      </a:r>
                    </a:p>
                  </a:txBody>
                  <a:tcPr/>
                </a:tc>
                <a:extLst>
                  <a:ext uri="{0D108BD9-81ED-4DB2-BD59-A6C34878D82A}">
                    <a16:rowId xmlns:a16="http://schemas.microsoft.com/office/drawing/2014/main" val="10002"/>
                  </a:ext>
                </a:extLst>
              </a:tr>
              <a:tr h="297179">
                <a:tc>
                  <a:txBody>
                    <a:bodyPr/>
                    <a:lstStyle/>
                    <a:p>
                      <a:pPr>
                        <a:defRPr sz="1000">
                          <a:solidFill>
                            <a:srgbClr val="2D3A3A"/>
                          </a:solidFill>
                        </a:defRPr>
                      </a:pPr>
                      <a:r>
                        <a:t>3. Participants</a:t>
                      </a:r>
                    </a:p>
                  </a:txBody>
                  <a:tcPr/>
                </a:tc>
                <a:tc>
                  <a:txBody>
                    <a:bodyPr/>
                    <a:lstStyle/>
                    <a:p>
                      <a:pPr>
                        <a:defRPr sz="1000">
                          <a:solidFill>
                            <a:srgbClr val="2D3A3A"/>
                          </a:solidFill>
                        </a:defRPr>
                      </a:pPr>
                      <a:r>
                        <a:t>Gestion participants, auto-ajout du créateur</a:t>
                      </a:r>
                    </a:p>
                  </a:txBody>
                  <a:tcPr/>
                </a:tc>
                <a:tc>
                  <a:txBody>
                    <a:bodyPr/>
                    <a:lstStyle/>
                    <a:p>
                      <a:pPr>
                        <a:defRPr sz="1000">
                          <a:solidFill>
                            <a:srgbClr val="2D3A3A"/>
                          </a:solidFill>
                        </a:defRPr>
                      </a:pPr>
                      <a:r>
                        <a:t>Endpoints participants</a:t>
                      </a:r>
                    </a:p>
                  </a:txBody>
                  <a:tcPr/>
                </a:tc>
                <a:extLst>
                  <a:ext uri="{0D108BD9-81ED-4DB2-BD59-A6C34878D82A}">
                    <a16:rowId xmlns:a16="http://schemas.microsoft.com/office/drawing/2014/main" val="10003"/>
                  </a:ext>
                </a:extLst>
              </a:tr>
              <a:tr h="297179">
                <a:tc>
                  <a:txBody>
                    <a:bodyPr/>
                    <a:lstStyle/>
                    <a:p>
                      <a:pPr>
                        <a:defRPr sz="1000">
                          <a:solidFill>
                            <a:srgbClr val="2D3A3A"/>
                          </a:solidFill>
                        </a:defRPr>
                      </a:pPr>
                      <a:r>
                        <a:t>4. Ressources &amp; Contributions</a:t>
                      </a:r>
                    </a:p>
                  </a:txBody>
                  <a:tcPr/>
                </a:tc>
                <a:tc>
                  <a:txBody>
                    <a:bodyPr/>
                    <a:lstStyle/>
                    <a:p>
                      <a:pPr>
                        <a:defRPr sz="1000">
                          <a:solidFill>
                            <a:srgbClr val="2D3A3A"/>
                          </a:solidFill>
                        </a:defRPr>
                      </a:pPr>
                      <a:r>
                        <a:t>Contributions avec verrou optimiste</a:t>
                      </a:r>
                    </a:p>
                  </a:txBody>
                  <a:tcPr/>
                </a:tc>
                <a:tc>
                  <a:txBody>
                    <a:bodyPr/>
                    <a:lstStyle/>
                    <a:p>
                      <a:pPr>
                        <a:defRPr sz="1000">
                          <a:solidFill>
                            <a:srgbClr val="2D3A3A"/>
                          </a:solidFill>
                        </a:defRPr>
                      </a:pPr>
                      <a:r>
                        <a:t>Endpoints ressources + contributions</a:t>
                      </a:r>
                    </a:p>
                  </a:txBody>
                  <a:tcPr/>
                </a:tc>
                <a:extLst>
                  <a:ext uri="{0D108BD9-81ED-4DB2-BD59-A6C34878D82A}">
                    <a16:rowId xmlns:a16="http://schemas.microsoft.com/office/drawing/2014/main" val="10004"/>
                  </a:ext>
                </a:extLst>
              </a:tr>
              <a:tr h="297184">
                <a:tc>
                  <a:txBody>
                    <a:bodyPr/>
                    <a:lstStyle/>
                    <a:p>
                      <a:pPr>
                        <a:defRPr sz="1000">
                          <a:solidFill>
                            <a:srgbClr val="2D3A3A"/>
                          </a:solidFill>
                        </a:defRPr>
                      </a:pPr>
                      <a:r>
                        <a:t>5. Qualité &amp; Déploiement</a:t>
                      </a:r>
                    </a:p>
                  </a:txBody>
                  <a:tcPr/>
                </a:tc>
                <a:tc>
                  <a:txBody>
                    <a:bodyPr/>
                    <a:lstStyle/>
                    <a:p>
                      <a:pPr>
                        <a:defRPr sz="1000">
                          <a:solidFill>
                            <a:srgbClr val="2D3A3A"/>
                          </a:solidFill>
                        </a:defRPr>
                      </a:pPr>
                      <a:r>
                        <a:t>Tests, analyse statique, déploiement Render/Vercel</a:t>
                      </a:r>
                    </a:p>
                  </a:txBody>
                  <a:tcPr/>
                </a:tc>
                <a:tc>
                  <a:txBody>
                    <a:bodyPr/>
                    <a:lstStyle/>
                    <a:p>
                      <a:pPr>
                        <a:defRPr sz="1000">
                          <a:solidFill>
                            <a:srgbClr val="2D3A3A"/>
                          </a:solidFill>
                        </a:defRPr>
                      </a:pPr>
                      <a:r>
                        <a:t>Application déployée et testée</a:t>
                      </a:r>
                    </a:p>
                  </a:txBody>
                  <a:tcPr/>
                </a:tc>
                <a:extLst>
                  <a:ext uri="{0D108BD9-81ED-4DB2-BD59-A6C34878D82A}">
                    <a16:rowId xmlns:a16="http://schemas.microsoft.com/office/drawing/2014/main" val="10005"/>
                  </a:ext>
                </a:extLst>
              </a:tr>
            </a:tbl>
          </a:graphicData>
        </a:graphic>
      </p:graphicFrame>
      <p:sp>
        <p:nvSpPr>
          <p:cNvPr id="11" name="TextBox 10"/>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16559154" y="-3155940"/>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18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2169174" y="7273568"/>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6686336" y="-520255"/>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7796283" y="2284321"/>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6"/>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Suivi des tâches</a:t>
            </a:r>
          </a:p>
        </p:txBody>
      </p:sp>
      <p:sp>
        <p:nvSpPr>
          <p:cNvPr id="9" name="TextBox 8"/>
          <p:cNvSpPr txBox="1"/>
          <p:nvPr/>
        </p:nvSpPr>
        <p:spPr>
          <a:xfrm>
            <a:off x="914400" y="1280160"/>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Outils de suivi</a:t>
            </a:r>
          </a:p>
        </p:txBody>
      </p:sp>
      <p:graphicFrame>
        <p:nvGraphicFramePr>
          <p:cNvPr id="10" name="Table 9"/>
          <p:cNvGraphicFramePr>
            <a:graphicFrameLocks noGrp="1"/>
          </p:cNvGraphicFramePr>
          <p:nvPr/>
        </p:nvGraphicFramePr>
        <p:xfrm>
          <a:off x="914400" y="2015337"/>
          <a:ext cx="16002000" cy="1508760"/>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01752">
                <a:tc>
                  <a:txBody>
                    <a:bodyPr/>
                    <a:lstStyle/>
                    <a:p>
                      <a:pPr>
                        <a:defRPr sz="1000" b="1">
                          <a:solidFill>
                            <a:srgbClr val="3D5A6C"/>
                          </a:solidFill>
                        </a:defRPr>
                      </a:pPr>
                      <a:r>
                        <a:t>Outil</a:t>
                      </a:r>
                    </a:p>
                  </a:txBody>
                  <a:tcPr/>
                </a:tc>
                <a:tc>
                  <a:txBody>
                    <a:bodyPr/>
                    <a:lstStyle/>
                    <a:p>
                      <a:pPr>
                        <a:defRPr sz="1000" b="1">
                          <a:solidFill>
                            <a:srgbClr val="3D5A6C"/>
                          </a:solidFill>
                        </a:defRPr>
                      </a:pPr>
                      <a:r>
                        <a:t>Usage</a:t>
                      </a:r>
                    </a:p>
                  </a:txBody>
                  <a:tcPr/>
                </a:tc>
                <a:extLst>
                  <a:ext uri="{0D108BD9-81ED-4DB2-BD59-A6C34878D82A}">
                    <a16:rowId xmlns:a16="http://schemas.microsoft.com/office/drawing/2014/main" val="10000"/>
                  </a:ext>
                </a:extLst>
              </a:tr>
              <a:tr h="301752">
                <a:tc>
                  <a:txBody>
                    <a:bodyPr/>
                    <a:lstStyle/>
                    <a:p>
                      <a:pPr>
                        <a:defRPr sz="1000">
                          <a:solidFill>
                            <a:srgbClr val="2D3A3A"/>
                          </a:solidFill>
                        </a:defRPr>
                      </a:pPr>
                      <a:r>
                        <a:t>GitHub Issues</a:t>
                      </a:r>
                    </a:p>
                  </a:txBody>
                  <a:tcPr/>
                </a:tc>
                <a:tc>
                  <a:txBody>
                    <a:bodyPr/>
                    <a:lstStyle/>
                    <a:p>
                      <a:pPr>
                        <a:defRPr sz="1000">
                          <a:solidFill>
                            <a:srgbClr val="2D3A3A"/>
                          </a:solidFill>
                        </a:defRPr>
                      </a:pPr>
                      <a:r>
                        <a:t>Tickets par fonctionnalité, bug, amélioration</a:t>
                      </a:r>
                    </a:p>
                  </a:txBody>
                  <a:tcPr/>
                </a:tc>
                <a:extLst>
                  <a:ext uri="{0D108BD9-81ED-4DB2-BD59-A6C34878D82A}">
                    <a16:rowId xmlns:a16="http://schemas.microsoft.com/office/drawing/2014/main" val="10001"/>
                  </a:ext>
                </a:extLst>
              </a:tr>
              <a:tr h="301752">
                <a:tc>
                  <a:txBody>
                    <a:bodyPr/>
                    <a:lstStyle/>
                    <a:p>
                      <a:pPr>
                        <a:defRPr sz="1000">
                          <a:solidFill>
                            <a:srgbClr val="2D3A3A"/>
                          </a:solidFill>
                        </a:defRPr>
                      </a:pPr>
                      <a:r>
                        <a:t>GitHub Projects</a:t>
                      </a:r>
                    </a:p>
                  </a:txBody>
                  <a:tcPr/>
                </a:tc>
                <a:tc>
                  <a:txBody>
                    <a:bodyPr/>
                    <a:lstStyle/>
                    <a:p>
                      <a:pPr>
                        <a:defRPr sz="1000">
                          <a:solidFill>
                            <a:srgbClr val="2D3A3A"/>
                          </a:solidFill>
                        </a:defRPr>
                      </a:pPr>
                      <a:r>
                        <a:t>Tableau Kanban — visualisation de l'avancement</a:t>
                      </a:r>
                    </a:p>
                  </a:txBody>
                  <a:tcPr/>
                </a:tc>
                <a:extLst>
                  <a:ext uri="{0D108BD9-81ED-4DB2-BD59-A6C34878D82A}">
                    <a16:rowId xmlns:a16="http://schemas.microsoft.com/office/drawing/2014/main" val="10002"/>
                  </a:ext>
                </a:extLst>
              </a:tr>
              <a:tr h="301752">
                <a:tc>
                  <a:txBody>
                    <a:bodyPr/>
                    <a:lstStyle/>
                    <a:p>
                      <a:pPr>
                        <a:defRPr sz="1000">
                          <a:solidFill>
                            <a:srgbClr val="2D3A3A"/>
                          </a:solidFill>
                        </a:defRPr>
                      </a:pPr>
                      <a:r>
                        <a:t>Git</a:t>
                      </a:r>
                    </a:p>
                  </a:txBody>
                  <a:tcPr/>
                </a:tc>
                <a:tc>
                  <a:txBody>
                    <a:bodyPr/>
                    <a:lstStyle/>
                    <a:p>
                      <a:pPr>
                        <a:defRPr sz="1000">
                          <a:solidFill>
                            <a:srgbClr val="2D3A3A"/>
                          </a:solidFill>
                        </a:defRPr>
                      </a:pPr>
                      <a:r>
                        <a:t>Branches par fonctionnalité, merge via PR</a:t>
                      </a:r>
                    </a:p>
                  </a:txBody>
                  <a:tcPr/>
                </a:tc>
                <a:extLst>
                  <a:ext uri="{0D108BD9-81ED-4DB2-BD59-A6C34878D82A}">
                    <a16:rowId xmlns:a16="http://schemas.microsoft.com/office/drawing/2014/main" val="10003"/>
                  </a:ext>
                </a:extLst>
              </a:tr>
              <a:tr h="301752">
                <a:tc>
                  <a:txBody>
                    <a:bodyPr/>
                    <a:lstStyle/>
                    <a:p>
                      <a:pPr>
                        <a:defRPr sz="1000">
                          <a:solidFill>
                            <a:srgbClr val="2D3A3A"/>
                          </a:solidFill>
                        </a:defRPr>
                      </a:pPr>
                      <a:r>
                        <a:t>GitHub Actions</a:t>
                      </a:r>
                    </a:p>
                  </a:txBody>
                  <a:tcPr/>
                </a:tc>
                <a:tc>
                  <a:txBody>
                    <a:bodyPr/>
                    <a:lstStyle/>
                    <a:p>
                      <a:pPr>
                        <a:defRPr sz="1000">
                          <a:solidFill>
                            <a:srgbClr val="2D3A3A"/>
                          </a:solidFill>
                        </a:defRPr>
                      </a:pPr>
                      <a:r>
                        <a:t>Feedback automatisé à chaque push</a:t>
                      </a:r>
                    </a:p>
                  </a:txBody>
                  <a:tcPr/>
                </a:tc>
                <a:extLst>
                  <a:ext uri="{0D108BD9-81ED-4DB2-BD59-A6C34878D82A}">
                    <a16:rowId xmlns:a16="http://schemas.microsoft.com/office/drawing/2014/main" val="10004"/>
                  </a:ext>
                </a:extLst>
              </a:tr>
            </a:tbl>
          </a:graphicData>
        </a:graphic>
      </p:graphicFrame>
      <p:sp>
        <p:nvSpPr>
          <p:cNvPr id="11" name="TextBox 10"/>
          <p:cNvSpPr txBox="1"/>
          <p:nvPr/>
        </p:nvSpPr>
        <p:spPr>
          <a:xfrm>
            <a:off x="914400" y="3633825"/>
            <a:ext cx="16002000" cy="1488643"/>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Gestion des versions Git</a:t>
            </a:r>
          </a:p>
          <a:p>
            <a:pPr>
              <a:spcBef>
                <a:spcPts val="200"/>
              </a:spcBef>
              <a:spcAft>
                <a:spcPts val="200"/>
              </a:spcAft>
            </a:pPr>
            <a:r>
              <a:rPr sz="1300" b="0" i="0">
                <a:solidFill>
                  <a:srgbClr val="2D3A3A"/>
                </a:solidFill>
                <a:latin typeface="Calibri"/>
              </a:rPr>
              <a:t>• Branche </a:t>
            </a:r>
            <a:r>
              <a:rPr sz="1300" b="0" i="0">
                <a:solidFill>
                  <a:srgbClr val="2D3A3A"/>
                </a:solidFill>
                <a:latin typeface="Consolas"/>
              </a:rPr>
              <a:t>main</a:t>
            </a:r>
            <a:r>
              <a:rPr sz="1300" b="0" i="0">
                <a:solidFill>
                  <a:srgbClr val="2D3A3A"/>
                </a:solidFill>
                <a:latin typeface="Calibri"/>
              </a:rPr>
              <a:t> : code stable, déployé automatiquement</a:t>
            </a:r>
          </a:p>
          <a:p>
            <a:pPr>
              <a:spcBef>
                <a:spcPts val="200"/>
              </a:spcBef>
              <a:spcAft>
                <a:spcPts val="200"/>
              </a:spcAft>
            </a:pPr>
            <a:r>
              <a:rPr sz="1300" b="0" i="0">
                <a:solidFill>
                  <a:srgbClr val="2D3A3A"/>
                </a:solidFill>
                <a:latin typeface="Calibri"/>
              </a:rPr>
              <a:t>• Branches de fonctionnalité : développement isolé</a:t>
            </a:r>
          </a:p>
          <a:p>
            <a:pPr>
              <a:spcBef>
                <a:spcPts val="200"/>
              </a:spcBef>
              <a:spcAft>
                <a:spcPts val="200"/>
              </a:spcAft>
            </a:pPr>
            <a:r>
              <a:rPr sz="1300" b="0" i="0">
                <a:solidFill>
                  <a:srgbClr val="2D3A3A"/>
                </a:solidFill>
                <a:latin typeface="Calibri"/>
              </a:rPr>
              <a:t>• Chaque push sur </a:t>
            </a:r>
            <a:r>
              <a:rPr sz="1300" b="0" i="0">
                <a:solidFill>
                  <a:srgbClr val="2D3A3A"/>
                </a:solidFill>
                <a:latin typeface="Consolas"/>
              </a:rPr>
              <a:t>main</a:t>
            </a:r>
            <a:r>
              <a:rPr sz="1300" b="0" i="0">
                <a:solidFill>
                  <a:srgbClr val="2D3A3A"/>
                </a:solidFill>
                <a:latin typeface="Calibri"/>
              </a:rPr>
              <a:t> déclenche les pipelines CI/CD</a:t>
            </a:r>
          </a:p>
        </p:txBody>
      </p:sp>
      <p:sp>
        <p:nvSpPr>
          <p:cNvPr id="12" name="TextBox 11"/>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Objectifs de qualité</a:t>
            </a:r>
          </a:p>
        </p:txBody>
      </p:sp>
      <p:graphicFrame>
        <p:nvGraphicFramePr>
          <p:cNvPr id="9" name="Table 8"/>
          <p:cNvGraphicFramePr>
            <a:graphicFrameLocks noGrp="1"/>
          </p:cNvGraphicFramePr>
          <p:nvPr/>
        </p:nvGraphicFramePr>
        <p:xfrm>
          <a:off x="914400" y="1280160"/>
          <a:ext cx="16002000" cy="1783079"/>
        </p:xfrm>
        <a:graphic>
          <a:graphicData uri="http://schemas.openxmlformats.org/drawingml/2006/table">
            <a:tbl>
              <a:tblPr firstRow="1" bandRow="1">
                <a:tableStyleId>{5C22544A-7EE6-4342-B048-85BDC9FD1C3A}</a:tableStyleId>
              </a:tblPr>
              <a:tblGrid>
                <a:gridCol w="5334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5334000">
                  <a:extLst>
                    <a:ext uri="{9D8B030D-6E8A-4147-A177-3AD203B41FA5}">
                      <a16:colId xmlns:a16="http://schemas.microsoft.com/office/drawing/2014/main" val="20002"/>
                    </a:ext>
                  </a:extLst>
                </a:gridCol>
              </a:tblGrid>
              <a:tr h="297179">
                <a:tc>
                  <a:txBody>
                    <a:bodyPr/>
                    <a:lstStyle/>
                    <a:p>
                      <a:pPr>
                        <a:defRPr sz="1000" b="1">
                          <a:solidFill>
                            <a:srgbClr val="3D5A6C"/>
                          </a:solidFill>
                        </a:defRPr>
                      </a:pPr>
                      <a:r>
                        <a:t>Objectif</a:t>
                      </a:r>
                    </a:p>
                  </a:txBody>
                  <a:tcPr/>
                </a:tc>
                <a:tc>
                  <a:txBody>
                    <a:bodyPr/>
                    <a:lstStyle/>
                    <a:p>
                      <a:pPr>
                        <a:defRPr sz="1000" b="1">
                          <a:solidFill>
                            <a:srgbClr val="3D5A6C"/>
                          </a:solidFill>
                        </a:defRPr>
                      </a:pPr>
                      <a:r>
                        <a:t>Outil</a:t>
                      </a:r>
                    </a:p>
                  </a:txBody>
                  <a:tcPr/>
                </a:tc>
                <a:tc>
                  <a:txBody>
                    <a:bodyPr/>
                    <a:lstStyle/>
                    <a:p>
                      <a:pPr>
                        <a:defRPr sz="1000" b="1">
                          <a:solidFill>
                            <a:srgbClr val="3D5A6C"/>
                          </a:solidFill>
                        </a:defRPr>
                      </a:pPr>
                      <a:r>
                        <a:t>Résultat</a:t>
                      </a:r>
                    </a:p>
                  </a:txBody>
                  <a:tcPr/>
                </a:tc>
                <a:extLst>
                  <a:ext uri="{0D108BD9-81ED-4DB2-BD59-A6C34878D82A}">
                    <a16:rowId xmlns:a16="http://schemas.microsoft.com/office/drawing/2014/main" val="10000"/>
                  </a:ext>
                </a:extLst>
              </a:tr>
              <a:tr h="297179">
                <a:tc>
                  <a:txBody>
                    <a:bodyPr/>
                    <a:lstStyle/>
                    <a:p>
                      <a:pPr>
                        <a:defRPr sz="1000">
                          <a:solidFill>
                            <a:srgbClr val="2D3A3A"/>
                          </a:solidFill>
                        </a:defRPr>
                      </a:pPr>
                      <a:r>
                        <a:t>Analyse statique</a:t>
                      </a:r>
                    </a:p>
                  </a:txBody>
                  <a:tcPr/>
                </a:tc>
                <a:tc>
                  <a:txBody>
                    <a:bodyPr/>
                    <a:lstStyle/>
                    <a:p>
                      <a:pPr>
                        <a:defRPr sz="1000">
                          <a:solidFill>
                            <a:srgbClr val="2D3A3A"/>
                          </a:solidFill>
                        </a:defRPr>
                      </a:pPr>
                      <a:r>
                        <a:t>Detekt</a:t>
                      </a:r>
                    </a:p>
                  </a:txBody>
                  <a:tcPr/>
                </a:tc>
                <a:tc>
                  <a:txBody>
                    <a:bodyPr/>
                    <a:lstStyle/>
                    <a:p>
                      <a:pPr>
                        <a:defRPr sz="1000">
                          <a:solidFill>
                            <a:srgbClr val="2D3A3A"/>
                          </a:solidFill>
                        </a:defRPr>
                      </a:pPr>
                      <a:r>
                        <a:t>Code smells, complexité, conventions</a:t>
                      </a:r>
                    </a:p>
                  </a:txBody>
                  <a:tcPr/>
                </a:tc>
                <a:extLst>
                  <a:ext uri="{0D108BD9-81ED-4DB2-BD59-A6C34878D82A}">
                    <a16:rowId xmlns:a16="http://schemas.microsoft.com/office/drawing/2014/main" val="10001"/>
                  </a:ext>
                </a:extLst>
              </a:tr>
              <a:tr h="297179">
                <a:tc>
                  <a:txBody>
                    <a:bodyPr/>
                    <a:lstStyle/>
                    <a:p>
                      <a:pPr>
                        <a:defRPr sz="1000">
                          <a:solidFill>
                            <a:srgbClr val="2D3A3A"/>
                          </a:solidFill>
                        </a:defRPr>
                      </a:pPr>
                      <a:r>
                        <a:t>Formatage homogène</a:t>
                      </a:r>
                    </a:p>
                  </a:txBody>
                  <a:tcPr/>
                </a:tc>
                <a:tc>
                  <a:txBody>
                    <a:bodyPr/>
                    <a:lstStyle/>
                    <a:p>
                      <a:pPr>
                        <a:defRPr sz="1000">
                          <a:solidFill>
                            <a:srgbClr val="2D3A3A"/>
                          </a:solidFill>
                        </a:defRPr>
                      </a:pPr>
                      <a:r>
                        <a:t>Spotless + ktlint (back) / Prettier (front)</a:t>
                      </a:r>
                    </a:p>
                  </a:txBody>
                  <a:tcPr/>
                </a:tc>
                <a:tc>
                  <a:txBody>
                    <a:bodyPr/>
                    <a:lstStyle/>
                    <a:p>
                      <a:pPr>
                        <a:defRPr sz="1000">
                          <a:solidFill>
                            <a:srgbClr val="2D3A3A"/>
                          </a:solidFill>
                        </a:defRPr>
                      </a:pPr>
                      <a:r>
                        <a:t>Style uniforme</a:t>
                      </a:r>
                    </a:p>
                  </a:txBody>
                  <a:tcPr/>
                </a:tc>
                <a:extLst>
                  <a:ext uri="{0D108BD9-81ED-4DB2-BD59-A6C34878D82A}">
                    <a16:rowId xmlns:a16="http://schemas.microsoft.com/office/drawing/2014/main" val="10002"/>
                  </a:ext>
                </a:extLst>
              </a:tr>
              <a:tr h="297179">
                <a:tc>
                  <a:txBody>
                    <a:bodyPr/>
                    <a:lstStyle/>
                    <a:p>
                      <a:pPr>
                        <a:defRPr sz="1000">
                          <a:solidFill>
                            <a:srgbClr val="2D3A3A"/>
                          </a:solidFill>
                        </a:defRPr>
                      </a:pPr>
                      <a:r>
                        <a:t>Tests automatisés</a:t>
                      </a:r>
                    </a:p>
                  </a:txBody>
                  <a:tcPr/>
                </a:tc>
                <a:tc>
                  <a:txBody>
                    <a:bodyPr/>
                    <a:lstStyle/>
                    <a:p>
                      <a:pPr>
                        <a:defRPr sz="1000">
                          <a:solidFill>
                            <a:srgbClr val="2D3A3A"/>
                          </a:solidFill>
                        </a:defRPr>
                      </a:pPr>
                      <a:r>
                        <a:t>Kotest + MockK / Vitest + Playwright</a:t>
                      </a:r>
                    </a:p>
                  </a:txBody>
                  <a:tcPr/>
                </a:tc>
                <a:tc>
                  <a:txBody>
                    <a:bodyPr/>
                    <a:lstStyle/>
                    <a:p>
                      <a:pPr>
                        <a:defRPr sz="1000">
                          <a:solidFill>
                            <a:srgbClr val="2D3A3A"/>
                          </a:solidFill>
                        </a:defRPr>
                      </a:pPr>
                      <a:r>
                        <a:t>Couverture fonctionnelle</a:t>
                      </a:r>
                    </a:p>
                  </a:txBody>
                  <a:tcPr/>
                </a:tc>
                <a:extLst>
                  <a:ext uri="{0D108BD9-81ED-4DB2-BD59-A6C34878D82A}">
                    <a16:rowId xmlns:a16="http://schemas.microsoft.com/office/drawing/2014/main" val="10003"/>
                  </a:ext>
                </a:extLst>
              </a:tr>
              <a:tr h="297179">
                <a:tc>
                  <a:txBody>
                    <a:bodyPr/>
                    <a:lstStyle/>
                    <a:p>
                      <a:pPr>
                        <a:defRPr sz="1000">
                          <a:solidFill>
                            <a:srgbClr val="2D3A3A"/>
                          </a:solidFill>
                        </a:defRPr>
                      </a:pPr>
                      <a:r>
                        <a:t>Sécurité supply chain</a:t>
                      </a:r>
                    </a:p>
                  </a:txBody>
                  <a:tcPr/>
                </a:tc>
                <a:tc>
                  <a:txBody>
                    <a:bodyPr/>
                    <a:lstStyle/>
                    <a:p>
                      <a:pPr>
                        <a:defRPr sz="1000">
                          <a:solidFill>
                            <a:srgbClr val="2D3A3A"/>
                          </a:solidFill>
                        </a:defRPr>
                      </a:pPr>
                      <a:r>
                        <a:t>npm audit quotidien, lockfile-lint, Dependabot</a:t>
                      </a:r>
                    </a:p>
                  </a:txBody>
                  <a:tcPr/>
                </a:tc>
                <a:tc>
                  <a:txBody>
                    <a:bodyPr/>
                    <a:lstStyle/>
                    <a:p>
                      <a:pPr>
                        <a:defRPr sz="1000">
                          <a:solidFill>
                            <a:srgbClr val="2D3A3A"/>
                          </a:solidFill>
                        </a:defRPr>
                      </a:pPr>
                      <a:r>
                        <a:t>Alertes automatiques</a:t>
                      </a:r>
                    </a:p>
                  </a:txBody>
                  <a:tcPr/>
                </a:tc>
                <a:extLst>
                  <a:ext uri="{0D108BD9-81ED-4DB2-BD59-A6C34878D82A}">
                    <a16:rowId xmlns:a16="http://schemas.microsoft.com/office/drawing/2014/main" val="10004"/>
                  </a:ext>
                </a:extLst>
              </a:tr>
              <a:tr h="297184">
                <a:tc>
                  <a:txBody>
                    <a:bodyPr/>
                    <a:lstStyle/>
                    <a:p>
                      <a:pPr>
                        <a:defRPr sz="1000">
                          <a:solidFill>
                            <a:srgbClr val="2D3A3A"/>
                          </a:solidFill>
                        </a:defRPr>
                      </a:pPr>
                      <a:r>
                        <a:t>Zéro régression</a:t>
                      </a:r>
                    </a:p>
                  </a:txBody>
                  <a:tcPr/>
                </a:tc>
                <a:tc>
                  <a:txBody>
                    <a:bodyPr/>
                    <a:lstStyle/>
                    <a:p>
                      <a:pPr>
                        <a:defRPr sz="1000">
                          <a:solidFill>
                            <a:srgbClr val="2D3A3A"/>
                          </a:solidFill>
                        </a:defRPr>
                      </a:pPr>
                      <a:r>
                        <a:t>Pipelines CI/CD bloquants</a:t>
                      </a:r>
                    </a:p>
                  </a:txBody>
                  <a:tcPr/>
                </a:tc>
                <a:tc>
                  <a:txBody>
                    <a:bodyPr/>
                    <a:lstStyle/>
                    <a:p>
                      <a:pPr>
                        <a:defRPr sz="1000">
                          <a:solidFill>
                            <a:srgbClr val="2D3A3A"/>
                          </a:solidFill>
                        </a:defRPr>
                      </a:pPr>
                      <a:r>
                        <a:t>Aucun déploiement si échec</a:t>
                      </a:r>
                    </a:p>
                  </a:txBody>
                  <a:tcPr/>
                </a:tc>
                <a:extLst>
                  <a:ext uri="{0D108BD9-81ED-4DB2-BD59-A6C34878D82A}">
                    <a16:rowId xmlns:a16="http://schemas.microsoft.com/office/drawing/2014/main" val="10005"/>
                  </a:ext>
                </a:extLst>
              </a:tr>
            </a:tbl>
          </a:graphicData>
        </a:graphic>
      </p:graphicFrame>
      <p:sp>
        <p:nvSpPr>
          <p:cNvPr id="10" name="TextBox 9"/>
          <p:cNvSpPr txBox="1"/>
          <p:nvPr/>
        </p:nvSpPr>
        <p:spPr>
          <a:xfrm>
            <a:off x="914400" y="3172968"/>
            <a:ext cx="16002000" cy="1207008"/>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Pipeline résumé</a:t>
            </a:r>
          </a:p>
          <a:p>
            <a:pPr>
              <a:spcBef>
                <a:spcPts val="200"/>
              </a:spcBef>
              <a:spcAft>
                <a:spcPts val="200"/>
              </a:spcAft>
            </a:pPr>
            <a:r>
              <a:rPr sz="1300" b="0" i="0">
                <a:solidFill>
                  <a:srgbClr val="2D3A3A"/>
                </a:solidFill>
                <a:latin typeface="Calibri"/>
              </a:rPr>
              <a:t>Back-end :  Detekt → Tests unitaires → Déploiement Render</a:t>
            </a:r>
          </a:p>
          <a:p>
            <a:pPr>
              <a:spcBef>
                <a:spcPts val="200"/>
              </a:spcBef>
              <a:spcAft>
                <a:spcPts val="200"/>
              </a:spcAft>
            </a:pPr>
            <a:r>
              <a:rPr sz="1300" b="0" i="0">
                <a:solidFill>
                  <a:srgbClr val="2D3A3A"/>
                </a:solidFill>
                <a:latin typeface="Calibri"/>
              </a:rPr>
              <a:t>Front-end : ESLint → Vitest → Build Docker → Approval → Déploiement Vercel</a:t>
            </a:r>
          </a:p>
        </p:txBody>
      </p:sp>
      <p:sp>
        <p:nvSpPr>
          <p:cNvPr id="11" name="TextBox 10"/>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B5C73"/>
        </a:solidFill>
        <a:effectLst/>
      </p:bgPr>
    </p:bg>
    <p:spTree>
      <p:nvGrpSpPr>
        <p:cNvPr id="1" name=""/>
        <p:cNvGrpSpPr/>
        <p:nvPr/>
      </p:nvGrpSpPr>
      <p:grpSpPr>
        <a:xfrm>
          <a:off x="0" y="0"/>
          <a:ext cx="0" cy="0"/>
          <a:chOff x="0" y="0"/>
          <a:chExt cx="0" cy="0"/>
        </a:xfrm>
      </p:grpSpPr>
      <p:sp>
        <p:nvSpPr>
          <p:cNvPr id="2" name="TextBox 2"/>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p:nvSpPr>
        <p:spPr>
          <a:xfrm>
            <a:off x="-810449" y="4666508"/>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p:nvSpPr>
        <p:spPr>
          <a:xfrm>
            <a:off x="-658049" y="4818908"/>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extBox 4"/>
          <p:cNvSpPr txBox="1"/>
          <p:nvPr/>
        </p:nvSpPr>
        <p:spPr>
          <a:xfrm>
            <a:off x="1828800" y="3200400"/>
            <a:ext cx="14630400" cy="3657600"/>
          </a:xfrm>
          <a:prstGeom prst="rect">
            <a:avLst/>
          </a:prstGeom>
          <a:noFill/>
        </p:spPr>
        <p:txBody>
          <a:bodyPr wrap="square">
            <a:spAutoFit/>
          </a:bodyPr>
          <a:lstStyle/>
          <a:p>
            <a:pPr algn="ctr"/>
            <a:r>
              <a:rPr sz="2800" b="1" i="0">
                <a:solidFill>
                  <a:srgbClr val="FFFFFF"/>
                </a:solidFill>
                <a:latin typeface="Calibri"/>
              </a:rPr>
              <a:t>Spécifications fonctionnelles</a:t>
            </a:r>
          </a:p>
        </p:txBody>
      </p:sp>
      <p:sp>
        <p:nvSpPr>
          <p:cNvPr id="6" name="TextBox 5"/>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16559154" y="-3155940"/>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18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2169174" y="7273568"/>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6686336" y="-520255"/>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7796283" y="2284321"/>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6"/>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Architecture hexagonale : principes</a:t>
            </a:r>
          </a:p>
        </p:txBody>
      </p:sp>
      <p:pic>
        <p:nvPicPr>
          <p:cNvPr id="9" name="Picture 8" descr="diagram_1.png"/>
          <p:cNvPicPr>
            <a:picLocks noChangeAspect="1"/>
          </p:cNvPicPr>
          <p:nvPr/>
        </p:nvPicPr>
        <p:blipFill>
          <a:blip r:embed="rId7"/>
          <a:stretch>
            <a:fillRect/>
          </a:stretch>
        </p:blipFill>
        <p:spPr>
          <a:xfrm>
            <a:off x="5396358" y="1280160"/>
            <a:ext cx="7038084" cy="4114800"/>
          </a:xfrm>
          <a:prstGeom prst="rect">
            <a:avLst/>
          </a:prstGeom>
        </p:spPr>
      </p:pic>
      <p:sp>
        <p:nvSpPr>
          <p:cNvPr id="10" name="TextBox 9"/>
          <p:cNvSpPr txBox="1"/>
          <p:nvPr/>
        </p:nvSpPr>
        <p:spPr>
          <a:xfrm>
            <a:off x="914400" y="5486400"/>
            <a:ext cx="16002000" cy="1309420"/>
          </a:xfrm>
          <a:prstGeom prst="rect">
            <a:avLst/>
          </a:prstGeom>
          <a:noFill/>
        </p:spPr>
        <p:txBody>
          <a:bodyPr wrap="square">
            <a:spAutoFit/>
          </a:bodyPr>
          <a:lstStyle/>
          <a:p>
            <a:pPr>
              <a:spcBef>
                <a:spcPts val="200"/>
              </a:spcBef>
              <a:spcAft>
                <a:spcPts val="200"/>
              </a:spcAft>
            </a:pPr>
            <a:r>
              <a:rPr sz="1300" b="1" i="0">
                <a:solidFill>
                  <a:srgbClr val="2D3A3A"/>
                </a:solidFill>
                <a:latin typeface="Calibri"/>
              </a:rPr>
              <a:t>Principe</a:t>
            </a:r>
            <a:r>
              <a:rPr sz="1300" b="0" i="0">
                <a:solidFill>
                  <a:srgbClr val="2D3A3A"/>
                </a:solidFill>
                <a:latin typeface="Calibri"/>
              </a:rPr>
              <a:t> : le domaine ne dépend d'aucune bibliothèque technique. Il définit des </a:t>
            </a:r>
            <a:r>
              <a:rPr sz="1300" b="1" i="0">
                <a:solidFill>
                  <a:srgbClr val="2D3A3A"/>
                </a:solidFill>
                <a:latin typeface="Calibri"/>
              </a:rPr>
              <a:t>ports</a:t>
            </a:r>
            <a:r>
              <a:rPr sz="1300" b="0" i="0">
                <a:solidFill>
                  <a:srgbClr val="2D3A3A"/>
                </a:solidFill>
                <a:latin typeface="Calibri"/>
              </a:rPr>
              <a:t> (interfaces), l'infrastructure les implémente.</a:t>
            </a:r>
          </a:p>
          <a:p>
            <a:pPr>
              <a:spcBef>
                <a:spcPts val="200"/>
              </a:spcBef>
              <a:spcAft>
                <a:spcPts val="200"/>
              </a:spcAft>
            </a:pPr>
            <a:r>
              <a:rPr sz="1300" b="0" i="0">
                <a:solidFill>
                  <a:srgbClr val="2D3A3A"/>
                </a:solidFill>
                <a:latin typeface="Calibri"/>
              </a:rPr>
              <a:t>• </a:t>
            </a:r>
            <a:r>
              <a:rPr sz="1300" b="1" i="0">
                <a:solidFill>
                  <a:srgbClr val="2D3A3A"/>
                </a:solidFill>
                <a:latin typeface="Calibri"/>
              </a:rPr>
              <a:t>Ports driving</a:t>
            </a:r>
            <a:r>
              <a:rPr sz="1300" b="0" i="0">
                <a:solidFill>
                  <a:srgbClr val="2D3A3A"/>
                </a:solidFill>
                <a:latin typeface="Calibri"/>
              </a:rPr>
              <a:t> (entrants) : les endpoints appellent les use cases</a:t>
            </a:r>
          </a:p>
          <a:p>
            <a:pPr>
              <a:spcBef>
                <a:spcPts val="200"/>
              </a:spcBef>
              <a:spcAft>
                <a:spcPts val="200"/>
              </a:spcAft>
            </a:pPr>
            <a:r>
              <a:rPr sz="1300" b="0" i="0">
                <a:solidFill>
                  <a:srgbClr val="2D3A3A"/>
                </a:solidFill>
                <a:latin typeface="Calibri"/>
              </a:rPr>
              <a:t>• </a:t>
            </a:r>
            <a:r>
              <a:rPr sz="1300" b="1" i="0">
                <a:solidFill>
                  <a:srgbClr val="2D3A3A"/>
                </a:solidFill>
                <a:latin typeface="Calibri"/>
              </a:rPr>
              <a:t>Ports driven</a:t>
            </a:r>
            <a:r>
              <a:rPr sz="1300" b="0" i="0">
                <a:solidFill>
                  <a:srgbClr val="2D3A3A"/>
                </a:solidFill>
                <a:latin typeface="Calibri"/>
              </a:rPr>
              <a:t> (sortants) : les use cases définissent des interfaces de repository</a:t>
            </a:r>
          </a:p>
          <a:p>
            <a:pPr>
              <a:spcBef>
                <a:spcPts val="200"/>
              </a:spcBef>
              <a:spcAft>
                <a:spcPts val="200"/>
              </a:spcAft>
            </a:pPr>
            <a:r>
              <a:rPr sz="1300" b="0" i="0">
                <a:solidFill>
                  <a:srgbClr val="2D3A3A"/>
                </a:solidFill>
                <a:latin typeface="Calibri"/>
              </a:rPr>
              <a:t>• </a:t>
            </a:r>
            <a:r>
              <a:rPr sz="1300" b="1" i="0">
                <a:solidFill>
                  <a:srgbClr val="2D3A3A"/>
                </a:solidFill>
                <a:latin typeface="Calibri"/>
              </a:rPr>
              <a:t>Inversion de dépendance</a:t>
            </a:r>
            <a:r>
              <a:rPr sz="1300" b="0" i="0">
                <a:solidFill>
                  <a:srgbClr val="2D3A3A"/>
                </a:solidFill>
                <a:latin typeface="Calibri"/>
              </a:rPr>
              <a:t> : le domaine est au centre, l'infrastructure est périphérique</a:t>
            </a:r>
          </a:p>
        </p:txBody>
      </p:sp>
      <p:sp>
        <p:nvSpPr>
          <p:cNvPr id="11" name="TextBox 10"/>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16559154" y="-3155940"/>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18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2169174" y="7273568"/>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6686336" y="-520255"/>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7796283" y="2284321"/>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6"/>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Architecture hexagonale : modules Gradle</a:t>
            </a:r>
          </a:p>
        </p:txBody>
      </p:sp>
      <p:sp>
        <p:nvSpPr>
          <p:cNvPr id="9" name="TextBox 8"/>
          <p:cNvSpPr txBox="1"/>
          <p:nvPr/>
        </p:nvSpPr>
        <p:spPr>
          <a:xfrm>
            <a:off x="914400" y="1280160"/>
            <a:ext cx="16002000" cy="7402982"/>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2 modules Gradle séparés</a:t>
            </a:r>
          </a:p>
          <a:p>
            <a:pPr>
              <a:spcBef>
                <a:spcPts val="200"/>
              </a:spcBef>
              <a:spcAft>
                <a:spcPts val="200"/>
              </a:spcAft>
            </a:pPr>
            <a:r>
              <a:rPr sz="1300" b="0" i="0">
                <a:solidFill>
                  <a:srgbClr val="2D3A3A"/>
                </a:solidFill>
                <a:latin typeface="Calibri"/>
              </a:rPr>
              <a:t>happyrow-core/</a:t>
            </a:r>
          </a:p>
          <a:p>
            <a:pPr>
              <a:spcBef>
                <a:spcPts val="200"/>
              </a:spcBef>
              <a:spcAft>
                <a:spcPts val="200"/>
              </a:spcAft>
            </a:pPr>
            <a:r>
              <a:rPr sz="1300" b="0" i="0">
                <a:solidFill>
                  <a:srgbClr val="2D3A3A"/>
                </a:solidFill>
                <a:latin typeface="Calibri"/>
              </a:rPr>
              <a:t>├── domain/                          ← Module métier pur</a:t>
            </a:r>
          </a:p>
          <a:p>
            <a:pPr>
              <a:spcBef>
                <a:spcPts val="200"/>
              </a:spcBef>
              <a:spcAft>
                <a:spcPts val="200"/>
              </a:spcAft>
            </a:pPr>
            <a:r>
              <a:rPr sz="1300" b="0" i="0">
                <a:solidFill>
                  <a:srgbClr val="2D3A3A"/>
                </a:solidFill>
                <a:latin typeface="Calibri"/>
              </a:rPr>
              <a:t>│   └── src/main/kotlin/</a:t>
            </a:r>
          </a:p>
          <a:p>
            <a:pPr>
              <a:spcBef>
                <a:spcPts val="200"/>
              </a:spcBef>
              <a:spcAft>
                <a:spcPts val="200"/>
              </a:spcAft>
            </a:pPr>
            <a:r>
              <a:rPr sz="1300" b="0" i="0">
                <a:solidFill>
                  <a:srgbClr val="2D3A3A"/>
                </a:solidFill>
                <a:latin typeface="Calibri"/>
              </a:rPr>
              <a:t>│       ├── event/</a:t>
            </a:r>
          </a:p>
          <a:p>
            <a:pPr>
              <a:spcBef>
                <a:spcPts val="200"/>
              </a:spcBef>
              <a:spcAft>
                <a:spcPts val="200"/>
              </a:spcAft>
            </a:pPr>
            <a:r>
              <a:rPr sz="1300" b="0" i="0">
                <a:solidFill>
                  <a:srgbClr val="2D3A3A"/>
                </a:solidFill>
                <a:latin typeface="Calibri"/>
              </a:rPr>
              <a:t>│       │   ├── create/              ← CreateEventUseCase + port EventRepository</a:t>
            </a:r>
          </a:p>
          <a:p>
            <a:pPr>
              <a:spcBef>
                <a:spcPts val="200"/>
              </a:spcBef>
              <a:spcAft>
                <a:spcPts val="200"/>
              </a:spcAft>
            </a:pPr>
            <a:r>
              <a:rPr sz="1300" b="0" i="0">
                <a:solidFill>
                  <a:srgbClr val="2D3A3A"/>
                </a:solidFill>
                <a:latin typeface="Calibri"/>
              </a:rPr>
              <a:t>│       │   ├── getByOrganizer/</a:t>
            </a:r>
          </a:p>
          <a:p>
            <a:pPr>
              <a:spcBef>
                <a:spcPts val="200"/>
              </a:spcBef>
              <a:spcAft>
                <a:spcPts val="200"/>
              </a:spcAft>
            </a:pPr>
            <a:r>
              <a:rPr sz="1300" b="0" i="0">
                <a:solidFill>
                  <a:srgbClr val="2D3A3A"/>
                </a:solidFill>
                <a:latin typeface="Calibri"/>
              </a:rPr>
              <a:t>│       │   └── common/model/        ← Event, Creator (value class)</a:t>
            </a:r>
          </a:p>
          <a:p>
            <a:pPr>
              <a:spcBef>
                <a:spcPts val="200"/>
              </a:spcBef>
              <a:spcAft>
                <a:spcPts val="200"/>
              </a:spcAft>
            </a:pPr>
            <a:r>
              <a:rPr sz="1300" b="0" i="0">
                <a:solidFill>
                  <a:srgbClr val="2D3A3A"/>
                </a:solidFill>
                <a:latin typeface="Calibri"/>
              </a:rPr>
              <a:t>│       ├── participant/</a:t>
            </a:r>
          </a:p>
          <a:p>
            <a:pPr>
              <a:spcBef>
                <a:spcPts val="200"/>
              </a:spcBef>
              <a:spcAft>
                <a:spcPts val="200"/>
              </a:spcAft>
            </a:pPr>
            <a:r>
              <a:rPr sz="1300" b="0" i="0">
                <a:solidFill>
                  <a:srgbClr val="2D3A3A"/>
                </a:solidFill>
                <a:latin typeface="Calibri"/>
              </a:rPr>
              <a:t>│       ├── resource/</a:t>
            </a:r>
          </a:p>
          <a:p>
            <a:pPr>
              <a:spcBef>
                <a:spcPts val="200"/>
              </a:spcBef>
              <a:spcAft>
                <a:spcPts val="200"/>
              </a:spcAft>
            </a:pPr>
            <a:r>
              <a:rPr sz="1300" b="0" i="0">
                <a:solidFill>
                  <a:srgbClr val="2D3A3A"/>
                </a:solidFill>
                <a:latin typeface="Calibri"/>
              </a:rPr>
              <a:t>│       └── contribution/</a:t>
            </a:r>
          </a:p>
          <a:p>
            <a:pPr>
              <a:spcBef>
                <a:spcPts val="200"/>
              </a:spcBef>
              <a:spcAft>
                <a:spcPts val="200"/>
              </a:spcAft>
            </a:pPr>
            <a:r>
              <a:rPr sz="1300" b="0" i="0">
                <a:solidFill>
                  <a:srgbClr val="2D3A3A"/>
                </a:solidFill>
                <a:latin typeface="Calibri"/>
              </a:rPr>
              <a:t>│</a:t>
            </a:r>
          </a:p>
          <a:p>
            <a:pPr>
              <a:spcBef>
                <a:spcPts val="200"/>
              </a:spcBef>
              <a:spcAft>
                <a:spcPts val="200"/>
              </a:spcAft>
            </a:pPr>
            <a:r>
              <a:rPr sz="1300" b="0" i="0">
                <a:solidFill>
                  <a:srgbClr val="2D3A3A"/>
                </a:solidFill>
                <a:latin typeface="Calibri"/>
              </a:rPr>
              <a:t>├── infrastructure/                  ← Module technique</a:t>
            </a:r>
          </a:p>
          <a:p>
            <a:pPr>
              <a:spcBef>
                <a:spcPts val="200"/>
              </a:spcBef>
              <a:spcAft>
                <a:spcPts val="200"/>
              </a:spcAft>
            </a:pPr>
            <a:r>
              <a:rPr sz="1300" b="0" i="0">
                <a:solidFill>
                  <a:srgbClr val="2D3A3A"/>
                </a:solidFill>
                <a:latin typeface="Calibri"/>
              </a:rPr>
              <a:t>│   └── src/main/kotlin/</a:t>
            </a:r>
          </a:p>
          <a:p>
            <a:pPr>
              <a:spcBef>
                <a:spcPts val="200"/>
              </a:spcBef>
              <a:spcAft>
                <a:spcPts val="200"/>
              </a:spcAft>
            </a:pPr>
            <a:r>
              <a:rPr sz="1300" b="0" i="0">
                <a:solidFill>
                  <a:srgbClr val="2D3A3A"/>
                </a:solidFill>
                <a:latin typeface="Calibri"/>
              </a:rPr>
              <a:t>│       ├── event/</a:t>
            </a:r>
          </a:p>
          <a:p>
            <a:pPr>
              <a:spcBef>
                <a:spcPts val="200"/>
              </a:spcBef>
              <a:spcAft>
                <a:spcPts val="200"/>
              </a:spcAft>
            </a:pPr>
            <a:r>
              <a:rPr sz="1300" b="0" i="0">
                <a:solidFill>
                  <a:srgbClr val="2D3A3A"/>
                </a:solidFill>
                <a:latin typeface="Calibri"/>
              </a:rPr>
              <a:t>│       │   ├── create/driving/      ← CreateEventEndpoint (REST)</a:t>
            </a:r>
          </a:p>
          <a:p>
            <a:pPr>
              <a:spcBef>
                <a:spcPts val="200"/>
              </a:spcBef>
              <a:spcAft>
                <a:spcPts val="200"/>
              </a:spcAft>
            </a:pPr>
            <a:r>
              <a:rPr sz="1300" b="0" i="0">
                <a:solidFill>
                  <a:srgbClr val="2D3A3A"/>
                </a:solidFill>
                <a:latin typeface="Calibri"/>
              </a:rPr>
              <a:t>│       │   └── common/driven/       ← SqlEventRepository (SQL)</a:t>
            </a:r>
          </a:p>
          <a:p>
            <a:pPr>
              <a:spcBef>
                <a:spcPts val="200"/>
              </a:spcBef>
              <a:spcAft>
                <a:spcPts val="200"/>
              </a:spcAft>
            </a:pPr>
            <a:r>
              <a:rPr sz="1300" b="0" i="0">
                <a:solidFill>
                  <a:srgbClr val="2D3A3A"/>
                </a:solidFill>
                <a:latin typeface="Calibri"/>
              </a:rPr>
              <a:t>│       ├── technical/</a:t>
            </a:r>
          </a:p>
          <a:p>
            <a:pPr>
              <a:spcBef>
                <a:spcPts val="200"/>
              </a:spcBef>
              <a:spcAft>
                <a:spcPts val="200"/>
              </a:spcAft>
            </a:pPr>
            <a:r>
              <a:rPr sz="1300" b="0" i="0">
                <a:solidFill>
                  <a:srgbClr val="2D3A3A"/>
                </a:solidFill>
                <a:latin typeface="Calibri"/>
              </a:rPr>
              <a:t>│       │   ├── auth/                ← JwtAuthPlugin, SupabaseJwtService</a:t>
            </a:r>
          </a:p>
          <a:p>
            <a:pPr>
              <a:spcBef>
                <a:spcPts val="200"/>
              </a:spcBef>
              <a:spcAft>
                <a:spcPts val="200"/>
              </a:spcAft>
            </a:pPr>
            <a:r>
              <a:rPr sz="1300" b="0" i="0">
                <a:solidFill>
                  <a:srgbClr val="2D3A3A"/>
                </a:solidFill>
                <a:latin typeface="Calibri"/>
              </a:rPr>
              <a:t>│       │   ├── database/            ← ExposedDatabase, HikariCP</a:t>
            </a:r>
          </a:p>
          <a:p>
            <a:pPr>
              <a:spcBef>
                <a:spcPts val="200"/>
              </a:spcBef>
              <a:spcAft>
                <a:spcPts val="200"/>
              </a:spcAft>
            </a:pPr>
            <a:r>
              <a:rPr sz="1300" b="0" i="0">
                <a:solidFill>
                  <a:srgbClr val="2D3A3A"/>
                </a:solidFill>
                <a:latin typeface="Calibri"/>
              </a:rPr>
              <a:t>│       │   └── di/                  ← Koin modules</a:t>
            </a:r>
          </a:p>
          <a:p>
            <a:pPr>
              <a:spcBef>
                <a:spcPts val="200"/>
              </a:spcBef>
              <a:spcAft>
                <a:spcPts val="200"/>
              </a:spcAft>
            </a:pPr>
            <a:r>
              <a:rPr sz="1300" b="0" i="0">
                <a:solidFill>
                  <a:srgbClr val="2D3A3A"/>
                </a:solidFill>
                <a:latin typeface="Calibri"/>
              </a:rPr>
              <a:t>│       └── ...</a:t>
            </a:r>
          </a:p>
          <a:p>
            <a:pPr>
              <a:spcBef>
                <a:spcPts val="200"/>
              </a:spcBef>
              <a:spcAft>
                <a:spcPts val="200"/>
              </a:spcAft>
            </a:pPr>
            <a:r>
              <a:rPr sz="1300" b="0" i="0">
                <a:solidFill>
                  <a:srgbClr val="2D3A3A"/>
                </a:solidFill>
                <a:latin typeface="Calibri"/>
              </a:rPr>
              <a:t>• </a:t>
            </a:r>
            <a:r>
              <a:rPr sz="1300" b="1" i="0">
                <a:solidFill>
                  <a:srgbClr val="2D3A3A"/>
                </a:solidFill>
                <a:latin typeface="Calibri"/>
              </a:rPr>
              <a:t>`domain/`</a:t>
            </a:r>
            <a:r>
              <a:rPr sz="1300" b="0" i="0">
                <a:solidFill>
                  <a:srgbClr val="2D3A3A"/>
                </a:solidFill>
                <a:latin typeface="Calibri"/>
              </a:rPr>
              <a:t> : zéro dépendance technique (pas de Ktor, Exposed, Jackson)</a:t>
            </a:r>
          </a:p>
          <a:p>
            <a:pPr>
              <a:spcBef>
                <a:spcPts val="200"/>
              </a:spcBef>
              <a:spcAft>
                <a:spcPts val="200"/>
              </a:spcAft>
            </a:pPr>
            <a:r>
              <a:rPr sz="1300" b="0" i="0">
                <a:solidFill>
                  <a:srgbClr val="2D3A3A"/>
                </a:solidFill>
                <a:latin typeface="Calibri"/>
              </a:rPr>
              <a:t>• </a:t>
            </a:r>
            <a:r>
              <a:rPr sz="1300" b="1" i="0">
                <a:solidFill>
                  <a:srgbClr val="2D3A3A"/>
                </a:solidFill>
                <a:latin typeface="Calibri"/>
              </a:rPr>
              <a:t>`infrastructure/`</a:t>
            </a:r>
            <a:r>
              <a:rPr sz="1300" b="0" i="0">
                <a:solidFill>
                  <a:srgbClr val="2D3A3A"/>
                </a:solidFill>
                <a:latin typeface="Calibri"/>
              </a:rPr>
              <a:t> : implémente les ports, dépend du domaine</a:t>
            </a:r>
          </a:p>
          <a:p>
            <a:pPr>
              <a:spcBef>
                <a:spcPts val="200"/>
              </a:spcBef>
              <a:spcAft>
                <a:spcPts val="200"/>
              </a:spcAft>
            </a:pPr>
            <a:r>
              <a:rPr sz="1300" b="0" i="0">
                <a:solidFill>
                  <a:srgbClr val="2D3A3A"/>
                </a:solidFill>
                <a:latin typeface="Calibri"/>
              </a:rPr>
              <a:t>• </a:t>
            </a:r>
            <a:r>
              <a:rPr sz="1300" b="1" i="0">
                <a:solidFill>
                  <a:srgbClr val="2D3A3A"/>
                </a:solidFill>
                <a:latin typeface="Calibri"/>
              </a:rPr>
              <a:t>Injection de dépendances</a:t>
            </a:r>
            <a:r>
              <a:rPr sz="1300" b="0" i="0">
                <a:solidFill>
                  <a:srgbClr val="2D3A3A"/>
                </a:solidFill>
                <a:latin typeface="Calibri"/>
              </a:rPr>
              <a:t> : Koin connecte les ports aux adapters</a:t>
            </a:r>
          </a:p>
        </p:txBody>
      </p:sp>
      <p:sp>
        <p:nvSpPr>
          <p:cNvPr id="10" name="TextBox 9"/>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16559154" y="-3155940"/>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18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2169174" y="7273568"/>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6686336" y="-520255"/>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7796283" y="2284321"/>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6"/>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Maquettes et enchaînement des écrans</a:t>
            </a:r>
          </a:p>
        </p:txBody>
      </p:sp>
      <p:pic>
        <p:nvPicPr>
          <p:cNvPr id="9" name="Picture 8" descr="diagram_2.png"/>
          <p:cNvPicPr>
            <a:picLocks noChangeAspect="1"/>
          </p:cNvPicPr>
          <p:nvPr/>
        </p:nvPicPr>
        <p:blipFill>
          <a:blip r:embed="rId7"/>
          <a:stretch>
            <a:fillRect/>
          </a:stretch>
        </p:blipFill>
        <p:spPr>
          <a:xfrm>
            <a:off x="7869382" y="1280160"/>
            <a:ext cx="2092036" cy="4114800"/>
          </a:xfrm>
          <a:prstGeom prst="rect">
            <a:avLst/>
          </a:prstGeom>
        </p:spPr>
      </p:pic>
      <p:sp>
        <p:nvSpPr>
          <p:cNvPr id="10" name="TextBox 9"/>
          <p:cNvSpPr txBox="1"/>
          <p:nvPr/>
        </p:nvSpPr>
        <p:spPr>
          <a:xfrm>
            <a:off x="914400" y="5486400"/>
            <a:ext cx="16002000" cy="1309420"/>
          </a:xfrm>
          <a:prstGeom prst="rect">
            <a:avLst/>
          </a:prstGeom>
          <a:noFill/>
        </p:spPr>
        <p:txBody>
          <a:bodyPr wrap="square">
            <a:spAutoFit/>
          </a:bodyPr>
          <a:lstStyle/>
          <a:p>
            <a:pPr>
              <a:spcBef>
                <a:spcPts val="200"/>
              </a:spcBef>
              <a:spcAft>
                <a:spcPts val="200"/>
              </a:spcAft>
            </a:pPr>
            <a:r>
              <a:rPr sz="1300" b="0" i="0">
                <a:solidFill>
                  <a:srgbClr val="2D3A3A"/>
                </a:solidFill>
                <a:latin typeface="Calibri"/>
              </a:rPr>
              <a:t>• </a:t>
            </a:r>
            <a:r>
              <a:rPr sz="1300" b="1" i="0">
                <a:solidFill>
                  <a:srgbClr val="2D3A3A"/>
                </a:solidFill>
                <a:latin typeface="Calibri"/>
              </a:rPr>
              <a:t>8 écrans/vues</a:t>
            </a:r>
            <a:r>
              <a:rPr sz="1300" b="0" i="0">
                <a:solidFill>
                  <a:srgbClr val="2D3A3A"/>
                </a:solidFill>
                <a:latin typeface="Calibri"/>
              </a:rPr>
              <a:t> + </a:t>
            </a:r>
            <a:r>
              <a:rPr sz="1300" b="1" i="0">
                <a:solidFill>
                  <a:srgbClr val="2D3A3A"/>
                </a:solidFill>
                <a:latin typeface="Calibri"/>
              </a:rPr>
              <a:t>6 modales</a:t>
            </a:r>
          </a:p>
          <a:p>
            <a:pPr>
              <a:spcBef>
                <a:spcPts val="200"/>
              </a:spcBef>
              <a:spcAft>
                <a:spcPts val="200"/>
              </a:spcAft>
            </a:pPr>
            <a:r>
              <a:rPr sz="1300" b="0" i="0">
                <a:solidFill>
                  <a:srgbClr val="2D3A3A"/>
                </a:solidFill>
                <a:latin typeface="Calibri"/>
              </a:rPr>
              <a:t>• Design Tokens CSS : teal </a:t>
            </a:r>
            <a:r>
              <a:rPr sz="1300" b="0" i="0">
                <a:solidFill>
                  <a:srgbClr val="2D3A3A"/>
                </a:solidFill>
                <a:latin typeface="Consolas"/>
              </a:rPr>
              <a:t>#5FBDB4</a:t>
            </a:r>
            <a:r>
              <a:rPr sz="1300" b="0" i="0">
                <a:solidFill>
                  <a:srgbClr val="2D3A3A"/>
                </a:solidFill>
                <a:latin typeface="Calibri"/>
              </a:rPr>
              <a:t>, navy </a:t>
            </a:r>
            <a:r>
              <a:rPr sz="1300" b="0" i="0">
                <a:solidFill>
                  <a:srgbClr val="2D3A3A"/>
                </a:solidFill>
                <a:latin typeface="Consolas"/>
              </a:rPr>
              <a:t>#3D5A6C</a:t>
            </a:r>
            <a:r>
              <a:rPr sz="1300" b="0" i="0">
                <a:solidFill>
                  <a:srgbClr val="2D3A3A"/>
                </a:solidFill>
                <a:latin typeface="Calibri"/>
              </a:rPr>
              <a:t>, coral </a:t>
            </a:r>
            <a:r>
              <a:rPr sz="1300" b="0" i="0">
                <a:solidFill>
                  <a:srgbClr val="2D3A3A"/>
                </a:solidFill>
                <a:latin typeface="Consolas"/>
              </a:rPr>
              <a:t>#E6A19A</a:t>
            </a:r>
          </a:p>
          <a:p>
            <a:pPr>
              <a:spcBef>
                <a:spcPts val="200"/>
              </a:spcBef>
              <a:spcAft>
                <a:spcPts val="200"/>
              </a:spcAft>
            </a:pPr>
            <a:r>
              <a:rPr sz="1300" b="0" i="0">
                <a:solidFill>
                  <a:srgbClr val="2D3A3A"/>
                </a:solidFill>
                <a:latin typeface="Calibri"/>
              </a:rPr>
              <a:t>• Police Comic Neue pour un ton convivial</a:t>
            </a:r>
          </a:p>
          <a:p>
            <a:pPr>
              <a:spcBef>
                <a:spcPts val="200"/>
              </a:spcBef>
              <a:spcAft>
                <a:spcPts val="200"/>
              </a:spcAft>
            </a:pPr>
            <a:r>
              <a:rPr sz="1300" b="0" i="0">
                <a:solidFill>
                  <a:srgbClr val="2D3A3A"/>
                </a:solidFill>
                <a:latin typeface="Calibri"/>
              </a:rPr>
              <a:t>• PWA installable avec mode offline (Service Worker Workbox)</a:t>
            </a:r>
          </a:p>
        </p:txBody>
      </p:sp>
      <p:sp>
        <p:nvSpPr>
          <p:cNvPr id="11" name="TextBox 10"/>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Modèle Conceptuel de Données</a:t>
            </a:r>
          </a:p>
        </p:txBody>
      </p:sp>
      <p:pic>
        <p:nvPicPr>
          <p:cNvPr id="9" name="Picture 8" descr="diagram_3.png"/>
          <p:cNvPicPr>
            <a:picLocks noChangeAspect="1"/>
          </p:cNvPicPr>
          <p:nvPr/>
        </p:nvPicPr>
        <p:blipFill>
          <a:blip r:embed="rId6"/>
          <a:stretch>
            <a:fillRect/>
          </a:stretch>
        </p:blipFill>
        <p:spPr>
          <a:xfrm>
            <a:off x="7643352" y="1280160"/>
            <a:ext cx="2544096" cy="4114800"/>
          </a:xfrm>
          <a:prstGeom prst="rect">
            <a:avLst/>
          </a:prstGeom>
        </p:spPr>
      </p:pic>
      <p:sp>
        <p:nvSpPr>
          <p:cNvPr id="10" name="TextBox 9"/>
          <p:cNvSpPr txBox="1"/>
          <p:nvPr/>
        </p:nvSpPr>
        <p:spPr>
          <a:xfrm>
            <a:off x="914400" y="5486400"/>
            <a:ext cx="16002000" cy="1027785"/>
          </a:xfrm>
          <a:prstGeom prst="rect">
            <a:avLst/>
          </a:prstGeom>
          <a:noFill/>
        </p:spPr>
        <p:txBody>
          <a:bodyPr wrap="square">
            <a:spAutoFit/>
          </a:bodyPr>
          <a:lstStyle/>
          <a:p>
            <a:pPr>
              <a:spcBef>
                <a:spcPts val="200"/>
              </a:spcBef>
              <a:spcAft>
                <a:spcPts val="200"/>
              </a:spcAft>
            </a:pPr>
            <a:r>
              <a:rPr sz="1300" b="0" i="0">
                <a:solidFill>
                  <a:srgbClr val="2D3A3A"/>
                </a:solidFill>
                <a:latin typeface="Calibri"/>
              </a:rPr>
              <a:t>• 4 entités, relations 1-N</a:t>
            </a:r>
          </a:p>
          <a:p>
            <a:pPr>
              <a:spcBef>
                <a:spcPts val="200"/>
              </a:spcBef>
              <a:spcAft>
                <a:spcPts val="200"/>
              </a:spcAft>
            </a:pPr>
            <a:r>
              <a:rPr sz="1300" b="0" i="0">
                <a:solidFill>
                  <a:srgbClr val="2D3A3A"/>
                </a:solidFill>
                <a:latin typeface="Calibri"/>
              </a:rPr>
              <a:t>• </a:t>
            </a:r>
            <a:r>
              <a:rPr sz="1300" b="0" i="0">
                <a:solidFill>
                  <a:srgbClr val="2D3A3A"/>
                </a:solidFill>
                <a:latin typeface="Consolas"/>
              </a:rPr>
              <a:t>version</a:t>
            </a:r>
            <a:r>
              <a:rPr sz="1300" b="0" i="0">
                <a:solidFill>
                  <a:srgbClr val="2D3A3A"/>
                </a:solidFill>
                <a:latin typeface="Calibri"/>
              </a:rPr>
              <a:t> sur Resource pour le verrou optimiste</a:t>
            </a:r>
          </a:p>
          <a:p>
            <a:pPr>
              <a:spcBef>
                <a:spcPts val="200"/>
              </a:spcBef>
              <a:spcAft>
                <a:spcPts val="200"/>
              </a:spcAft>
            </a:pPr>
            <a:r>
              <a:rPr sz="1300" b="0" i="0">
                <a:solidFill>
                  <a:srgbClr val="2D3A3A"/>
                </a:solidFill>
                <a:latin typeface="Calibri"/>
              </a:rPr>
              <a:t>• Contraintes FK, CHECK, UNIQUE</a:t>
            </a:r>
          </a:p>
        </p:txBody>
      </p:sp>
      <p:sp>
        <p:nvSpPr>
          <p:cNvPr id="11" name="TextBox 10"/>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853535">
            <a:off x="6056554" y="-2160610"/>
            <a:ext cx="20810414" cy="21504485"/>
          </a:xfrm>
          <a:custGeom>
            <a:avLst/>
            <a:gdLst/>
            <a:ahLst/>
            <a:cxnLst/>
            <a:rect l="l" t="t" r="r" b="b"/>
            <a:pathLst>
              <a:path w="20810414" h="21504485">
                <a:moveTo>
                  <a:pt x="0" y="0"/>
                </a:moveTo>
                <a:lnTo>
                  <a:pt x="20810413" y="0"/>
                </a:lnTo>
                <a:lnTo>
                  <a:pt x="20810413" y="21504486"/>
                </a:lnTo>
                <a:lnTo>
                  <a:pt x="0" y="21504486"/>
                </a:lnTo>
                <a:lnTo>
                  <a:pt x="0" y="0"/>
                </a:lnTo>
                <a:close/>
              </a:path>
            </a:pathLst>
          </a:custGeom>
          <a:blipFill>
            <a:blip/>
            <a:stretch>
              <a:fillRect l="-1203" t="-3998" r="-1203"/>
            </a:stretch>
          </a:blipFill>
        </p:spPr>
        <p:txBody>
          <a:bodyPr/>
          <a:lstStyle/>
          <a:p>
            <a:endParaRPr lang="en-US" dirty="0"/>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Modèle Physique et script SQL</a:t>
            </a:r>
          </a:p>
        </p:txBody>
      </p:sp>
      <p:sp>
        <p:nvSpPr>
          <p:cNvPr id="6" name="TextBox 5"/>
          <p:cNvSpPr txBox="1"/>
          <p:nvPr/>
        </p:nvSpPr>
        <p:spPr>
          <a:xfrm>
            <a:off x="731520" y="1280160"/>
            <a:ext cx="8046720" cy="1104595"/>
          </a:xfrm>
          <a:prstGeom prst="rect">
            <a:avLst/>
          </a:prstGeom>
          <a:noFill/>
        </p:spPr>
        <p:txBody>
          <a:bodyPr wrap="square">
            <a:spAutoFit/>
          </a:bodyPr>
          <a:lstStyle/>
          <a:p>
            <a:pPr>
              <a:spcBef>
                <a:spcPts val="800"/>
              </a:spcBef>
              <a:spcAft>
                <a:spcPts val="200"/>
              </a:spcAft>
            </a:pPr>
            <a:r>
              <a:rPr sz="1300" b="1" i="0">
                <a:solidFill>
                  <a:srgbClr val="3D5A6C"/>
                </a:solidFill>
                <a:latin typeface="Calibri"/>
              </a:rPr>
              <a:t>Tables Exposed (ORM Kotlin)</a:t>
            </a:r>
          </a:p>
          <a:p>
            <a:pPr>
              <a:spcBef>
                <a:spcPts val="800"/>
              </a:spcBef>
              <a:spcAft>
                <a:spcPts val="200"/>
              </a:spcAft>
            </a:pPr>
            <a:r>
              <a:rPr sz="1300" b="1" i="0">
                <a:solidFill>
                  <a:srgbClr val="3D5A6C"/>
                </a:solidFill>
                <a:latin typeface="Calibri"/>
              </a:rPr>
              <a:t>Script d'initialisation (init-db.sql)</a:t>
            </a:r>
          </a:p>
        </p:txBody>
      </p:sp>
      <p:sp>
        <p:nvSpPr>
          <p:cNvPr id="7" name="TextBox 6"/>
          <p:cNvSpPr txBox="1"/>
          <p:nvPr/>
        </p:nvSpPr>
        <p:spPr>
          <a:xfrm>
            <a:off x="9326880" y="1280160"/>
            <a:ext cx="8046720" cy="1965960"/>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object ResourceTable : UUIDTable("configuration.resource", "id") {</a:t>
            </a:r>
          </a:p>
          <a:p>
            <a:pPr>
              <a:spcBef>
                <a:spcPts val="0"/>
              </a:spcBef>
              <a:spcAft>
                <a:spcPts val="0"/>
              </a:spcAft>
            </a:pPr>
            <a:r>
              <a:rPr sz="900" b="0" i="0">
                <a:solidFill>
                  <a:srgbClr val="2D3A3A"/>
                </a:solidFill>
                <a:latin typeface="Consolas"/>
              </a:rPr>
              <a:t>    val name = varchar("name", 255)</a:t>
            </a:r>
          </a:p>
          <a:p>
            <a:pPr>
              <a:spcBef>
                <a:spcPts val="0"/>
              </a:spcBef>
              <a:spcAft>
                <a:spcPts val="0"/>
              </a:spcAft>
            </a:pPr>
            <a:r>
              <a:rPr sz="900" b="0" i="0">
                <a:solidFill>
                  <a:srgbClr val="2D3A3A"/>
                </a:solidFill>
                <a:latin typeface="Consolas"/>
              </a:rPr>
              <a:t>    val category = enumerationByName&lt;ResourceCategory&gt;("category", 50)</a:t>
            </a:r>
          </a:p>
          <a:p>
            <a:pPr>
              <a:spcBef>
                <a:spcPts val="0"/>
              </a:spcBef>
              <a:spcAft>
                <a:spcPts val="0"/>
              </a:spcAft>
            </a:pPr>
            <a:r>
              <a:rPr sz="900" b="0" i="0">
                <a:solidFill>
                  <a:srgbClr val="2D3A3A"/>
                </a:solidFill>
                <a:latin typeface="Consolas"/>
              </a:rPr>
              <a:t>    val suggestedQuantity = integer("suggested_quantity")</a:t>
            </a:r>
          </a:p>
          <a:p>
            <a:pPr>
              <a:spcBef>
                <a:spcPts val="0"/>
              </a:spcBef>
              <a:spcAft>
                <a:spcPts val="0"/>
              </a:spcAft>
            </a:pPr>
            <a:r>
              <a:rPr sz="900" b="0" i="0">
                <a:solidFill>
                  <a:srgbClr val="2D3A3A"/>
                </a:solidFill>
                <a:latin typeface="Consolas"/>
              </a:rPr>
              <a:t>    val currentQuantity = integer("current_quantity")</a:t>
            </a:r>
          </a:p>
          <a:p>
            <a:pPr>
              <a:spcBef>
                <a:spcPts val="0"/>
              </a:spcBef>
              <a:spcAft>
                <a:spcPts val="0"/>
              </a:spcAft>
            </a:pPr>
            <a:r>
              <a:rPr sz="900" b="0" i="0">
                <a:solidFill>
                  <a:srgbClr val="2D3A3A"/>
                </a:solidFill>
                <a:latin typeface="Consolas"/>
              </a:rPr>
              <a:t>    val version = integer("version").default(0)</a:t>
            </a:r>
          </a:p>
          <a:p>
            <a:pPr>
              <a:spcBef>
                <a:spcPts val="0"/>
              </a:spcBef>
              <a:spcAft>
                <a:spcPts val="0"/>
              </a:spcAft>
            </a:pPr>
            <a:r>
              <a:rPr sz="900" b="0" i="0">
                <a:solidFill>
                  <a:srgbClr val="2D3A3A"/>
                </a:solidFill>
                <a:latin typeface="Consolas"/>
              </a:rPr>
              <a:t>    val eventId = uuid("event_id").references(EventTable.id)</a:t>
            </a:r>
          </a:p>
          <a:p>
            <a:pPr>
              <a:spcBef>
                <a:spcPts val="0"/>
              </a:spcBef>
              <a:spcAft>
                <a:spcPts val="0"/>
              </a:spcAft>
            </a:pPr>
            <a:r>
              <a:rPr sz="900" b="0" i="0">
                <a:solidFill>
                  <a:srgbClr val="2D3A3A"/>
                </a:solidFill>
                <a:latin typeface="Consolas"/>
              </a:rPr>
              <a:t>    val createdAt = timestamp("created_at")</a:t>
            </a:r>
          </a:p>
          <a:p>
            <a:pPr>
              <a:spcBef>
                <a:spcPts val="0"/>
              </a:spcBef>
              <a:spcAft>
                <a:spcPts val="0"/>
              </a:spcAft>
            </a:pPr>
            <a:r>
              <a:rPr sz="900" b="0" i="0">
                <a:solidFill>
                  <a:srgbClr val="2D3A3A"/>
                </a:solidFill>
                <a:latin typeface="Consolas"/>
              </a:rPr>
              <a:t>    val updatedAt = timestamp("updated_at")</a:t>
            </a:r>
          </a:p>
          <a:p>
            <a:pPr>
              <a:spcBef>
                <a:spcPts val="0"/>
              </a:spcBef>
              <a:spcAft>
                <a:spcPts val="0"/>
              </a:spcAft>
            </a:pPr>
            <a:r>
              <a:rPr sz="900" b="0" i="0">
                <a:solidFill>
                  <a:srgbClr val="2D3A3A"/>
                </a:solidFill>
                <a:latin typeface="Consolas"/>
              </a:rPr>
              <a:t>}</a:t>
            </a:r>
          </a:p>
        </p:txBody>
      </p:sp>
      <p:sp>
        <p:nvSpPr>
          <p:cNvPr id="8" name="TextBox 7"/>
          <p:cNvSpPr txBox="1"/>
          <p:nvPr/>
        </p:nvSpPr>
        <p:spPr>
          <a:xfrm>
            <a:off x="9326880" y="3337560"/>
            <a:ext cx="8046720" cy="2487168"/>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CREATE SCHEMA IF NOT EXISTS configuration;</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CREATE TABLE configuration.resource (</a:t>
            </a:r>
          </a:p>
          <a:p>
            <a:pPr>
              <a:spcBef>
                <a:spcPts val="0"/>
              </a:spcBef>
              <a:spcAft>
                <a:spcPts val="0"/>
              </a:spcAft>
            </a:pPr>
            <a:r>
              <a:rPr sz="900" b="0" i="0">
                <a:solidFill>
                  <a:srgbClr val="2D3A3A"/>
                </a:solidFill>
                <a:latin typeface="Consolas"/>
              </a:rPr>
              <a:t>    id UUID PRIMARY KEY DEFAULT gen_random_uuid(),</a:t>
            </a:r>
          </a:p>
          <a:p>
            <a:pPr>
              <a:spcBef>
                <a:spcPts val="0"/>
              </a:spcBef>
              <a:spcAft>
                <a:spcPts val="0"/>
              </a:spcAft>
            </a:pPr>
            <a:r>
              <a:rPr sz="900" b="0" i="0">
                <a:solidFill>
                  <a:srgbClr val="2D3A3A"/>
                </a:solidFill>
                <a:latin typeface="Consolas"/>
              </a:rPr>
              <a:t>    name VARCHAR(255) NOT NULL,</a:t>
            </a:r>
          </a:p>
          <a:p>
            <a:pPr>
              <a:spcBef>
                <a:spcPts val="0"/>
              </a:spcBef>
              <a:spcAft>
                <a:spcPts val="0"/>
              </a:spcAft>
            </a:pPr>
            <a:r>
              <a:rPr sz="900" b="0" i="0">
                <a:solidFill>
                  <a:srgbClr val="2D3A3A"/>
                </a:solidFill>
                <a:latin typeface="Consolas"/>
              </a:rPr>
              <a:t>    category VARCHAR(50) NOT NULL,</a:t>
            </a:r>
          </a:p>
          <a:p>
            <a:pPr>
              <a:spcBef>
                <a:spcPts val="0"/>
              </a:spcBef>
              <a:spcAft>
                <a:spcPts val="0"/>
              </a:spcAft>
            </a:pPr>
            <a:r>
              <a:rPr sz="900" b="0" i="0">
                <a:solidFill>
                  <a:srgbClr val="2D3A3A"/>
                </a:solidFill>
                <a:latin typeface="Consolas"/>
              </a:rPr>
              <a:t>    suggested_quantity INTEGER NOT NULL CHECK (suggested_quantity &gt; 0),</a:t>
            </a:r>
          </a:p>
          <a:p>
            <a:pPr>
              <a:spcBef>
                <a:spcPts val="0"/>
              </a:spcBef>
              <a:spcAft>
                <a:spcPts val="0"/>
              </a:spcAft>
            </a:pPr>
            <a:r>
              <a:rPr sz="900" b="0" i="0">
                <a:solidFill>
                  <a:srgbClr val="2D3A3A"/>
                </a:solidFill>
                <a:latin typeface="Consolas"/>
              </a:rPr>
              <a:t>    current_quantity INTEGER NOT NULL DEFAULT 0,</a:t>
            </a:r>
          </a:p>
          <a:p>
            <a:pPr>
              <a:spcBef>
                <a:spcPts val="0"/>
              </a:spcBef>
              <a:spcAft>
                <a:spcPts val="0"/>
              </a:spcAft>
            </a:pPr>
            <a:r>
              <a:rPr sz="900" b="0" i="0">
                <a:solidFill>
                  <a:srgbClr val="2D3A3A"/>
                </a:solidFill>
                <a:latin typeface="Consolas"/>
              </a:rPr>
              <a:t>    version INTEGER NOT NULL DEFAULT 0,</a:t>
            </a:r>
          </a:p>
          <a:p>
            <a:pPr>
              <a:spcBef>
                <a:spcPts val="0"/>
              </a:spcBef>
              <a:spcAft>
                <a:spcPts val="0"/>
              </a:spcAft>
            </a:pPr>
            <a:r>
              <a:rPr sz="900" b="0" i="0">
                <a:solidFill>
                  <a:srgbClr val="2D3A3A"/>
                </a:solidFill>
                <a:latin typeface="Consolas"/>
              </a:rPr>
              <a:t>    event_id UUID NOT NULL REFERENCES configuration.event(id),</a:t>
            </a:r>
          </a:p>
          <a:p>
            <a:pPr>
              <a:spcBef>
                <a:spcPts val="0"/>
              </a:spcBef>
              <a:spcAft>
                <a:spcPts val="0"/>
              </a:spcAft>
            </a:pPr>
            <a:r>
              <a:rPr sz="900" b="0" i="0">
                <a:solidFill>
                  <a:srgbClr val="2D3A3A"/>
                </a:solidFill>
                <a:latin typeface="Consolas"/>
              </a:rPr>
              <a:t>    created_at TIMESTAMP NOT NULL DEFAULT NOW(),</a:t>
            </a:r>
          </a:p>
          <a:p>
            <a:pPr>
              <a:spcBef>
                <a:spcPts val="0"/>
              </a:spcBef>
              <a:spcAft>
                <a:spcPts val="0"/>
              </a:spcAft>
            </a:pPr>
            <a:r>
              <a:rPr sz="900" b="0" i="0">
                <a:solidFill>
                  <a:srgbClr val="2D3A3A"/>
                </a:solidFill>
                <a:latin typeface="Consolas"/>
              </a:rPr>
              <a:t>    updated_at TIMESTAMP NOT NULL DEFAULT NOW()</a:t>
            </a:r>
          </a:p>
          <a:p>
            <a:pPr>
              <a:spcBef>
                <a:spcPts val="0"/>
              </a:spcBef>
              <a:spcAft>
                <a:spcPts val="0"/>
              </a:spcAft>
            </a:pPr>
            <a:r>
              <a:rPr sz="900" b="0" i="0">
                <a:solidFill>
                  <a:srgbClr val="2D3A3A"/>
                </a:solidFill>
                <a:latin typeface="Consolas"/>
              </a:rPr>
              <a:t>);</a:t>
            </a:r>
          </a:p>
        </p:txBody>
      </p:sp>
      <p:sp>
        <p:nvSpPr>
          <p:cNvPr id="9" name="TextBox 8"/>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Cas d'utilisation</a:t>
            </a:r>
          </a:p>
        </p:txBody>
      </p:sp>
      <p:pic>
        <p:nvPicPr>
          <p:cNvPr id="9" name="Picture 8" descr="diagram_4.png"/>
          <p:cNvPicPr>
            <a:picLocks noChangeAspect="1"/>
          </p:cNvPicPr>
          <p:nvPr/>
        </p:nvPicPr>
        <p:blipFill>
          <a:blip r:embed="rId6"/>
          <a:stretch>
            <a:fillRect/>
          </a:stretch>
        </p:blipFill>
        <p:spPr>
          <a:xfrm>
            <a:off x="6937366" y="1280160"/>
            <a:ext cx="3956068" cy="4114800"/>
          </a:xfrm>
          <a:prstGeom prst="rect">
            <a:avLst/>
          </a:prstGeom>
        </p:spPr>
      </p:pic>
      <p:sp>
        <p:nvSpPr>
          <p:cNvPr id="10" name="TextBox 9"/>
          <p:cNvSpPr txBox="1"/>
          <p:nvPr/>
        </p:nvSpPr>
        <p:spPr>
          <a:xfrm>
            <a:off x="914400" y="5486400"/>
            <a:ext cx="16002000" cy="1027785"/>
          </a:xfrm>
          <a:prstGeom prst="rect">
            <a:avLst/>
          </a:prstGeom>
          <a:noFill/>
        </p:spPr>
        <p:txBody>
          <a:bodyPr wrap="square">
            <a:spAutoFit/>
          </a:bodyPr>
          <a:lstStyle/>
          <a:p>
            <a:pPr>
              <a:spcBef>
                <a:spcPts val="200"/>
              </a:spcBef>
              <a:spcAft>
                <a:spcPts val="200"/>
              </a:spcAft>
            </a:pPr>
            <a:r>
              <a:rPr sz="1300" b="0" i="0">
                <a:solidFill>
                  <a:srgbClr val="2D3A3A"/>
                </a:solidFill>
                <a:latin typeface="Calibri"/>
              </a:rPr>
              <a:t>• </a:t>
            </a:r>
            <a:r>
              <a:rPr sz="1300" b="1" i="0">
                <a:solidFill>
                  <a:srgbClr val="2D3A3A"/>
                </a:solidFill>
                <a:latin typeface="Calibri"/>
              </a:rPr>
              <a:t>12 use cases</a:t>
            </a:r>
            <a:r>
              <a:rPr sz="1300" b="0" i="0">
                <a:solidFill>
                  <a:srgbClr val="2D3A3A"/>
                </a:solidFill>
                <a:latin typeface="Calibri"/>
              </a:rPr>
              <a:t>, </a:t>
            </a:r>
            <a:r>
              <a:rPr sz="1300" b="1" i="0">
                <a:solidFill>
                  <a:srgbClr val="2D3A3A"/>
                </a:solidFill>
                <a:latin typeface="Calibri"/>
              </a:rPr>
              <a:t>4 bounded contexts</a:t>
            </a:r>
          </a:p>
          <a:p>
            <a:pPr>
              <a:spcBef>
                <a:spcPts val="200"/>
              </a:spcBef>
              <a:spcAft>
                <a:spcPts val="200"/>
              </a:spcAft>
            </a:pPr>
            <a:r>
              <a:rPr sz="1300" b="0" i="0">
                <a:solidFill>
                  <a:srgbClr val="2D3A3A"/>
                </a:solidFill>
                <a:latin typeface="Calibri"/>
              </a:rPr>
              <a:t>• Règle métier : création événement inclut auto-ajout créateur (CONFIRMED)</a:t>
            </a:r>
          </a:p>
          <a:p>
            <a:pPr>
              <a:spcBef>
                <a:spcPts val="200"/>
              </a:spcBef>
              <a:spcAft>
                <a:spcPts val="200"/>
              </a:spcAft>
            </a:pPr>
            <a:r>
              <a:rPr sz="1300" b="0" i="0">
                <a:solidFill>
                  <a:srgbClr val="2D3A3A"/>
                </a:solidFill>
                <a:latin typeface="Calibri"/>
              </a:rPr>
              <a:t>• Suppression événement → cascade contributions → ressources → participants</a:t>
            </a:r>
          </a:p>
        </p:txBody>
      </p:sp>
      <p:sp>
        <p:nvSpPr>
          <p:cNvPr id="11" name="TextBox 10"/>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Séquence : création d'événement</a:t>
            </a:r>
          </a:p>
        </p:txBody>
      </p:sp>
      <p:pic>
        <p:nvPicPr>
          <p:cNvPr id="9" name="Picture 8" descr="diagram_5.png"/>
          <p:cNvPicPr>
            <a:picLocks noChangeAspect="1"/>
          </p:cNvPicPr>
          <p:nvPr/>
        </p:nvPicPr>
        <p:blipFill>
          <a:blip r:embed="rId6"/>
          <a:stretch>
            <a:fillRect/>
          </a:stretch>
        </p:blipFill>
        <p:spPr>
          <a:xfrm>
            <a:off x="4549877" y="1280160"/>
            <a:ext cx="8731045" cy="4114800"/>
          </a:xfrm>
          <a:prstGeom prst="rect">
            <a:avLst/>
          </a:prstGeom>
        </p:spPr>
      </p:pic>
      <p:sp>
        <p:nvSpPr>
          <p:cNvPr id="10" name="TextBox 9"/>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Séquence : contribution avec verrou optimiste</a:t>
            </a:r>
          </a:p>
        </p:txBody>
      </p:sp>
      <p:pic>
        <p:nvPicPr>
          <p:cNvPr id="9" name="Picture 8" descr="diagram_6.png"/>
          <p:cNvPicPr>
            <a:picLocks noChangeAspect="1"/>
          </p:cNvPicPr>
          <p:nvPr/>
        </p:nvPicPr>
        <p:blipFill>
          <a:blip r:embed="rId6"/>
          <a:stretch>
            <a:fillRect/>
          </a:stretch>
        </p:blipFill>
        <p:spPr>
          <a:xfrm>
            <a:off x="4101247" y="1280160"/>
            <a:ext cx="9628306" cy="4114800"/>
          </a:xfrm>
          <a:prstGeom prst="rect">
            <a:avLst/>
          </a:prstGeom>
        </p:spPr>
      </p:pic>
      <p:sp>
        <p:nvSpPr>
          <p:cNvPr id="10" name="TextBox 9"/>
          <p:cNvSpPr txBox="1"/>
          <p:nvPr/>
        </p:nvSpPr>
        <p:spPr>
          <a:xfrm>
            <a:off x="914400" y="5486400"/>
            <a:ext cx="16002000" cy="464515"/>
          </a:xfrm>
          <a:prstGeom prst="rect">
            <a:avLst/>
          </a:prstGeom>
          <a:noFill/>
        </p:spPr>
        <p:txBody>
          <a:bodyPr wrap="square">
            <a:spAutoFit/>
          </a:bodyPr>
          <a:lstStyle/>
          <a:p>
            <a:pPr>
              <a:spcBef>
                <a:spcPts val="200"/>
              </a:spcBef>
              <a:spcAft>
                <a:spcPts val="200"/>
              </a:spcAft>
            </a:pPr>
            <a:r>
              <a:rPr sz="1300" b="0" i="0">
                <a:solidFill>
                  <a:srgbClr val="2D3A3A"/>
                </a:solidFill>
                <a:latin typeface="Calibri"/>
              </a:rPr>
              <a:t>Le verrou optimiste évite les verrous SQL (</a:t>
            </a:r>
            <a:r>
              <a:rPr sz="1300" b="0" i="0">
                <a:solidFill>
                  <a:srgbClr val="2D3A3A"/>
                </a:solidFill>
                <a:latin typeface="Consolas"/>
              </a:rPr>
              <a:t>SELECT FOR UPDATE</a:t>
            </a:r>
            <a:r>
              <a:rPr sz="1300" b="0" i="0">
                <a:solidFill>
                  <a:srgbClr val="2D3A3A"/>
                </a:solidFill>
                <a:latin typeface="Calibri"/>
              </a:rPr>
              <a:t>) tout en garantissant la cohérence.</a:t>
            </a:r>
          </a:p>
        </p:txBody>
      </p:sp>
      <p:sp>
        <p:nvSpPr>
          <p:cNvPr id="11" name="TextBox 10"/>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Stack technique complète</a:t>
            </a:r>
          </a:p>
        </p:txBody>
      </p:sp>
      <p:sp>
        <p:nvSpPr>
          <p:cNvPr id="9" name="TextBox 8"/>
          <p:cNvSpPr txBox="1"/>
          <p:nvPr/>
        </p:nvSpPr>
        <p:spPr>
          <a:xfrm>
            <a:off x="914400" y="1280160"/>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Back-end</a:t>
            </a:r>
          </a:p>
        </p:txBody>
      </p:sp>
      <p:graphicFrame>
        <p:nvGraphicFramePr>
          <p:cNvPr id="10" name="Table 9"/>
          <p:cNvGraphicFramePr>
            <a:graphicFrameLocks noGrp="1"/>
          </p:cNvGraphicFramePr>
          <p:nvPr/>
        </p:nvGraphicFramePr>
        <p:xfrm>
          <a:off x="914400" y="2015337"/>
          <a:ext cx="16002000" cy="2880360"/>
        </p:xfrm>
        <a:graphic>
          <a:graphicData uri="http://schemas.openxmlformats.org/drawingml/2006/table">
            <a:tbl>
              <a:tblPr firstRow="1" bandRow="1">
                <a:tableStyleId>{5C22544A-7EE6-4342-B048-85BDC9FD1C3A}</a:tableStyleId>
              </a:tblPr>
              <a:tblGrid>
                <a:gridCol w="5334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5334000">
                  <a:extLst>
                    <a:ext uri="{9D8B030D-6E8A-4147-A177-3AD203B41FA5}">
                      <a16:colId xmlns:a16="http://schemas.microsoft.com/office/drawing/2014/main" val="20002"/>
                    </a:ext>
                  </a:extLst>
                </a:gridCol>
              </a:tblGrid>
              <a:tr h="288036">
                <a:tc>
                  <a:txBody>
                    <a:bodyPr/>
                    <a:lstStyle/>
                    <a:p>
                      <a:pPr>
                        <a:defRPr sz="1000" b="1">
                          <a:solidFill>
                            <a:srgbClr val="3D5A6C"/>
                          </a:solidFill>
                        </a:defRPr>
                      </a:pPr>
                      <a:r>
                        <a:t>Couche</a:t>
                      </a:r>
                    </a:p>
                  </a:txBody>
                  <a:tcPr/>
                </a:tc>
                <a:tc>
                  <a:txBody>
                    <a:bodyPr/>
                    <a:lstStyle/>
                    <a:p>
                      <a:pPr>
                        <a:defRPr sz="1000" b="1">
                          <a:solidFill>
                            <a:srgbClr val="3D5A6C"/>
                          </a:solidFill>
                        </a:defRPr>
                      </a:pPr>
                      <a:r>
                        <a:t>Technologie</a:t>
                      </a:r>
                    </a:p>
                  </a:txBody>
                  <a:tcPr/>
                </a:tc>
                <a:tc>
                  <a:txBody>
                    <a:bodyPr/>
                    <a:lstStyle/>
                    <a:p>
                      <a:pPr>
                        <a:defRPr sz="1000" b="1">
                          <a:solidFill>
                            <a:srgbClr val="3D5A6C"/>
                          </a:solidFill>
                        </a:defRPr>
                      </a:pPr>
                      <a:r>
                        <a:t>Version</a:t>
                      </a:r>
                    </a:p>
                  </a:txBody>
                  <a:tcPr/>
                </a:tc>
                <a:extLst>
                  <a:ext uri="{0D108BD9-81ED-4DB2-BD59-A6C34878D82A}">
                    <a16:rowId xmlns:a16="http://schemas.microsoft.com/office/drawing/2014/main" val="10000"/>
                  </a:ext>
                </a:extLst>
              </a:tr>
              <a:tr h="288036">
                <a:tc>
                  <a:txBody>
                    <a:bodyPr/>
                    <a:lstStyle/>
                    <a:p>
                      <a:pPr>
                        <a:defRPr sz="1000">
                          <a:solidFill>
                            <a:srgbClr val="2D3A3A"/>
                          </a:solidFill>
                        </a:defRPr>
                      </a:pPr>
                      <a:r>
                        <a:t>Langage</a:t>
                      </a:r>
                    </a:p>
                  </a:txBody>
                  <a:tcPr/>
                </a:tc>
                <a:tc>
                  <a:txBody>
                    <a:bodyPr/>
                    <a:lstStyle/>
                    <a:p>
                      <a:pPr>
                        <a:defRPr sz="1000">
                          <a:solidFill>
                            <a:srgbClr val="2D3A3A"/>
                          </a:solidFill>
                        </a:defRPr>
                      </a:pPr>
                      <a:r>
                        <a:t>Kotlin</a:t>
                      </a:r>
                    </a:p>
                  </a:txBody>
                  <a:tcPr/>
                </a:tc>
                <a:tc>
                  <a:txBody>
                    <a:bodyPr/>
                    <a:lstStyle/>
                    <a:p>
                      <a:pPr>
                        <a:defRPr sz="1000">
                          <a:solidFill>
                            <a:srgbClr val="2D3A3A"/>
                          </a:solidFill>
                        </a:defRPr>
                      </a:pPr>
                      <a:r>
                        <a:t>2.2.0 / JVM 21</a:t>
                      </a:r>
                    </a:p>
                  </a:txBody>
                  <a:tcPr/>
                </a:tc>
                <a:extLst>
                  <a:ext uri="{0D108BD9-81ED-4DB2-BD59-A6C34878D82A}">
                    <a16:rowId xmlns:a16="http://schemas.microsoft.com/office/drawing/2014/main" val="10001"/>
                  </a:ext>
                </a:extLst>
              </a:tr>
              <a:tr h="288036">
                <a:tc>
                  <a:txBody>
                    <a:bodyPr/>
                    <a:lstStyle/>
                    <a:p>
                      <a:pPr>
                        <a:defRPr sz="1000">
                          <a:solidFill>
                            <a:srgbClr val="2D3A3A"/>
                          </a:solidFill>
                        </a:defRPr>
                      </a:pPr>
                      <a:r>
                        <a:t>Framework web</a:t>
                      </a:r>
                    </a:p>
                  </a:txBody>
                  <a:tcPr/>
                </a:tc>
                <a:tc>
                  <a:txBody>
                    <a:bodyPr/>
                    <a:lstStyle/>
                    <a:p>
                      <a:pPr>
                        <a:defRPr sz="1000">
                          <a:solidFill>
                            <a:srgbClr val="2D3A3A"/>
                          </a:solidFill>
                        </a:defRPr>
                      </a:pPr>
                      <a:r>
                        <a:t>Ktor</a:t>
                      </a:r>
                    </a:p>
                  </a:txBody>
                  <a:tcPr/>
                </a:tc>
                <a:tc>
                  <a:txBody>
                    <a:bodyPr/>
                    <a:lstStyle/>
                    <a:p>
                      <a:pPr>
                        <a:defRPr sz="1000">
                          <a:solidFill>
                            <a:srgbClr val="2D3A3A"/>
                          </a:solidFill>
                        </a:defRPr>
                      </a:pPr>
                      <a:r>
                        <a:t>3.2.2</a:t>
                      </a:r>
                    </a:p>
                  </a:txBody>
                  <a:tcPr/>
                </a:tc>
                <a:extLst>
                  <a:ext uri="{0D108BD9-81ED-4DB2-BD59-A6C34878D82A}">
                    <a16:rowId xmlns:a16="http://schemas.microsoft.com/office/drawing/2014/main" val="10002"/>
                  </a:ext>
                </a:extLst>
              </a:tr>
              <a:tr h="288036">
                <a:tc>
                  <a:txBody>
                    <a:bodyPr/>
                    <a:lstStyle/>
                    <a:p>
                      <a:pPr>
                        <a:defRPr sz="1000">
                          <a:solidFill>
                            <a:srgbClr val="2D3A3A"/>
                          </a:solidFill>
                        </a:defRPr>
                      </a:pPr>
                      <a:r>
                        <a:t>ORM</a:t>
                      </a:r>
                    </a:p>
                  </a:txBody>
                  <a:tcPr/>
                </a:tc>
                <a:tc>
                  <a:txBody>
                    <a:bodyPr/>
                    <a:lstStyle/>
                    <a:p>
                      <a:pPr>
                        <a:defRPr sz="1000">
                          <a:solidFill>
                            <a:srgbClr val="2D3A3A"/>
                          </a:solidFill>
                        </a:defRPr>
                      </a:pPr>
                      <a:r>
                        <a:t>Exposed</a:t>
                      </a:r>
                    </a:p>
                  </a:txBody>
                  <a:tcPr/>
                </a:tc>
                <a:tc>
                  <a:txBody>
                    <a:bodyPr/>
                    <a:lstStyle/>
                    <a:p>
                      <a:pPr>
                        <a:defRPr sz="1000">
                          <a:solidFill>
                            <a:srgbClr val="2D3A3A"/>
                          </a:solidFill>
                        </a:defRPr>
                      </a:pPr>
                      <a:r>
                        <a:t>0.61.0</a:t>
                      </a:r>
                    </a:p>
                  </a:txBody>
                  <a:tcPr/>
                </a:tc>
                <a:extLst>
                  <a:ext uri="{0D108BD9-81ED-4DB2-BD59-A6C34878D82A}">
                    <a16:rowId xmlns:a16="http://schemas.microsoft.com/office/drawing/2014/main" val="10003"/>
                  </a:ext>
                </a:extLst>
              </a:tr>
              <a:tr h="288036">
                <a:tc>
                  <a:txBody>
                    <a:bodyPr/>
                    <a:lstStyle/>
                    <a:p>
                      <a:pPr>
                        <a:defRPr sz="1000">
                          <a:solidFill>
                            <a:srgbClr val="2D3A3A"/>
                          </a:solidFill>
                        </a:defRPr>
                      </a:pPr>
                      <a:r>
                        <a:t>Base de données</a:t>
                      </a:r>
                    </a:p>
                  </a:txBody>
                  <a:tcPr/>
                </a:tc>
                <a:tc>
                  <a:txBody>
                    <a:bodyPr/>
                    <a:lstStyle/>
                    <a:p>
                      <a:pPr>
                        <a:defRPr sz="1000">
                          <a:solidFill>
                            <a:srgbClr val="2D3A3A"/>
                          </a:solidFill>
                        </a:defRPr>
                      </a:pPr>
                      <a:r>
                        <a:t>PostgreSQL</a:t>
                      </a:r>
                    </a:p>
                  </a:txBody>
                  <a:tcPr/>
                </a:tc>
                <a:tc>
                  <a:txBody>
                    <a:bodyPr/>
                    <a:lstStyle/>
                    <a:p>
                      <a:pPr>
                        <a:defRPr sz="1000">
                          <a:solidFill>
                            <a:srgbClr val="2D3A3A"/>
                          </a:solidFill>
                        </a:defRPr>
                      </a:pPr>
                      <a:r>
                        <a:t>—</a:t>
                      </a:r>
                    </a:p>
                  </a:txBody>
                  <a:tcPr/>
                </a:tc>
                <a:extLst>
                  <a:ext uri="{0D108BD9-81ED-4DB2-BD59-A6C34878D82A}">
                    <a16:rowId xmlns:a16="http://schemas.microsoft.com/office/drawing/2014/main" val="10004"/>
                  </a:ext>
                </a:extLst>
              </a:tr>
              <a:tr h="288036">
                <a:tc>
                  <a:txBody>
                    <a:bodyPr/>
                    <a:lstStyle/>
                    <a:p>
                      <a:pPr>
                        <a:defRPr sz="1000">
                          <a:solidFill>
                            <a:srgbClr val="2D3A3A"/>
                          </a:solidFill>
                        </a:defRPr>
                      </a:pPr>
                      <a:r>
                        <a:t>Pool connexions</a:t>
                      </a:r>
                    </a:p>
                  </a:txBody>
                  <a:tcPr/>
                </a:tc>
                <a:tc>
                  <a:txBody>
                    <a:bodyPr/>
                    <a:lstStyle/>
                    <a:p>
                      <a:pPr>
                        <a:defRPr sz="1000">
                          <a:solidFill>
                            <a:srgbClr val="2D3A3A"/>
                          </a:solidFill>
                        </a:defRPr>
                      </a:pPr>
                      <a:r>
                        <a:t>HikariCP</a:t>
                      </a:r>
                    </a:p>
                  </a:txBody>
                  <a:tcPr/>
                </a:tc>
                <a:tc>
                  <a:txBody>
                    <a:bodyPr/>
                    <a:lstStyle/>
                    <a:p>
                      <a:pPr>
                        <a:defRPr sz="1000">
                          <a:solidFill>
                            <a:srgbClr val="2D3A3A"/>
                          </a:solidFill>
                        </a:defRPr>
                      </a:pPr>
                      <a:r>
                        <a:t>6.3.1</a:t>
                      </a:r>
                    </a:p>
                  </a:txBody>
                  <a:tcPr/>
                </a:tc>
                <a:extLst>
                  <a:ext uri="{0D108BD9-81ED-4DB2-BD59-A6C34878D82A}">
                    <a16:rowId xmlns:a16="http://schemas.microsoft.com/office/drawing/2014/main" val="10005"/>
                  </a:ext>
                </a:extLst>
              </a:tr>
              <a:tr h="288036">
                <a:tc>
                  <a:txBody>
                    <a:bodyPr/>
                    <a:lstStyle/>
                    <a:p>
                      <a:pPr>
                        <a:defRPr sz="1000">
                          <a:solidFill>
                            <a:srgbClr val="2D3A3A"/>
                          </a:solidFill>
                        </a:defRPr>
                      </a:pPr>
                      <a:r>
                        <a:t>DI</a:t>
                      </a:r>
                    </a:p>
                  </a:txBody>
                  <a:tcPr/>
                </a:tc>
                <a:tc>
                  <a:txBody>
                    <a:bodyPr/>
                    <a:lstStyle/>
                    <a:p>
                      <a:pPr>
                        <a:defRPr sz="1000">
                          <a:solidFill>
                            <a:srgbClr val="2D3A3A"/>
                          </a:solidFill>
                        </a:defRPr>
                      </a:pPr>
                      <a:r>
                        <a:t>Koin</a:t>
                      </a:r>
                    </a:p>
                  </a:txBody>
                  <a:tcPr/>
                </a:tc>
                <a:tc>
                  <a:txBody>
                    <a:bodyPr/>
                    <a:lstStyle/>
                    <a:p>
                      <a:pPr>
                        <a:defRPr sz="1000">
                          <a:solidFill>
                            <a:srgbClr val="2D3A3A"/>
                          </a:solidFill>
                        </a:defRPr>
                      </a:pPr>
                      <a:r>
                        <a:t>4.1.0</a:t>
                      </a:r>
                    </a:p>
                  </a:txBody>
                  <a:tcPr/>
                </a:tc>
                <a:extLst>
                  <a:ext uri="{0D108BD9-81ED-4DB2-BD59-A6C34878D82A}">
                    <a16:rowId xmlns:a16="http://schemas.microsoft.com/office/drawing/2014/main" val="10006"/>
                  </a:ext>
                </a:extLst>
              </a:tr>
              <a:tr h="288036">
                <a:tc>
                  <a:txBody>
                    <a:bodyPr/>
                    <a:lstStyle/>
                    <a:p>
                      <a:pPr>
                        <a:defRPr sz="1000">
                          <a:solidFill>
                            <a:srgbClr val="2D3A3A"/>
                          </a:solidFill>
                        </a:defRPr>
                      </a:pPr>
                      <a:r>
                        <a:t>Erreurs fonctionnelles</a:t>
                      </a:r>
                    </a:p>
                  </a:txBody>
                  <a:tcPr/>
                </a:tc>
                <a:tc>
                  <a:txBody>
                    <a:bodyPr/>
                    <a:lstStyle/>
                    <a:p>
                      <a:pPr>
                        <a:defRPr sz="1000">
                          <a:solidFill>
                            <a:srgbClr val="2D3A3A"/>
                          </a:solidFill>
                        </a:defRPr>
                      </a:pPr>
                      <a:r>
                        <a:t>Arrow</a:t>
                      </a:r>
                    </a:p>
                  </a:txBody>
                  <a:tcPr/>
                </a:tc>
                <a:tc>
                  <a:txBody>
                    <a:bodyPr/>
                    <a:lstStyle/>
                    <a:p>
                      <a:pPr>
                        <a:defRPr sz="1000">
                          <a:solidFill>
                            <a:srgbClr val="2D3A3A"/>
                          </a:solidFill>
                        </a:defRPr>
                      </a:pPr>
                      <a:r>
                        <a:t>2.1.2</a:t>
                      </a:r>
                    </a:p>
                  </a:txBody>
                  <a:tcPr/>
                </a:tc>
                <a:extLst>
                  <a:ext uri="{0D108BD9-81ED-4DB2-BD59-A6C34878D82A}">
                    <a16:rowId xmlns:a16="http://schemas.microsoft.com/office/drawing/2014/main" val="10007"/>
                  </a:ext>
                </a:extLst>
              </a:tr>
              <a:tr h="288036">
                <a:tc>
                  <a:txBody>
                    <a:bodyPr/>
                    <a:lstStyle/>
                    <a:p>
                      <a:pPr>
                        <a:defRPr sz="1000">
                          <a:solidFill>
                            <a:srgbClr val="2D3A3A"/>
                          </a:solidFill>
                        </a:defRPr>
                      </a:pPr>
                      <a:r>
                        <a:t>Sérialisation</a:t>
                      </a:r>
                    </a:p>
                  </a:txBody>
                  <a:tcPr/>
                </a:tc>
                <a:tc>
                  <a:txBody>
                    <a:bodyPr/>
                    <a:lstStyle/>
                    <a:p>
                      <a:pPr>
                        <a:defRPr sz="1000">
                          <a:solidFill>
                            <a:srgbClr val="2D3A3A"/>
                          </a:solidFill>
                        </a:defRPr>
                      </a:pPr>
                      <a:r>
                        <a:t>Jackson</a:t>
                      </a:r>
                    </a:p>
                  </a:txBody>
                  <a:tcPr/>
                </a:tc>
                <a:tc>
                  <a:txBody>
                    <a:bodyPr/>
                    <a:lstStyle/>
                    <a:p>
                      <a:pPr>
                        <a:defRPr sz="1000">
                          <a:solidFill>
                            <a:srgbClr val="2D3A3A"/>
                          </a:solidFill>
                        </a:defRPr>
                      </a:pPr>
                      <a:r>
                        <a:t>Kotlin + JavaTime</a:t>
                      </a:r>
                    </a:p>
                  </a:txBody>
                  <a:tcPr/>
                </a:tc>
                <a:extLst>
                  <a:ext uri="{0D108BD9-81ED-4DB2-BD59-A6C34878D82A}">
                    <a16:rowId xmlns:a16="http://schemas.microsoft.com/office/drawing/2014/main" val="10008"/>
                  </a:ext>
                </a:extLst>
              </a:tr>
              <a:tr h="288036">
                <a:tc>
                  <a:txBody>
                    <a:bodyPr/>
                    <a:lstStyle/>
                    <a:p>
                      <a:pPr>
                        <a:defRPr sz="1000">
                          <a:solidFill>
                            <a:srgbClr val="2D3A3A"/>
                          </a:solidFill>
                        </a:defRPr>
                      </a:pPr>
                      <a:r>
                        <a:t>Auth</a:t>
                      </a:r>
                    </a:p>
                  </a:txBody>
                  <a:tcPr/>
                </a:tc>
                <a:tc>
                  <a:txBody>
                    <a:bodyPr/>
                    <a:lstStyle/>
                    <a:p>
                      <a:pPr>
                        <a:defRPr sz="1000">
                          <a:solidFill>
                            <a:srgbClr val="2D3A3A"/>
                          </a:solidFill>
                        </a:defRPr>
                      </a:pPr>
                      <a:r>
                        <a:t>Auth0 JWT + Supabase</a:t>
                      </a:r>
                    </a:p>
                  </a:txBody>
                  <a:tcPr/>
                </a:tc>
                <a:tc>
                  <a:txBody>
                    <a:bodyPr/>
                    <a:lstStyle/>
                    <a:p>
                      <a:pPr>
                        <a:defRPr sz="1000">
                          <a:solidFill>
                            <a:srgbClr val="2D3A3A"/>
                          </a:solidFill>
                        </a:defRPr>
                      </a:pPr>
                      <a:r>
                        <a:t>4.4.0</a:t>
                      </a:r>
                    </a:p>
                  </a:txBody>
                  <a:tcPr/>
                </a:tc>
                <a:extLst>
                  <a:ext uri="{0D108BD9-81ED-4DB2-BD59-A6C34878D82A}">
                    <a16:rowId xmlns:a16="http://schemas.microsoft.com/office/drawing/2014/main" val="10009"/>
                  </a:ext>
                </a:extLst>
              </a:tr>
            </a:tbl>
          </a:graphicData>
        </a:graphic>
      </p:graphicFrame>
      <p:sp>
        <p:nvSpPr>
          <p:cNvPr id="11" name="TextBox 10"/>
          <p:cNvSpPr txBox="1"/>
          <p:nvPr/>
        </p:nvSpPr>
        <p:spPr>
          <a:xfrm>
            <a:off x="914400" y="5005425"/>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Front-end</a:t>
            </a:r>
          </a:p>
        </p:txBody>
      </p:sp>
      <p:graphicFrame>
        <p:nvGraphicFramePr>
          <p:cNvPr id="12" name="Table 11"/>
          <p:cNvGraphicFramePr>
            <a:graphicFrameLocks noGrp="1"/>
          </p:cNvGraphicFramePr>
          <p:nvPr/>
        </p:nvGraphicFramePr>
        <p:xfrm>
          <a:off x="914400" y="5740603"/>
          <a:ext cx="16002000" cy="2331720"/>
        </p:xfrm>
        <a:graphic>
          <a:graphicData uri="http://schemas.openxmlformats.org/drawingml/2006/table">
            <a:tbl>
              <a:tblPr firstRow="1" bandRow="1">
                <a:tableStyleId>{5C22544A-7EE6-4342-B048-85BDC9FD1C3A}</a:tableStyleId>
              </a:tblPr>
              <a:tblGrid>
                <a:gridCol w="5334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5334000">
                  <a:extLst>
                    <a:ext uri="{9D8B030D-6E8A-4147-A177-3AD203B41FA5}">
                      <a16:colId xmlns:a16="http://schemas.microsoft.com/office/drawing/2014/main" val="20002"/>
                    </a:ext>
                  </a:extLst>
                </a:gridCol>
              </a:tblGrid>
              <a:tr h="291465">
                <a:tc>
                  <a:txBody>
                    <a:bodyPr/>
                    <a:lstStyle/>
                    <a:p>
                      <a:pPr>
                        <a:defRPr sz="1000" b="1">
                          <a:solidFill>
                            <a:srgbClr val="3D5A6C"/>
                          </a:solidFill>
                        </a:defRPr>
                      </a:pPr>
                      <a:r>
                        <a:t>Couche</a:t>
                      </a:r>
                    </a:p>
                  </a:txBody>
                  <a:tcPr/>
                </a:tc>
                <a:tc>
                  <a:txBody>
                    <a:bodyPr/>
                    <a:lstStyle/>
                    <a:p>
                      <a:pPr>
                        <a:defRPr sz="1000" b="1">
                          <a:solidFill>
                            <a:srgbClr val="3D5A6C"/>
                          </a:solidFill>
                        </a:defRPr>
                      </a:pPr>
                      <a:r>
                        <a:t>Technologie</a:t>
                      </a:r>
                    </a:p>
                  </a:txBody>
                  <a:tcPr/>
                </a:tc>
                <a:tc>
                  <a:txBody>
                    <a:bodyPr/>
                    <a:lstStyle/>
                    <a:p>
                      <a:pPr>
                        <a:defRPr sz="1000" b="1">
                          <a:solidFill>
                            <a:srgbClr val="3D5A6C"/>
                          </a:solidFill>
                        </a:defRPr>
                      </a:pPr>
                      <a:r>
                        <a:t>Version</a:t>
                      </a:r>
                    </a:p>
                  </a:txBody>
                  <a:tcPr/>
                </a:tc>
                <a:extLst>
                  <a:ext uri="{0D108BD9-81ED-4DB2-BD59-A6C34878D82A}">
                    <a16:rowId xmlns:a16="http://schemas.microsoft.com/office/drawing/2014/main" val="10000"/>
                  </a:ext>
                </a:extLst>
              </a:tr>
              <a:tr h="291465">
                <a:tc>
                  <a:txBody>
                    <a:bodyPr/>
                    <a:lstStyle/>
                    <a:p>
                      <a:pPr>
                        <a:defRPr sz="1000">
                          <a:solidFill>
                            <a:srgbClr val="2D3A3A"/>
                          </a:solidFill>
                        </a:defRPr>
                      </a:pPr>
                      <a:r>
                        <a:t>Framework</a:t>
                      </a:r>
                    </a:p>
                  </a:txBody>
                  <a:tcPr/>
                </a:tc>
                <a:tc>
                  <a:txBody>
                    <a:bodyPr/>
                    <a:lstStyle/>
                    <a:p>
                      <a:pPr>
                        <a:defRPr sz="1000">
                          <a:solidFill>
                            <a:srgbClr val="2D3A3A"/>
                          </a:solidFill>
                        </a:defRPr>
                      </a:pPr>
                      <a:r>
                        <a:t>React</a:t>
                      </a:r>
                    </a:p>
                  </a:txBody>
                  <a:tcPr/>
                </a:tc>
                <a:tc>
                  <a:txBody>
                    <a:bodyPr/>
                    <a:lstStyle/>
                    <a:p>
                      <a:pPr>
                        <a:defRPr sz="1000">
                          <a:solidFill>
                            <a:srgbClr val="2D3A3A"/>
                          </a:solidFill>
                        </a:defRPr>
                      </a:pPr>
                      <a:r>
                        <a:t>19.1.1</a:t>
                      </a:r>
                    </a:p>
                  </a:txBody>
                  <a:tcPr/>
                </a:tc>
                <a:extLst>
                  <a:ext uri="{0D108BD9-81ED-4DB2-BD59-A6C34878D82A}">
                    <a16:rowId xmlns:a16="http://schemas.microsoft.com/office/drawing/2014/main" val="10001"/>
                  </a:ext>
                </a:extLst>
              </a:tr>
              <a:tr h="291465">
                <a:tc>
                  <a:txBody>
                    <a:bodyPr/>
                    <a:lstStyle/>
                    <a:p>
                      <a:pPr>
                        <a:defRPr sz="1000">
                          <a:solidFill>
                            <a:srgbClr val="2D3A3A"/>
                          </a:solidFill>
                        </a:defRPr>
                      </a:pPr>
                      <a:r>
                        <a:t>Langage</a:t>
                      </a:r>
                    </a:p>
                  </a:txBody>
                  <a:tcPr/>
                </a:tc>
                <a:tc>
                  <a:txBody>
                    <a:bodyPr/>
                    <a:lstStyle/>
                    <a:p>
                      <a:pPr>
                        <a:defRPr sz="1000">
                          <a:solidFill>
                            <a:srgbClr val="2D3A3A"/>
                          </a:solidFill>
                        </a:defRPr>
                      </a:pPr>
                      <a:r>
                        <a:t>TypeScript (strict)</a:t>
                      </a:r>
                    </a:p>
                  </a:txBody>
                  <a:tcPr/>
                </a:tc>
                <a:tc>
                  <a:txBody>
                    <a:bodyPr/>
                    <a:lstStyle/>
                    <a:p>
                      <a:pPr>
                        <a:defRPr sz="1000">
                          <a:solidFill>
                            <a:srgbClr val="2D3A3A"/>
                          </a:solidFill>
                        </a:defRPr>
                      </a:pPr>
                      <a:r>
                        <a:t>5.8.3</a:t>
                      </a:r>
                    </a:p>
                  </a:txBody>
                  <a:tcPr/>
                </a:tc>
                <a:extLst>
                  <a:ext uri="{0D108BD9-81ED-4DB2-BD59-A6C34878D82A}">
                    <a16:rowId xmlns:a16="http://schemas.microsoft.com/office/drawing/2014/main" val="10002"/>
                  </a:ext>
                </a:extLst>
              </a:tr>
              <a:tr h="291465">
                <a:tc>
                  <a:txBody>
                    <a:bodyPr/>
                    <a:lstStyle/>
                    <a:p>
                      <a:pPr>
                        <a:defRPr sz="1000">
                          <a:solidFill>
                            <a:srgbClr val="2D3A3A"/>
                          </a:solidFill>
                        </a:defRPr>
                      </a:pPr>
                      <a:r>
                        <a:t>Build</a:t>
                      </a:r>
                    </a:p>
                  </a:txBody>
                  <a:tcPr/>
                </a:tc>
                <a:tc>
                  <a:txBody>
                    <a:bodyPr/>
                    <a:lstStyle/>
                    <a:p>
                      <a:pPr>
                        <a:defRPr sz="1000">
                          <a:solidFill>
                            <a:srgbClr val="2D3A3A"/>
                          </a:solidFill>
                        </a:defRPr>
                      </a:pPr>
                      <a:r>
                        <a:t>Vite</a:t>
                      </a:r>
                    </a:p>
                  </a:txBody>
                  <a:tcPr/>
                </a:tc>
                <a:tc>
                  <a:txBody>
                    <a:bodyPr/>
                    <a:lstStyle/>
                    <a:p>
                      <a:pPr>
                        <a:defRPr sz="1000">
                          <a:solidFill>
                            <a:srgbClr val="2D3A3A"/>
                          </a:solidFill>
                        </a:defRPr>
                      </a:pPr>
                      <a:r>
                        <a:t>7.1.2</a:t>
                      </a:r>
                    </a:p>
                  </a:txBody>
                  <a:tcPr/>
                </a:tc>
                <a:extLst>
                  <a:ext uri="{0D108BD9-81ED-4DB2-BD59-A6C34878D82A}">
                    <a16:rowId xmlns:a16="http://schemas.microsoft.com/office/drawing/2014/main" val="10003"/>
                  </a:ext>
                </a:extLst>
              </a:tr>
              <a:tr h="291465">
                <a:tc>
                  <a:txBody>
                    <a:bodyPr/>
                    <a:lstStyle/>
                    <a:p>
                      <a:pPr>
                        <a:defRPr sz="1000">
                          <a:solidFill>
                            <a:srgbClr val="2D3A3A"/>
                          </a:solidFill>
                        </a:defRPr>
                      </a:pPr>
                      <a:r>
                        <a:t>Routing</a:t>
                      </a:r>
                    </a:p>
                  </a:txBody>
                  <a:tcPr/>
                </a:tc>
                <a:tc>
                  <a:txBody>
                    <a:bodyPr/>
                    <a:lstStyle/>
                    <a:p>
                      <a:pPr>
                        <a:defRPr sz="1000">
                          <a:solidFill>
                            <a:srgbClr val="2D3A3A"/>
                          </a:solidFill>
                        </a:defRPr>
                      </a:pPr>
                      <a:r>
                        <a:t>React Router DOM</a:t>
                      </a:r>
                    </a:p>
                  </a:txBody>
                  <a:tcPr/>
                </a:tc>
                <a:tc>
                  <a:txBody>
                    <a:bodyPr/>
                    <a:lstStyle/>
                    <a:p>
                      <a:pPr>
                        <a:defRPr sz="1000">
                          <a:solidFill>
                            <a:srgbClr val="2D3A3A"/>
                          </a:solidFill>
                        </a:defRPr>
                      </a:pPr>
                      <a:r>
                        <a:t>7.13.0</a:t>
                      </a:r>
                    </a:p>
                  </a:txBody>
                  <a:tcPr/>
                </a:tc>
                <a:extLst>
                  <a:ext uri="{0D108BD9-81ED-4DB2-BD59-A6C34878D82A}">
                    <a16:rowId xmlns:a16="http://schemas.microsoft.com/office/drawing/2014/main" val="10004"/>
                  </a:ext>
                </a:extLst>
              </a:tr>
              <a:tr h="291465">
                <a:tc>
                  <a:txBody>
                    <a:bodyPr/>
                    <a:lstStyle/>
                    <a:p>
                      <a:pPr>
                        <a:defRPr sz="1000">
                          <a:solidFill>
                            <a:srgbClr val="2D3A3A"/>
                          </a:solidFill>
                        </a:defRPr>
                      </a:pPr>
                      <a:r>
                        <a:t>Auth</a:t>
                      </a:r>
                    </a:p>
                  </a:txBody>
                  <a:tcPr/>
                </a:tc>
                <a:tc>
                  <a:txBody>
                    <a:bodyPr/>
                    <a:lstStyle/>
                    <a:p>
                      <a:pPr>
                        <a:defRPr sz="1000">
                          <a:solidFill>
                            <a:srgbClr val="2D3A3A"/>
                          </a:solidFill>
                        </a:defRPr>
                      </a:pPr>
                      <a:r>
                        <a:t>Supabase JS SDK</a:t>
                      </a:r>
                    </a:p>
                  </a:txBody>
                  <a:tcPr/>
                </a:tc>
                <a:tc>
                  <a:txBody>
                    <a:bodyPr/>
                    <a:lstStyle/>
                    <a:p>
                      <a:pPr>
                        <a:defRPr sz="1000">
                          <a:solidFill>
                            <a:srgbClr val="2D3A3A"/>
                          </a:solidFill>
                        </a:defRPr>
                      </a:pPr>
                      <a:r>
                        <a:t>2.39.3</a:t>
                      </a:r>
                    </a:p>
                  </a:txBody>
                  <a:tcPr/>
                </a:tc>
                <a:extLst>
                  <a:ext uri="{0D108BD9-81ED-4DB2-BD59-A6C34878D82A}">
                    <a16:rowId xmlns:a16="http://schemas.microsoft.com/office/drawing/2014/main" val="10005"/>
                  </a:ext>
                </a:extLst>
              </a:tr>
              <a:tr h="291465">
                <a:tc>
                  <a:txBody>
                    <a:bodyPr/>
                    <a:lstStyle/>
                    <a:p>
                      <a:pPr>
                        <a:defRPr sz="1000">
                          <a:solidFill>
                            <a:srgbClr val="2D3A3A"/>
                          </a:solidFill>
                        </a:defRPr>
                      </a:pPr>
                      <a:r>
                        <a:t>PWA</a:t>
                      </a:r>
                    </a:p>
                  </a:txBody>
                  <a:tcPr/>
                </a:tc>
                <a:tc>
                  <a:txBody>
                    <a:bodyPr/>
                    <a:lstStyle/>
                    <a:p>
                      <a:pPr>
                        <a:defRPr sz="1000">
                          <a:solidFill>
                            <a:srgbClr val="2D3A3A"/>
                          </a:solidFill>
                        </a:defRPr>
                      </a:pPr>
                      <a:r>
                        <a:t>vite-plugin-pwa + Workbox</a:t>
                      </a:r>
                    </a:p>
                  </a:txBody>
                  <a:tcPr/>
                </a:tc>
                <a:tc>
                  <a:txBody>
                    <a:bodyPr/>
                    <a:lstStyle/>
                    <a:p>
                      <a:pPr>
                        <a:defRPr sz="1000">
                          <a:solidFill>
                            <a:srgbClr val="2D3A3A"/>
                          </a:solidFill>
                        </a:defRPr>
                      </a:pPr>
                      <a:r>
                        <a:t>1.2.0</a:t>
                      </a:r>
                    </a:p>
                  </a:txBody>
                  <a:tcPr/>
                </a:tc>
                <a:extLst>
                  <a:ext uri="{0D108BD9-81ED-4DB2-BD59-A6C34878D82A}">
                    <a16:rowId xmlns:a16="http://schemas.microsoft.com/office/drawing/2014/main" val="10006"/>
                  </a:ext>
                </a:extLst>
              </a:tr>
              <a:tr h="291465">
                <a:tc>
                  <a:txBody>
                    <a:bodyPr/>
                    <a:lstStyle/>
                    <a:p>
                      <a:pPr>
                        <a:defRPr sz="1000">
                          <a:solidFill>
                            <a:srgbClr val="2D3A3A"/>
                          </a:solidFill>
                        </a:defRPr>
                      </a:pPr>
                      <a:r>
                        <a:t>HTTP</a:t>
                      </a:r>
                    </a:p>
                  </a:txBody>
                  <a:tcPr/>
                </a:tc>
                <a:tc>
                  <a:txBody>
                    <a:bodyPr/>
                    <a:lstStyle/>
                    <a:p>
                      <a:pPr>
                        <a:defRPr sz="1000">
                          <a:solidFill>
                            <a:srgbClr val="2D3A3A"/>
                          </a:solidFill>
                        </a:defRPr>
                      </a:pPr>
                      <a:r>
                        <a:t>API native fetch</a:t>
                      </a:r>
                    </a:p>
                  </a:txBody>
                  <a:tcPr/>
                </a:tc>
                <a:tc>
                  <a:txBody>
                    <a:bodyPr/>
                    <a:lstStyle/>
                    <a:p>
                      <a:pPr>
                        <a:defRPr sz="1000">
                          <a:solidFill>
                            <a:srgbClr val="2D3A3A"/>
                          </a:solidFill>
                        </a:defRPr>
                      </a:pPr>
                      <a:r>
                        <a:t>—</a:t>
                      </a:r>
                    </a:p>
                  </a:txBody>
                  <a:tcPr/>
                </a:tc>
                <a:extLst>
                  <a:ext uri="{0D108BD9-81ED-4DB2-BD59-A6C34878D82A}">
                    <a16:rowId xmlns:a16="http://schemas.microsoft.com/office/drawing/2014/main" val="10007"/>
                  </a:ext>
                </a:extLst>
              </a:tr>
            </a:tbl>
          </a:graphicData>
        </a:graphic>
      </p:graphicFrame>
      <p:sp>
        <p:nvSpPr>
          <p:cNvPr id="13" name="TextBox 12"/>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B5C73"/>
        </a:solidFill>
        <a:effectLst/>
      </p:bgPr>
    </p:bg>
    <p:spTree>
      <p:nvGrpSpPr>
        <p:cNvPr id="1" name=""/>
        <p:cNvGrpSpPr/>
        <p:nvPr/>
      </p:nvGrpSpPr>
      <p:grpSpPr>
        <a:xfrm>
          <a:off x="0" y="0"/>
          <a:ext cx="0" cy="0"/>
          <a:chOff x="0" y="0"/>
          <a:chExt cx="0" cy="0"/>
        </a:xfrm>
      </p:grpSpPr>
      <p:sp>
        <p:nvSpPr>
          <p:cNvPr id="2" name="TextBox 2"/>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p:nvSpPr>
        <p:spPr>
          <a:xfrm>
            <a:off x="-810449" y="4666508"/>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p:nvSpPr>
        <p:spPr>
          <a:xfrm>
            <a:off x="-658049" y="4818908"/>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extBox 4"/>
          <p:cNvSpPr txBox="1"/>
          <p:nvPr/>
        </p:nvSpPr>
        <p:spPr>
          <a:xfrm>
            <a:off x="1828800" y="3200400"/>
            <a:ext cx="14630400" cy="3657600"/>
          </a:xfrm>
          <a:prstGeom prst="rect">
            <a:avLst/>
          </a:prstGeom>
          <a:noFill/>
        </p:spPr>
        <p:txBody>
          <a:bodyPr wrap="square">
            <a:spAutoFit/>
          </a:bodyPr>
          <a:lstStyle/>
          <a:p>
            <a:pPr algn="ctr"/>
            <a:r>
              <a:rPr sz="2800" b="1" i="0">
                <a:solidFill>
                  <a:srgbClr val="FFFFFF"/>
                </a:solidFill>
                <a:latin typeface="Calibri"/>
              </a:rPr>
              <a:t>Réalisations — Interfaces utilisateur</a:t>
            </a:r>
          </a:p>
        </p:txBody>
      </p:sp>
      <p:sp>
        <p:nvSpPr>
          <p:cNvPr id="6" name="TextBox 5"/>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Captures d'écran : Dashboard / HomePage</a:t>
            </a:r>
          </a:p>
        </p:txBody>
      </p:sp>
      <p:sp>
        <p:nvSpPr>
          <p:cNvPr id="9" name="TextBox 8"/>
          <p:cNvSpPr txBox="1"/>
          <p:nvPr/>
        </p:nvSpPr>
        <p:spPr>
          <a:xfrm>
            <a:off x="914400" y="1280160"/>
            <a:ext cx="16002000" cy="1591056"/>
          </a:xfrm>
          <a:prstGeom prst="rect">
            <a:avLst/>
          </a:prstGeom>
          <a:noFill/>
        </p:spPr>
        <p:txBody>
          <a:bodyPr wrap="square">
            <a:spAutoFit/>
          </a:bodyPr>
          <a:lstStyle/>
          <a:p>
            <a:pPr>
              <a:spcBef>
                <a:spcPts val="200"/>
              </a:spcBef>
              <a:spcAft>
                <a:spcPts val="200"/>
              </a:spcAft>
            </a:pPr>
            <a:r>
              <a:rPr sz="1300" b="0" i="0">
                <a:solidFill>
                  <a:srgbClr val="2D3A3A"/>
                </a:solidFill>
                <a:latin typeface="Calibri"/>
              </a:rPr>
              <a:t>• Le dashboard affiche les événements sous forme de cartes (</a:t>
            </a:r>
            <a:r>
              <a:rPr sz="1300" b="0" i="0">
                <a:solidFill>
                  <a:srgbClr val="2D3A3A"/>
                </a:solidFill>
                <a:latin typeface="Consolas"/>
              </a:rPr>
              <a:t>EventCard</a:t>
            </a:r>
            <a:r>
              <a:rPr sz="1300" b="0" i="0">
                <a:solidFill>
                  <a:srgbClr val="2D3A3A"/>
                </a:solidFill>
                <a:latin typeface="Calibri"/>
              </a:rPr>
              <a:t>)</a:t>
            </a:r>
          </a:p>
          <a:p>
            <a:pPr>
              <a:spcBef>
                <a:spcPts val="200"/>
              </a:spcBef>
              <a:spcAft>
                <a:spcPts val="200"/>
              </a:spcAft>
            </a:pPr>
            <a:r>
              <a:rPr sz="1300" b="0" i="0">
                <a:solidFill>
                  <a:srgbClr val="2D3A3A"/>
                </a:solidFill>
                <a:latin typeface="Calibri"/>
              </a:rPr>
              <a:t>• Chaque carte montre : date, nom, nombre de participants, localisation</a:t>
            </a:r>
          </a:p>
          <a:p>
            <a:pPr>
              <a:spcBef>
                <a:spcPts val="200"/>
              </a:spcBef>
              <a:spcAft>
                <a:spcPts val="200"/>
              </a:spcAft>
            </a:pPr>
            <a:r>
              <a:rPr sz="1300" b="0" i="0">
                <a:solidFill>
                  <a:srgbClr val="2D3A3A"/>
                </a:solidFill>
                <a:latin typeface="Calibri"/>
              </a:rPr>
              <a:t>• Barre de navigation : profil, créer un événement (+), accueil</a:t>
            </a:r>
          </a:p>
          <a:p>
            <a:pPr>
              <a:spcBef>
                <a:spcPts val="200"/>
              </a:spcBef>
              <a:spcAft>
                <a:spcPts val="200"/>
              </a:spcAft>
            </a:pPr>
            <a:r>
              <a:rPr sz="1300" b="0" i="0">
                <a:solidFill>
                  <a:srgbClr val="2D3A3A"/>
                </a:solidFill>
                <a:latin typeface="Calibri"/>
              </a:rPr>
              <a:t>• </a:t>
            </a:r>
            <a:r>
              <a:rPr sz="1300" b="1" i="0">
                <a:solidFill>
                  <a:srgbClr val="2D3A3A"/>
                </a:solidFill>
                <a:latin typeface="Calibri"/>
              </a:rPr>
              <a:t>3 dépendances de production</a:t>
            </a:r>
            <a:r>
              <a:rPr sz="1300" b="0" i="0">
                <a:solidFill>
                  <a:srgbClr val="2D3A3A"/>
                </a:solidFill>
                <a:latin typeface="Calibri"/>
              </a:rPr>
              <a:t> seulement (React, React Router, Supabase)</a:t>
            </a:r>
          </a:p>
          <a:p>
            <a:pPr>
              <a:spcBef>
                <a:spcPts val="200"/>
              </a:spcBef>
              <a:spcAft>
                <a:spcPts val="200"/>
              </a:spcAft>
            </a:pPr>
            <a:r>
              <a:rPr sz="1300" b="0" i="0">
                <a:solidFill>
                  <a:srgbClr val="2D3A3A"/>
                </a:solidFill>
                <a:latin typeface="Calibri"/>
              </a:rPr>
              <a:t>• PWA installable avec mode offline (Service Worker Workbox)</a:t>
            </a:r>
          </a:p>
        </p:txBody>
      </p:sp>
      <p:sp>
        <p:nvSpPr>
          <p:cNvPr id="10" name="TextBox 9"/>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16559154" y="-3155940"/>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18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2169174" y="7273568"/>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6686336" y="-520255"/>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7796283" y="2284321"/>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6"/>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Captures d'écran : EventDetailsView</a:t>
            </a:r>
          </a:p>
        </p:txBody>
      </p:sp>
      <p:sp>
        <p:nvSpPr>
          <p:cNvPr id="9" name="TextBox 8"/>
          <p:cNvSpPr txBox="1"/>
          <p:nvPr/>
        </p:nvSpPr>
        <p:spPr>
          <a:xfrm>
            <a:off x="914400" y="1280160"/>
            <a:ext cx="16002000" cy="1591056"/>
          </a:xfrm>
          <a:prstGeom prst="rect">
            <a:avLst/>
          </a:prstGeom>
          <a:noFill/>
        </p:spPr>
        <p:txBody>
          <a:bodyPr wrap="square">
            <a:spAutoFit/>
          </a:bodyPr>
          <a:lstStyle/>
          <a:p>
            <a:pPr>
              <a:spcBef>
                <a:spcPts val="200"/>
              </a:spcBef>
              <a:spcAft>
                <a:spcPts val="200"/>
              </a:spcAft>
            </a:pPr>
            <a:r>
              <a:rPr sz="1300" b="0" i="0">
                <a:solidFill>
                  <a:srgbClr val="2D3A3A"/>
                </a:solidFill>
                <a:latin typeface="Calibri"/>
              </a:rPr>
              <a:t>• Vue détail d'un événement avec ressources organisées par catégorie (Food, Drinks…)</a:t>
            </a:r>
          </a:p>
          <a:p>
            <a:pPr>
              <a:spcBef>
                <a:spcPts val="200"/>
              </a:spcBef>
              <a:spcAft>
                <a:spcPts val="200"/>
              </a:spcAft>
            </a:pPr>
            <a:r>
              <a:rPr sz="1300" b="0" i="0">
                <a:solidFill>
                  <a:srgbClr val="2D3A3A"/>
                </a:solidFill>
                <a:latin typeface="Calibri"/>
              </a:rPr>
              <a:t>• Chaque ressource affiche : quantité courante / suggérée</a:t>
            </a:r>
          </a:p>
          <a:p>
            <a:pPr>
              <a:spcBef>
                <a:spcPts val="200"/>
              </a:spcBef>
              <a:spcAft>
                <a:spcPts val="200"/>
              </a:spcAft>
            </a:pPr>
            <a:r>
              <a:rPr sz="1300" b="0" i="0">
                <a:solidFill>
                  <a:srgbClr val="2D3A3A"/>
                </a:solidFill>
                <a:latin typeface="Calibri"/>
              </a:rPr>
              <a:t>• Contrôles de contribution : boutons </a:t>
            </a:r>
            <a:r>
              <a:rPr sz="1300" b="1" i="0">
                <a:solidFill>
                  <a:srgbClr val="2D3A3A"/>
                </a:solidFill>
                <a:latin typeface="Calibri"/>
              </a:rPr>
              <a:t>+/−</a:t>
            </a:r>
            <a:r>
              <a:rPr sz="1300" b="0" i="0">
                <a:solidFill>
                  <a:srgbClr val="2D3A3A"/>
                </a:solidFill>
                <a:latin typeface="Calibri"/>
              </a:rPr>
              <a:t> pour sélectionner un delta</a:t>
            </a:r>
          </a:p>
          <a:p>
            <a:pPr>
              <a:spcBef>
                <a:spcPts val="200"/>
              </a:spcBef>
              <a:spcAft>
                <a:spcPts val="200"/>
              </a:spcAft>
            </a:pPr>
            <a:r>
              <a:rPr sz="1300" b="0" i="0">
                <a:solidFill>
                  <a:srgbClr val="2D3A3A"/>
                </a:solidFill>
                <a:latin typeface="Calibri"/>
              </a:rPr>
              <a:t>• Bouton </a:t>
            </a:r>
            <a:r>
              <a:rPr sz="1300" b="1" i="0">
                <a:solidFill>
                  <a:srgbClr val="2D3A3A"/>
                </a:solidFill>
                <a:latin typeface="Calibri"/>
              </a:rPr>
              <a:t>Validate</a:t>
            </a:r>
            <a:r>
              <a:rPr sz="1300" b="0" i="0">
                <a:solidFill>
                  <a:srgbClr val="2D3A3A"/>
                </a:solidFill>
                <a:latin typeface="Calibri"/>
              </a:rPr>
              <a:t> visible uniquement quand un delta est sélectionné</a:t>
            </a:r>
          </a:p>
          <a:p>
            <a:pPr>
              <a:spcBef>
                <a:spcPts val="200"/>
              </a:spcBef>
              <a:spcAft>
                <a:spcPts val="200"/>
              </a:spcAft>
            </a:pPr>
            <a:r>
              <a:rPr sz="1300" b="0" i="0">
                <a:solidFill>
                  <a:srgbClr val="2D3A3A"/>
                </a:solidFill>
                <a:latin typeface="Calibri"/>
              </a:rPr>
              <a:t>• Design Tokens CSS : teal </a:t>
            </a:r>
            <a:r>
              <a:rPr sz="1300" b="0" i="0">
                <a:solidFill>
                  <a:srgbClr val="2D3A3A"/>
                </a:solidFill>
                <a:latin typeface="Consolas"/>
              </a:rPr>
              <a:t>#5FBDB4</a:t>
            </a:r>
            <a:r>
              <a:rPr sz="1300" b="0" i="0">
                <a:solidFill>
                  <a:srgbClr val="2D3A3A"/>
                </a:solidFill>
                <a:latin typeface="Calibri"/>
              </a:rPr>
              <a:t>, navy </a:t>
            </a:r>
            <a:r>
              <a:rPr sz="1300" b="0" i="0">
                <a:solidFill>
                  <a:srgbClr val="2D3A3A"/>
                </a:solidFill>
                <a:latin typeface="Consolas"/>
              </a:rPr>
              <a:t>#3D5A6C</a:t>
            </a:r>
            <a:r>
              <a:rPr sz="1300" b="0" i="0">
                <a:solidFill>
                  <a:srgbClr val="2D3A3A"/>
                </a:solidFill>
                <a:latin typeface="Calibri"/>
              </a:rPr>
              <a:t>, coral </a:t>
            </a:r>
            <a:r>
              <a:rPr sz="1300" b="0" i="0">
                <a:solidFill>
                  <a:srgbClr val="2D3A3A"/>
                </a:solidFill>
                <a:latin typeface="Consolas"/>
              </a:rPr>
              <a:t>#E6A19A</a:t>
            </a:r>
          </a:p>
        </p:txBody>
      </p:sp>
      <p:sp>
        <p:nvSpPr>
          <p:cNvPr id="10" name="TextBox 9"/>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593757">
            <a:off x="-7871390" y="-2369047"/>
            <a:ext cx="21312191" cy="15025095"/>
          </a:xfrm>
          <a:custGeom>
            <a:avLst/>
            <a:gdLst/>
            <a:ahLst/>
            <a:cxnLst/>
            <a:rect l="l" t="t" r="r" b="b"/>
            <a:pathLst>
              <a:path w="21312191" h="15025095">
                <a:moveTo>
                  <a:pt x="0" y="0"/>
                </a:moveTo>
                <a:lnTo>
                  <a:pt x="21312192" y="0"/>
                </a:lnTo>
                <a:lnTo>
                  <a:pt x="21312192" y="15025094"/>
                </a:lnTo>
                <a:lnTo>
                  <a:pt x="0" y="15025094"/>
                </a:lnTo>
                <a:lnTo>
                  <a:pt x="0" y="0"/>
                </a:lnTo>
                <a:close/>
              </a:path>
            </a:pathLst>
          </a:custGeom>
          <a:blipFill>
            <a:blip/>
            <a:stretch>
              <a:fillRect/>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Code React : ResourceItem</a:t>
            </a:r>
          </a:p>
        </p:txBody>
      </p:sp>
      <p:sp>
        <p:nvSpPr>
          <p:cNvPr id="6" name="TextBox 5"/>
          <p:cNvSpPr txBox="1"/>
          <p:nvPr/>
        </p:nvSpPr>
        <p:spPr>
          <a:xfrm>
            <a:off x="731520" y="1280160"/>
            <a:ext cx="8046720" cy="4224528"/>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src/features/resources/components/ResourceItem.tsx</a:t>
            </a:r>
          </a:p>
          <a:p>
            <a:pPr>
              <a:spcBef>
                <a:spcPts val="0"/>
              </a:spcBef>
              <a:spcAft>
                <a:spcPts val="0"/>
              </a:spcAft>
            </a:pPr>
            <a:r>
              <a:rPr sz="900" b="0" i="0">
                <a:solidFill>
                  <a:srgbClr val="2D3A3A"/>
                </a:solidFill>
                <a:latin typeface="Consolas"/>
              </a:rPr>
              <a:t>export const ResourceItem: React.FC&lt;ResourceItemProps&gt; = ({</a:t>
            </a:r>
          </a:p>
          <a:p>
            <a:pPr>
              <a:spcBef>
                <a:spcPts val="0"/>
              </a:spcBef>
              <a:spcAft>
                <a:spcPts val="0"/>
              </a:spcAft>
            </a:pPr>
            <a:r>
              <a:rPr sz="900" b="0" i="0">
                <a:solidFill>
                  <a:srgbClr val="2D3A3A"/>
                </a:solidFill>
                <a:latin typeface="Consolas"/>
              </a:rPr>
              <a:t>  resource, currentUserId,</a:t>
            </a:r>
          </a:p>
          <a:p>
            <a:pPr>
              <a:spcBef>
                <a:spcPts val="0"/>
              </a:spcBef>
              <a:spcAft>
                <a:spcPts val="0"/>
              </a:spcAft>
            </a:pPr>
            <a:r>
              <a:rPr sz="900" b="0" i="0">
                <a:solidFill>
                  <a:srgbClr val="2D3A3A"/>
                </a:solidFill>
                <a:latin typeface="Consolas"/>
              </a:rPr>
              <a:t>  onAddContribution, onUpdateContribution, onDeleteContribution,</a:t>
            </a:r>
          </a:p>
          <a:p>
            <a:pPr>
              <a:spcBef>
                <a:spcPts val="0"/>
              </a:spcBef>
              <a:spcAft>
                <a:spcPts val="0"/>
              </a:spcAft>
            </a:pPr>
            <a:r>
              <a:rPr sz="900" b="0" i="0">
                <a:solidFill>
                  <a:srgbClr val="2D3A3A"/>
                </a:solidFill>
                <a:latin typeface="Consolas"/>
              </a:rPr>
              <a:t>}) =&gt; {</a:t>
            </a:r>
          </a:p>
          <a:p>
            <a:pPr>
              <a:spcBef>
                <a:spcPts val="0"/>
              </a:spcBef>
              <a:spcAft>
                <a:spcPts val="0"/>
              </a:spcAft>
            </a:pPr>
            <a:r>
              <a:rPr sz="900" b="0" i="0">
                <a:solidFill>
                  <a:srgbClr val="2D3A3A"/>
                </a:solidFill>
                <a:latin typeface="Consolas"/>
              </a:rPr>
              <a:t>  const [selectedQuantity, setSelectedQuantity] = useState(0);</a:t>
            </a:r>
          </a:p>
          <a:p>
            <a:pPr>
              <a:spcBef>
                <a:spcPts val="0"/>
              </a:spcBef>
              <a:spcAft>
                <a:spcPts val="0"/>
              </a:spcAft>
            </a:pPr>
            <a:r>
              <a:rPr sz="900" b="0" i="0">
                <a:solidFill>
                  <a:srgbClr val="2D3A3A"/>
                </a:solidFill>
                <a:latin typeface="Consolas"/>
              </a:rPr>
              <a:t>  const [isSaving, setIsSaving] = useState(false);</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const userContribution = resource.contributors.find(</a:t>
            </a:r>
          </a:p>
          <a:p>
            <a:pPr>
              <a:spcBef>
                <a:spcPts val="0"/>
              </a:spcBef>
              <a:spcAft>
                <a:spcPts val="0"/>
              </a:spcAft>
            </a:pPr>
            <a:r>
              <a:rPr sz="900" b="0" i="0">
                <a:solidFill>
                  <a:srgbClr val="2D3A3A"/>
                </a:solidFill>
                <a:latin typeface="Consolas"/>
              </a:rPr>
              <a:t>    c =&gt; c.userId === currentUserId</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const userQuantity = userContribution?.quantity || 0;</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const handleValidate = async () =&gt; {</a:t>
            </a:r>
          </a:p>
          <a:p>
            <a:pPr>
              <a:spcBef>
                <a:spcPts val="0"/>
              </a:spcBef>
              <a:spcAft>
                <a:spcPts val="0"/>
              </a:spcAft>
            </a:pPr>
            <a:r>
              <a:rPr sz="900" b="0" i="0">
                <a:solidFill>
                  <a:srgbClr val="2D3A3A"/>
                </a:solidFill>
                <a:latin typeface="Consolas"/>
              </a:rPr>
              <a:t>    try {</a:t>
            </a:r>
          </a:p>
          <a:p>
            <a:pPr>
              <a:spcBef>
                <a:spcPts val="0"/>
              </a:spcBef>
              <a:spcAft>
                <a:spcPts val="0"/>
              </a:spcAft>
            </a:pPr>
            <a:r>
              <a:rPr sz="900" b="0" i="0">
                <a:solidFill>
                  <a:srgbClr val="2D3A3A"/>
                </a:solidFill>
                <a:latin typeface="Consolas"/>
              </a:rPr>
              <a:t>      setIsSaving(true);</a:t>
            </a:r>
          </a:p>
          <a:p>
            <a:pPr>
              <a:spcBef>
                <a:spcPts val="0"/>
              </a:spcBef>
              <a:spcAft>
                <a:spcPts val="0"/>
              </a:spcAft>
            </a:pPr>
            <a:r>
              <a:rPr sz="900" b="0" i="0">
                <a:solidFill>
                  <a:srgbClr val="2D3A3A"/>
                </a:solidFill>
                <a:latin typeface="Consolas"/>
              </a:rPr>
              <a:t>      const newQuantity = userQuantity + selectedQuantity;</a:t>
            </a:r>
          </a:p>
          <a:p>
            <a:pPr>
              <a:spcBef>
                <a:spcPts val="0"/>
              </a:spcBef>
              <a:spcAft>
                <a:spcPts val="0"/>
              </a:spcAft>
            </a:pPr>
            <a:r>
              <a:rPr sz="900" b="0" i="0">
                <a:solidFill>
                  <a:srgbClr val="2D3A3A"/>
                </a:solidFill>
                <a:latin typeface="Consolas"/>
              </a:rPr>
              <a:t>      if (newQuantity &lt;= 0) await onDeleteContribution(resource.id);</a:t>
            </a:r>
          </a:p>
          <a:p>
            <a:pPr>
              <a:spcBef>
                <a:spcPts val="0"/>
              </a:spcBef>
              <a:spcAft>
                <a:spcPts val="0"/>
              </a:spcAft>
            </a:pPr>
            <a:r>
              <a:rPr sz="900" b="0" i="0">
                <a:solidFill>
                  <a:srgbClr val="2D3A3A"/>
                </a:solidFill>
                <a:latin typeface="Consolas"/>
              </a:rPr>
              <a:t>      else if (userQuantity === 0) await onAddContribution(resource.id, selectedQuantity);</a:t>
            </a:r>
          </a:p>
          <a:p>
            <a:pPr>
              <a:spcBef>
                <a:spcPts val="0"/>
              </a:spcBef>
              <a:spcAft>
                <a:spcPts val="0"/>
              </a:spcAft>
            </a:pPr>
            <a:r>
              <a:rPr sz="900" b="0" i="0">
                <a:solidFill>
                  <a:srgbClr val="2D3A3A"/>
                </a:solidFill>
                <a:latin typeface="Consolas"/>
              </a:rPr>
              <a:t>      else await onUpdateContribution(resource.id, newQuantity);</a:t>
            </a:r>
          </a:p>
          <a:p>
            <a:pPr>
              <a:spcBef>
                <a:spcPts val="0"/>
              </a:spcBef>
              <a:spcAft>
                <a:spcPts val="0"/>
              </a:spcAft>
            </a:pPr>
            <a:r>
              <a:rPr sz="900" b="0" i="0">
                <a:solidFill>
                  <a:srgbClr val="2D3A3A"/>
                </a:solidFill>
                <a:latin typeface="Consolas"/>
              </a:rPr>
              <a:t>      setSelectedQuantity(0);</a:t>
            </a:r>
          </a:p>
          <a:p>
            <a:pPr>
              <a:spcBef>
                <a:spcPts val="0"/>
              </a:spcBef>
              <a:spcAft>
                <a:spcPts val="0"/>
              </a:spcAft>
            </a:pPr>
            <a:r>
              <a:rPr sz="900" b="0" i="0">
                <a:solidFill>
                  <a:srgbClr val="2D3A3A"/>
                </a:solidFill>
                <a:latin typeface="Consolas"/>
              </a:rPr>
              <a:t>    } catch (error) {</a:t>
            </a:r>
          </a:p>
          <a:p>
            <a:pPr>
              <a:spcBef>
                <a:spcPts val="0"/>
              </a:spcBef>
              <a:spcAft>
                <a:spcPts val="0"/>
              </a:spcAft>
            </a:pPr>
            <a:r>
              <a:rPr sz="900" b="0" i="0">
                <a:solidFill>
                  <a:srgbClr val="2D3A3A"/>
                </a:solidFill>
                <a:latin typeface="Consolas"/>
              </a:rPr>
              <a:t>// ...</a:t>
            </a:r>
          </a:p>
        </p:txBody>
      </p:sp>
      <p:sp>
        <p:nvSpPr>
          <p:cNvPr id="7" name="TextBox 6"/>
          <p:cNvSpPr txBox="1"/>
          <p:nvPr/>
        </p:nvSpPr>
        <p:spPr>
          <a:xfrm>
            <a:off x="9326880" y="1280160"/>
            <a:ext cx="8046720" cy="1027785"/>
          </a:xfrm>
          <a:prstGeom prst="rect">
            <a:avLst/>
          </a:prstGeom>
          <a:noFill/>
        </p:spPr>
        <p:txBody>
          <a:bodyPr wrap="square">
            <a:spAutoFit/>
          </a:bodyPr>
          <a:lstStyle/>
          <a:p>
            <a:pPr>
              <a:spcBef>
                <a:spcPts val="200"/>
              </a:spcBef>
              <a:spcAft>
                <a:spcPts val="200"/>
              </a:spcAft>
            </a:pPr>
            <a:r>
              <a:rPr sz="1200" b="0" i="0">
                <a:solidFill>
                  <a:srgbClr val="2D3A3A"/>
                </a:solidFill>
                <a:latin typeface="Calibri"/>
              </a:rPr>
              <a:t>• Logique </a:t>
            </a:r>
            <a:r>
              <a:rPr sz="1200" b="1" i="0">
                <a:solidFill>
                  <a:srgbClr val="2D3A3A"/>
                </a:solidFill>
                <a:latin typeface="Calibri"/>
              </a:rPr>
              <a:t>add/update/delete</a:t>
            </a:r>
            <a:r>
              <a:rPr sz="1200" b="0" i="0">
                <a:solidFill>
                  <a:srgbClr val="2D3A3A"/>
                </a:solidFill>
                <a:latin typeface="Calibri"/>
              </a:rPr>
              <a:t> déterminée par l'état de la contribution existante</a:t>
            </a:r>
          </a:p>
          <a:p>
            <a:pPr>
              <a:spcBef>
                <a:spcPts val="200"/>
              </a:spcBef>
              <a:spcAft>
                <a:spcPts val="200"/>
              </a:spcAft>
            </a:pPr>
            <a:r>
              <a:rPr sz="1200" b="0" i="0">
                <a:solidFill>
                  <a:srgbClr val="2D3A3A"/>
                </a:solidFill>
                <a:latin typeface="Calibri"/>
              </a:rPr>
              <a:t>• </a:t>
            </a:r>
            <a:r>
              <a:rPr sz="1200" b="0" i="0">
                <a:solidFill>
                  <a:srgbClr val="2D3A3A"/>
                </a:solidFill>
                <a:latin typeface="Consolas"/>
              </a:rPr>
              <a:t>selectedQuantity</a:t>
            </a:r>
            <a:r>
              <a:rPr sz="1200" b="0" i="0">
                <a:solidFill>
                  <a:srgbClr val="2D3A3A"/>
                </a:solidFill>
                <a:latin typeface="Calibri"/>
              </a:rPr>
              <a:t> = delta par rapport à la contribution actuelle</a:t>
            </a:r>
          </a:p>
          <a:p>
            <a:pPr>
              <a:spcBef>
                <a:spcPts val="200"/>
              </a:spcBef>
              <a:spcAft>
                <a:spcPts val="200"/>
              </a:spcAft>
            </a:pPr>
            <a:r>
              <a:rPr sz="1200" b="0" i="0">
                <a:solidFill>
                  <a:srgbClr val="2D3A3A"/>
                </a:solidFill>
                <a:latin typeface="Calibri"/>
              </a:rPr>
              <a:t>• Bouton Validate visible uniquement quand un delta est sélectionné</a:t>
            </a:r>
          </a:p>
        </p:txBody>
      </p:sp>
      <p:sp>
        <p:nvSpPr>
          <p:cNvPr id="8" name="TextBox 7"/>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593757">
            <a:off x="-7871390" y="-2369047"/>
            <a:ext cx="21312191" cy="15025095"/>
          </a:xfrm>
          <a:custGeom>
            <a:avLst/>
            <a:gdLst/>
            <a:ahLst/>
            <a:cxnLst/>
            <a:rect l="l" t="t" r="r" b="b"/>
            <a:pathLst>
              <a:path w="21312191" h="15025095">
                <a:moveTo>
                  <a:pt x="0" y="0"/>
                </a:moveTo>
                <a:lnTo>
                  <a:pt x="21312192" y="0"/>
                </a:lnTo>
                <a:lnTo>
                  <a:pt x="21312192" y="15025094"/>
                </a:lnTo>
                <a:lnTo>
                  <a:pt x="0" y="15025094"/>
                </a:lnTo>
                <a:lnTo>
                  <a:pt x="0" y="0"/>
                </a:lnTo>
                <a:close/>
              </a:path>
            </a:pathLst>
          </a:custGeom>
          <a:blipFill>
            <a:blip/>
            <a:stretch>
              <a:fillRect/>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Architecture front-end Clean Architecture</a:t>
            </a:r>
          </a:p>
        </p:txBody>
      </p:sp>
      <p:sp>
        <p:nvSpPr>
          <p:cNvPr id="6" name="TextBox 5"/>
          <p:cNvSpPr txBox="1"/>
          <p:nvPr/>
        </p:nvSpPr>
        <p:spPr>
          <a:xfrm>
            <a:off x="731520" y="1280160"/>
            <a:ext cx="8046720" cy="2660904"/>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Le token est injecté via callback getToken dans les providers</a:t>
            </a:r>
          </a:p>
          <a:p>
            <a:pPr>
              <a:spcBef>
                <a:spcPts val="0"/>
              </a:spcBef>
              <a:spcAft>
                <a:spcPts val="0"/>
              </a:spcAft>
            </a:pPr>
            <a:r>
              <a:rPr sz="900" b="0" i="0">
                <a:solidFill>
                  <a:srgbClr val="2D3A3A"/>
                </a:solidFill>
                <a:latin typeface="Consolas"/>
              </a:rPr>
              <a:t>async createContribution(data: ContributionCreationRequest): Promise&lt;Contribution&gt; {</a:t>
            </a:r>
          </a:p>
          <a:p>
            <a:pPr>
              <a:spcBef>
                <a:spcPts val="0"/>
              </a:spcBef>
              <a:spcAft>
                <a:spcPts val="0"/>
              </a:spcAft>
            </a:pPr>
            <a:r>
              <a:rPr sz="900" b="0" i="0">
                <a:solidFill>
                  <a:srgbClr val="2D3A3A"/>
                </a:solidFill>
                <a:latin typeface="Consolas"/>
              </a:rPr>
              <a:t>  const token = this.getToken();</a:t>
            </a:r>
          </a:p>
          <a:p>
            <a:pPr>
              <a:spcBef>
                <a:spcPts val="0"/>
              </a:spcBef>
              <a:spcAft>
                <a:spcPts val="0"/>
              </a:spcAft>
            </a:pPr>
            <a:r>
              <a:rPr sz="900" b="0" i="0">
                <a:solidFill>
                  <a:srgbClr val="2D3A3A"/>
                </a:solidFill>
                <a:latin typeface="Consolas"/>
              </a:rPr>
              <a:t>  if (!token) throw new Error('Authentication required');</a:t>
            </a:r>
          </a:p>
          <a:p>
            <a:pPr>
              <a:spcBef>
                <a:spcPts val="0"/>
              </a:spcBef>
              <a:spcAft>
                <a:spcPts val="0"/>
              </a:spcAft>
            </a:pPr>
            <a:r>
              <a:rPr sz="900" b="0" i="0">
                <a:solidFill>
                  <a:srgbClr val="2D3A3A"/>
                </a:solidFill>
                <a:latin typeface="Consolas"/>
              </a:rPr>
              <a:t>  const response = await fetch(`${this.baseUrl}/...`, {</a:t>
            </a:r>
          </a:p>
          <a:p>
            <a:pPr>
              <a:spcBef>
                <a:spcPts val="0"/>
              </a:spcBef>
              <a:spcAft>
                <a:spcPts val="0"/>
              </a:spcAft>
            </a:pPr>
            <a:r>
              <a:rPr sz="900" b="0" i="0">
                <a:solidFill>
                  <a:srgbClr val="2D3A3A"/>
                </a:solidFill>
                <a:latin typeface="Consolas"/>
              </a:rPr>
              <a:t>    method: 'POST',</a:t>
            </a:r>
          </a:p>
          <a:p>
            <a:pPr>
              <a:spcBef>
                <a:spcPts val="0"/>
              </a:spcBef>
              <a:spcAft>
                <a:spcPts val="0"/>
              </a:spcAft>
            </a:pPr>
            <a:r>
              <a:rPr sz="900" b="0" i="0">
                <a:solidFill>
                  <a:srgbClr val="2D3A3A"/>
                </a:solidFill>
                <a:latin typeface="Consolas"/>
              </a:rPr>
              <a:t>    headers: {</a:t>
            </a:r>
          </a:p>
          <a:p>
            <a:pPr>
              <a:spcBef>
                <a:spcPts val="0"/>
              </a:spcBef>
              <a:spcAft>
                <a:spcPts val="0"/>
              </a:spcAft>
            </a:pPr>
            <a:r>
              <a:rPr sz="900" b="0" i="0">
                <a:solidFill>
                  <a:srgbClr val="2D3A3A"/>
                </a:solidFill>
                <a:latin typeface="Consolas"/>
              </a:rPr>
              <a:t>      'Content-Type': 'application/json',</a:t>
            </a:r>
          </a:p>
          <a:p>
            <a:pPr>
              <a:spcBef>
                <a:spcPts val="0"/>
              </a:spcBef>
              <a:spcAft>
                <a:spcPts val="0"/>
              </a:spcAft>
            </a:pPr>
            <a:r>
              <a:rPr sz="900" b="0" i="0">
                <a:solidFill>
                  <a:srgbClr val="2D3A3A"/>
                </a:solidFill>
                <a:latin typeface="Consolas"/>
              </a:rPr>
              <a:t>      Authorization: `Bearer ${token}`,</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body: JSON.stringify({ quantity: data.quantity }),</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 ...</a:t>
            </a:r>
          </a:p>
          <a:p>
            <a:pPr>
              <a:spcBef>
                <a:spcPts val="0"/>
              </a:spcBef>
              <a:spcAft>
                <a:spcPts val="0"/>
              </a:spcAft>
            </a:pPr>
            <a:r>
              <a:rPr sz="900" b="0" i="0">
                <a:solidFill>
                  <a:srgbClr val="2D3A3A"/>
                </a:solidFill>
                <a:latin typeface="Consolas"/>
              </a:rPr>
              <a:t>}</a:t>
            </a:r>
          </a:p>
        </p:txBody>
      </p:sp>
      <p:sp>
        <p:nvSpPr>
          <p:cNvPr id="7" name="TextBox 6"/>
          <p:cNvSpPr txBox="1"/>
          <p:nvPr/>
        </p:nvSpPr>
        <p:spPr>
          <a:xfrm>
            <a:off x="9326880" y="1280160"/>
            <a:ext cx="8046720" cy="4381804"/>
          </a:xfrm>
          <a:prstGeom prst="rect">
            <a:avLst/>
          </a:prstGeom>
          <a:noFill/>
        </p:spPr>
        <p:txBody>
          <a:bodyPr wrap="square">
            <a:spAutoFit/>
          </a:bodyPr>
          <a:lstStyle/>
          <a:p>
            <a:pPr>
              <a:spcBef>
                <a:spcPts val="800"/>
              </a:spcBef>
              <a:spcAft>
                <a:spcPts val="200"/>
              </a:spcAft>
            </a:pPr>
            <a:r>
              <a:rPr sz="1300" b="1" i="0">
                <a:solidFill>
                  <a:srgbClr val="3D5A6C"/>
                </a:solidFill>
                <a:latin typeface="Calibri"/>
              </a:rPr>
              <a:t>Inversion de dépendance côté front-end</a:t>
            </a:r>
          </a:p>
          <a:p>
            <a:pPr>
              <a:spcBef>
                <a:spcPts val="200"/>
              </a:spcBef>
              <a:spcAft>
                <a:spcPts val="200"/>
              </a:spcAft>
            </a:pPr>
            <a:r>
              <a:rPr sz="1200" b="0" i="0">
                <a:solidFill>
                  <a:srgbClr val="2D3A3A"/>
                </a:solidFill>
                <a:latin typeface="Calibri"/>
              </a:rPr>
              <a:t>[Composants React] → [Context/Provider] → [Use Cases] → [Repository (interface)] → [HttpRepository (fetch)]</a:t>
            </a:r>
          </a:p>
          <a:p>
            <a:pPr>
              <a:spcBef>
                <a:spcPts val="800"/>
              </a:spcBef>
              <a:spcAft>
                <a:spcPts val="200"/>
              </a:spcAft>
            </a:pPr>
            <a:r>
              <a:rPr sz="1300" b="1" i="0">
                <a:solidFill>
                  <a:srgbClr val="3D5A6C"/>
                </a:solidFill>
                <a:latin typeface="Calibri"/>
              </a:rPr>
              <a:t>Organisation par features</a:t>
            </a:r>
          </a:p>
          <a:p>
            <a:pPr>
              <a:spcBef>
                <a:spcPts val="200"/>
              </a:spcBef>
              <a:spcAft>
                <a:spcPts val="200"/>
              </a:spcAft>
            </a:pPr>
            <a:r>
              <a:rPr sz="1200" b="0" i="0">
                <a:solidFill>
                  <a:srgbClr val="2D3A3A"/>
                </a:solidFill>
                <a:latin typeface="Calibri"/>
              </a:rPr>
              <a:t>src/features/</a:t>
            </a:r>
          </a:p>
          <a:p>
            <a:pPr>
              <a:spcBef>
                <a:spcPts val="200"/>
              </a:spcBef>
              <a:spcAft>
                <a:spcPts val="200"/>
              </a:spcAft>
            </a:pPr>
            <a:r>
              <a:rPr sz="1200" b="0" i="0">
                <a:solidFill>
                  <a:srgbClr val="2D3A3A"/>
                </a:solidFill>
                <a:latin typeface="Calibri"/>
              </a:rPr>
              <a:t>├── auth/           → AuthProvider, AuthRepository, LoginModal</a:t>
            </a:r>
          </a:p>
          <a:p>
            <a:pPr>
              <a:spcBef>
                <a:spcPts val="200"/>
              </a:spcBef>
              <a:spcAft>
                <a:spcPts val="200"/>
              </a:spcAft>
            </a:pPr>
            <a:r>
              <a:rPr sz="1200" b="0" i="0">
                <a:solidFill>
                  <a:srgbClr val="2D3A3A"/>
                </a:solidFill>
                <a:latin typeface="Calibri"/>
              </a:rPr>
              <a:t>├── events/         → EventProvider, EventCard, CreateEventForm</a:t>
            </a:r>
          </a:p>
          <a:p>
            <a:pPr>
              <a:spcBef>
                <a:spcPts val="200"/>
              </a:spcBef>
              <a:spcAft>
                <a:spcPts val="200"/>
              </a:spcAft>
            </a:pPr>
            <a:r>
              <a:rPr sz="1200" b="0" i="0">
                <a:solidFill>
                  <a:srgbClr val="2D3A3A"/>
                </a:solidFill>
                <a:latin typeface="Calibri"/>
              </a:rPr>
              <a:t>├── participants/   → ParticipantProvider, ParticipantList</a:t>
            </a:r>
          </a:p>
          <a:p>
            <a:pPr>
              <a:spcBef>
                <a:spcPts val="200"/>
              </a:spcBef>
              <a:spcAft>
                <a:spcPts val="200"/>
              </a:spcAft>
            </a:pPr>
            <a:r>
              <a:rPr sz="1200" b="0" i="0">
                <a:solidFill>
                  <a:srgbClr val="2D3A3A"/>
                </a:solidFill>
                <a:latin typeface="Calibri"/>
              </a:rPr>
              <a:t>├── resources/      → ResourceProvider, ResourceItem</a:t>
            </a:r>
          </a:p>
          <a:p>
            <a:pPr>
              <a:spcBef>
                <a:spcPts val="200"/>
              </a:spcBef>
              <a:spcAft>
                <a:spcPts val="200"/>
              </a:spcAft>
            </a:pPr>
            <a:r>
              <a:rPr sz="1200" b="0" i="0">
                <a:solidFill>
                  <a:srgbClr val="2D3A3A"/>
                </a:solidFill>
                <a:latin typeface="Calibri"/>
              </a:rPr>
              <a:t>└── contributions/  → ContributionProvider, HttpContributionRepository</a:t>
            </a:r>
          </a:p>
          <a:p>
            <a:pPr>
              <a:spcBef>
                <a:spcPts val="800"/>
              </a:spcBef>
              <a:spcAft>
                <a:spcPts val="200"/>
              </a:spcAft>
            </a:pPr>
            <a:r>
              <a:rPr sz="1300" b="1" i="0">
                <a:solidFill>
                  <a:srgbClr val="3D5A6C"/>
                </a:solidFill>
                <a:latin typeface="Calibri"/>
              </a:rPr>
              <a:t>Injection du token JWT</a:t>
            </a:r>
          </a:p>
          <a:p>
            <a:pPr>
              <a:spcBef>
                <a:spcPts val="200"/>
              </a:spcBef>
              <a:spcAft>
                <a:spcPts val="200"/>
              </a:spcAft>
            </a:pPr>
            <a:r>
              <a:rPr sz="1200" b="0" i="0">
                <a:solidFill>
                  <a:srgbClr val="2D3A3A"/>
                </a:solidFill>
                <a:latin typeface="Calibri"/>
              </a:rPr>
              <a:t>• Même principe d'architecture que le back-end : cohérence architecturale</a:t>
            </a:r>
          </a:p>
          <a:p>
            <a:pPr>
              <a:spcBef>
                <a:spcPts val="200"/>
              </a:spcBef>
              <a:spcAft>
                <a:spcPts val="200"/>
              </a:spcAft>
            </a:pPr>
            <a:r>
              <a:rPr sz="1200" b="0" i="0">
                <a:solidFill>
                  <a:srgbClr val="2D3A3A"/>
                </a:solidFill>
                <a:latin typeface="Calibri"/>
              </a:rPr>
              <a:t>• Chaque module isolé dans </a:t>
            </a:r>
            <a:r>
              <a:rPr sz="1200" b="0" i="0">
                <a:solidFill>
                  <a:srgbClr val="2D3A3A"/>
                </a:solidFill>
                <a:latin typeface="Consolas"/>
              </a:rPr>
              <a:t>src/features/</a:t>
            </a:r>
            <a:r>
              <a:rPr sz="1200" b="0" i="0">
                <a:solidFill>
                  <a:srgbClr val="2D3A3A"/>
                </a:solidFill>
                <a:latin typeface="Calibri"/>
              </a:rPr>
              <a:t> avec composants, hooks, services, types</a:t>
            </a:r>
          </a:p>
          <a:p>
            <a:pPr>
              <a:spcBef>
                <a:spcPts val="200"/>
              </a:spcBef>
              <a:spcAft>
                <a:spcPts val="200"/>
              </a:spcAft>
            </a:pPr>
            <a:r>
              <a:rPr sz="1200" b="0" i="0">
                <a:solidFill>
                  <a:srgbClr val="2D3A3A"/>
                </a:solidFill>
                <a:latin typeface="Calibri"/>
              </a:rPr>
              <a:t>• API native </a:t>
            </a:r>
            <a:r>
              <a:rPr sz="1200" b="0" i="0">
                <a:solidFill>
                  <a:srgbClr val="2D3A3A"/>
                </a:solidFill>
                <a:latin typeface="Consolas"/>
              </a:rPr>
              <a:t>fetch</a:t>
            </a:r>
            <a:r>
              <a:rPr sz="1200" b="0" i="0">
                <a:solidFill>
                  <a:srgbClr val="2D3A3A"/>
                </a:solidFill>
                <a:latin typeface="Calibri"/>
              </a:rPr>
              <a:t> — pas d'Axios, pas de dépendance tierce</a:t>
            </a:r>
          </a:p>
        </p:txBody>
      </p:sp>
      <p:sp>
        <p:nvSpPr>
          <p:cNvPr id="8" name="TextBox 7"/>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2B5C73"/>
        </a:solidFill>
        <a:effectLst/>
      </p:bgPr>
    </p:bg>
    <p:spTree>
      <p:nvGrpSpPr>
        <p:cNvPr id="1" name=""/>
        <p:cNvGrpSpPr/>
        <p:nvPr/>
      </p:nvGrpSpPr>
      <p:grpSpPr>
        <a:xfrm>
          <a:off x="0" y="0"/>
          <a:ext cx="0" cy="0"/>
          <a:chOff x="0" y="0"/>
          <a:chExt cx="0" cy="0"/>
        </a:xfrm>
      </p:grpSpPr>
      <p:sp>
        <p:nvSpPr>
          <p:cNvPr id="2" name="TextBox 2"/>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p:nvSpPr>
        <p:spPr>
          <a:xfrm>
            <a:off x="-810449" y="4666508"/>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p:nvSpPr>
        <p:spPr>
          <a:xfrm>
            <a:off x="-658049" y="4818908"/>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extBox 4"/>
          <p:cNvSpPr txBox="1"/>
          <p:nvPr/>
        </p:nvSpPr>
        <p:spPr>
          <a:xfrm>
            <a:off x="1828800" y="3200400"/>
            <a:ext cx="14630400" cy="3657600"/>
          </a:xfrm>
          <a:prstGeom prst="rect">
            <a:avLst/>
          </a:prstGeom>
          <a:noFill/>
        </p:spPr>
        <p:txBody>
          <a:bodyPr wrap="square">
            <a:spAutoFit/>
          </a:bodyPr>
          <a:lstStyle/>
          <a:p>
            <a:pPr algn="ctr"/>
            <a:r>
              <a:rPr sz="2800" b="1" i="0">
                <a:solidFill>
                  <a:srgbClr val="FFFFFF"/>
                </a:solidFill>
                <a:latin typeface="Calibri"/>
              </a:rPr>
              <a:t>Réalisations — Composants métier</a:t>
            </a:r>
          </a:p>
        </p:txBody>
      </p:sp>
      <p:sp>
        <p:nvSpPr>
          <p:cNvPr id="6" name="TextBox 5"/>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853535">
            <a:off x="6056554" y="-2160610"/>
            <a:ext cx="20810414" cy="21504485"/>
          </a:xfrm>
          <a:custGeom>
            <a:avLst/>
            <a:gdLst/>
            <a:ahLst/>
            <a:cxnLst/>
            <a:rect l="l" t="t" r="r" b="b"/>
            <a:pathLst>
              <a:path w="20810414" h="21504485">
                <a:moveTo>
                  <a:pt x="0" y="0"/>
                </a:moveTo>
                <a:lnTo>
                  <a:pt x="20810413" y="0"/>
                </a:lnTo>
                <a:lnTo>
                  <a:pt x="20810413" y="21504486"/>
                </a:lnTo>
                <a:lnTo>
                  <a:pt x="0" y="21504486"/>
                </a:lnTo>
                <a:lnTo>
                  <a:pt x="0" y="0"/>
                </a:lnTo>
                <a:close/>
              </a:path>
            </a:pathLst>
          </a:custGeom>
          <a:blipFill>
            <a:blip/>
            <a:stretch>
              <a:fillRect l="-1203" t="-3998" r="-1203"/>
            </a:stretch>
          </a:blipFill>
        </p:spPr>
        <p:txBody>
          <a:bodyPr/>
          <a:lstStyle/>
          <a:p>
            <a:endParaRPr lang="en-US" dirty="0"/>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Use Case : CreateEventUseCase</a:t>
            </a:r>
          </a:p>
        </p:txBody>
      </p:sp>
      <p:sp>
        <p:nvSpPr>
          <p:cNvPr id="6" name="TextBox 5"/>
          <p:cNvSpPr txBox="1"/>
          <p:nvPr/>
        </p:nvSpPr>
        <p:spPr>
          <a:xfrm>
            <a:off x="731520" y="1280160"/>
            <a:ext cx="8046720" cy="1027785"/>
          </a:xfrm>
          <a:prstGeom prst="rect">
            <a:avLst/>
          </a:prstGeom>
          <a:noFill/>
        </p:spPr>
        <p:txBody>
          <a:bodyPr wrap="square">
            <a:spAutoFit/>
          </a:bodyPr>
          <a:lstStyle/>
          <a:p>
            <a:pPr>
              <a:spcBef>
                <a:spcPts val="200"/>
              </a:spcBef>
              <a:spcAft>
                <a:spcPts val="200"/>
              </a:spcAft>
            </a:pPr>
            <a:r>
              <a:rPr sz="1200" b="0" i="0">
                <a:solidFill>
                  <a:srgbClr val="2D3A3A"/>
                </a:solidFill>
                <a:latin typeface="Calibri"/>
              </a:rPr>
              <a:t>• Dépendance sur les </a:t>
            </a:r>
            <a:r>
              <a:rPr sz="1200" b="1" i="0">
                <a:solidFill>
                  <a:srgbClr val="2D3A3A"/>
                </a:solidFill>
                <a:latin typeface="Calibri"/>
              </a:rPr>
              <a:t>ports</a:t>
            </a:r>
            <a:r>
              <a:rPr sz="1200" b="0" i="0">
                <a:solidFill>
                  <a:srgbClr val="2D3A3A"/>
                </a:solidFill>
                <a:latin typeface="Calibri"/>
              </a:rPr>
              <a:t> (interfaces), jamais sur les implémentations SQL</a:t>
            </a:r>
          </a:p>
          <a:p>
            <a:pPr>
              <a:spcBef>
                <a:spcPts val="200"/>
              </a:spcBef>
              <a:spcAft>
                <a:spcPts val="200"/>
              </a:spcAft>
            </a:pPr>
            <a:r>
              <a:rPr sz="1200" b="0" i="0">
                <a:solidFill>
                  <a:srgbClr val="2D3A3A"/>
                </a:solidFill>
                <a:latin typeface="Calibri"/>
              </a:rPr>
              <a:t>• </a:t>
            </a:r>
            <a:r>
              <a:rPr sz="1200" b="0" i="0">
                <a:solidFill>
                  <a:srgbClr val="2D3A3A"/>
                </a:solidFill>
                <a:latin typeface="Consolas"/>
              </a:rPr>
              <a:t>flatMap</a:t>
            </a:r>
            <a:r>
              <a:rPr sz="1200" b="0" i="0">
                <a:solidFill>
                  <a:srgbClr val="2D3A3A"/>
                </a:solidFill>
                <a:latin typeface="Calibri"/>
              </a:rPr>
              <a:t> : le participant n'est créé que si l'événement a réussi</a:t>
            </a:r>
          </a:p>
          <a:p>
            <a:pPr>
              <a:spcBef>
                <a:spcPts val="200"/>
              </a:spcBef>
              <a:spcAft>
                <a:spcPts val="200"/>
              </a:spcAft>
            </a:pPr>
            <a:r>
              <a:rPr sz="1200" b="0" i="0">
                <a:solidFill>
                  <a:srgbClr val="2D3A3A"/>
                </a:solidFill>
                <a:latin typeface="Calibri"/>
              </a:rPr>
              <a:t>• </a:t>
            </a:r>
            <a:r>
              <a:rPr sz="1200" b="1" i="0">
                <a:solidFill>
                  <a:srgbClr val="2D3A3A"/>
                </a:solidFill>
                <a:latin typeface="Calibri"/>
              </a:rPr>
              <a:t>Règle métier encapsulée</a:t>
            </a:r>
            <a:r>
              <a:rPr sz="1200" b="0" i="0">
                <a:solidFill>
                  <a:srgbClr val="2D3A3A"/>
                </a:solidFill>
                <a:latin typeface="Calibri"/>
              </a:rPr>
              <a:t> : "le créateur est automatiquement participant confirmé"</a:t>
            </a:r>
          </a:p>
        </p:txBody>
      </p:sp>
      <p:sp>
        <p:nvSpPr>
          <p:cNvPr id="7" name="TextBox 6"/>
          <p:cNvSpPr txBox="1"/>
          <p:nvPr/>
        </p:nvSpPr>
        <p:spPr>
          <a:xfrm>
            <a:off x="9326880" y="1280160"/>
            <a:ext cx="8046720" cy="3877056"/>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domain/event/create/CreateEventUseCase.kt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class CreateEventUseCase(</a:t>
            </a:r>
          </a:p>
          <a:p>
            <a:pPr>
              <a:spcBef>
                <a:spcPts val="0"/>
              </a:spcBef>
              <a:spcAft>
                <a:spcPts val="0"/>
              </a:spcAft>
            </a:pPr>
            <a:r>
              <a:rPr sz="900" b="0" i="0">
                <a:solidFill>
                  <a:srgbClr val="2D3A3A"/>
                </a:solidFill>
                <a:latin typeface="Consolas"/>
              </a:rPr>
              <a:t>  private val eventRepository: EventRepository,</a:t>
            </a:r>
          </a:p>
          <a:p>
            <a:pPr>
              <a:spcBef>
                <a:spcPts val="0"/>
              </a:spcBef>
              <a:spcAft>
                <a:spcPts val="0"/>
              </a:spcAft>
            </a:pPr>
            <a:r>
              <a:rPr sz="900" b="0" i="0">
                <a:solidFill>
                  <a:srgbClr val="2D3A3A"/>
                </a:solidFill>
                <a:latin typeface="Consolas"/>
              </a:rPr>
              <a:t>  private val participantRepository: ParticipantRepository,</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fun create(request: CreateEventRequest): Either&lt;CreateEventException, Event&gt; =</a:t>
            </a:r>
          </a:p>
          <a:p>
            <a:pPr>
              <a:spcBef>
                <a:spcPts val="0"/>
              </a:spcBef>
              <a:spcAft>
                <a:spcPts val="0"/>
              </a:spcAft>
            </a:pPr>
            <a:r>
              <a:rPr sz="900" b="0" i="0">
                <a:solidFill>
                  <a:srgbClr val="2D3A3A"/>
                </a:solidFill>
                <a:latin typeface="Consolas"/>
              </a:rPr>
              <a:t>    eventRepository.create(request)</a:t>
            </a:r>
          </a:p>
          <a:p>
            <a:pPr>
              <a:spcBef>
                <a:spcPts val="0"/>
              </a:spcBef>
              <a:spcAft>
                <a:spcPts val="0"/>
              </a:spcAft>
            </a:pPr>
            <a:r>
              <a:rPr sz="900" b="0" i="0">
                <a:solidFill>
                  <a:srgbClr val="2D3A3A"/>
                </a:solidFill>
                <a:latin typeface="Consolas"/>
              </a:rPr>
              <a:t>      .mapLeft { CreateEventException(request, it) }</a:t>
            </a:r>
          </a:p>
          <a:p>
            <a:pPr>
              <a:spcBef>
                <a:spcPts val="0"/>
              </a:spcBef>
              <a:spcAft>
                <a:spcPts val="0"/>
              </a:spcAft>
            </a:pPr>
            <a:r>
              <a:rPr sz="900" b="0" i="0">
                <a:solidFill>
                  <a:srgbClr val="2D3A3A"/>
                </a:solidFill>
                <a:latin typeface="Consolas"/>
              </a:rPr>
              <a:t>      .flatMap { event -&gt;</a:t>
            </a:r>
          </a:p>
          <a:p>
            <a:pPr>
              <a:spcBef>
                <a:spcPts val="0"/>
              </a:spcBef>
              <a:spcAft>
                <a:spcPts val="0"/>
              </a:spcAft>
            </a:pPr>
            <a:r>
              <a:rPr sz="900" b="0" i="0">
                <a:solidFill>
                  <a:srgbClr val="2D3A3A"/>
                </a:solidFill>
                <a:latin typeface="Consolas"/>
              </a:rPr>
              <a:t>        participantRepository.create(</a:t>
            </a:r>
          </a:p>
          <a:p>
            <a:pPr>
              <a:spcBef>
                <a:spcPts val="0"/>
              </a:spcBef>
              <a:spcAft>
                <a:spcPts val="0"/>
              </a:spcAft>
            </a:pPr>
            <a:r>
              <a:rPr sz="900" b="0" i="0">
                <a:solidFill>
                  <a:srgbClr val="2D3A3A"/>
                </a:solidFill>
                <a:latin typeface="Consolas"/>
              </a:rPr>
              <a:t>          CreateParticipantRequest(</a:t>
            </a:r>
          </a:p>
          <a:p>
            <a:pPr>
              <a:spcBef>
                <a:spcPts val="0"/>
              </a:spcBef>
              <a:spcAft>
                <a:spcPts val="0"/>
              </a:spcAft>
            </a:pPr>
            <a:r>
              <a:rPr sz="900" b="0" i="0">
                <a:solidFill>
                  <a:srgbClr val="2D3A3A"/>
                </a:solidFill>
                <a:latin typeface="Consolas"/>
              </a:rPr>
              <a:t>            userEmail = request.creator.toString(),</a:t>
            </a:r>
          </a:p>
          <a:p>
            <a:pPr>
              <a:spcBef>
                <a:spcPts val="0"/>
              </a:spcBef>
              <a:spcAft>
                <a:spcPts val="0"/>
              </a:spcAft>
            </a:pPr>
            <a:r>
              <a:rPr sz="900" b="0" i="0">
                <a:solidFill>
                  <a:srgbClr val="2D3A3A"/>
                </a:solidFill>
                <a:latin typeface="Consolas"/>
              </a:rPr>
              <a:t>            eventId = event.identifier,</a:t>
            </a:r>
          </a:p>
          <a:p>
            <a:pPr>
              <a:spcBef>
                <a:spcPts val="0"/>
              </a:spcBef>
              <a:spcAft>
                <a:spcPts val="0"/>
              </a:spcAft>
            </a:pPr>
            <a:r>
              <a:rPr sz="900" b="0" i="0">
                <a:solidFill>
                  <a:srgbClr val="2D3A3A"/>
                </a:solidFill>
                <a:latin typeface="Consolas"/>
              </a:rPr>
              <a:t>            status = ParticipantStatus.CONFIRMED,</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.map { event }</a:t>
            </a:r>
          </a:p>
          <a:p>
            <a:pPr>
              <a:spcBef>
                <a:spcPts val="0"/>
              </a:spcBef>
              <a:spcAft>
                <a:spcPts val="0"/>
              </a:spcAft>
            </a:pPr>
            <a:r>
              <a:rPr sz="900" b="0" i="0">
                <a:solidFill>
                  <a:srgbClr val="2D3A3A"/>
                </a:solidFill>
                <a:latin typeface="Consolas"/>
              </a:rPr>
              <a:t>          .mapLeft { CreateEventException(request, it) }</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a:t>
            </a:r>
          </a:p>
        </p:txBody>
      </p:sp>
      <p:sp>
        <p:nvSpPr>
          <p:cNvPr id="8" name="TextBox 7"/>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593757">
            <a:off x="-7871390" y="-2369047"/>
            <a:ext cx="21312191" cy="15025095"/>
          </a:xfrm>
          <a:custGeom>
            <a:avLst/>
            <a:gdLst/>
            <a:ahLst/>
            <a:cxnLst/>
            <a:rect l="l" t="t" r="r" b="b"/>
            <a:pathLst>
              <a:path w="21312191" h="15025095">
                <a:moveTo>
                  <a:pt x="0" y="0"/>
                </a:moveTo>
                <a:lnTo>
                  <a:pt x="21312192" y="0"/>
                </a:lnTo>
                <a:lnTo>
                  <a:pt x="21312192" y="15025094"/>
                </a:lnTo>
                <a:lnTo>
                  <a:pt x="0" y="15025094"/>
                </a:lnTo>
                <a:lnTo>
                  <a:pt x="0" y="0"/>
                </a:lnTo>
                <a:close/>
              </a:path>
            </a:pathLst>
          </a:custGeom>
          <a:blipFill>
            <a:blip/>
            <a:stretch>
              <a:fillRect/>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Use Case : AddContributionUseCase</a:t>
            </a:r>
          </a:p>
        </p:txBody>
      </p:sp>
      <p:sp>
        <p:nvSpPr>
          <p:cNvPr id="6" name="TextBox 5"/>
          <p:cNvSpPr txBox="1"/>
          <p:nvPr/>
        </p:nvSpPr>
        <p:spPr>
          <a:xfrm>
            <a:off x="731520" y="1280160"/>
            <a:ext cx="8046720" cy="3182112"/>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domain/contribution/add/AddContributionUseCase.kt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class AddContributionUseCase(</a:t>
            </a:r>
          </a:p>
          <a:p>
            <a:pPr>
              <a:spcBef>
                <a:spcPts val="0"/>
              </a:spcBef>
              <a:spcAft>
                <a:spcPts val="0"/>
              </a:spcAft>
            </a:pPr>
            <a:r>
              <a:rPr sz="900" b="0" i="0">
                <a:solidFill>
                  <a:srgbClr val="2D3A3A"/>
                </a:solidFill>
                <a:latin typeface="Consolas"/>
              </a:rPr>
              <a:t>  private val contributionRepository: ContributionRepository,</a:t>
            </a:r>
          </a:p>
          <a:p>
            <a:pPr>
              <a:spcBef>
                <a:spcPts val="0"/>
              </a:spcBef>
              <a:spcAft>
                <a:spcPts val="0"/>
              </a:spcAft>
            </a:pPr>
            <a:r>
              <a:rPr sz="900" b="0" i="0">
                <a:solidFill>
                  <a:srgbClr val="2D3A3A"/>
                </a:solidFill>
                <a:latin typeface="Consolas"/>
              </a:rPr>
              <a:t>  private val participantRepository: ParticipantRepository,</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fun execute(request: AddContributionRequest): Either&lt;AddContributionException, Contribution&gt; =</a:t>
            </a:r>
          </a:p>
          <a:p>
            <a:pPr>
              <a:spcBef>
                <a:spcPts val="0"/>
              </a:spcBef>
              <a:spcAft>
                <a:spcPts val="0"/>
              </a:spcAft>
            </a:pPr>
            <a:r>
              <a:rPr sz="900" b="0" i="0">
                <a:solidFill>
                  <a:srgbClr val="2D3A3A"/>
                </a:solidFill>
                <a:latin typeface="Consolas"/>
              </a:rPr>
              <a:t>    participantRepository.findOrCreate(request.userEmail, request.eventId)</a:t>
            </a:r>
          </a:p>
          <a:p>
            <a:pPr>
              <a:spcBef>
                <a:spcPts val="0"/>
              </a:spcBef>
              <a:spcAft>
                <a:spcPts val="0"/>
              </a:spcAft>
            </a:pPr>
            <a:r>
              <a:rPr sz="900" b="0" i="0">
                <a:solidFill>
                  <a:srgbClr val="2D3A3A"/>
                </a:solidFill>
                <a:latin typeface="Consolas"/>
              </a:rPr>
              <a:t>      .mapLeft { AddContributionException(request, it) }</a:t>
            </a:r>
          </a:p>
          <a:p>
            <a:pPr>
              <a:spcBef>
                <a:spcPts val="0"/>
              </a:spcBef>
              <a:spcAft>
                <a:spcPts val="0"/>
              </a:spcAft>
            </a:pPr>
            <a:r>
              <a:rPr sz="900" b="0" i="0">
                <a:solidFill>
                  <a:srgbClr val="2D3A3A"/>
                </a:solidFill>
                <a:latin typeface="Consolas"/>
              </a:rPr>
              <a:t>      .flatMap { participant -&gt;</a:t>
            </a:r>
          </a:p>
          <a:p>
            <a:pPr>
              <a:spcBef>
                <a:spcPts val="0"/>
              </a:spcBef>
              <a:spcAft>
                <a:spcPts val="0"/>
              </a:spcAft>
            </a:pPr>
            <a:r>
              <a:rPr sz="900" b="0" i="0">
                <a:solidFill>
                  <a:srgbClr val="2D3A3A"/>
                </a:solidFill>
                <a:latin typeface="Consolas"/>
              </a:rPr>
              <a:t>        contributionRepository.addOrUpdate(</a:t>
            </a:r>
          </a:p>
          <a:p>
            <a:pPr>
              <a:spcBef>
                <a:spcPts val="0"/>
              </a:spcBef>
              <a:spcAft>
                <a:spcPts val="0"/>
              </a:spcAft>
            </a:pPr>
            <a:r>
              <a:rPr sz="900" b="0" i="0">
                <a:solidFill>
                  <a:srgbClr val="2D3A3A"/>
                </a:solidFill>
                <a:latin typeface="Consolas"/>
              </a:rPr>
              <a:t>          participant = participant,</a:t>
            </a:r>
          </a:p>
          <a:p>
            <a:pPr>
              <a:spcBef>
                <a:spcPts val="0"/>
              </a:spcBef>
              <a:spcAft>
                <a:spcPts val="0"/>
              </a:spcAft>
            </a:pPr>
            <a:r>
              <a:rPr sz="900" b="0" i="0">
                <a:solidFill>
                  <a:srgbClr val="2D3A3A"/>
                </a:solidFill>
                <a:latin typeface="Consolas"/>
              </a:rPr>
              <a:t>          request = request,</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.mapLeft { AddContributionException(request, it) }</a:t>
            </a:r>
          </a:p>
          <a:p>
            <a:pPr>
              <a:spcBef>
                <a:spcPts val="0"/>
              </a:spcBef>
              <a:spcAft>
                <a:spcPts val="0"/>
              </a:spcAft>
            </a:pPr>
            <a:r>
              <a:rPr sz="900" b="0" i="0">
                <a:solidFill>
                  <a:srgbClr val="2D3A3A"/>
                </a:solidFill>
                <a:latin typeface="Consolas"/>
              </a:rPr>
              <a:t>}</a:t>
            </a:r>
          </a:p>
        </p:txBody>
      </p:sp>
      <p:sp>
        <p:nvSpPr>
          <p:cNvPr id="7" name="TextBox 6"/>
          <p:cNvSpPr txBox="1"/>
          <p:nvPr/>
        </p:nvSpPr>
        <p:spPr>
          <a:xfrm>
            <a:off x="9326880" y="1280160"/>
            <a:ext cx="8046720" cy="1488643"/>
          </a:xfrm>
          <a:prstGeom prst="rect">
            <a:avLst/>
          </a:prstGeom>
          <a:noFill/>
        </p:spPr>
        <p:txBody>
          <a:bodyPr wrap="square">
            <a:spAutoFit/>
          </a:bodyPr>
          <a:lstStyle/>
          <a:p>
            <a:pPr>
              <a:spcBef>
                <a:spcPts val="800"/>
              </a:spcBef>
              <a:spcAft>
                <a:spcPts val="200"/>
              </a:spcAft>
            </a:pPr>
            <a:r>
              <a:rPr sz="1300" b="1" i="0">
                <a:solidFill>
                  <a:srgbClr val="3D5A6C"/>
                </a:solidFill>
                <a:latin typeface="Calibri"/>
              </a:rPr>
              <a:t>Chaîne fonctionnelle complète</a:t>
            </a:r>
          </a:p>
          <a:p>
            <a:pPr>
              <a:spcBef>
                <a:spcPts val="200"/>
              </a:spcBef>
              <a:spcAft>
                <a:spcPts val="200"/>
              </a:spcAft>
            </a:pPr>
            <a:r>
              <a:rPr sz="1200" b="0" i="0">
                <a:solidFill>
                  <a:srgbClr val="2D3A3A"/>
                </a:solidFill>
                <a:latin typeface="Calibri"/>
              </a:rPr>
              <a:t>• </a:t>
            </a:r>
            <a:r>
              <a:rPr sz="1200" b="1" i="0">
                <a:solidFill>
                  <a:srgbClr val="2D3A3A"/>
                </a:solidFill>
                <a:latin typeface="Calibri"/>
              </a:rPr>
              <a:t>findOrCreate</a:t>
            </a:r>
            <a:r>
              <a:rPr sz="1200" b="0" i="0">
                <a:solidFill>
                  <a:srgbClr val="2D3A3A"/>
                </a:solidFill>
                <a:latin typeface="Calibri"/>
              </a:rPr>
              <a:t> : si le participant n'existe pas, il est créé automatiquement</a:t>
            </a:r>
          </a:p>
          <a:p>
            <a:pPr>
              <a:spcBef>
                <a:spcPts val="200"/>
              </a:spcBef>
              <a:spcAft>
                <a:spcPts val="200"/>
              </a:spcAft>
            </a:pPr>
            <a:r>
              <a:rPr sz="1200" b="0" i="0">
                <a:solidFill>
                  <a:srgbClr val="2D3A3A"/>
                </a:solidFill>
                <a:latin typeface="Calibri"/>
              </a:rPr>
              <a:t>• Le use case orchestre 2 repositories sans connaître leur implémentation</a:t>
            </a:r>
          </a:p>
          <a:p>
            <a:pPr>
              <a:spcBef>
                <a:spcPts val="200"/>
              </a:spcBef>
              <a:spcAft>
                <a:spcPts val="200"/>
              </a:spcAft>
            </a:pPr>
            <a:r>
              <a:rPr sz="1200" b="0" i="0">
                <a:solidFill>
                  <a:srgbClr val="2D3A3A"/>
                </a:solidFill>
                <a:latin typeface="Calibri"/>
              </a:rPr>
              <a:t>• L'</a:t>
            </a:r>
            <a:r>
              <a:rPr sz="1200" b="0" i="0">
                <a:solidFill>
                  <a:srgbClr val="2D3A3A"/>
                </a:solidFill>
                <a:latin typeface="Consolas"/>
              </a:rPr>
              <a:t>addOrUpdate</a:t>
            </a:r>
            <a:r>
              <a:rPr sz="1200" b="0" i="0">
                <a:solidFill>
                  <a:srgbClr val="2D3A3A"/>
                </a:solidFill>
                <a:latin typeface="Calibri"/>
              </a:rPr>
              <a:t> inclut le verrou optimiste (dans le repository SQL)</a:t>
            </a:r>
          </a:p>
        </p:txBody>
      </p:sp>
      <p:sp>
        <p:nvSpPr>
          <p:cNvPr id="8" name="TextBox 7"/>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853535">
            <a:off x="6056554" y="-2160610"/>
            <a:ext cx="20810414" cy="21504485"/>
          </a:xfrm>
          <a:custGeom>
            <a:avLst/>
            <a:gdLst/>
            <a:ahLst/>
            <a:cxnLst/>
            <a:rect l="l" t="t" r="r" b="b"/>
            <a:pathLst>
              <a:path w="20810414" h="21504485">
                <a:moveTo>
                  <a:pt x="0" y="0"/>
                </a:moveTo>
                <a:lnTo>
                  <a:pt x="20810413" y="0"/>
                </a:lnTo>
                <a:lnTo>
                  <a:pt x="20810413" y="21504486"/>
                </a:lnTo>
                <a:lnTo>
                  <a:pt x="0" y="21504486"/>
                </a:lnTo>
                <a:lnTo>
                  <a:pt x="0" y="0"/>
                </a:lnTo>
                <a:close/>
              </a:path>
            </a:pathLst>
          </a:custGeom>
          <a:blipFill>
            <a:blip/>
            <a:stretch>
              <a:fillRect l="-1203" t="-3998" r="-1203"/>
            </a:stretch>
          </a:blipFill>
        </p:spPr>
        <p:txBody>
          <a:bodyPr/>
          <a:lstStyle/>
          <a:p>
            <a:endParaRPr lang="en-US" dirty="0"/>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Modèles domaine</a:t>
            </a:r>
          </a:p>
        </p:txBody>
      </p:sp>
      <p:sp>
        <p:nvSpPr>
          <p:cNvPr id="6" name="TextBox 5"/>
          <p:cNvSpPr txBox="1"/>
          <p:nvPr/>
        </p:nvSpPr>
        <p:spPr>
          <a:xfrm>
            <a:off x="731520" y="1280160"/>
            <a:ext cx="8046720" cy="1309420"/>
          </a:xfrm>
          <a:prstGeom prst="rect">
            <a:avLst/>
          </a:prstGeom>
          <a:noFill/>
        </p:spPr>
        <p:txBody>
          <a:bodyPr wrap="square">
            <a:spAutoFit/>
          </a:bodyPr>
          <a:lstStyle/>
          <a:p>
            <a:pPr>
              <a:spcBef>
                <a:spcPts val="200"/>
              </a:spcBef>
              <a:spcAft>
                <a:spcPts val="200"/>
              </a:spcAft>
            </a:pPr>
            <a:r>
              <a:rPr sz="1200" b="0" i="0">
                <a:solidFill>
                  <a:srgbClr val="2D3A3A"/>
                </a:solidFill>
                <a:latin typeface="Calibri"/>
              </a:rPr>
              <a:t>• </a:t>
            </a:r>
            <a:r>
              <a:rPr sz="1200" b="1" i="0">
                <a:solidFill>
                  <a:srgbClr val="2D3A3A"/>
                </a:solidFill>
                <a:latin typeface="Calibri"/>
              </a:rPr>
              <a:t>`data class`</a:t>
            </a:r>
            <a:r>
              <a:rPr sz="1200" b="0" i="0">
                <a:solidFill>
                  <a:srgbClr val="2D3A3A"/>
                </a:solidFill>
                <a:latin typeface="Calibri"/>
              </a:rPr>
              <a:t> : immutabilité, </a:t>
            </a:r>
            <a:r>
              <a:rPr sz="1200" b="0" i="0">
                <a:solidFill>
                  <a:srgbClr val="2D3A3A"/>
                </a:solidFill>
                <a:latin typeface="Consolas"/>
              </a:rPr>
              <a:t>equals</a:t>
            </a:r>
            <a:r>
              <a:rPr sz="1200" b="0" i="0">
                <a:solidFill>
                  <a:srgbClr val="2D3A3A"/>
                </a:solidFill>
                <a:latin typeface="Calibri"/>
              </a:rPr>
              <a:t>/</a:t>
            </a:r>
            <a:r>
              <a:rPr sz="1200" b="0" i="0">
                <a:solidFill>
                  <a:srgbClr val="2D3A3A"/>
                </a:solidFill>
                <a:latin typeface="Consolas"/>
              </a:rPr>
              <a:t>hashCode</a:t>
            </a:r>
            <a:r>
              <a:rPr sz="1200" b="0" i="0">
                <a:solidFill>
                  <a:srgbClr val="2D3A3A"/>
                </a:solidFill>
                <a:latin typeface="Calibri"/>
              </a:rPr>
              <a:t> automatiques, </a:t>
            </a:r>
            <a:r>
              <a:rPr sz="1200" b="0" i="0">
                <a:solidFill>
                  <a:srgbClr val="2D3A3A"/>
                </a:solidFill>
                <a:latin typeface="Consolas"/>
              </a:rPr>
              <a:t>copy</a:t>
            </a:r>
          </a:p>
          <a:p>
            <a:pPr>
              <a:spcBef>
                <a:spcPts val="200"/>
              </a:spcBef>
              <a:spcAft>
                <a:spcPts val="200"/>
              </a:spcAft>
            </a:pPr>
            <a:r>
              <a:rPr sz="1200" b="0" i="0">
                <a:solidFill>
                  <a:srgbClr val="2D3A3A"/>
                </a:solidFill>
                <a:latin typeface="Calibri"/>
              </a:rPr>
              <a:t>• </a:t>
            </a:r>
            <a:r>
              <a:rPr sz="1200" b="1" i="0">
                <a:solidFill>
                  <a:srgbClr val="2D3A3A"/>
                </a:solidFill>
                <a:latin typeface="Calibri"/>
              </a:rPr>
              <a:t>Aucune annotation framework</a:t>
            </a:r>
            <a:r>
              <a:rPr sz="1200" b="0" i="0">
                <a:solidFill>
                  <a:srgbClr val="2D3A3A"/>
                </a:solidFill>
                <a:latin typeface="Calibri"/>
              </a:rPr>
              <a:t> : pas de </a:t>
            </a:r>
            <a:r>
              <a:rPr sz="1200" b="0" i="0">
                <a:solidFill>
                  <a:srgbClr val="2D3A3A"/>
                </a:solidFill>
                <a:latin typeface="Consolas"/>
              </a:rPr>
              <a:t>@Entity</a:t>
            </a:r>
            <a:r>
              <a:rPr sz="1200" b="0" i="0">
                <a:solidFill>
                  <a:srgbClr val="2D3A3A"/>
                </a:solidFill>
                <a:latin typeface="Calibri"/>
              </a:rPr>
              <a:t>, </a:t>
            </a:r>
            <a:r>
              <a:rPr sz="1200" b="0" i="0">
                <a:solidFill>
                  <a:srgbClr val="2D3A3A"/>
                </a:solidFill>
                <a:latin typeface="Consolas"/>
              </a:rPr>
              <a:t>@Column</a:t>
            </a:r>
            <a:r>
              <a:rPr sz="1200" b="0" i="0">
                <a:solidFill>
                  <a:srgbClr val="2D3A3A"/>
                </a:solidFill>
                <a:latin typeface="Calibri"/>
              </a:rPr>
              <a:t> — domaine pur</a:t>
            </a:r>
          </a:p>
          <a:p>
            <a:pPr>
              <a:spcBef>
                <a:spcPts val="200"/>
              </a:spcBef>
              <a:spcAft>
                <a:spcPts val="200"/>
              </a:spcAft>
            </a:pPr>
            <a:r>
              <a:rPr sz="1200" b="0" i="0">
                <a:solidFill>
                  <a:srgbClr val="2D3A3A"/>
                </a:solidFill>
                <a:latin typeface="Calibri"/>
              </a:rPr>
              <a:t>• </a:t>
            </a:r>
            <a:r>
              <a:rPr sz="1200" b="1" i="0">
                <a:solidFill>
                  <a:srgbClr val="2D3A3A"/>
                </a:solidFill>
                <a:latin typeface="Calibri"/>
              </a:rPr>
              <a:t>`Creator`</a:t>
            </a:r>
            <a:r>
              <a:rPr sz="1200" b="0" i="0">
                <a:solidFill>
                  <a:srgbClr val="2D3A3A"/>
                </a:solidFill>
                <a:latin typeface="Calibri"/>
              </a:rPr>
              <a:t> = </a:t>
            </a:r>
            <a:r>
              <a:rPr sz="1200" b="0" i="0">
                <a:solidFill>
                  <a:srgbClr val="2D3A3A"/>
                </a:solidFill>
                <a:latin typeface="Consolas"/>
              </a:rPr>
              <a:t>@JvmInline value class</a:t>
            </a:r>
            <a:r>
              <a:rPr sz="1200" b="0" i="0">
                <a:solidFill>
                  <a:srgbClr val="2D3A3A"/>
                </a:solidFill>
                <a:latin typeface="Calibri"/>
              </a:rPr>
              <a:t> : typage fort, zéro coût mémoire à l'exécution</a:t>
            </a:r>
          </a:p>
          <a:p>
            <a:pPr>
              <a:spcBef>
                <a:spcPts val="200"/>
              </a:spcBef>
              <a:spcAft>
                <a:spcPts val="200"/>
              </a:spcAft>
            </a:pPr>
            <a:r>
              <a:rPr sz="1200" b="0" i="0">
                <a:solidFill>
                  <a:srgbClr val="2D3A3A"/>
                </a:solidFill>
                <a:latin typeface="Calibri"/>
              </a:rPr>
              <a:t>• </a:t>
            </a:r>
            <a:r>
              <a:rPr sz="1200" b="1" i="0">
                <a:solidFill>
                  <a:srgbClr val="2D3A3A"/>
                </a:solidFill>
                <a:latin typeface="Calibri"/>
              </a:rPr>
              <a:t>`version`</a:t>
            </a:r>
            <a:r>
              <a:rPr sz="1200" b="0" i="0">
                <a:solidFill>
                  <a:srgbClr val="2D3A3A"/>
                </a:solidFill>
                <a:latin typeface="Calibri"/>
              </a:rPr>
              <a:t> : sémantique du verrou optimiste au niveau du modèle</a:t>
            </a:r>
          </a:p>
        </p:txBody>
      </p:sp>
      <p:sp>
        <p:nvSpPr>
          <p:cNvPr id="7" name="TextBox 6"/>
          <p:cNvSpPr txBox="1"/>
          <p:nvPr/>
        </p:nvSpPr>
        <p:spPr>
          <a:xfrm>
            <a:off x="9326880" y="1280160"/>
            <a:ext cx="8046720" cy="3008376"/>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domain/event/common/model/event/Event.kt</a:t>
            </a:r>
          </a:p>
          <a:p>
            <a:pPr>
              <a:spcBef>
                <a:spcPts val="0"/>
              </a:spcBef>
              <a:spcAft>
                <a:spcPts val="0"/>
              </a:spcAft>
            </a:pPr>
            <a:r>
              <a:rPr sz="900" b="0" i="0">
                <a:solidFill>
                  <a:srgbClr val="2D3A3A"/>
                </a:solidFill>
                <a:latin typeface="Consolas"/>
              </a:rPr>
              <a:t>data class Event(</a:t>
            </a:r>
          </a:p>
          <a:p>
            <a:pPr>
              <a:spcBef>
                <a:spcPts val="0"/>
              </a:spcBef>
              <a:spcAft>
                <a:spcPts val="0"/>
              </a:spcAft>
            </a:pPr>
            <a:r>
              <a:rPr sz="900" b="0" i="0">
                <a:solidFill>
                  <a:srgbClr val="2D3A3A"/>
                </a:solidFill>
                <a:latin typeface="Consolas"/>
              </a:rPr>
              <a:t>  val identifier: UUID, val name: String, val description: String,</a:t>
            </a:r>
          </a:p>
          <a:p>
            <a:pPr>
              <a:spcBef>
                <a:spcPts val="0"/>
              </a:spcBef>
              <a:spcAft>
                <a:spcPts val="0"/>
              </a:spcAft>
            </a:pPr>
            <a:r>
              <a:rPr sz="900" b="0" i="0">
                <a:solidFill>
                  <a:srgbClr val="2D3A3A"/>
                </a:solidFill>
                <a:latin typeface="Consolas"/>
              </a:rPr>
              <a:t>  val eventDate: Instant, val creator: Creator, val location: String,</a:t>
            </a:r>
          </a:p>
          <a:p>
            <a:pPr>
              <a:spcBef>
                <a:spcPts val="0"/>
              </a:spcBef>
              <a:spcAft>
                <a:spcPts val="0"/>
              </a:spcAft>
            </a:pPr>
            <a:r>
              <a:rPr sz="900" b="0" i="0">
                <a:solidFill>
                  <a:srgbClr val="2D3A3A"/>
                </a:solidFill>
                <a:latin typeface="Consolas"/>
              </a:rPr>
              <a:t>  val type: EventType, val members: List&lt;Creator&gt; = listOf(),</a:t>
            </a:r>
          </a:p>
          <a:p>
            <a:pPr>
              <a:spcBef>
                <a:spcPts val="0"/>
              </a:spcBef>
              <a:spcAft>
                <a:spcPts val="0"/>
              </a:spcAft>
            </a:pPr>
            <a:r>
              <a:rPr sz="900" b="0" i="0">
                <a:solidFill>
                  <a:srgbClr val="2D3A3A"/>
                </a:solidFill>
                <a:latin typeface="Consolas"/>
              </a:rPr>
              <a: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domain/resource/common/model/Resource.kt</a:t>
            </a:r>
          </a:p>
          <a:p>
            <a:pPr>
              <a:spcBef>
                <a:spcPts val="0"/>
              </a:spcBef>
              <a:spcAft>
                <a:spcPts val="0"/>
              </a:spcAft>
            </a:pPr>
            <a:r>
              <a:rPr sz="900" b="0" i="0">
                <a:solidFill>
                  <a:srgbClr val="2D3A3A"/>
                </a:solidFill>
                <a:latin typeface="Consolas"/>
              </a:rPr>
              <a:t>data class Resource(</a:t>
            </a:r>
          </a:p>
          <a:p>
            <a:pPr>
              <a:spcBef>
                <a:spcPts val="0"/>
              </a:spcBef>
              <a:spcAft>
                <a:spcPts val="0"/>
              </a:spcAft>
            </a:pPr>
            <a:r>
              <a:rPr sz="900" b="0" i="0">
                <a:solidFill>
                  <a:srgbClr val="2D3A3A"/>
                </a:solidFill>
                <a:latin typeface="Consolas"/>
              </a:rPr>
              <a:t>  val identifier: UUID, val name: String, val category: ResourceCategory,</a:t>
            </a:r>
          </a:p>
          <a:p>
            <a:pPr>
              <a:spcBef>
                <a:spcPts val="0"/>
              </a:spcBef>
              <a:spcAft>
                <a:spcPts val="0"/>
              </a:spcAft>
            </a:pPr>
            <a:r>
              <a:rPr sz="900" b="0" i="0">
                <a:solidFill>
                  <a:srgbClr val="2D3A3A"/>
                </a:solidFill>
                <a:latin typeface="Consolas"/>
              </a:rPr>
              <a:t>  val suggestedQuantity: Int, val currentQuantity: Int,</a:t>
            </a:r>
          </a:p>
          <a:p>
            <a:pPr>
              <a:spcBef>
                <a:spcPts val="0"/>
              </a:spcBef>
              <a:spcAft>
                <a:spcPts val="0"/>
              </a:spcAft>
            </a:pPr>
            <a:r>
              <a:rPr sz="900" b="0" i="0">
                <a:solidFill>
                  <a:srgbClr val="2D3A3A"/>
                </a:solidFill>
                <a:latin typeface="Consolas"/>
              </a:rPr>
              <a:t>  val eventId: UUID, val version: Int,  // verrou optimiste</a:t>
            </a:r>
          </a:p>
          <a:p>
            <a:pPr>
              <a:spcBef>
                <a:spcPts val="0"/>
              </a:spcBef>
              <a:spcAft>
                <a:spcPts val="0"/>
              </a:spcAft>
            </a:pPr>
            <a:r>
              <a:rPr sz="900" b="0" i="0">
                <a:solidFill>
                  <a:srgbClr val="2D3A3A"/>
                </a:solidFill>
                <a:latin typeface="Consolas"/>
              </a:rPr>
              <a: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domain/event/common/model/creator/Creator.kt</a:t>
            </a:r>
          </a:p>
          <a:p>
            <a:pPr>
              <a:spcBef>
                <a:spcPts val="0"/>
              </a:spcBef>
              <a:spcAft>
                <a:spcPts val="0"/>
              </a:spcAft>
            </a:pPr>
            <a:r>
              <a:rPr sz="900" b="0" i="0">
                <a:solidFill>
                  <a:srgbClr val="2D3A3A"/>
                </a:solidFill>
                <a:latin typeface="Consolas"/>
              </a:rPr>
              <a:t>@JvmInline value class Creator(val value: String)</a:t>
            </a:r>
          </a:p>
        </p:txBody>
      </p:sp>
      <p:sp>
        <p:nvSpPr>
          <p:cNvPr id="8" name="TextBox 7"/>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853535">
            <a:off x="6056554" y="-2160610"/>
            <a:ext cx="20810414" cy="21504485"/>
          </a:xfrm>
          <a:custGeom>
            <a:avLst/>
            <a:gdLst/>
            <a:ahLst/>
            <a:cxnLst/>
            <a:rect l="l" t="t" r="r" b="b"/>
            <a:pathLst>
              <a:path w="20810414" h="21504485">
                <a:moveTo>
                  <a:pt x="0" y="0"/>
                </a:moveTo>
                <a:lnTo>
                  <a:pt x="20810413" y="0"/>
                </a:lnTo>
                <a:lnTo>
                  <a:pt x="20810413" y="21504486"/>
                </a:lnTo>
                <a:lnTo>
                  <a:pt x="0" y="21504486"/>
                </a:lnTo>
                <a:lnTo>
                  <a:pt x="0" y="0"/>
                </a:lnTo>
                <a:close/>
              </a:path>
            </a:pathLst>
          </a:custGeom>
          <a:blipFill>
            <a:blip/>
            <a:stretch>
              <a:fillRect l="-1203" t="-3998" r="-1203"/>
            </a:stretch>
          </a:blipFill>
        </p:spPr>
        <p:txBody>
          <a:bodyPr/>
          <a:lstStyle/>
          <a:p>
            <a:endParaRPr lang="en-US" dirty="0"/>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Gestion d'erreurs : Arrow Either</a:t>
            </a:r>
          </a:p>
        </p:txBody>
      </p:sp>
      <p:sp>
        <p:nvSpPr>
          <p:cNvPr id="6" name="TextBox 5"/>
          <p:cNvSpPr txBox="1"/>
          <p:nvPr/>
        </p:nvSpPr>
        <p:spPr>
          <a:xfrm>
            <a:off x="731520" y="1280160"/>
            <a:ext cx="8046720" cy="1104595"/>
          </a:xfrm>
          <a:prstGeom prst="rect">
            <a:avLst/>
          </a:prstGeom>
          <a:noFill/>
        </p:spPr>
        <p:txBody>
          <a:bodyPr wrap="square">
            <a:spAutoFit/>
          </a:bodyPr>
          <a:lstStyle/>
          <a:p>
            <a:pPr>
              <a:spcBef>
                <a:spcPts val="800"/>
              </a:spcBef>
              <a:spcAft>
                <a:spcPts val="200"/>
              </a:spcAft>
            </a:pPr>
            <a:r>
              <a:rPr sz="1300" b="1" i="0">
                <a:solidFill>
                  <a:srgbClr val="3D5A6C"/>
                </a:solidFill>
                <a:latin typeface="Calibri"/>
              </a:rPr>
              <a:t>Flux fonctionnel sans exceptions</a:t>
            </a:r>
          </a:p>
          <a:p>
            <a:pPr>
              <a:spcBef>
                <a:spcPts val="800"/>
              </a:spcBef>
              <a:spcAft>
                <a:spcPts val="200"/>
              </a:spcAft>
            </a:pPr>
            <a:r>
              <a:rPr sz="1300" b="1" i="0">
                <a:solidFill>
                  <a:srgbClr val="3D5A6C"/>
                </a:solidFill>
                <a:latin typeface="Calibri"/>
              </a:rPr>
              <a:t>Avantages vs exceptions</a:t>
            </a:r>
          </a:p>
        </p:txBody>
      </p:sp>
      <p:graphicFrame>
        <p:nvGraphicFramePr>
          <p:cNvPr id="7" name="Table 6"/>
          <p:cNvGraphicFramePr>
            <a:graphicFrameLocks noGrp="1"/>
          </p:cNvGraphicFramePr>
          <p:nvPr/>
        </p:nvGraphicFramePr>
        <p:xfrm>
          <a:off x="731520" y="2476195"/>
          <a:ext cx="8046720" cy="1508760"/>
        </p:xfrm>
        <a:graphic>
          <a:graphicData uri="http://schemas.openxmlformats.org/drawingml/2006/table">
            <a:tbl>
              <a:tblPr firstRow="1" bandRow="1">
                <a:tableStyleId>{5C22544A-7EE6-4342-B048-85BDC9FD1C3A}</a:tableStyleId>
              </a:tblPr>
              <a:tblGrid>
                <a:gridCol w="40233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01752">
                <a:tc>
                  <a:txBody>
                    <a:bodyPr/>
                    <a:lstStyle/>
                    <a:p>
                      <a:pPr>
                        <a:defRPr sz="1000" b="1">
                          <a:solidFill>
                            <a:srgbClr val="3D5A6C"/>
                          </a:solidFill>
                        </a:defRPr>
                      </a:pPr>
                      <a:r>
                        <a:t>Either</a:t>
                      </a:r>
                    </a:p>
                  </a:txBody>
                  <a:tcPr/>
                </a:tc>
                <a:tc>
                  <a:txBody>
                    <a:bodyPr/>
                    <a:lstStyle/>
                    <a:p>
                      <a:pPr>
                        <a:defRPr sz="1000" b="1">
                          <a:solidFill>
                            <a:srgbClr val="3D5A6C"/>
                          </a:solidFill>
                        </a:defRPr>
                      </a:pPr>
                      <a:r>
                        <a:t>Exceptions</a:t>
                      </a:r>
                    </a:p>
                  </a:txBody>
                  <a:tcPr/>
                </a:tc>
                <a:extLst>
                  <a:ext uri="{0D108BD9-81ED-4DB2-BD59-A6C34878D82A}">
                    <a16:rowId xmlns:a16="http://schemas.microsoft.com/office/drawing/2014/main" val="10000"/>
                  </a:ext>
                </a:extLst>
              </a:tr>
              <a:tr h="301752">
                <a:tc>
                  <a:txBody>
                    <a:bodyPr/>
                    <a:lstStyle/>
                    <a:p>
                      <a:pPr>
                        <a:defRPr sz="1000">
                          <a:solidFill>
                            <a:srgbClr val="2D3A3A"/>
                          </a:solidFill>
                        </a:defRPr>
                      </a:pPr>
                      <a:r>
                        <a:t>Type de retour explicite</a:t>
                      </a:r>
                    </a:p>
                  </a:txBody>
                  <a:tcPr/>
                </a:tc>
                <a:tc>
                  <a:txBody>
                    <a:bodyPr/>
                    <a:lstStyle/>
                    <a:p>
                      <a:pPr>
                        <a:defRPr sz="1000">
                          <a:solidFill>
                            <a:srgbClr val="2D3A3A"/>
                          </a:solidFill>
                        </a:defRPr>
                      </a:pPr>
                      <a:r>
                        <a:t>Invisible dans la signature</a:t>
                      </a:r>
                    </a:p>
                  </a:txBody>
                  <a:tcPr/>
                </a:tc>
                <a:extLst>
                  <a:ext uri="{0D108BD9-81ED-4DB2-BD59-A6C34878D82A}">
                    <a16:rowId xmlns:a16="http://schemas.microsoft.com/office/drawing/2014/main" val="10001"/>
                  </a:ext>
                </a:extLst>
              </a:tr>
              <a:tr h="301752">
                <a:tc>
                  <a:txBody>
                    <a:bodyPr/>
                    <a:lstStyle/>
                    <a:p>
                      <a:pPr>
                        <a:defRPr sz="1000">
                          <a:solidFill>
                            <a:srgbClr val="2D3A3A"/>
                          </a:solidFill>
                        </a:defRPr>
                      </a:pPr>
                      <a:r>
                        <a:t>Composable (flatMap, map)</a:t>
                      </a:r>
                    </a:p>
                  </a:txBody>
                  <a:tcPr/>
                </a:tc>
                <a:tc>
                  <a:txBody>
                    <a:bodyPr/>
                    <a:lstStyle/>
                    <a:p>
                      <a:pPr>
                        <a:defRPr sz="1000">
                          <a:solidFill>
                            <a:srgbClr val="2D3A3A"/>
                          </a:solidFill>
                        </a:defRPr>
                      </a:pPr>
                      <a:r>
                        <a:t>try/catch imbriqués</a:t>
                      </a:r>
                    </a:p>
                  </a:txBody>
                  <a:tcPr/>
                </a:tc>
                <a:extLst>
                  <a:ext uri="{0D108BD9-81ED-4DB2-BD59-A6C34878D82A}">
                    <a16:rowId xmlns:a16="http://schemas.microsoft.com/office/drawing/2014/main" val="10002"/>
                  </a:ext>
                </a:extLst>
              </a:tr>
              <a:tr h="301752">
                <a:tc>
                  <a:txBody>
                    <a:bodyPr/>
                    <a:lstStyle/>
                    <a:p>
                      <a:pPr>
                        <a:defRPr sz="1000">
                          <a:solidFill>
                            <a:srgbClr val="2D3A3A"/>
                          </a:solidFill>
                        </a:defRPr>
                      </a:pPr>
                      <a:r>
                        <a:t>Pas de coût de stack trace</a:t>
                      </a:r>
                    </a:p>
                  </a:txBody>
                  <a:tcPr/>
                </a:tc>
                <a:tc>
                  <a:txBody>
                    <a:bodyPr/>
                    <a:lstStyle/>
                    <a:p>
                      <a:pPr>
                        <a:defRPr sz="1000">
                          <a:solidFill>
                            <a:srgbClr val="2D3A3A"/>
                          </a:solidFill>
                        </a:defRPr>
                      </a:pPr>
                      <a:r>
                        <a:t>Stack trace coûteuse</a:t>
                      </a:r>
                    </a:p>
                  </a:txBody>
                  <a:tcPr/>
                </a:tc>
                <a:extLst>
                  <a:ext uri="{0D108BD9-81ED-4DB2-BD59-A6C34878D82A}">
                    <a16:rowId xmlns:a16="http://schemas.microsoft.com/office/drawing/2014/main" val="10003"/>
                  </a:ext>
                </a:extLst>
              </a:tr>
              <a:tr h="301752">
                <a:tc>
                  <a:txBody>
                    <a:bodyPr/>
                    <a:lstStyle/>
                    <a:p>
                      <a:pPr>
                        <a:defRPr sz="1000">
                          <a:solidFill>
                            <a:srgbClr val="2D3A3A"/>
                          </a:solidFill>
                        </a:defRPr>
                      </a:pPr>
                      <a:r>
                        <a:t>Traçabilité (mapLeft enveloppe)</a:t>
                      </a:r>
                    </a:p>
                  </a:txBody>
                  <a:tcPr/>
                </a:tc>
                <a:tc>
                  <a:txBody>
                    <a:bodyPr/>
                    <a:lstStyle/>
                    <a:p>
                      <a:pPr>
                        <a:defRPr sz="1000">
                          <a:solidFill>
                            <a:srgbClr val="2D3A3A"/>
                          </a:solidFill>
                        </a:defRPr>
                      </a:pPr>
                      <a:r>
                        <a:t>Perte de contexte</a:t>
                      </a:r>
                    </a:p>
                  </a:txBody>
                  <a:tcPr/>
                </a:tc>
                <a:extLst>
                  <a:ext uri="{0D108BD9-81ED-4DB2-BD59-A6C34878D82A}">
                    <a16:rowId xmlns:a16="http://schemas.microsoft.com/office/drawing/2014/main" val="10004"/>
                  </a:ext>
                </a:extLst>
              </a:tr>
            </a:tbl>
          </a:graphicData>
        </a:graphic>
      </p:graphicFrame>
      <p:sp>
        <p:nvSpPr>
          <p:cNvPr id="8" name="TextBox 7"/>
          <p:cNvSpPr txBox="1"/>
          <p:nvPr/>
        </p:nvSpPr>
        <p:spPr>
          <a:xfrm>
            <a:off x="9326880" y="1280160"/>
            <a:ext cx="8046720" cy="3008376"/>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Chaque opération retourne Either&lt;Error, Success&gt;</a:t>
            </a:r>
          </a:p>
          <a:p>
            <a:pPr>
              <a:spcBef>
                <a:spcPts val="0"/>
              </a:spcBef>
              <a:spcAft>
                <a:spcPts val="0"/>
              </a:spcAft>
            </a:pPr>
            <a:r>
              <a:rPr sz="900" b="0" i="0">
                <a:solidFill>
                  <a:srgbClr val="2D3A3A"/>
                </a:solidFill>
                <a:latin typeface="Consolas"/>
              </a:rPr>
              <a:t>fun create(request: CreateEventRequest): Either&lt;CreateEventException, Event&gt;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Composition via flatMap / mapLeft</a:t>
            </a:r>
          </a:p>
          <a:p>
            <a:pPr>
              <a:spcBef>
                <a:spcPts val="0"/>
              </a:spcBef>
              <a:spcAft>
                <a:spcPts val="0"/>
              </a:spcAft>
            </a:pPr>
            <a:r>
              <a:rPr sz="900" b="0" i="0">
                <a:solidFill>
                  <a:srgbClr val="2D3A3A"/>
                </a:solidFill>
                <a:latin typeface="Consolas"/>
              </a:rPr>
              <a:t>eventRepository.create(request)          // Either&lt;RepoError, Event&gt;</a:t>
            </a:r>
          </a:p>
          <a:p>
            <a:pPr>
              <a:spcBef>
                <a:spcPts val="0"/>
              </a:spcBef>
              <a:spcAft>
                <a:spcPts val="0"/>
              </a:spcAft>
            </a:pPr>
            <a:r>
              <a:rPr sz="900" b="0" i="0">
                <a:solidFill>
                  <a:srgbClr val="2D3A3A"/>
                </a:solidFill>
                <a:latin typeface="Consolas"/>
              </a:rPr>
              <a:t>  .mapLeft { CreateEventException(it) }  // Enveloppe l'erreur avec contexte</a:t>
            </a:r>
          </a:p>
          <a:p>
            <a:pPr>
              <a:spcBef>
                <a:spcPts val="0"/>
              </a:spcBef>
              <a:spcAft>
                <a:spcPts val="0"/>
              </a:spcAft>
            </a:pPr>
            <a:r>
              <a:rPr sz="900" b="0" i="0">
                <a:solidFill>
                  <a:srgbClr val="2D3A3A"/>
                </a:solidFill>
                <a:latin typeface="Consolas"/>
              </a:rPr>
              <a:t>  .flatMap { event -&gt;                    // Chaîne uniquement si Right (succès)</a:t>
            </a:r>
          </a:p>
          <a:p>
            <a:pPr>
              <a:spcBef>
                <a:spcPts val="0"/>
              </a:spcBef>
              <a:spcAft>
                <a:spcPts val="0"/>
              </a:spcAft>
            </a:pPr>
            <a:r>
              <a:rPr sz="900" b="0" i="0">
                <a:solidFill>
                  <a:srgbClr val="2D3A3A"/>
                </a:solidFill>
                <a:latin typeface="Consolas"/>
              </a:rPr>
              <a:t>    participantRepository.create(...)</a:t>
            </a:r>
          </a:p>
          <a:p>
            <a:pPr>
              <a:spcBef>
                <a:spcPts val="0"/>
              </a:spcBef>
              <a:spcAft>
                <a:spcPts val="0"/>
              </a:spcAft>
            </a:pPr>
            <a:r>
              <a:rPr sz="900" b="0" i="0">
                <a:solidFill>
                  <a:srgbClr val="2D3A3A"/>
                </a:solidFill>
                <a:latin typeface="Consolas"/>
              </a:rPr>
              <a:t>      .map { event }                     // Garde l'événement comme résultat</a:t>
            </a:r>
          </a:p>
          <a:p>
            <a:pPr>
              <a:spcBef>
                <a:spcPts val="0"/>
              </a:spcBef>
              <a:spcAft>
                <a:spcPts val="0"/>
              </a:spcAft>
            </a:pPr>
            <a:r>
              <a:rPr sz="900" b="0" i="0">
                <a:solidFill>
                  <a:srgbClr val="2D3A3A"/>
                </a:solidFill>
                <a:latin typeface="Consolas"/>
              </a:rPr>
              <a:t>  }</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Résolution finale via fold</a:t>
            </a:r>
          </a:p>
          <a:p>
            <a:pPr>
              <a:spcBef>
                <a:spcPts val="0"/>
              </a:spcBef>
              <a:spcAft>
                <a:spcPts val="0"/>
              </a:spcAft>
            </a:pPr>
            <a:r>
              <a:rPr sz="900" b="0" i="0">
                <a:solidFill>
                  <a:srgbClr val="2D3A3A"/>
                </a:solidFill>
                <a:latin typeface="Consolas"/>
              </a:rPr>
              <a:t>result.fold(</a:t>
            </a:r>
          </a:p>
          <a:p>
            <a:pPr>
              <a:spcBef>
                <a:spcPts val="0"/>
              </a:spcBef>
              <a:spcAft>
                <a:spcPts val="0"/>
              </a:spcAft>
            </a:pPr>
            <a:r>
              <a:rPr sz="900" b="0" i="0">
                <a:solidFill>
                  <a:srgbClr val="2D3A3A"/>
                </a:solidFill>
                <a:latin typeface="Consolas"/>
              </a:rPr>
              <a:t>  ifLeft  = { error -&gt; call.respond(error.toHttpStatus(), error.toDto()) },</a:t>
            </a:r>
          </a:p>
          <a:p>
            <a:pPr>
              <a:spcBef>
                <a:spcPts val="0"/>
              </a:spcBef>
              <a:spcAft>
                <a:spcPts val="0"/>
              </a:spcAft>
            </a:pPr>
            <a:r>
              <a:rPr sz="900" b="0" i="0">
                <a:solidFill>
                  <a:srgbClr val="2D3A3A"/>
                </a:solidFill>
                <a:latin typeface="Consolas"/>
              </a:rPr>
              <a:t>  ifRight = { event -&gt; call.respond(HttpStatusCode.Created, event.toDto()) },</a:t>
            </a:r>
          </a:p>
          <a:p>
            <a:pPr>
              <a:spcBef>
                <a:spcPts val="0"/>
              </a:spcBef>
              <a:spcAft>
                <a:spcPts val="0"/>
              </a:spcAft>
            </a:pPr>
            <a:r>
              <a:rPr sz="900" b="0" i="0">
                <a:solidFill>
                  <a:srgbClr val="2D3A3A"/>
                </a:solidFill>
                <a:latin typeface="Consolas"/>
              </a:rPr>
              <a:t>)</a:t>
            </a:r>
          </a:p>
        </p:txBody>
      </p:sp>
      <p:sp>
        <p:nvSpPr>
          <p:cNvPr id="9" name="TextBox 8"/>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2B5C73"/>
        </a:solidFill>
        <a:effectLst/>
      </p:bgPr>
    </p:bg>
    <p:spTree>
      <p:nvGrpSpPr>
        <p:cNvPr id="1" name=""/>
        <p:cNvGrpSpPr/>
        <p:nvPr/>
      </p:nvGrpSpPr>
      <p:grpSpPr>
        <a:xfrm>
          <a:off x="0" y="0"/>
          <a:ext cx="0" cy="0"/>
          <a:chOff x="0" y="0"/>
          <a:chExt cx="0" cy="0"/>
        </a:xfrm>
      </p:grpSpPr>
      <p:sp>
        <p:nvSpPr>
          <p:cNvPr id="2" name="TextBox 2"/>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p:nvSpPr>
        <p:spPr>
          <a:xfrm>
            <a:off x="-810449" y="4666508"/>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p:nvSpPr>
        <p:spPr>
          <a:xfrm>
            <a:off x="-658049" y="4818908"/>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extBox 4"/>
          <p:cNvSpPr txBox="1"/>
          <p:nvPr/>
        </p:nvSpPr>
        <p:spPr>
          <a:xfrm>
            <a:off x="1828800" y="3200400"/>
            <a:ext cx="14630400" cy="3657600"/>
          </a:xfrm>
          <a:prstGeom prst="rect">
            <a:avLst/>
          </a:prstGeom>
          <a:noFill/>
        </p:spPr>
        <p:txBody>
          <a:bodyPr wrap="square">
            <a:spAutoFit/>
          </a:bodyPr>
          <a:lstStyle/>
          <a:p>
            <a:pPr algn="ctr"/>
            <a:r>
              <a:rPr sz="2800" b="1" i="0">
                <a:solidFill>
                  <a:srgbClr val="FFFFFF"/>
                </a:solidFill>
                <a:latin typeface="Calibri"/>
              </a:rPr>
              <a:t>Réalisations — Accès aux données</a:t>
            </a:r>
          </a:p>
        </p:txBody>
      </p:sp>
      <p:sp>
        <p:nvSpPr>
          <p:cNvPr id="6" name="TextBox 5"/>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593757">
            <a:off x="-7871390" y="-2369047"/>
            <a:ext cx="21312191" cy="15025095"/>
          </a:xfrm>
          <a:custGeom>
            <a:avLst/>
            <a:gdLst/>
            <a:ahLst/>
            <a:cxnLst/>
            <a:rect l="l" t="t" r="r" b="b"/>
            <a:pathLst>
              <a:path w="21312191" h="15025095">
                <a:moveTo>
                  <a:pt x="0" y="0"/>
                </a:moveTo>
                <a:lnTo>
                  <a:pt x="21312192" y="0"/>
                </a:lnTo>
                <a:lnTo>
                  <a:pt x="21312192" y="15025094"/>
                </a:lnTo>
                <a:lnTo>
                  <a:pt x="0" y="15025094"/>
                </a:lnTo>
                <a:lnTo>
                  <a:pt x="0" y="0"/>
                </a:lnTo>
                <a:close/>
              </a:path>
            </a:pathLst>
          </a:custGeom>
          <a:blipFill>
            <a:blip/>
            <a:stretch>
              <a:fillRect/>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Verrou optimiste : SqlResourceRepository</a:t>
            </a:r>
          </a:p>
        </p:txBody>
      </p:sp>
      <p:sp>
        <p:nvSpPr>
          <p:cNvPr id="6" name="TextBox 5"/>
          <p:cNvSpPr txBox="1"/>
          <p:nvPr/>
        </p:nvSpPr>
        <p:spPr>
          <a:xfrm>
            <a:off x="731520" y="1280160"/>
            <a:ext cx="8046720" cy="4224528"/>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infrastructure/resource/common/driven/SqlResourceRepository.kt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override fun updateQuantity(</a:t>
            </a:r>
          </a:p>
          <a:p>
            <a:pPr>
              <a:spcBef>
                <a:spcPts val="0"/>
              </a:spcBef>
              <a:spcAft>
                <a:spcPts val="0"/>
              </a:spcAft>
            </a:pPr>
            <a:r>
              <a:rPr sz="900" b="0" i="0">
                <a:solidFill>
                  <a:srgbClr val="2D3A3A"/>
                </a:solidFill>
                <a:latin typeface="Consolas"/>
              </a:rPr>
              <a:t>  resourceId: UUID, quantityDelta: Int, expectedVersion: Int,</a:t>
            </a:r>
          </a:p>
          <a:p>
            <a:pPr>
              <a:spcBef>
                <a:spcPts val="0"/>
              </a:spcBef>
              <a:spcAft>
                <a:spcPts val="0"/>
              </a:spcAft>
            </a:pPr>
            <a:r>
              <a:rPr sz="900" b="0" i="0">
                <a:solidFill>
                  <a:srgbClr val="2D3A3A"/>
                </a:solidFill>
                <a:latin typeface="Consolas"/>
              </a:rPr>
              <a:t>): Either&lt;GetResourceRepositoryException, Resource&gt; {</a:t>
            </a:r>
          </a:p>
          <a:p>
            <a:pPr>
              <a:spcBef>
                <a:spcPts val="0"/>
              </a:spcBef>
              <a:spcAft>
                <a:spcPts val="0"/>
              </a:spcAft>
            </a:pPr>
            <a:r>
              <a:rPr sz="900" b="0" i="0">
                <a:solidFill>
                  <a:srgbClr val="2D3A3A"/>
                </a:solidFill>
                <a:latin typeface="Consolas"/>
              </a:rPr>
              <a:t>  return Either.catch {</a:t>
            </a:r>
          </a:p>
          <a:p>
            <a:pPr>
              <a:spcBef>
                <a:spcPts val="0"/>
              </a:spcBef>
              <a:spcAft>
                <a:spcPts val="0"/>
              </a:spcAft>
            </a:pPr>
            <a:r>
              <a:rPr sz="900" b="0" i="0">
                <a:solidFill>
                  <a:srgbClr val="2D3A3A"/>
                </a:solidFill>
                <a:latin typeface="Consolas"/>
              </a:rPr>
              <a:t>    transaction(exposedDatabase.database) {</a:t>
            </a:r>
          </a:p>
          <a:p>
            <a:pPr>
              <a:spcBef>
                <a:spcPts val="0"/>
              </a:spcBef>
              <a:spcAft>
                <a:spcPts val="0"/>
              </a:spcAft>
            </a:pPr>
            <a:r>
              <a:rPr sz="900" b="0" i="0">
                <a:solidFill>
                  <a:srgbClr val="2D3A3A"/>
                </a:solidFill>
                <a:latin typeface="Consolas"/>
              </a:rPr>
              <a:t>      val currentResource = ResourceTable</a:t>
            </a:r>
          </a:p>
          <a:p>
            <a:pPr>
              <a:spcBef>
                <a:spcPts val="0"/>
              </a:spcBef>
              <a:spcAft>
                <a:spcPts val="0"/>
              </a:spcAft>
            </a:pPr>
            <a:r>
              <a:rPr sz="900" b="0" i="0">
                <a:solidFill>
                  <a:srgbClr val="2D3A3A"/>
                </a:solidFill>
                <a:latin typeface="Consolas"/>
              </a:rPr>
              <a:t>        .selectAll().where {</a:t>
            </a:r>
          </a:p>
          <a:p>
            <a:pPr>
              <a:spcBef>
                <a:spcPts val="0"/>
              </a:spcBef>
              <a:spcAft>
                <a:spcPts val="0"/>
              </a:spcAft>
            </a:pPr>
            <a:r>
              <a:rPr sz="900" b="0" i="0">
                <a:solidFill>
                  <a:srgbClr val="2D3A3A"/>
                </a:solidFill>
                <a:latin typeface="Consolas"/>
              </a:rPr>
              <a:t>          (ResourceTable.id eq resourceId) and</a:t>
            </a:r>
          </a:p>
          <a:p>
            <a:pPr>
              <a:spcBef>
                <a:spcPts val="0"/>
              </a:spcBef>
              <a:spcAft>
                <a:spcPts val="0"/>
              </a:spcAft>
            </a:pPr>
            <a:r>
              <a:rPr sz="900" b="0" i="0">
                <a:solidFill>
                  <a:srgbClr val="2D3A3A"/>
                </a:solidFill>
                <a:latin typeface="Consolas"/>
              </a:rPr>
              <a:t>            (ResourceTable.version eq expectedVersion)</a:t>
            </a:r>
          </a:p>
          <a:p>
            <a:pPr>
              <a:spcBef>
                <a:spcPts val="0"/>
              </a:spcBef>
              <a:spcAft>
                <a:spcPts val="0"/>
              </a:spcAft>
            </a:pPr>
            <a:r>
              <a:rPr sz="900" b="0" i="0">
                <a:solidFill>
                  <a:srgbClr val="2D3A3A"/>
                </a:solidFill>
                <a:latin typeface="Consolas"/>
              </a:rPr>
              <a:t>        }.singleOrNull()</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if (currentResource == null) {</a:t>
            </a:r>
          </a:p>
          <a:p>
            <a:pPr>
              <a:spcBef>
                <a:spcPts val="0"/>
              </a:spcBef>
              <a:spcAft>
                <a:spcPts val="0"/>
              </a:spcAft>
            </a:pPr>
            <a:r>
              <a:rPr sz="900" b="0" i="0">
                <a:solidFill>
                  <a:srgbClr val="2D3A3A"/>
                </a:solidFill>
                <a:latin typeface="Consolas"/>
              </a:rPr>
              <a:t>        val exists = ResourceTable.selectAll()</a:t>
            </a:r>
          </a:p>
          <a:p>
            <a:pPr>
              <a:spcBef>
                <a:spcPts val="0"/>
              </a:spcBef>
              <a:spcAft>
                <a:spcPts val="0"/>
              </a:spcAft>
            </a:pPr>
            <a:r>
              <a:rPr sz="900" b="0" i="0">
                <a:solidFill>
                  <a:srgbClr val="2D3A3A"/>
                </a:solidFill>
                <a:latin typeface="Consolas"/>
              </a:rPr>
              <a:t>          .where { ResourceTable.id eq resourceId }.singleOrNull()</a:t>
            </a:r>
          </a:p>
          <a:p>
            <a:pPr>
              <a:spcBef>
                <a:spcPts val="0"/>
              </a:spcBef>
              <a:spcAft>
                <a:spcPts val="0"/>
              </a:spcAft>
            </a:pPr>
            <a:r>
              <a:rPr sz="900" b="0" i="0">
                <a:solidFill>
                  <a:srgbClr val="2D3A3A"/>
                </a:solidFill>
                <a:latin typeface="Consolas"/>
              </a:rPr>
              <a:t>        if (exists == null) throw ResourceNotFoundException(resourceId)</a:t>
            </a:r>
          </a:p>
          <a:p>
            <a:pPr>
              <a:spcBef>
                <a:spcPts val="0"/>
              </a:spcBef>
              <a:spcAft>
                <a:spcPts val="0"/>
              </a:spcAft>
            </a:pPr>
            <a:r>
              <a:rPr sz="900" b="0" i="0">
                <a:solidFill>
                  <a:srgbClr val="2D3A3A"/>
                </a:solidFill>
                <a:latin typeface="Consolas"/>
              </a:rPr>
              <a:t>        else throw OptimisticLockException(resourceId, expectedVersion)</a:t>
            </a:r>
          </a:p>
          <a:p>
            <a:pPr>
              <a:spcBef>
                <a:spcPts val="0"/>
              </a:spcBef>
              <a:spcAft>
                <a:spcPts val="0"/>
              </a:spcAft>
            </a:pPr>
            <a:r>
              <a:rPr sz="900" b="0" i="0">
                <a:solidFill>
                  <a:srgbClr val="2D3A3A"/>
                </a:solidFill>
                <a:latin typeface="Consolas"/>
              </a:rPr>
              <a:t>      }</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val updatedRows = ResourceTable.update({</a:t>
            </a:r>
          </a:p>
          <a:p>
            <a:pPr>
              <a:spcBef>
                <a:spcPts val="0"/>
              </a:spcBef>
              <a:spcAft>
                <a:spcPts val="0"/>
              </a:spcAft>
            </a:pPr>
            <a:r>
              <a:rPr sz="900" b="0" i="0">
                <a:solidFill>
                  <a:srgbClr val="2D3A3A"/>
                </a:solidFill>
                <a:latin typeface="Consolas"/>
              </a:rPr>
              <a:t>        (ResourceTable.id eq resourceId) and</a:t>
            </a:r>
          </a:p>
          <a:p>
            <a:pPr>
              <a:spcBef>
                <a:spcPts val="0"/>
              </a:spcBef>
              <a:spcAft>
                <a:spcPts val="0"/>
              </a:spcAft>
            </a:pPr>
            <a:r>
              <a:rPr sz="900" b="0" i="0">
                <a:solidFill>
                  <a:srgbClr val="2D3A3A"/>
                </a:solidFill>
                <a:latin typeface="Consolas"/>
              </a:rPr>
              <a:t>// ...</a:t>
            </a:r>
          </a:p>
        </p:txBody>
      </p:sp>
      <p:sp>
        <p:nvSpPr>
          <p:cNvPr id="7" name="TextBox 6"/>
          <p:cNvSpPr txBox="1"/>
          <p:nvPr/>
        </p:nvSpPr>
        <p:spPr>
          <a:xfrm>
            <a:off x="9326880" y="1280160"/>
            <a:ext cx="8046720" cy="1027785"/>
          </a:xfrm>
          <a:prstGeom prst="rect">
            <a:avLst/>
          </a:prstGeom>
          <a:noFill/>
        </p:spPr>
        <p:txBody>
          <a:bodyPr wrap="square">
            <a:spAutoFit/>
          </a:bodyPr>
          <a:lstStyle/>
          <a:p>
            <a:pPr>
              <a:spcBef>
                <a:spcPts val="200"/>
              </a:spcBef>
              <a:spcAft>
                <a:spcPts val="200"/>
              </a:spcAft>
            </a:pPr>
            <a:r>
              <a:rPr sz="1200" b="0" i="0">
                <a:solidFill>
                  <a:srgbClr val="2D3A3A"/>
                </a:solidFill>
                <a:latin typeface="Calibri"/>
              </a:rPr>
              <a:t>• </a:t>
            </a:r>
            <a:r>
              <a:rPr sz="1200" b="1" i="0">
                <a:solidFill>
                  <a:srgbClr val="2D3A3A"/>
                </a:solidFill>
                <a:latin typeface="Calibri"/>
              </a:rPr>
              <a:t>Double vérification</a:t>
            </a:r>
            <a:r>
              <a:rPr sz="1200" b="0" i="0">
                <a:solidFill>
                  <a:srgbClr val="2D3A3A"/>
                </a:solidFill>
                <a:latin typeface="Calibri"/>
              </a:rPr>
              <a:t> : version check à la lecture ET à l'écriture</a:t>
            </a:r>
          </a:p>
          <a:p>
            <a:pPr>
              <a:spcBef>
                <a:spcPts val="200"/>
              </a:spcBef>
              <a:spcAft>
                <a:spcPts val="200"/>
              </a:spcAft>
            </a:pPr>
            <a:r>
              <a:rPr sz="1200" b="0" i="0">
                <a:solidFill>
                  <a:srgbClr val="2D3A3A"/>
                </a:solidFill>
                <a:latin typeface="Calibri"/>
              </a:rPr>
              <a:t>• </a:t>
            </a:r>
            <a:r>
              <a:rPr sz="1200" b="1" i="0">
                <a:solidFill>
                  <a:srgbClr val="2D3A3A"/>
                </a:solidFill>
                <a:latin typeface="Calibri"/>
              </a:rPr>
              <a:t>Pas de verrou SQL</a:t>
            </a:r>
            <a:r>
              <a:rPr sz="1200" b="0" i="0">
                <a:solidFill>
                  <a:srgbClr val="2D3A3A"/>
                </a:solidFill>
                <a:latin typeface="Calibri"/>
              </a:rPr>
              <a:t> (</a:t>
            </a:r>
            <a:r>
              <a:rPr sz="1200" b="0" i="0">
                <a:solidFill>
                  <a:srgbClr val="2D3A3A"/>
                </a:solidFill>
                <a:latin typeface="Consolas"/>
              </a:rPr>
              <a:t>SELECT FOR UPDATE</a:t>
            </a:r>
            <a:r>
              <a:rPr sz="1200" b="0" i="0">
                <a:solidFill>
                  <a:srgbClr val="2D3A3A"/>
                </a:solidFill>
                <a:latin typeface="Calibri"/>
              </a:rPr>
              <a:t>) : meilleure performance</a:t>
            </a:r>
          </a:p>
          <a:p>
            <a:pPr>
              <a:spcBef>
                <a:spcPts val="200"/>
              </a:spcBef>
              <a:spcAft>
                <a:spcPts val="200"/>
              </a:spcAft>
            </a:pPr>
            <a:r>
              <a:rPr sz="1200" b="0" i="0">
                <a:solidFill>
                  <a:srgbClr val="2D3A3A"/>
                </a:solidFill>
                <a:latin typeface="Calibri"/>
              </a:rPr>
              <a:t>• </a:t>
            </a:r>
            <a:r>
              <a:rPr sz="1200" b="1" i="0">
                <a:solidFill>
                  <a:srgbClr val="2D3A3A"/>
                </a:solidFill>
                <a:latin typeface="Calibri"/>
              </a:rPr>
              <a:t>`OptimisticLockException`</a:t>
            </a:r>
            <a:r>
              <a:rPr sz="1200" b="0" i="0">
                <a:solidFill>
                  <a:srgbClr val="2D3A3A"/>
                </a:solidFill>
                <a:latin typeface="Calibri"/>
              </a:rPr>
              <a:t> → 409 Conflict côté client</a:t>
            </a:r>
          </a:p>
        </p:txBody>
      </p:sp>
      <p:sp>
        <p:nvSpPr>
          <p:cNvPr id="8" name="TextBox 7"/>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593757">
            <a:off x="-7871390" y="-2369047"/>
            <a:ext cx="21312191" cy="15025095"/>
          </a:xfrm>
          <a:custGeom>
            <a:avLst/>
            <a:gdLst/>
            <a:ahLst/>
            <a:cxnLst/>
            <a:rect l="l" t="t" r="r" b="b"/>
            <a:pathLst>
              <a:path w="21312191" h="15025095">
                <a:moveTo>
                  <a:pt x="0" y="0"/>
                </a:moveTo>
                <a:lnTo>
                  <a:pt x="21312192" y="0"/>
                </a:lnTo>
                <a:lnTo>
                  <a:pt x="21312192" y="15025094"/>
                </a:lnTo>
                <a:lnTo>
                  <a:pt x="0" y="15025094"/>
                </a:lnTo>
                <a:lnTo>
                  <a:pt x="0" y="0"/>
                </a:lnTo>
                <a:close/>
              </a:path>
            </a:pathLst>
          </a:custGeom>
          <a:blipFill>
            <a:blip/>
            <a:stretch>
              <a:fillRect/>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Table Exposed : ContributionTable</a:t>
            </a:r>
          </a:p>
        </p:txBody>
      </p:sp>
      <p:sp>
        <p:nvSpPr>
          <p:cNvPr id="6" name="TextBox 5"/>
          <p:cNvSpPr txBox="1"/>
          <p:nvPr/>
        </p:nvSpPr>
        <p:spPr>
          <a:xfrm>
            <a:off x="731520" y="1280160"/>
            <a:ext cx="8046720" cy="3008376"/>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infrastructure/contribution/common/driven/ContributionTable.kt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object ContributionTable : UUIDTable("configuration.contribution", "id") {</a:t>
            </a:r>
          </a:p>
          <a:p>
            <a:pPr>
              <a:spcBef>
                <a:spcPts val="0"/>
              </a:spcBef>
              <a:spcAft>
                <a:spcPts val="0"/>
              </a:spcAft>
            </a:pPr>
            <a:r>
              <a:rPr sz="900" b="0" i="0">
                <a:solidFill>
                  <a:srgbClr val="2D3A3A"/>
                </a:solidFill>
                <a:latin typeface="Consolas"/>
              </a:rPr>
              <a:t>  val participantId = uuid("participant_id").references(ParticipantTable.id)</a:t>
            </a:r>
          </a:p>
          <a:p>
            <a:pPr>
              <a:spcBef>
                <a:spcPts val="0"/>
              </a:spcBef>
              <a:spcAft>
                <a:spcPts val="0"/>
              </a:spcAft>
            </a:pPr>
            <a:r>
              <a:rPr sz="900" b="0" i="0">
                <a:solidFill>
                  <a:srgbClr val="2D3A3A"/>
                </a:solidFill>
                <a:latin typeface="Consolas"/>
              </a:rPr>
              <a:t>  val resourceId = uuid("resource_id").references(ResourceTable.id)</a:t>
            </a:r>
          </a:p>
          <a:p>
            <a:pPr>
              <a:spcBef>
                <a:spcPts val="0"/>
              </a:spcBef>
              <a:spcAft>
                <a:spcPts val="0"/>
              </a:spcAft>
            </a:pPr>
            <a:r>
              <a:rPr sz="900" b="0" i="0">
                <a:solidFill>
                  <a:srgbClr val="2D3A3A"/>
                </a:solidFill>
                <a:latin typeface="Consolas"/>
              </a:rPr>
              <a:t>  val quantity = integer("quantity")</a:t>
            </a:r>
          </a:p>
          <a:p>
            <a:pPr>
              <a:spcBef>
                <a:spcPts val="0"/>
              </a:spcBef>
              <a:spcAft>
                <a:spcPts val="0"/>
              </a:spcAft>
            </a:pPr>
            <a:r>
              <a:rPr sz="900" b="0" i="0">
                <a:solidFill>
                  <a:srgbClr val="2D3A3A"/>
                </a:solidFill>
                <a:latin typeface="Consolas"/>
              </a:rPr>
              <a:t>  val createdAt = timestamp("created_at")</a:t>
            </a:r>
          </a:p>
          <a:p>
            <a:pPr>
              <a:spcBef>
                <a:spcPts val="0"/>
              </a:spcBef>
              <a:spcAft>
                <a:spcPts val="0"/>
              </a:spcAft>
            </a:pPr>
            <a:r>
              <a:rPr sz="900" b="0" i="0">
                <a:solidFill>
                  <a:srgbClr val="2D3A3A"/>
                </a:solidFill>
                <a:latin typeface="Consolas"/>
              </a:rPr>
              <a:t>  val updatedAt = timestamp("updated_at")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init {</a:t>
            </a:r>
          </a:p>
          <a:p>
            <a:pPr>
              <a:spcBef>
                <a:spcPts val="0"/>
              </a:spcBef>
              <a:spcAft>
                <a:spcPts val="0"/>
              </a:spcAft>
            </a:pPr>
            <a:r>
              <a:rPr sz="900" b="0" i="0">
                <a:solidFill>
                  <a:srgbClr val="2D3A3A"/>
                </a:solidFill>
                <a:latin typeface="Consolas"/>
              </a:rPr>
              <a:t>    uniqueIndex("uq_contribution_participant_resource", participantId, resourceId)</a:t>
            </a:r>
          </a:p>
          <a:p>
            <a:pPr>
              <a:spcBef>
                <a:spcPts val="0"/>
              </a:spcBef>
              <a:spcAft>
                <a:spcPts val="0"/>
              </a:spcAft>
            </a:pPr>
            <a:r>
              <a:rPr sz="900" b="0" i="0">
                <a:solidFill>
                  <a:srgbClr val="2D3A3A"/>
                </a:solidFill>
                <a:latin typeface="Consolas"/>
              </a:rPr>
              <a:t>    index("idx_contribution_participant", false, participantId)</a:t>
            </a:r>
          </a:p>
          <a:p>
            <a:pPr>
              <a:spcBef>
                <a:spcPts val="0"/>
              </a:spcBef>
              <a:spcAft>
                <a:spcPts val="0"/>
              </a:spcAft>
            </a:pPr>
            <a:r>
              <a:rPr sz="900" b="0" i="0">
                <a:solidFill>
                  <a:srgbClr val="2D3A3A"/>
                </a:solidFill>
                <a:latin typeface="Consolas"/>
              </a:rPr>
              <a:t>    index("idx_contribution_resource", false, resourceId)</a:t>
            </a:r>
          </a:p>
          <a:p>
            <a:pPr>
              <a:spcBef>
                <a:spcPts val="0"/>
              </a:spcBef>
              <a:spcAft>
                <a:spcPts val="0"/>
              </a:spcAft>
            </a:pPr>
            <a:r>
              <a:rPr sz="900" b="0" i="0">
                <a:solidFill>
                  <a:srgbClr val="2D3A3A"/>
                </a:solidFill>
                <a:latin typeface="Consolas"/>
              </a:rPr>
              <a:t>    check("chk_quantity_positive") { quantity greater 0 }</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a:t>
            </a:r>
          </a:p>
        </p:txBody>
      </p:sp>
      <p:sp>
        <p:nvSpPr>
          <p:cNvPr id="7" name="TextBox 6"/>
          <p:cNvSpPr txBox="1"/>
          <p:nvPr/>
        </p:nvSpPr>
        <p:spPr>
          <a:xfrm>
            <a:off x="9326880" y="1280160"/>
            <a:ext cx="8046720" cy="1027785"/>
          </a:xfrm>
          <a:prstGeom prst="rect">
            <a:avLst/>
          </a:prstGeom>
          <a:noFill/>
        </p:spPr>
        <p:txBody>
          <a:bodyPr wrap="square">
            <a:spAutoFit/>
          </a:bodyPr>
          <a:lstStyle/>
          <a:p>
            <a:pPr>
              <a:spcBef>
                <a:spcPts val="200"/>
              </a:spcBef>
              <a:spcAft>
                <a:spcPts val="200"/>
              </a:spcAft>
            </a:pPr>
            <a:r>
              <a:rPr sz="1200" b="0" i="0">
                <a:solidFill>
                  <a:srgbClr val="2D3A3A"/>
                </a:solidFill>
                <a:latin typeface="Calibri"/>
              </a:rPr>
              <a:t>• </a:t>
            </a:r>
            <a:r>
              <a:rPr sz="1200" b="1" i="0">
                <a:solidFill>
                  <a:srgbClr val="2D3A3A"/>
                </a:solidFill>
                <a:latin typeface="Calibri"/>
              </a:rPr>
              <a:t>`uniqueIndex` composite</a:t>
            </a:r>
            <a:r>
              <a:rPr sz="1200" b="0" i="0">
                <a:solidFill>
                  <a:srgbClr val="2D3A3A"/>
                </a:solidFill>
                <a:latin typeface="Calibri"/>
              </a:rPr>
              <a:t> : un participant ne contribue qu'une fois par ressource</a:t>
            </a:r>
          </a:p>
          <a:p>
            <a:pPr>
              <a:spcBef>
                <a:spcPts val="200"/>
              </a:spcBef>
              <a:spcAft>
                <a:spcPts val="200"/>
              </a:spcAft>
            </a:pPr>
            <a:r>
              <a:rPr sz="1200" b="0" i="0">
                <a:solidFill>
                  <a:srgbClr val="2D3A3A"/>
                </a:solidFill>
                <a:latin typeface="Calibri"/>
              </a:rPr>
              <a:t>• </a:t>
            </a:r>
            <a:r>
              <a:rPr sz="1200" b="1" i="0">
                <a:solidFill>
                  <a:srgbClr val="2D3A3A"/>
                </a:solidFill>
                <a:latin typeface="Calibri"/>
              </a:rPr>
              <a:t>`check` constraint</a:t>
            </a:r>
            <a:r>
              <a:rPr sz="1200" b="0" i="0">
                <a:solidFill>
                  <a:srgbClr val="2D3A3A"/>
                </a:solidFill>
                <a:latin typeface="Calibri"/>
              </a:rPr>
              <a:t> : quantités strictement positives</a:t>
            </a:r>
          </a:p>
          <a:p>
            <a:pPr>
              <a:spcBef>
                <a:spcPts val="200"/>
              </a:spcBef>
              <a:spcAft>
                <a:spcPts val="200"/>
              </a:spcAft>
            </a:pPr>
            <a:r>
              <a:rPr sz="1200" b="0" i="0">
                <a:solidFill>
                  <a:srgbClr val="2D3A3A"/>
                </a:solidFill>
                <a:latin typeface="Calibri"/>
              </a:rPr>
              <a:t>• </a:t>
            </a:r>
            <a:r>
              <a:rPr sz="1200" b="1" i="0">
                <a:solidFill>
                  <a:srgbClr val="2D3A3A"/>
                </a:solidFill>
                <a:latin typeface="Calibri"/>
              </a:rPr>
              <a:t>FK + index</a:t>
            </a:r>
            <a:r>
              <a:rPr sz="1200" b="0" i="0">
                <a:solidFill>
                  <a:srgbClr val="2D3A3A"/>
                </a:solidFill>
                <a:latin typeface="Calibri"/>
              </a:rPr>
              <a:t> : intégrité référentielle + performance des requêtes</a:t>
            </a:r>
          </a:p>
        </p:txBody>
      </p:sp>
      <p:sp>
        <p:nvSpPr>
          <p:cNvPr id="8" name="TextBox 7"/>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853535">
            <a:off x="6056554" y="-2160610"/>
            <a:ext cx="20810414" cy="21504485"/>
          </a:xfrm>
          <a:custGeom>
            <a:avLst/>
            <a:gdLst/>
            <a:ahLst/>
            <a:cxnLst/>
            <a:rect l="l" t="t" r="r" b="b"/>
            <a:pathLst>
              <a:path w="20810414" h="21504485">
                <a:moveTo>
                  <a:pt x="0" y="0"/>
                </a:moveTo>
                <a:lnTo>
                  <a:pt x="20810413" y="0"/>
                </a:lnTo>
                <a:lnTo>
                  <a:pt x="20810413" y="21504486"/>
                </a:lnTo>
                <a:lnTo>
                  <a:pt x="0" y="21504486"/>
                </a:lnTo>
                <a:lnTo>
                  <a:pt x="0" y="0"/>
                </a:lnTo>
                <a:close/>
              </a:path>
            </a:pathLst>
          </a:custGeom>
          <a:blipFill>
            <a:blip/>
            <a:stretch>
              <a:fillRect l="-1203" t="-3998" r="-1203"/>
            </a:stretch>
          </a:blipFill>
        </p:spPr>
        <p:txBody>
          <a:bodyPr/>
          <a:lstStyle/>
          <a:p>
            <a:endParaRPr lang="en-US" dirty="0"/>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Repository : SqlContributionRepository</a:t>
            </a:r>
          </a:p>
        </p:txBody>
      </p:sp>
      <p:sp>
        <p:nvSpPr>
          <p:cNvPr id="6" name="TextBox 5"/>
          <p:cNvSpPr txBox="1"/>
          <p:nvPr/>
        </p:nvSpPr>
        <p:spPr>
          <a:xfrm>
            <a:off x="731520" y="1280160"/>
            <a:ext cx="8046720" cy="1027785"/>
          </a:xfrm>
          <a:prstGeom prst="rect">
            <a:avLst/>
          </a:prstGeom>
          <a:noFill/>
        </p:spPr>
        <p:txBody>
          <a:bodyPr wrap="square">
            <a:spAutoFit/>
          </a:bodyPr>
          <a:lstStyle/>
          <a:p>
            <a:pPr>
              <a:spcBef>
                <a:spcPts val="200"/>
              </a:spcBef>
              <a:spcAft>
                <a:spcPts val="200"/>
              </a:spcAft>
            </a:pPr>
            <a:r>
              <a:rPr sz="1200" b="0" i="0">
                <a:solidFill>
                  <a:srgbClr val="2D3A3A"/>
                </a:solidFill>
                <a:latin typeface="Calibri"/>
              </a:rPr>
              <a:t>• Pattern </a:t>
            </a:r>
            <a:r>
              <a:rPr sz="1200" b="1" i="0">
                <a:solidFill>
                  <a:srgbClr val="2D3A3A"/>
                </a:solidFill>
                <a:latin typeface="Calibri"/>
              </a:rPr>
              <a:t>Repository</a:t>
            </a:r>
            <a:r>
              <a:rPr sz="1200" b="0" i="0">
                <a:solidFill>
                  <a:srgbClr val="2D3A3A"/>
                </a:solidFill>
                <a:latin typeface="Calibri"/>
              </a:rPr>
              <a:t> : interface dans le domaine, implémentation SQL ici</a:t>
            </a:r>
          </a:p>
          <a:p>
            <a:pPr>
              <a:spcBef>
                <a:spcPts val="200"/>
              </a:spcBef>
              <a:spcAft>
                <a:spcPts val="200"/>
              </a:spcAft>
            </a:pPr>
            <a:r>
              <a:rPr sz="1200" b="0" i="0">
                <a:solidFill>
                  <a:srgbClr val="2D3A3A"/>
                </a:solidFill>
                <a:latin typeface="Calibri"/>
              </a:rPr>
              <a:t>• Chaque opération dans une </a:t>
            </a:r>
            <a:r>
              <a:rPr sz="1200" b="1" i="0">
                <a:solidFill>
                  <a:srgbClr val="2D3A3A"/>
                </a:solidFill>
                <a:latin typeface="Calibri"/>
              </a:rPr>
              <a:t>transaction</a:t>
            </a:r>
            <a:r>
              <a:rPr sz="1200" b="0" i="0">
                <a:solidFill>
                  <a:srgbClr val="2D3A3A"/>
                </a:solidFill>
                <a:latin typeface="Calibri"/>
              </a:rPr>
              <a:t> Exposed</a:t>
            </a:r>
          </a:p>
          <a:p>
            <a:pPr>
              <a:spcBef>
                <a:spcPts val="200"/>
              </a:spcBef>
              <a:spcAft>
                <a:spcPts val="200"/>
              </a:spcAft>
            </a:pPr>
            <a:r>
              <a:rPr sz="1200" b="0" i="0">
                <a:solidFill>
                  <a:srgbClr val="2D3A3A"/>
                </a:solidFill>
                <a:latin typeface="Calibri"/>
              </a:rPr>
              <a:t>• Requêtes </a:t>
            </a:r>
            <a:r>
              <a:rPr sz="1200" b="1" i="0">
                <a:solidFill>
                  <a:srgbClr val="2D3A3A"/>
                </a:solidFill>
                <a:latin typeface="Calibri"/>
              </a:rPr>
              <a:t>paramétrées</a:t>
            </a:r>
            <a:r>
              <a:rPr sz="1200" b="0" i="0">
                <a:solidFill>
                  <a:srgbClr val="2D3A3A"/>
                </a:solidFill>
                <a:latin typeface="Calibri"/>
              </a:rPr>
              <a:t> automatiquement (protection injection SQL)</a:t>
            </a:r>
          </a:p>
        </p:txBody>
      </p:sp>
      <p:sp>
        <p:nvSpPr>
          <p:cNvPr id="7" name="TextBox 6"/>
          <p:cNvSpPr txBox="1"/>
          <p:nvPr/>
        </p:nvSpPr>
        <p:spPr>
          <a:xfrm>
            <a:off x="9326880" y="1280160"/>
            <a:ext cx="8046720" cy="4224528"/>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infrastructure/contribution/common/driven/SqlContributionRepository.kt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override fun addOrUpdate(</a:t>
            </a:r>
          </a:p>
          <a:p>
            <a:pPr>
              <a:spcBef>
                <a:spcPts val="0"/>
              </a:spcBef>
              <a:spcAft>
                <a:spcPts val="0"/>
              </a:spcAft>
            </a:pPr>
            <a:r>
              <a:rPr sz="900" b="0" i="0">
                <a:solidFill>
                  <a:srgbClr val="2D3A3A"/>
                </a:solidFill>
                <a:latin typeface="Consolas"/>
              </a:rPr>
              <a:t>  participant: Participant, request: AddContributionRequest,</a:t>
            </a:r>
          </a:p>
          <a:p>
            <a:pPr>
              <a:spcBef>
                <a:spcPts val="0"/>
              </a:spcBef>
              <a:spcAft>
                <a:spcPts val="0"/>
              </a:spcAft>
            </a:pPr>
            <a:r>
              <a:rPr sz="900" b="0" i="0">
                <a:solidFill>
                  <a:srgbClr val="2D3A3A"/>
                </a:solidFill>
                <a:latin typeface="Consolas"/>
              </a:rPr>
              <a:t>): Either&lt;AddContributionException, Contribution&gt; {</a:t>
            </a:r>
          </a:p>
          <a:p>
            <a:pPr>
              <a:spcBef>
                <a:spcPts val="0"/>
              </a:spcBef>
              <a:spcAft>
                <a:spcPts val="0"/>
              </a:spcAft>
            </a:pPr>
            <a:r>
              <a:rPr sz="900" b="0" i="0">
                <a:solidFill>
                  <a:srgbClr val="2D3A3A"/>
                </a:solidFill>
                <a:latin typeface="Consolas"/>
              </a:rPr>
              <a:t>  return Either.catch {</a:t>
            </a:r>
          </a:p>
          <a:p>
            <a:pPr>
              <a:spcBef>
                <a:spcPts val="0"/>
              </a:spcBef>
              <a:spcAft>
                <a:spcPts val="0"/>
              </a:spcAft>
            </a:pPr>
            <a:r>
              <a:rPr sz="900" b="0" i="0">
                <a:solidFill>
                  <a:srgbClr val="2D3A3A"/>
                </a:solidFill>
                <a:latin typeface="Consolas"/>
              </a:rPr>
              <a:t>    transaction(exposedDatabase.database) {</a:t>
            </a:r>
          </a:p>
          <a:p>
            <a:pPr>
              <a:spcBef>
                <a:spcPts val="0"/>
              </a:spcBef>
              <a:spcAft>
                <a:spcPts val="0"/>
              </a:spcAft>
            </a:pPr>
            <a:r>
              <a:rPr sz="900" b="0" i="0">
                <a:solidFill>
                  <a:srgbClr val="2D3A3A"/>
                </a:solidFill>
                <a:latin typeface="Consolas"/>
              </a:rPr>
              <a:t>      // Rechercher une contribution existante</a:t>
            </a:r>
          </a:p>
          <a:p>
            <a:pPr>
              <a:spcBef>
                <a:spcPts val="0"/>
              </a:spcBef>
              <a:spcAft>
                <a:spcPts val="0"/>
              </a:spcAft>
            </a:pPr>
            <a:r>
              <a:rPr sz="900" b="0" i="0">
                <a:solidFill>
                  <a:srgbClr val="2D3A3A"/>
                </a:solidFill>
                <a:latin typeface="Consolas"/>
              </a:rPr>
              <a:t>      val existing = ContributionTable.selectAll().where {</a:t>
            </a:r>
          </a:p>
          <a:p>
            <a:pPr>
              <a:spcBef>
                <a:spcPts val="0"/>
              </a:spcBef>
              <a:spcAft>
                <a:spcPts val="0"/>
              </a:spcAft>
            </a:pPr>
            <a:r>
              <a:rPr sz="900" b="0" i="0">
                <a:solidFill>
                  <a:srgbClr val="2D3A3A"/>
                </a:solidFill>
                <a:latin typeface="Consolas"/>
              </a:rPr>
              <a:t>        (ContributionTable.participantId eq participant.identifier) and</a:t>
            </a:r>
          </a:p>
          <a:p>
            <a:pPr>
              <a:spcBef>
                <a:spcPts val="0"/>
              </a:spcBef>
              <a:spcAft>
                <a:spcPts val="0"/>
              </a:spcAft>
            </a:pPr>
            <a:r>
              <a:rPr sz="900" b="0" i="0">
                <a:solidFill>
                  <a:srgbClr val="2D3A3A"/>
                </a:solidFill>
                <a:latin typeface="Consolas"/>
              </a:rPr>
              <a:t>          (ContributionTable.resourceId eq request.resourceId)</a:t>
            </a:r>
          </a:p>
          <a:p>
            <a:pPr>
              <a:spcBef>
                <a:spcPts val="0"/>
              </a:spcBef>
              <a:spcAft>
                <a:spcPts val="0"/>
              </a:spcAft>
            </a:pPr>
            <a:r>
              <a:rPr sz="900" b="0" i="0">
                <a:solidFill>
                  <a:srgbClr val="2D3A3A"/>
                </a:solidFill>
                <a:latin typeface="Consolas"/>
              </a:rPr>
              <a:t>      }.singleOrNull()</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if (existing != null) {</a:t>
            </a:r>
          </a:p>
          <a:p>
            <a:pPr>
              <a:spcBef>
                <a:spcPts val="0"/>
              </a:spcBef>
              <a:spcAft>
                <a:spcPts val="0"/>
              </a:spcAft>
            </a:pPr>
            <a:r>
              <a:rPr sz="900" b="0" i="0">
                <a:solidFill>
                  <a:srgbClr val="2D3A3A"/>
                </a:solidFill>
                <a:latin typeface="Consolas"/>
              </a:rPr>
              <a:t>        // Mise à jour de la quantité</a:t>
            </a:r>
          </a:p>
          <a:p>
            <a:pPr>
              <a:spcBef>
                <a:spcPts val="0"/>
              </a:spcBef>
              <a:spcAft>
                <a:spcPts val="0"/>
              </a:spcAft>
            </a:pPr>
            <a:r>
              <a:rPr sz="900" b="0" i="0">
                <a:solidFill>
                  <a:srgbClr val="2D3A3A"/>
                </a:solidFill>
                <a:latin typeface="Consolas"/>
              </a:rPr>
              <a:t>        ContributionTable.update({</a:t>
            </a:r>
          </a:p>
          <a:p>
            <a:pPr>
              <a:spcBef>
                <a:spcPts val="0"/>
              </a:spcBef>
              <a:spcAft>
                <a:spcPts val="0"/>
              </a:spcAft>
            </a:pPr>
            <a:r>
              <a:rPr sz="900" b="0" i="0">
                <a:solidFill>
                  <a:srgbClr val="2D3A3A"/>
                </a:solidFill>
                <a:latin typeface="Consolas"/>
              </a:rPr>
              <a:t>          ContributionTable.id eq existing[ContributionTable.id]</a:t>
            </a:r>
          </a:p>
          <a:p>
            <a:pPr>
              <a:spcBef>
                <a:spcPts val="0"/>
              </a:spcBef>
              <a:spcAft>
                <a:spcPts val="0"/>
              </a:spcAft>
            </a:pPr>
            <a:r>
              <a:rPr sz="900" b="0" i="0">
                <a:solidFill>
                  <a:srgbClr val="2D3A3A"/>
                </a:solidFill>
                <a:latin typeface="Consolas"/>
              </a:rPr>
              <a:t>        }) {</a:t>
            </a:r>
          </a:p>
          <a:p>
            <a:pPr>
              <a:spcBef>
                <a:spcPts val="0"/>
              </a:spcBef>
              <a:spcAft>
                <a:spcPts val="0"/>
              </a:spcAft>
            </a:pPr>
            <a:r>
              <a:rPr sz="900" b="0" i="0">
                <a:solidFill>
                  <a:srgbClr val="2D3A3A"/>
                </a:solidFill>
                <a:latin typeface="Consolas"/>
              </a:rPr>
              <a:t>          it[quantity] = request.quantity</a:t>
            </a:r>
          </a:p>
          <a:p>
            <a:pPr>
              <a:spcBef>
                <a:spcPts val="0"/>
              </a:spcBef>
              <a:spcAft>
                <a:spcPts val="0"/>
              </a:spcAft>
            </a:pPr>
            <a:r>
              <a:rPr sz="900" b="0" i="0">
                <a:solidFill>
                  <a:srgbClr val="2D3A3A"/>
                </a:solidFill>
                <a:latin typeface="Consolas"/>
              </a:rPr>
              <a:t>          it[updatedAt] = clock.instant()</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 else {</a:t>
            </a:r>
          </a:p>
          <a:p>
            <a:pPr>
              <a:spcBef>
                <a:spcPts val="0"/>
              </a:spcBef>
              <a:spcAft>
                <a:spcPts val="0"/>
              </a:spcAft>
            </a:pPr>
            <a:r>
              <a:rPr sz="900" b="0" i="0">
                <a:solidFill>
                  <a:srgbClr val="2D3A3A"/>
                </a:solidFill>
                <a:latin typeface="Consolas"/>
              </a:rPr>
              <a:t>// ...</a:t>
            </a:r>
          </a:p>
        </p:txBody>
      </p:sp>
      <p:sp>
        <p:nvSpPr>
          <p:cNvPr id="8" name="TextBox 7"/>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16654075" y="1183089"/>
            <a:ext cx="16786266" cy="17346124"/>
          </a:xfrm>
          <a:custGeom>
            <a:avLst/>
            <a:gdLst/>
            <a:ahLst/>
            <a:cxnLst/>
            <a:rect l="l" t="t" r="r" b="b"/>
            <a:pathLst>
              <a:path w="16786266" h="17346124">
                <a:moveTo>
                  <a:pt x="0" y="0"/>
                </a:moveTo>
                <a:lnTo>
                  <a:pt x="16786265" y="0"/>
                </a:lnTo>
                <a:lnTo>
                  <a:pt x="16786265" y="17346123"/>
                </a:lnTo>
                <a:lnTo>
                  <a:pt x="0" y="17346123"/>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3403139" y="-867306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1180952" y="9451718"/>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5714056" y="8851957"/>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Transactions et intégrité des données</a:t>
            </a:r>
          </a:p>
        </p:txBody>
      </p:sp>
      <p:sp>
        <p:nvSpPr>
          <p:cNvPr id="9" name="TextBox 8"/>
          <p:cNvSpPr txBox="1"/>
          <p:nvPr/>
        </p:nvSpPr>
        <p:spPr>
          <a:xfrm>
            <a:off x="914400" y="1280160"/>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Défense en profondeur</a:t>
            </a:r>
          </a:p>
        </p:txBody>
      </p:sp>
      <p:graphicFrame>
        <p:nvGraphicFramePr>
          <p:cNvPr id="10" name="Table 9"/>
          <p:cNvGraphicFramePr>
            <a:graphicFrameLocks noGrp="1"/>
          </p:cNvGraphicFramePr>
          <p:nvPr/>
        </p:nvGraphicFramePr>
        <p:xfrm>
          <a:off x="914400" y="2015337"/>
          <a:ext cx="16002000" cy="1783079"/>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297179">
                <a:tc>
                  <a:txBody>
                    <a:bodyPr/>
                    <a:lstStyle/>
                    <a:p>
                      <a:pPr>
                        <a:defRPr sz="1000" b="1">
                          <a:solidFill>
                            <a:srgbClr val="3D5A6C"/>
                          </a:solidFill>
                        </a:defRPr>
                      </a:pPr>
                      <a:r>
                        <a:t>Mécanisme</a:t>
                      </a:r>
                    </a:p>
                  </a:txBody>
                  <a:tcPr/>
                </a:tc>
                <a:tc>
                  <a:txBody>
                    <a:bodyPr/>
                    <a:lstStyle/>
                    <a:p>
                      <a:pPr>
                        <a:defRPr sz="1000" b="1">
                          <a:solidFill>
                            <a:srgbClr val="3D5A6C"/>
                          </a:solidFill>
                        </a:defRPr>
                      </a:pPr>
                      <a:r>
                        <a:t>Protection</a:t>
                      </a:r>
                    </a:p>
                  </a:txBody>
                  <a:tcPr/>
                </a:tc>
                <a:extLst>
                  <a:ext uri="{0D108BD9-81ED-4DB2-BD59-A6C34878D82A}">
                    <a16:rowId xmlns:a16="http://schemas.microsoft.com/office/drawing/2014/main" val="10000"/>
                  </a:ext>
                </a:extLst>
              </a:tr>
              <a:tr h="297179">
                <a:tc>
                  <a:txBody>
                    <a:bodyPr/>
                    <a:lstStyle/>
                    <a:p>
                      <a:pPr>
                        <a:defRPr sz="1000">
                          <a:solidFill>
                            <a:srgbClr val="2D3A3A"/>
                          </a:solidFill>
                        </a:defRPr>
                      </a:pPr>
                      <a:r>
                        <a:t>Verrou optimiste</a:t>
                      </a:r>
                    </a:p>
                  </a:txBody>
                  <a:tcPr/>
                </a:tc>
                <a:tc>
                  <a:txBody>
                    <a:bodyPr/>
                    <a:lstStyle/>
                    <a:p>
                      <a:pPr>
                        <a:defRPr sz="1000">
                          <a:solidFill>
                            <a:srgbClr val="2D3A3A"/>
                          </a:solidFill>
                        </a:defRPr>
                      </a:pPr>
                      <a:r>
                        <a:t>Empêche les mises à jour concurrentes silencieuses</a:t>
                      </a:r>
                    </a:p>
                  </a:txBody>
                  <a:tcPr/>
                </a:tc>
                <a:extLst>
                  <a:ext uri="{0D108BD9-81ED-4DB2-BD59-A6C34878D82A}">
                    <a16:rowId xmlns:a16="http://schemas.microsoft.com/office/drawing/2014/main" val="10001"/>
                  </a:ext>
                </a:extLst>
              </a:tr>
              <a:tr h="297179">
                <a:tc>
                  <a:txBody>
                    <a:bodyPr/>
                    <a:lstStyle/>
                    <a:p>
                      <a:pPr>
                        <a:defRPr sz="1000">
                          <a:solidFill>
                            <a:srgbClr val="2D3A3A"/>
                          </a:solidFill>
                        </a:defRPr>
                      </a:pPr>
                      <a:r>
                        <a:t>FK CASCADE</a:t>
                      </a:r>
                    </a:p>
                  </a:txBody>
                  <a:tcPr/>
                </a:tc>
                <a:tc>
                  <a:txBody>
                    <a:bodyPr/>
                    <a:lstStyle/>
                    <a:p>
                      <a:pPr>
                        <a:defRPr sz="1000">
                          <a:solidFill>
                            <a:srgbClr val="2D3A3A"/>
                          </a:solidFill>
                        </a:defRPr>
                      </a:pPr>
                      <a:r>
                        <a:t>Suppression événement → cascade contributions → ressources → participants</a:t>
                      </a:r>
                    </a:p>
                  </a:txBody>
                  <a:tcPr/>
                </a:tc>
                <a:extLst>
                  <a:ext uri="{0D108BD9-81ED-4DB2-BD59-A6C34878D82A}">
                    <a16:rowId xmlns:a16="http://schemas.microsoft.com/office/drawing/2014/main" val="10002"/>
                  </a:ext>
                </a:extLst>
              </a:tr>
              <a:tr h="297179">
                <a:tc>
                  <a:txBody>
                    <a:bodyPr/>
                    <a:lstStyle/>
                    <a:p>
                      <a:pPr>
                        <a:defRPr sz="1000">
                          <a:solidFill>
                            <a:srgbClr val="2D3A3A"/>
                          </a:solidFill>
                        </a:defRPr>
                      </a:pPr>
                      <a:r>
                        <a:t>UNIQUE composite</a:t>
                      </a:r>
                    </a:p>
                  </a:txBody>
                  <a:tcPr/>
                </a:tc>
                <a:tc>
                  <a:txBody>
                    <a:bodyPr/>
                    <a:lstStyle/>
                    <a:p>
                      <a:pPr>
                        <a:defRPr sz="1000">
                          <a:solidFill>
                            <a:srgbClr val="2D3A3A"/>
                          </a:solidFill>
                        </a:defRPr>
                      </a:pPr>
                      <a:r>
                        <a:t>Un participant ne contribue qu'une fois par ressource</a:t>
                      </a:r>
                    </a:p>
                  </a:txBody>
                  <a:tcPr/>
                </a:tc>
                <a:extLst>
                  <a:ext uri="{0D108BD9-81ED-4DB2-BD59-A6C34878D82A}">
                    <a16:rowId xmlns:a16="http://schemas.microsoft.com/office/drawing/2014/main" val="10003"/>
                  </a:ext>
                </a:extLst>
              </a:tr>
              <a:tr h="297179">
                <a:tc>
                  <a:txBody>
                    <a:bodyPr/>
                    <a:lstStyle/>
                    <a:p>
                      <a:pPr>
                        <a:defRPr sz="1000">
                          <a:solidFill>
                            <a:srgbClr val="2D3A3A"/>
                          </a:solidFill>
                        </a:defRPr>
                      </a:pPr>
                      <a:r>
                        <a:t>CHECK constraint</a:t>
                      </a:r>
                    </a:p>
                  </a:txBody>
                  <a:tcPr/>
                </a:tc>
                <a:tc>
                  <a:txBody>
                    <a:bodyPr/>
                    <a:lstStyle/>
                    <a:p>
                      <a:pPr>
                        <a:defRPr sz="1000">
                          <a:solidFill>
                            <a:srgbClr val="2D3A3A"/>
                          </a:solidFill>
                        </a:defRPr>
                      </a:pPr>
                      <a:r>
                        <a:t>Quantités strictement positives (quantity &gt; 0)</a:t>
                      </a:r>
                    </a:p>
                  </a:txBody>
                  <a:tcPr/>
                </a:tc>
                <a:extLst>
                  <a:ext uri="{0D108BD9-81ED-4DB2-BD59-A6C34878D82A}">
                    <a16:rowId xmlns:a16="http://schemas.microsoft.com/office/drawing/2014/main" val="10004"/>
                  </a:ext>
                </a:extLst>
              </a:tr>
              <a:tr h="297184">
                <a:tc>
                  <a:txBody>
                    <a:bodyPr/>
                    <a:lstStyle/>
                    <a:p>
                      <a:pPr>
                        <a:defRPr sz="1000">
                          <a:solidFill>
                            <a:srgbClr val="2D3A3A"/>
                          </a:solidFill>
                        </a:defRPr>
                      </a:pPr>
                      <a:r>
                        <a:t>Transactions</a:t>
                      </a:r>
                    </a:p>
                  </a:txBody>
                  <a:tcPr/>
                </a:tc>
                <a:tc>
                  <a:txBody>
                    <a:bodyPr/>
                    <a:lstStyle/>
                    <a:p>
                      <a:pPr>
                        <a:defRPr sz="1000">
                          <a:solidFill>
                            <a:srgbClr val="2D3A3A"/>
                          </a:solidFill>
                        </a:defRPr>
                      </a:pPr>
                      <a:r>
                        <a:t>Chaque opération encapsulée dans transaction { }</a:t>
                      </a:r>
                    </a:p>
                  </a:txBody>
                  <a:tcPr/>
                </a:tc>
                <a:extLst>
                  <a:ext uri="{0D108BD9-81ED-4DB2-BD59-A6C34878D82A}">
                    <a16:rowId xmlns:a16="http://schemas.microsoft.com/office/drawing/2014/main" val="10005"/>
                  </a:ext>
                </a:extLst>
              </a:tr>
            </a:tbl>
          </a:graphicData>
        </a:graphic>
      </p:graphicFrame>
      <p:sp>
        <p:nvSpPr>
          <p:cNvPr id="11" name="TextBox 10"/>
          <p:cNvSpPr txBox="1"/>
          <p:nvPr/>
        </p:nvSpPr>
        <p:spPr>
          <a:xfrm>
            <a:off x="914400" y="3908145"/>
            <a:ext cx="16002000" cy="2051913"/>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Suppression en cascade (ordre imposé par les FK)</a:t>
            </a:r>
          </a:p>
          <a:p>
            <a:pPr>
              <a:spcBef>
                <a:spcPts val="200"/>
              </a:spcBef>
              <a:spcAft>
                <a:spcPts val="200"/>
              </a:spcAft>
            </a:pPr>
            <a:r>
              <a:rPr sz="1300" b="0" i="0">
                <a:solidFill>
                  <a:srgbClr val="2D3A3A"/>
                </a:solidFill>
                <a:latin typeface="Calibri"/>
              </a:rPr>
              <a:t>1. Supprimer les contributions (FK → participant + resource)</a:t>
            </a:r>
          </a:p>
          <a:p>
            <a:pPr>
              <a:spcBef>
                <a:spcPts val="200"/>
              </a:spcBef>
              <a:spcAft>
                <a:spcPts val="200"/>
              </a:spcAft>
            </a:pPr>
            <a:r>
              <a:rPr sz="1300" b="0" i="0">
                <a:solidFill>
                  <a:srgbClr val="2D3A3A"/>
                </a:solidFill>
                <a:latin typeface="Calibri"/>
              </a:rPr>
              <a:t>2. Supprimer les ressources (FK → event)</a:t>
            </a:r>
          </a:p>
          <a:p>
            <a:pPr>
              <a:spcBef>
                <a:spcPts val="200"/>
              </a:spcBef>
              <a:spcAft>
                <a:spcPts val="200"/>
              </a:spcAft>
            </a:pPr>
            <a:r>
              <a:rPr sz="1300" b="0" i="0">
                <a:solidFill>
                  <a:srgbClr val="2D3A3A"/>
                </a:solidFill>
                <a:latin typeface="Calibri"/>
              </a:rPr>
              <a:t>3. Supprimer les participants (FK → event)</a:t>
            </a:r>
          </a:p>
          <a:p>
            <a:pPr>
              <a:spcBef>
                <a:spcPts val="200"/>
              </a:spcBef>
              <a:spcAft>
                <a:spcPts val="200"/>
              </a:spcAft>
            </a:pPr>
            <a:r>
              <a:rPr sz="1300" b="0" i="0">
                <a:solidFill>
                  <a:srgbClr val="2D3A3A"/>
                </a:solidFill>
                <a:latin typeface="Calibri"/>
              </a:rPr>
              <a:t>4. Supprimer l'événement</a:t>
            </a:r>
          </a:p>
          <a:p>
            <a:pPr>
              <a:spcBef>
                <a:spcPts val="200"/>
              </a:spcBef>
              <a:spcAft>
                <a:spcPts val="200"/>
              </a:spcAft>
            </a:pPr>
            <a:r>
              <a:rPr sz="1300" b="0" i="0">
                <a:solidFill>
                  <a:srgbClr val="2D3A3A"/>
                </a:solidFill>
                <a:latin typeface="Calibri"/>
              </a:rPr>
              <a:t>L'ordre est géré manuellement dans </a:t>
            </a:r>
            <a:r>
              <a:rPr sz="1300" b="0" i="0">
                <a:solidFill>
                  <a:srgbClr val="2D3A3A"/>
                </a:solidFill>
                <a:latin typeface="Consolas"/>
              </a:rPr>
              <a:t>SqlEventRepository.delete</a:t>
            </a:r>
            <a:r>
              <a:rPr sz="1300" b="0" i="0">
                <a:solidFill>
                  <a:srgbClr val="2D3A3A"/>
                </a:solidFill>
                <a:latin typeface="Calibri"/>
              </a:rPr>
              <a:t> pour garder le contrôle sur la logique et les logs.</a:t>
            </a:r>
          </a:p>
        </p:txBody>
      </p:sp>
      <p:sp>
        <p:nvSpPr>
          <p:cNvPr id="12" name="TextBox 11"/>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2B5C73"/>
        </a:solidFill>
        <a:effectLst/>
      </p:bgPr>
    </p:bg>
    <p:spTree>
      <p:nvGrpSpPr>
        <p:cNvPr id="1" name=""/>
        <p:cNvGrpSpPr/>
        <p:nvPr/>
      </p:nvGrpSpPr>
      <p:grpSpPr>
        <a:xfrm>
          <a:off x="0" y="0"/>
          <a:ext cx="0" cy="0"/>
          <a:chOff x="0" y="0"/>
          <a:chExt cx="0" cy="0"/>
        </a:xfrm>
      </p:grpSpPr>
      <p:sp>
        <p:nvSpPr>
          <p:cNvPr id="2" name="TextBox 2"/>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p:nvSpPr>
        <p:spPr>
          <a:xfrm>
            <a:off x="-810449" y="4666508"/>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p:nvSpPr>
        <p:spPr>
          <a:xfrm>
            <a:off x="-658049" y="4818908"/>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extBox 4"/>
          <p:cNvSpPr txBox="1"/>
          <p:nvPr/>
        </p:nvSpPr>
        <p:spPr>
          <a:xfrm>
            <a:off x="1828800" y="3200400"/>
            <a:ext cx="14630400" cy="3657600"/>
          </a:xfrm>
          <a:prstGeom prst="rect">
            <a:avLst/>
          </a:prstGeom>
          <a:noFill/>
        </p:spPr>
        <p:txBody>
          <a:bodyPr wrap="square">
            <a:spAutoFit/>
          </a:bodyPr>
          <a:lstStyle/>
          <a:p>
            <a:pPr algn="ctr"/>
            <a:r>
              <a:rPr sz="2800" b="1" i="0">
                <a:solidFill>
                  <a:srgbClr val="FFFFFF"/>
                </a:solidFill>
                <a:latin typeface="Calibri"/>
              </a:rPr>
              <a:t>Réalisations — Autres composants</a:t>
            </a:r>
          </a:p>
        </p:txBody>
      </p:sp>
      <p:sp>
        <p:nvSpPr>
          <p:cNvPr id="6" name="TextBox 5"/>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853535">
            <a:off x="6056554" y="-2160610"/>
            <a:ext cx="20810414" cy="21504485"/>
          </a:xfrm>
          <a:custGeom>
            <a:avLst/>
            <a:gdLst/>
            <a:ahLst/>
            <a:cxnLst/>
            <a:rect l="l" t="t" r="r" b="b"/>
            <a:pathLst>
              <a:path w="20810414" h="21504485">
                <a:moveTo>
                  <a:pt x="0" y="0"/>
                </a:moveTo>
                <a:lnTo>
                  <a:pt x="20810413" y="0"/>
                </a:lnTo>
                <a:lnTo>
                  <a:pt x="20810413" y="21504486"/>
                </a:lnTo>
                <a:lnTo>
                  <a:pt x="0" y="21504486"/>
                </a:lnTo>
                <a:lnTo>
                  <a:pt x="0" y="0"/>
                </a:lnTo>
                <a:close/>
              </a:path>
            </a:pathLst>
          </a:custGeom>
          <a:blipFill>
            <a:blip/>
            <a:stretch>
              <a:fillRect l="-1203" t="-3998" r="-1203"/>
            </a:stretch>
          </a:blipFill>
        </p:spPr>
        <p:txBody>
          <a:bodyPr/>
          <a:lstStyle/>
          <a:p>
            <a:endParaRPr lang="en-US" dirty="0"/>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Authentification JWT : Plugin Ktor</a:t>
            </a:r>
          </a:p>
        </p:txBody>
      </p:sp>
      <p:sp>
        <p:nvSpPr>
          <p:cNvPr id="6" name="TextBox 5"/>
          <p:cNvSpPr txBox="1"/>
          <p:nvPr/>
        </p:nvSpPr>
        <p:spPr>
          <a:xfrm>
            <a:off x="731520" y="1280160"/>
            <a:ext cx="8046720" cy="1027785"/>
          </a:xfrm>
          <a:prstGeom prst="rect">
            <a:avLst/>
          </a:prstGeom>
          <a:noFill/>
        </p:spPr>
        <p:txBody>
          <a:bodyPr wrap="square">
            <a:spAutoFit/>
          </a:bodyPr>
          <a:lstStyle/>
          <a:p>
            <a:pPr>
              <a:spcBef>
                <a:spcPts val="200"/>
              </a:spcBef>
              <a:spcAft>
                <a:spcPts val="200"/>
              </a:spcAft>
            </a:pPr>
            <a:r>
              <a:rPr sz="1200" b="0" i="0">
                <a:solidFill>
                  <a:srgbClr val="2D3A3A"/>
                </a:solidFill>
                <a:latin typeface="Calibri"/>
              </a:rPr>
              <a:t>• </a:t>
            </a:r>
            <a:r>
              <a:rPr sz="1200" b="1" i="0">
                <a:solidFill>
                  <a:srgbClr val="2D3A3A"/>
                </a:solidFill>
                <a:latin typeface="Calibri"/>
              </a:rPr>
              <a:t>Plugin Ktor custom</a:t>
            </a:r>
            <a:r>
              <a:rPr sz="1200" b="0" i="0">
                <a:solidFill>
                  <a:srgbClr val="2D3A3A"/>
                </a:solidFill>
                <a:latin typeface="Calibri"/>
              </a:rPr>
              <a:t> : contrôle total sur le flux d'authentification</a:t>
            </a:r>
          </a:p>
          <a:p>
            <a:pPr>
              <a:spcBef>
                <a:spcPts val="200"/>
              </a:spcBef>
              <a:spcAft>
                <a:spcPts val="200"/>
              </a:spcAft>
            </a:pPr>
            <a:r>
              <a:rPr sz="1200" b="0" i="0">
                <a:solidFill>
                  <a:srgbClr val="2D3A3A"/>
                </a:solidFill>
                <a:latin typeface="Calibri"/>
              </a:rPr>
              <a:t>• </a:t>
            </a:r>
            <a:r>
              <a:rPr sz="1200" b="1" i="0">
                <a:solidFill>
                  <a:srgbClr val="2D3A3A"/>
                </a:solidFill>
                <a:latin typeface="Calibri"/>
              </a:rPr>
              <a:t>Triple validation</a:t>
            </a:r>
            <a:r>
              <a:rPr sz="1200" b="0" i="0">
                <a:solidFill>
                  <a:srgbClr val="2D3A3A"/>
                </a:solidFill>
                <a:latin typeface="Calibri"/>
              </a:rPr>
              <a:t> : issuer + audience + expiration</a:t>
            </a:r>
          </a:p>
          <a:p>
            <a:pPr>
              <a:spcBef>
                <a:spcPts val="200"/>
              </a:spcBef>
              <a:spcAft>
                <a:spcPts val="200"/>
              </a:spcAft>
            </a:pPr>
            <a:r>
              <a:rPr sz="1200" b="0" i="0">
                <a:solidFill>
                  <a:srgbClr val="2D3A3A"/>
                </a:solidFill>
                <a:latin typeface="Calibri"/>
              </a:rPr>
              <a:t>• </a:t>
            </a:r>
            <a:r>
              <a:rPr sz="1200" b="1" i="0">
                <a:solidFill>
                  <a:srgbClr val="2D3A3A"/>
                </a:solidFill>
                <a:latin typeface="Calibri"/>
              </a:rPr>
              <a:t>Secret</a:t>
            </a:r>
            <a:r>
              <a:rPr sz="1200" b="0" i="0">
                <a:solidFill>
                  <a:srgbClr val="2D3A3A"/>
                </a:solidFill>
                <a:latin typeface="Calibri"/>
              </a:rPr>
              <a:t> en variable d'environnement, jamais dans le code</a:t>
            </a:r>
          </a:p>
        </p:txBody>
      </p:sp>
      <p:sp>
        <p:nvSpPr>
          <p:cNvPr id="7" name="TextBox 6"/>
          <p:cNvSpPr txBox="1"/>
          <p:nvPr/>
        </p:nvSpPr>
        <p:spPr>
          <a:xfrm>
            <a:off x="9326880" y="1280160"/>
            <a:ext cx="8046720" cy="4224528"/>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infrastructure/technical/auth/JwtAuthenticationPlugin.kt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val JwtAuthenticationPlugin = createApplicationPlugin(</a:t>
            </a:r>
          </a:p>
          <a:p>
            <a:pPr>
              <a:spcBef>
                <a:spcPts val="0"/>
              </a:spcBef>
              <a:spcAft>
                <a:spcPts val="0"/>
              </a:spcAft>
            </a:pPr>
            <a:r>
              <a:rPr sz="900" b="0" i="0">
                <a:solidFill>
                  <a:srgbClr val="2D3A3A"/>
                </a:solidFill>
                <a:latin typeface="Consolas"/>
              </a:rPr>
              <a:t>  name = "JwtAuthenticationPlugin",</a:t>
            </a:r>
          </a:p>
          <a:p>
            <a:pPr>
              <a:spcBef>
                <a:spcPts val="0"/>
              </a:spcBef>
              <a:spcAft>
                <a:spcPts val="0"/>
              </a:spcAft>
            </a:pPr>
            <a:r>
              <a:rPr sz="900" b="0" i="0">
                <a:solidFill>
                  <a:srgbClr val="2D3A3A"/>
                </a:solidFill>
                <a:latin typeface="Consolas"/>
              </a:rPr>
              <a:t>  createConfiguration = ::JwtAuthConfig,</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val jwtService = pluginConfig.jwtService</a:t>
            </a:r>
          </a:p>
          <a:p>
            <a:pPr>
              <a:spcBef>
                <a:spcPts val="0"/>
              </a:spcBef>
              <a:spcAft>
                <a:spcPts val="0"/>
              </a:spcAft>
            </a:pPr>
            <a:r>
              <a:rPr sz="900" b="0" i="0">
                <a:solidFill>
                  <a:srgbClr val="2D3A3A"/>
                </a:solidFill>
                <a:latin typeface="Consolas"/>
              </a:rPr>
              <a:t>  onCall { call -&gt;</a:t>
            </a:r>
          </a:p>
          <a:p>
            <a:pPr>
              <a:spcBef>
                <a:spcPts val="0"/>
              </a:spcBef>
              <a:spcAft>
                <a:spcPts val="0"/>
              </a:spcAft>
            </a:pPr>
            <a:r>
              <a:rPr sz="900" b="0" i="0">
                <a:solidFill>
                  <a:srgbClr val="2D3A3A"/>
                </a:solidFill>
                <a:latin typeface="Consolas"/>
              </a:rPr>
              <a:t>    if (call.request.local.method == HttpMethod.Options ||</a:t>
            </a:r>
          </a:p>
          <a:p>
            <a:pPr>
              <a:spcBef>
                <a:spcPts val="0"/>
              </a:spcBef>
              <a:spcAft>
                <a:spcPts val="0"/>
              </a:spcAft>
            </a:pPr>
            <a:r>
              <a:rPr sz="900" b="0" i="0">
                <a:solidFill>
                  <a:srgbClr val="2D3A3A"/>
                </a:solidFill>
                <a:latin typeface="Consolas"/>
              </a:rPr>
              <a:t>        call.request.local.uri in PUBLIC_PATHS) return@onCall</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val token = extractBearerToken(call)</a:t>
            </a:r>
          </a:p>
          <a:p>
            <a:pPr>
              <a:spcBef>
                <a:spcPts val="0"/>
              </a:spcBef>
              <a:spcAft>
                <a:spcPts val="0"/>
              </a:spcAft>
            </a:pPr>
            <a:r>
              <a:rPr sz="900" b="0" i="0">
                <a:solidFill>
                  <a:srgbClr val="2D3A3A"/>
                </a:solidFill>
                <a:latin typeface="Consolas"/>
              </a:rPr>
              <a:t>    if (token == null) {</a:t>
            </a:r>
          </a:p>
          <a:p>
            <a:pPr>
              <a:spcBef>
                <a:spcPts val="0"/>
              </a:spcBef>
              <a:spcAft>
                <a:spcPts val="0"/>
              </a:spcAft>
            </a:pPr>
            <a:r>
              <a:rPr sz="900" b="0" i="0">
                <a:solidFill>
                  <a:srgbClr val="2D3A3A"/>
                </a:solidFill>
                <a:latin typeface="Consolas"/>
              </a:rPr>
              <a:t>      call.respond(HttpStatusCode.Unauthorized,</a:t>
            </a:r>
          </a:p>
          <a:p>
            <a:pPr>
              <a:spcBef>
                <a:spcPts val="0"/>
              </a:spcBef>
              <a:spcAft>
                <a:spcPts val="0"/>
              </a:spcAft>
            </a:pPr>
            <a:r>
              <a:rPr sz="900" b="0" i="0">
                <a:solidFill>
                  <a:srgbClr val="2D3A3A"/>
                </a:solidFill>
                <a:latin typeface="Consolas"/>
              </a:rPr>
              <a:t>        mapOf("type" to "MISSING_TOKEN", "message" to "..."))</a:t>
            </a:r>
          </a:p>
          <a:p>
            <a:pPr>
              <a:spcBef>
                <a:spcPts val="0"/>
              </a:spcBef>
              <a:spcAft>
                <a:spcPts val="0"/>
              </a:spcAft>
            </a:pPr>
            <a:r>
              <a:rPr sz="900" b="0" i="0">
                <a:solidFill>
                  <a:srgbClr val="2D3A3A"/>
                </a:solidFill>
                <a:latin typeface="Consolas"/>
              </a:rPr>
              <a:t>      return@onCall</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jwtService.validateToken(token).fold(</a:t>
            </a:r>
          </a:p>
          <a:p>
            <a:pPr>
              <a:spcBef>
                <a:spcPts val="0"/>
              </a:spcBef>
              <a:spcAft>
                <a:spcPts val="0"/>
              </a:spcAft>
            </a:pPr>
            <a:r>
              <a:rPr sz="900" b="0" i="0">
                <a:solidFill>
                  <a:srgbClr val="2D3A3A"/>
                </a:solidFill>
                <a:latin typeface="Consolas"/>
              </a:rPr>
              <a:t>      ifLeft  = { call.respond(HttpStatusCode.Unauthorized, ...) },</a:t>
            </a:r>
          </a:p>
          <a:p>
            <a:pPr>
              <a:spcBef>
                <a:spcPts val="0"/>
              </a:spcBef>
              <a:spcAft>
                <a:spcPts val="0"/>
              </a:spcAft>
            </a:pPr>
            <a:r>
              <a:rPr sz="900" b="0" i="0">
                <a:solidFill>
                  <a:srgbClr val="2D3A3A"/>
                </a:solidFill>
                <a:latin typeface="Consolas"/>
              </a:rPr>
              <a:t>      ifRight = { user -&gt; call.attributes.put(SupabaseAuthKey, user) },</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a:t>
            </a:r>
          </a:p>
        </p:txBody>
      </p:sp>
      <p:sp>
        <p:nvSpPr>
          <p:cNvPr id="8" name="TextBox 7"/>
          <p:cNvSpPr txBox="1"/>
          <p:nvPr/>
        </p:nvSpPr>
        <p:spPr>
          <a:xfrm>
            <a:off x="9326880" y="5596127"/>
            <a:ext cx="8046720" cy="2139696"/>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infrastructure/technical/auth/SupabaseJwtService.kt</a:t>
            </a:r>
          </a:p>
          <a:p>
            <a:pPr>
              <a:spcBef>
                <a:spcPts val="0"/>
              </a:spcBef>
              <a:spcAft>
                <a:spcPts val="0"/>
              </a:spcAft>
            </a:pPr>
            <a:r>
              <a:rPr sz="900" b="0" i="0">
                <a:solidFill>
                  <a:srgbClr val="2D3A3A"/>
                </a:solidFill>
                <a:latin typeface="Consolas"/>
              </a:rPr>
              <a:t>class SupabaseJwtService(private val config: SupabaseJwtConfig) {</a:t>
            </a:r>
          </a:p>
          <a:p>
            <a:pPr>
              <a:spcBef>
                <a:spcPts val="0"/>
              </a:spcBef>
              <a:spcAft>
                <a:spcPts val="0"/>
              </a:spcAft>
            </a:pPr>
            <a:r>
              <a:rPr sz="900" b="0" i="0">
                <a:solidFill>
                  <a:srgbClr val="2D3A3A"/>
                </a:solidFill>
                <a:latin typeface="Consolas"/>
              </a:rPr>
              <a:t>  private val algorithm = Algorithm.HMAC256(config.jwtSecret)</a:t>
            </a:r>
          </a:p>
          <a:p>
            <a:pPr>
              <a:spcBef>
                <a:spcPts val="0"/>
              </a:spcBef>
              <a:spcAft>
                <a:spcPts val="0"/>
              </a:spcAft>
            </a:pPr>
            <a:r>
              <a:rPr sz="900" b="0" i="0">
                <a:solidFill>
                  <a:srgbClr val="2D3A3A"/>
                </a:solidFill>
                <a:latin typeface="Consolas"/>
              </a:rPr>
              <a:t>  fun validateToken(token: String): Either&lt;Throwable, AuthenticatedUser&gt; =</a:t>
            </a:r>
          </a:p>
          <a:p>
            <a:pPr>
              <a:spcBef>
                <a:spcPts val="0"/>
              </a:spcBef>
              <a:spcAft>
                <a:spcPts val="0"/>
              </a:spcAft>
            </a:pPr>
            <a:r>
              <a:rPr sz="900" b="0" i="0">
                <a:solidFill>
                  <a:srgbClr val="2D3A3A"/>
                </a:solidFill>
                <a:latin typeface="Consolas"/>
              </a:rPr>
              <a:t>    Either.catch {</a:t>
            </a:r>
          </a:p>
          <a:p>
            <a:pPr>
              <a:spcBef>
                <a:spcPts val="0"/>
              </a:spcBef>
              <a:spcAft>
                <a:spcPts val="0"/>
              </a:spcAft>
            </a:pPr>
            <a:r>
              <a:rPr sz="900" b="0" i="0">
                <a:solidFill>
                  <a:srgbClr val="2D3A3A"/>
                </a:solidFill>
                <a:latin typeface="Consolas"/>
              </a:rPr>
              <a:t>      val verifier = JWT.require(algorithm)</a:t>
            </a:r>
          </a:p>
          <a:p>
            <a:pPr>
              <a:spcBef>
                <a:spcPts val="0"/>
              </a:spcBef>
              <a:spcAft>
                <a:spcPts val="0"/>
              </a:spcAft>
            </a:pPr>
            <a:r>
              <a:rPr sz="900" b="0" i="0">
                <a:solidFill>
                  <a:srgbClr val="2D3A3A"/>
                </a:solidFill>
                <a:latin typeface="Consolas"/>
              </a:rPr>
              <a:t>        .withIssuer(config.issuer).withAudience(config.audience).build()</a:t>
            </a:r>
          </a:p>
          <a:p>
            <a:pPr>
              <a:spcBef>
                <a:spcPts val="0"/>
              </a:spcBef>
              <a:spcAft>
                <a:spcPts val="0"/>
              </a:spcAft>
            </a:pPr>
            <a:r>
              <a:rPr sz="900" b="0" i="0">
                <a:solidFill>
                  <a:srgbClr val="2D3A3A"/>
                </a:solidFill>
                <a:latin typeface="Consolas"/>
              </a:rPr>
              <a:t>      val jwt = verifier.verify(token)</a:t>
            </a:r>
          </a:p>
          <a:p>
            <a:pPr>
              <a:spcBef>
                <a:spcPts val="0"/>
              </a:spcBef>
              <a:spcAft>
                <a:spcPts val="0"/>
              </a:spcAft>
            </a:pPr>
            <a:r>
              <a:rPr sz="900" b="0" i="0">
                <a:solidFill>
                  <a:srgbClr val="2D3A3A"/>
                </a:solidFill>
                <a:latin typeface="Consolas"/>
              </a:rPr>
              <a:t>      AuthenticatedUser(userId = jwt.subject, email = jwt.getClaim("email").asString())</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a:t>
            </a:r>
          </a:p>
        </p:txBody>
      </p:sp>
      <p:sp>
        <p:nvSpPr>
          <p:cNvPr id="9" name="TextBox 8"/>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593757">
            <a:off x="-7871390" y="-2369047"/>
            <a:ext cx="21312191" cy="15025095"/>
          </a:xfrm>
          <a:custGeom>
            <a:avLst/>
            <a:gdLst/>
            <a:ahLst/>
            <a:cxnLst/>
            <a:rect l="l" t="t" r="r" b="b"/>
            <a:pathLst>
              <a:path w="21312191" h="15025095">
                <a:moveTo>
                  <a:pt x="0" y="0"/>
                </a:moveTo>
                <a:lnTo>
                  <a:pt x="21312192" y="0"/>
                </a:lnTo>
                <a:lnTo>
                  <a:pt x="21312192" y="15025094"/>
                </a:lnTo>
                <a:lnTo>
                  <a:pt x="0" y="15025094"/>
                </a:lnTo>
                <a:lnTo>
                  <a:pt x="0" y="0"/>
                </a:lnTo>
                <a:close/>
              </a:path>
            </a:pathLst>
          </a:custGeom>
          <a:blipFill>
            <a:blip/>
            <a:stretch>
              <a:fillRect/>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Endpoint REST : CreateEventEndpoint</a:t>
            </a:r>
          </a:p>
        </p:txBody>
      </p:sp>
      <p:sp>
        <p:nvSpPr>
          <p:cNvPr id="6" name="TextBox 5"/>
          <p:cNvSpPr txBox="1"/>
          <p:nvPr/>
        </p:nvSpPr>
        <p:spPr>
          <a:xfrm>
            <a:off x="731520" y="1280160"/>
            <a:ext cx="8046720" cy="3355848"/>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infrastructure/event/create/driving/CreateEventEndpoint.kt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fun Route.createEventEndpoint(createEventUseCase: CreateEventUseCase) = route("") {</a:t>
            </a:r>
          </a:p>
          <a:p>
            <a:pPr>
              <a:spcBef>
                <a:spcPts val="0"/>
              </a:spcBef>
              <a:spcAft>
                <a:spcPts val="0"/>
              </a:spcAft>
            </a:pPr>
            <a:r>
              <a:rPr sz="900" b="0" i="0">
                <a:solidFill>
                  <a:srgbClr val="2D3A3A"/>
                </a:solidFill>
                <a:latin typeface="Consolas"/>
              </a:rPr>
              <a:t>  post {</a:t>
            </a:r>
          </a:p>
          <a:p>
            <a:pPr>
              <a:spcBef>
                <a:spcPts val="0"/>
              </a:spcBef>
              <a:spcAft>
                <a:spcPts val="0"/>
              </a:spcAft>
            </a:pPr>
            <a:r>
              <a:rPr sz="900" b="0" i="0">
                <a:solidFill>
                  <a:srgbClr val="2D3A3A"/>
                </a:solidFill>
                <a:latin typeface="Consolas"/>
              </a:rPr>
              <a:t>    Either.catch {</a:t>
            </a:r>
          </a:p>
          <a:p>
            <a:pPr>
              <a:spcBef>
                <a:spcPts val="0"/>
              </a:spcBef>
              <a:spcAft>
                <a:spcPts val="0"/>
              </a:spcAft>
            </a:pPr>
            <a:r>
              <a:rPr sz="900" b="0" i="0">
                <a:solidFill>
                  <a:srgbClr val="2D3A3A"/>
                </a:solidFill>
                <a:latin typeface="Consolas"/>
              </a:rPr>
              <a:t>      val user = call.authenticatedUser()          // Extraction utilisateur JWT</a:t>
            </a:r>
          </a:p>
          <a:p>
            <a:pPr>
              <a:spcBef>
                <a:spcPts val="0"/>
              </a:spcBef>
              <a:spcAft>
                <a:spcPts val="0"/>
              </a:spcAft>
            </a:pPr>
            <a:r>
              <a:rPr sz="900" b="0" i="0">
                <a:solidFill>
                  <a:srgbClr val="2D3A3A"/>
                </a:solidFill>
                <a:latin typeface="Consolas"/>
              </a:rPr>
              <a:t>      val requestDto = call.receive&lt;CreateEventRequestDto&gt;()</a:t>
            </a:r>
          </a:p>
          <a:p>
            <a:pPr>
              <a:spcBef>
                <a:spcPts val="0"/>
              </a:spcBef>
              <a:spcAft>
                <a:spcPts val="0"/>
              </a:spcAft>
            </a:pPr>
            <a:r>
              <a:rPr sz="900" b="0" i="0">
                <a:solidFill>
                  <a:srgbClr val="2D3A3A"/>
                </a:solidFill>
                <a:latin typeface="Consolas"/>
              </a:rPr>
              <a:t>      requestDto.toDomain(user.email)              // Conversion DTO → domaine</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.mapLeft { BadRequestException.InvalidBodyException(it) }</a:t>
            </a:r>
          </a:p>
          <a:p>
            <a:pPr>
              <a:spcBef>
                <a:spcPts val="0"/>
              </a:spcBef>
              <a:spcAft>
                <a:spcPts val="0"/>
              </a:spcAft>
            </a:pPr>
            <a:r>
              <a:rPr sz="900" b="0" i="0">
                <a:solidFill>
                  <a:srgbClr val="2D3A3A"/>
                </a:solidFill>
                <a:latin typeface="Consolas"/>
              </a:rPr>
              <a:t>      .flatMap { request -&gt; createEventUseCase.create(request) }</a:t>
            </a:r>
          </a:p>
          <a:p>
            <a:pPr>
              <a:spcBef>
                <a:spcPts val="0"/>
              </a:spcBef>
              <a:spcAft>
                <a:spcPts val="0"/>
              </a:spcAft>
            </a:pPr>
            <a:r>
              <a:rPr sz="900" b="0" i="0">
                <a:solidFill>
                  <a:srgbClr val="2D3A3A"/>
                </a:solidFill>
                <a:latin typeface="Consolas"/>
              </a:rPr>
              <a:t>      .map { it.toDto() }                          // Conversion domaine → DTO réponse</a:t>
            </a:r>
          </a:p>
          <a:p>
            <a:pPr>
              <a:spcBef>
                <a:spcPts val="0"/>
              </a:spcBef>
              <a:spcAft>
                <a:spcPts val="0"/>
              </a:spcAft>
            </a:pPr>
            <a:r>
              <a:rPr sz="900" b="0" i="0">
                <a:solidFill>
                  <a:srgbClr val="2D3A3A"/>
                </a:solidFill>
                <a:latin typeface="Consolas"/>
              </a:rPr>
              <a:t>      .fold(</a:t>
            </a:r>
          </a:p>
          <a:p>
            <a:pPr>
              <a:spcBef>
                <a:spcPts val="0"/>
              </a:spcBef>
              <a:spcAft>
                <a:spcPts val="0"/>
              </a:spcAft>
            </a:pPr>
            <a:r>
              <a:rPr sz="900" b="0" i="0">
                <a:solidFill>
                  <a:srgbClr val="2D3A3A"/>
                </a:solidFill>
                <a:latin typeface="Consolas"/>
              </a:rPr>
              <a:t>        { it.handleFailure(call) },                // Gestion d'erreur</a:t>
            </a:r>
          </a:p>
          <a:p>
            <a:pPr>
              <a:spcBef>
                <a:spcPts val="0"/>
              </a:spcBef>
              <a:spcAft>
                <a:spcPts val="0"/>
              </a:spcAft>
            </a:pPr>
            <a:r>
              <a:rPr sz="900" b="0" i="0">
                <a:solidFill>
                  <a:srgbClr val="2D3A3A"/>
                </a:solidFill>
                <a:latin typeface="Consolas"/>
              </a:rPr>
              <a:t>        { call.respond(HttpStatusCode.Created, it) },</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a:t>
            </a:r>
          </a:p>
        </p:txBody>
      </p:sp>
      <p:sp>
        <p:nvSpPr>
          <p:cNvPr id="7" name="TextBox 6"/>
          <p:cNvSpPr txBox="1"/>
          <p:nvPr/>
        </p:nvSpPr>
        <p:spPr>
          <a:xfrm>
            <a:off x="9326880" y="1280160"/>
            <a:ext cx="8046720" cy="1309420"/>
          </a:xfrm>
          <a:prstGeom prst="rect">
            <a:avLst/>
          </a:prstGeom>
          <a:noFill/>
        </p:spPr>
        <p:txBody>
          <a:bodyPr wrap="square">
            <a:spAutoFit/>
          </a:bodyPr>
          <a:lstStyle/>
          <a:p>
            <a:pPr>
              <a:spcBef>
                <a:spcPts val="200"/>
              </a:spcBef>
              <a:spcAft>
                <a:spcPts val="200"/>
              </a:spcAft>
            </a:pPr>
            <a:r>
              <a:rPr sz="1200" b="0" i="0">
                <a:solidFill>
                  <a:srgbClr val="2D3A3A"/>
                </a:solidFill>
                <a:latin typeface="Calibri"/>
              </a:rPr>
              <a:t>• </a:t>
            </a:r>
            <a:r>
              <a:rPr sz="1200" b="0" i="0">
                <a:solidFill>
                  <a:srgbClr val="2D3A3A"/>
                </a:solidFill>
                <a:latin typeface="Consolas"/>
              </a:rPr>
              <a:t>Either.catch</a:t>
            </a:r>
            <a:r>
              <a:rPr sz="1200" b="0" i="0">
                <a:solidFill>
                  <a:srgbClr val="2D3A3A"/>
                </a:solidFill>
                <a:latin typeface="Calibri"/>
              </a:rPr>
              <a:t> capture les exceptions de désérialisation → erreur typée</a:t>
            </a:r>
          </a:p>
          <a:p>
            <a:pPr>
              <a:spcBef>
                <a:spcPts val="200"/>
              </a:spcBef>
              <a:spcAft>
                <a:spcPts val="200"/>
              </a:spcAft>
            </a:pPr>
            <a:r>
              <a:rPr sz="1200" b="0" i="0">
                <a:solidFill>
                  <a:srgbClr val="2D3A3A"/>
                </a:solidFill>
                <a:latin typeface="Calibri"/>
              </a:rPr>
              <a:t>• </a:t>
            </a:r>
            <a:r>
              <a:rPr sz="1200" b="0" i="0">
                <a:solidFill>
                  <a:srgbClr val="2D3A3A"/>
                </a:solidFill>
                <a:latin typeface="Consolas"/>
              </a:rPr>
              <a:t>flatMap</a:t>
            </a:r>
            <a:r>
              <a:rPr sz="1200" b="0" i="0">
                <a:solidFill>
                  <a:srgbClr val="2D3A3A"/>
                </a:solidFill>
                <a:latin typeface="Calibri"/>
              </a:rPr>
              <a:t> chaîne le use case : si désérialisation échoue, use case non appelé</a:t>
            </a:r>
          </a:p>
          <a:p>
            <a:pPr>
              <a:spcBef>
                <a:spcPts val="200"/>
              </a:spcBef>
              <a:spcAft>
                <a:spcPts val="200"/>
              </a:spcAft>
            </a:pPr>
            <a:r>
              <a:rPr sz="1200" b="0" i="0">
                <a:solidFill>
                  <a:srgbClr val="2D3A3A"/>
                </a:solidFill>
                <a:latin typeface="Calibri"/>
              </a:rPr>
              <a:t>• </a:t>
            </a:r>
            <a:r>
              <a:rPr sz="1200" b="0" i="0">
                <a:solidFill>
                  <a:srgbClr val="2D3A3A"/>
                </a:solidFill>
                <a:latin typeface="Consolas"/>
              </a:rPr>
              <a:t>toDomain()</a:t>
            </a:r>
            <a:r>
              <a:rPr sz="1200" b="0" i="0">
                <a:solidFill>
                  <a:srgbClr val="2D3A3A"/>
                </a:solidFill>
                <a:latin typeface="Calibri"/>
              </a:rPr>
              <a:t> / </a:t>
            </a:r>
            <a:r>
              <a:rPr sz="1200" b="0" i="0">
                <a:solidFill>
                  <a:srgbClr val="2D3A3A"/>
                </a:solidFill>
                <a:latin typeface="Consolas"/>
              </a:rPr>
              <a:t>toDto()</a:t>
            </a:r>
            <a:r>
              <a:rPr sz="1200" b="0" i="0">
                <a:solidFill>
                  <a:srgbClr val="2D3A3A"/>
                </a:solidFill>
                <a:latin typeface="Calibri"/>
              </a:rPr>
              <a:t> : isolation objets API ↔ objets domaine</a:t>
            </a:r>
          </a:p>
          <a:p>
            <a:pPr>
              <a:spcBef>
                <a:spcPts val="200"/>
              </a:spcBef>
              <a:spcAft>
                <a:spcPts val="200"/>
              </a:spcAft>
            </a:pPr>
            <a:r>
              <a:rPr sz="1200" b="0" i="0">
                <a:solidFill>
                  <a:srgbClr val="2D3A3A"/>
                </a:solidFill>
                <a:latin typeface="Calibri"/>
              </a:rPr>
              <a:t>• </a:t>
            </a:r>
            <a:r>
              <a:rPr sz="1200" b="0" i="0">
                <a:solidFill>
                  <a:srgbClr val="2D3A3A"/>
                </a:solidFill>
                <a:latin typeface="Consolas"/>
              </a:rPr>
              <a:t>fold</a:t>
            </a:r>
            <a:r>
              <a:rPr sz="1200" b="0" i="0">
                <a:solidFill>
                  <a:srgbClr val="2D3A3A"/>
                </a:solidFill>
                <a:latin typeface="Calibri"/>
              </a:rPr>
              <a:t> sépare le chemin d'erreur du chemin de succès</a:t>
            </a:r>
          </a:p>
        </p:txBody>
      </p:sp>
      <p:sp>
        <p:nvSpPr>
          <p:cNvPr id="8" name="TextBox 7"/>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593757">
            <a:off x="-7871390" y="-2369047"/>
            <a:ext cx="21312191" cy="15025095"/>
          </a:xfrm>
          <a:custGeom>
            <a:avLst/>
            <a:gdLst/>
            <a:ahLst/>
            <a:cxnLst/>
            <a:rect l="l" t="t" r="r" b="b"/>
            <a:pathLst>
              <a:path w="21312191" h="15025095">
                <a:moveTo>
                  <a:pt x="0" y="0"/>
                </a:moveTo>
                <a:lnTo>
                  <a:pt x="21312192" y="0"/>
                </a:lnTo>
                <a:lnTo>
                  <a:pt x="21312192" y="15025094"/>
                </a:lnTo>
                <a:lnTo>
                  <a:pt x="0" y="15025094"/>
                </a:lnTo>
                <a:lnTo>
                  <a:pt x="0" y="0"/>
                </a:lnTo>
                <a:close/>
              </a:path>
            </a:pathLst>
          </a:custGeom>
          <a:blipFill>
            <a:blip/>
            <a:stretch>
              <a:fillRect/>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Gestion des erreurs HTTP</a:t>
            </a:r>
          </a:p>
        </p:txBody>
      </p:sp>
      <p:sp>
        <p:nvSpPr>
          <p:cNvPr id="6" name="TextBox 5"/>
          <p:cNvSpPr txBox="1"/>
          <p:nvPr/>
        </p:nvSpPr>
        <p:spPr>
          <a:xfrm>
            <a:off x="731520" y="1280160"/>
            <a:ext cx="8046720" cy="4050791"/>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infrastructure/contribution/add/driving/AddContributionEndpoint.kt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private suspend fun AddContributionException.handleAddContributionFailure(</a:t>
            </a:r>
          </a:p>
          <a:p>
            <a:pPr>
              <a:spcBef>
                <a:spcPts val="0"/>
              </a:spcBef>
              <a:spcAft>
                <a:spcPts val="0"/>
              </a:spcAft>
            </a:pPr>
            <a:r>
              <a:rPr sz="900" b="0" i="0">
                <a:solidFill>
                  <a:srgbClr val="2D3A3A"/>
                </a:solidFill>
                <a:latin typeface="Consolas"/>
              </a:rPr>
              <a:t>  call: ApplicationCall</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val rootCause = generateSequence&lt;Throwable&gt;(this.cause) { it.cause }.lastOrNull()</a:t>
            </a:r>
          </a:p>
          <a:p>
            <a:pPr>
              <a:spcBef>
                <a:spcPts val="0"/>
              </a:spcBef>
              <a:spcAft>
                <a:spcPts val="0"/>
              </a:spcAft>
            </a:pPr>
            <a:r>
              <a:rPr sz="900" b="0" i="0">
                <a:solidFill>
                  <a:srgbClr val="2D3A3A"/>
                </a:solidFill>
                <a:latin typeface="Consolas"/>
              </a:rPr>
              <a:t>  when (rootCause) {</a:t>
            </a:r>
          </a:p>
          <a:p>
            <a:pPr>
              <a:spcBef>
                <a:spcPts val="0"/>
              </a:spcBef>
              <a:spcAft>
                <a:spcPts val="0"/>
              </a:spcAft>
            </a:pPr>
            <a:r>
              <a:rPr sz="900" b="0" i="0">
                <a:solidFill>
                  <a:srgbClr val="2D3A3A"/>
                </a:solidFill>
                <a:latin typeface="Consolas"/>
              </a:rPr>
              <a:t>    is OptimisticLockException -&gt; call.logAndRespond(</a:t>
            </a:r>
          </a:p>
          <a:p>
            <a:pPr>
              <a:spcBef>
                <a:spcPts val="0"/>
              </a:spcBef>
              <a:spcAft>
                <a:spcPts val="0"/>
              </a:spcAft>
            </a:pPr>
            <a:r>
              <a:rPr sz="900" b="0" i="0">
                <a:solidFill>
                  <a:srgbClr val="2D3A3A"/>
                </a:solidFill>
                <a:latin typeface="Consolas"/>
              </a:rPr>
              <a:t>      status = HttpStatusCode.Conflict,</a:t>
            </a:r>
          </a:p>
          <a:p>
            <a:pPr>
              <a:spcBef>
                <a:spcPts val="0"/>
              </a:spcBef>
              <a:spcAft>
                <a:spcPts val="0"/>
              </a:spcAft>
            </a:pPr>
            <a:r>
              <a:rPr sz="900" b="0" i="0">
                <a:solidFill>
                  <a:srgbClr val="2D3A3A"/>
                </a:solidFill>
                <a:latin typeface="Consolas"/>
              </a:rPr>
              <a:t>      responseMessage = ClientErrorMessage.of(</a:t>
            </a:r>
          </a:p>
          <a:p>
            <a:pPr>
              <a:spcBef>
                <a:spcPts val="0"/>
              </a:spcBef>
              <a:spcAft>
                <a:spcPts val="0"/>
              </a:spcAft>
            </a:pPr>
            <a:r>
              <a:rPr sz="900" b="0" i="0">
                <a:solidFill>
                  <a:srgbClr val="2D3A3A"/>
                </a:solidFill>
                <a:latin typeface="Consolas"/>
              </a:rPr>
              <a:t>        type = "OPTIMISTIC_LOCK_FAILURE",</a:t>
            </a:r>
          </a:p>
          <a:p>
            <a:pPr>
              <a:spcBef>
                <a:spcPts val="0"/>
              </a:spcBef>
              <a:spcAft>
                <a:spcPts val="0"/>
              </a:spcAft>
            </a:pPr>
            <a:r>
              <a:rPr sz="900" b="0" i="0">
                <a:solidFill>
                  <a:srgbClr val="2D3A3A"/>
                </a:solidFill>
                <a:latin typeface="Consolas"/>
              </a:rPr>
              <a:t>        detail = "Resource was modified. Please refresh and try again.",</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failure = this,</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else -&gt; call.logAndRespond(</a:t>
            </a:r>
          </a:p>
          <a:p>
            <a:pPr>
              <a:spcBef>
                <a:spcPts val="0"/>
              </a:spcBef>
              <a:spcAft>
                <a:spcPts val="0"/>
              </a:spcAft>
            </a:pPr>
            <a:r>
              <a:rPr sz="900" b="0" i="0">
                <a:solidFill>
                  <a:srgbClr val="2D3A3A"/>
                </a:solidFill>
                <a:latin typeface="Consolas"/>
              </a:rPr>
              <a:t>      status = HttpStatusCode.InternalServerError,</a:t>
            </a:r>
          </a:p>
          <a:p>
            <a:pPr>
              <a:spcBef>
                <a:spcPts val="0"/>
              </a:spcBef>
              <a:spcAft>
                <a:spcPts val="0"/>
              </a:spcAft>
            </a:pPr>
            <a:r>
              <a:rPr sz="900" b="0" i="0">
                <a:solidFill>
                  <a:srgbClr val="2D3A3A"/>
                </a:solidFill>
                <a:latin typeface="Consolas"/>
              </a:rPr>
              <a:t>      responseMessage = technicalErrorMessage(),</a:t>
            </a:r>
          </a:p>
          <a:p>
            <a:pPr>
              <a:spcBef>
                <a:spcPts val="0"/>
              </a:spcBef>
              <a:spcAft>
                <a:spcPts val="0"/>
              </a:spcAft>
            </a:pPr>
            <a:r>
              <a:rPr sz="900" b="0" i="0">
                <a:solidFill>
                  <a:srgbClr val="2D3A3A"/>
                </a:solidFill>
                <a:latin typeface="Consolas"/>
              </a:rPr>
              <a:t>      failure = this,</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a:t>
            </a:r>
          </a:p>
        </p:txBody>
      </p:sp>
      <p:sp>
        <p:nvSpPr>
          <p:cNvPr id="7" name="TextBox 6"/>
          <p:cNvSpPr txBox="1"/>
          <p:nvPr/>
        </p:nvSpPr>
        <p:spPr>
          <a:xfrm>
            <a:off x="9326880" y="1280160"/>
            <a:ext cx="8046720" cy="643737"/>
          </a:xfrm>
          <a:prstGeom prst="rect">
            <a:avLst/>
          </a:prstGeom>
          <a:noFill/>
        </p:spPr>
        <p:txBody>
          <a:bodyPr wrap="square">
            <a:spAutoFit/>
          </a:bodyPr>
          <a:lstStyle/>
          <a:p>
            <a:pPr>
              <a:spcBef>
                <a:spcPts val="800"/>
              </a:spcBef>
              <a:spcAft>
                <a:spcPts val="200"/>
              </a:spcAft>
            </a:pPr>
            <a:r>
              <a:rPr sz="1300" b="1" i="0">
                <a:solidFill>
                  <a:srgbClr val="3D5A6C"/>
                </a:solidFill>
                <a:latin typeface="Calibri"/>
              </a:rPr>
              <a:t>Codes HTTP utilisés</a:t>
            </a:r>
          </a:p>
        </p:txBody>
      </p:sp>
      <p:graphicFrame>
        <p:nvGraphicFramePr>
          <p:cNvPr id="8" name="Table 7"/>
          <p:cNvGraphicFramePr>
            <a:graphicFrameLocks noGrp="1"/>
          </p:cNvGraphicFramePr>
          <p:nvPr/>
        </p:nvGraphicFramePr>
        <p:xfrm>
          <a:off x="9326880" y="2015337"/>
          <a:ext cx="8046720" cy="2331720"/>
        </p:xfrm>
        <a:graphic>
          <a:graphicData uri="http://schemas.openxmlformats.org/drawingml/2006/table">
            <a:tbl>
              <a:tblPr firstRow="1" bandRow="1">
                <a:tableStyleId>{5C22544A-7EE6-4342-B048-85BDC9FD1C3A}</a:tableStyleId>
              </a:tblPr>
              <a:tblGrid>
                <a:gridCol w="40233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291465">
                <a:tc>
                  <a:txBody>
                    <a:bodyPr/>
                    <a:lstStyle/>
                    <a:p>
                      <a:pPr>
                        <a:defRPr sz="1000" b="1">
                          <a:solidFill>
                            <a:srgbClr val="3D5A6C"/>
                          </a:solidFill>
                        </a:defRPr>
                      </a:pPr>
                      <a:r>
                        <a:t>Code</a:t>
                      </a:r>
                    </a:p>
                  </a:txBody>
                  <a:tcPr/>
                </a:tc>
                <a:tc>
                  <a:txBody>
                    <a:bodyPr/>
                    <a:lstStyle/>
                    <a:p>
                      <a:pPr>
                        <a:defRPr sz="1000" b="1">
                          <a:solidFill>
                            <a:srgbClr val="3D5A6C"/>
                          </a:solidFill>
                        </a:defRPr>
                      </a:pPr>
                      <a:r>
                        <a:t>Situation</a:t>
                      </a:r>
                    </a:p>
                  </a:txBody>
                  <a:tcPr/>
                </a:tc>
                <a:extLst>
                  <a:ext uri="{0D108BD9-81ED-4DB2-BD59-A6C34878D82A}">
                    <a16:rowId xmlns:a16="http://schemas.microsoft.com/office/drawing/2014/main" val="10000"/>
                  </a:ext>
                </a:extLst>
              </a:tr>
              <a:tr h="291465">
                <a:tc>
                  <a:txBody>
                    <a:bodyPr/>
                    <a:lstStyle/>
                    <a:p>
                      <a:pPr>
                        <a:defRPr sz="1000">
                          <a:solidFill>
                            <a:srgbClr val="2D3A3A"/>
                          </a:solidFill>
                        </a:defRPr>
                      </a:pPr>
                      <a:r>
                        <a:t>201</a:t>
                      </a:r>
                    </a:p>
                  </a:txBody>
                  <a:tcPr/>
                </a:tc>
                <a:tc>
                  <a:txBody>
                    <a:bodyPr/>
                    <a:lstStyle/>
                    <a:p>
                      <a:pPr>
                        <a:defRPr sz="1000">
                          <a:solidFill>
                            <a:srgbClr val="2D3A3A"/>
                          </a:solidFill>
                        </a:defRPr>
                      </a:pPr>
                      <a:r>
                        <a:t>Création réussie</a:t>
                      </a:r>
                    </a:p>
                  </a:txBody>
                  <a:tcPr/>
                </a:tc>
                <a:extLst>
                  <a:ext uri="{0D108BD9-81ED-4DB2-BD59-A6C34878D82A}">
                    <a16:rowId xmlns:a16="http://schemas.microsoft.com/office/drawing/2014/main" val="10001"/>
                  </a:ext>
                </a:extLst>
              </a:tr>
              <a:tr h="291465">
                <a:tc>
                  <a:txBody>
                    <a:bodyPr/>
                    <a:lstStyle/>
                    <a:p>
                      <a:pPr>
                        <a:defRPr sz="1000">
                          <a:solidFill>
                            <a:srgbClr val="2D3A3A"/>
                          </a:solidFill>
                        </a:defRPr>
                      </a:pPr>
                      <a:r>
                        <a:t>200</a:t>
                      </a:r>
                    </a:p>
                  </a:txBody>
                  <a:tcPr/>
                </a:tc>
                <a:tc>
                  <a:txBody>
                    <a:bodyPr/>
                    <a:lstStyle/>
                    <a:p>
                      <a:pPr>
                        <a:defRPr sz="1000">
                          <a:solidFill>
                            <a:srgbClr val="2D3A3A"/>
                          </a:solidFill>
                        </a:defRPr>
                      </a:pPr>
                      <a:r>
                        <a:t>Opération réussie</a:t>
                      </a:r>
                    </a:p>
                  </a:txBody>
                  <a:tcPr/>
                </a:tc>
                <a:extLst>
                  <a:ext uri="{0D108BD9-81ED-4DB2-BD59-A6C34878D82A}">
                    <a16:rowId xmlns:a16="http://schemas.microsoft.com/office/drawing/2014/main" val="10002"/>
                  </a:ext>
                </a:extLst>
              </a:tr>
              <a:tr h="291465">
                <a:tc>
                  <a:txBody>
                    <a:bodyPr/>
                    <a:lstStyle/>
                    <a:p>
                      <a:pPr>
                        <a:defRPr sz="1000">
                          <a:solidFill>
                            <a:srgbClr val="2D3A3A"/>
                          </a:solidFill>
                        </a:defRPr>
                      </a:pPr>
                      <a:r>
                        <a:t>400</a:t>
                      </a:r>
                    </a:p>
                  </a:txBody>
                  <a:tcPr/>
                </a:tc>
                <a:tc>
                  <a:txBody>
                    <a:bodyPr/>
                    <a:lstStyle/>
                    <a:p>
                      <a:pPr>
                        <a:defRPr sz="1000">
                          <a:solidFill>
                            <a:srgbClr val="2D3A3A"/>
                          </a:solidFill>
                        </a:defRPr>
                      </a:pPr>
                      <a:r>
                        <a:t>Requête invalide (body mal formé)</a:t>
                      </a:r>
                    </a:p>
                  </a:txBody>
                  <a:tcPr/>
                </a:tc>
                <a:extLst>
                  <a:ext uri="{0D108BD9-81ED-4DB2-BD59-A6C34878D82A}">
                    <a16:rowId xmlns:a16="http://schemas.microsoft.com/office/drawing/2014/main" val="10003"/>
                  </a:ext>
                </a:extLst>
              </a:tr>
              <a:tr h="291465">
                <a:tc>
                  <a:txBody>
                    <a:bodyPr/>
                    <a:lstStyle/>
                    <a:p>
                      <a:pPr>
                        <a:defRPr sz="1000">
                          <a:solidFill>
                            <a:srgbClr val="2D3A3A"/>
                          </a:solidFill>
                        </a:defRPr>
                      </a:pPr>
                      <a:r>
                        <a:t>401</a:t>
                      </a:r>
                    </a:p>
                  </a:txBody>
                  <a:tcPr/>
                </a:tc>
                <a:tc>
                  <a:txBody>
                    <a:bodyPr/>
                    <a:lstStyle/>
                    <a:p>
                      <a:pPr>
                        <a:defRPr sz="1000">
                          <a:solidFill>
                            <a:srgbClr val="2D3A3A"/>
                          </a:solidFill>
                        </a:defRPr>
                      </a:pPr>
                      <a:r>
                        <a:t>Token JWT manquant ou invalide</a:t>
                      </a:r>
                    </a:p>
                  </a:txBody>
                  <a:tcPr/>
                </a:tc>
                <a:extLst>
                  <a:ext uri="{0D108BD9-81ED-4DB2-BD59-A6C34878D82A}">
                    <a16:rowId xmlns:a16="http://schemas.microsoft.com/office/drawing/2014/main" val="10004"/>
                  </a:ext>
                </a:extLst>
              </a:tr>
              <a:tr h="291465">
                <a:tc>
                  <a:txBody>
                    <a:bodyPr/>
                    <a:lstStyle/>
                    <a:p>
                      <a:pPr>
                        <a:defRPr sz="1000">
                          <a:solidFill>
                            <a:srgbClr val="2D3A3A"/>
                          </a:solidFill>
                        </a:defRPr>
                      </a:pPr>
                      <a:r>
                        <a:t>403</a:t>
                      </a:r>
                    </a:p>
                  </a:txBody>
                  <a:tcPr/>
                </a:tc>
                <a:tc>
                  <a:txBody>
                    <a:bodyPr/>
                    <a:lstStyle/>
                    <a:p>
                      <a:pPr>
                        <a:defRPr sz="1000">
                          <a:solidFill>
                            <a:srgbClr val="2D3A3A"/>
                          </a:solidFill>
                        </a:defRPr>
                      </a:pPr>
                      <a:r>
                        <a:t>Action non autorisée</a:t>
                      </a:r>
                    </a:p>
                  </a:txBody>
                  <a:tcPr/>
                </a:tc>
                <a:extLst>
                  <a:ext uri="{0D108BD9-81ED-4DB2-BD59-A6C34878D82A}">
                    <a16:rowId xmlns:a16="http://schemas.microsoft.com/office/drawing/2014/main" val="10005"/>
                  </a:ext>
                </a:extLst>
              </a:tr>
              <a:tr h="291465">
                <a:tc>
                  <a:txBody>
                    <a:bodyPr/>
                    <a:lstStyle/>
                    <a:p>
                      <a:pPr>
                        <a:defRPr sz="1000">
                          <a:solidFill>
                            <a:srgbClr val="2D3A3A"/>
                          </a:solidFill>
                        </a:defRPr>
                      </a:pPr>
                      <a:r>
                        <a:t>409</a:t>
                      </a:r>
                    </a:p>
                  </a:txBody>
                  <a:tcPr/>
                </a:tc>
                <a:tc>
                  <a:txBody>
                    <a:bodyPr/>
                    <a:lstStyle/>
                    <a:p>
                      <a:pPr>
                        <a:defRPr sz="1000">
                          <a:solidFill>
                            <a:srgbClr val="2D3A3A"/>
                          </a:solidFill>
                        </a:defRPr>
                      </a:pPr>
                      <a:r>
                        <a:t>Conflit (verrou optimiste, nom dupliqué)</a:t>
                      </a:r>
                    </a:p>
                  </a:txBody>
                  <a:tcPr/>
                </a:tc>
                <a:extLst>
                  <a:ext uri="{0D108BD9-81ED-4DB2-BD59-A6C34878D82A}">
                    <a16:rowId xmlns:a16="http://schemas.microsoft.com/office/drawing/2014/main" val="10006"/>
                  </a:ext>
                </a:extLst>
              </a:tr>
              <a:tr h="291465">
                <a:tc>
                  <a:txBody>
                    <a:bodyPr/>
                    <a:lstStyle/>
                    <a:p>
                      <a:pPr>
                        <a:defRPr sz="1000">
                          <a:solidFill>
                            <a:srgbClr val="2D3A3A"/>
                          </a:solidFill>
                        </a:defRPr>
                      </a:pPr>
                      <a:r>
                        <a:t>500</a:t>
                      </a:r>
                    </a:p>
                  </a:txBody>
                  <a:tcPr/>
                </a:tc>
                <a:tc>
                  <a:txBody>
                    <a:bodyPr/>
                    <a:lstStyle/>
                    <a:p>
                      <a:pPr>
                        <a:defRPr sz="1000">
                          <a:solidFill>
                            <a:srgbClr val="2D3A3A"/>
                          </a:solidFill>
                        </a:defRPr>
                      </a:pPr>
                      <a:r>
                        <a:t>Erreur technique (message générique)</a:t>
                      </a:r>
                    </a:p>
                  </a:txBody>
                  <a:tcPr/>
                </a:tc>
                <a:extLst>
                  <a:ext uri="{0D108BD9-81ED-4DB2-BD59-A6C34878D82A}">
                    <a16:rowId xmlns:a16="http://schemas.microsoft.com/office/drawing/2014/main" val="10007"/>
                  </a:ext>
                </a:extLst>
              </a:tr>
            </a:tbl>
          </a:graphicData>
        </a:graphic>
      </p:graphicFrame>
      <p:sp>
        <p:nvSpPr>
          <p:cNvPr id="9" name="TextBox 8"/>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2B5C73"/>
        </a:solidFill>
        <a:effectLst/>
      </p:bgPr>
    </p:bg>
    <p:spTree>
      <p:nvGrpSpPr>
        <p:cNvPr id="1" name=""/>
        <p:cNvGrpSpPr/>
        <p:nvPr/>
      </p:nvGrpSpPr>
      <p:grpSpPr>
        <a:xfrm>
          <a:off x="0" y="0"/>
          <a:ext cx="0" cy="0"/>
          <a:chOff x="0" y="0"/>
          <a:chExt cx="0" cy="0"/>
        </a:xfrm>
      </p:grpSpPr>
      <p:sp>
        <p:nvSpPr>
          <p:cNvPr id="2" name="TextBox 2"/>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p:nvSpPr>
        <p:spPr>
          <a:xfrm>
            <a:off x="-810449" y="4666508"/>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p:nvSpPr>
        <p:spPr>
          <a:xfrm>
            <a:off x="-658049" y="4818908"/>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extBox 4"/>
          <p:cNvSpPr txBox="1"/>
          <p:nvPr/>
        </p:nvSpPr>
        <p:spPr>
          <a:xfrm>
            <a:off x="1828800" y="3200400"/>
            <a:ext cx="14630400" cy="3657600"/>
          </a:xfrm>
          <a:prstGeom prst="rect">
            <a:avLst/>
          </a:prstGeom>
          <a:noFill/>
        </p:spPr>
        <p:txBody>
          <a:bodyPr wrap="square">
            <a:spAutoFit/>
          </a:bodyPr>
          <a:lstStyle/>
          <a:p>
            <a:pPr algn="ctr"/>
            <a:r>
              <a:rPr sz="2800" b="1" i="0">
                <a:solidFill>
                  <a:srgbClr val="FFFFFF"/>
                </a:solidFill>
                <a:latin typeface="Calibri"/>
              </a:rPr>
              <a:t>Éléments de sécurité</a:t>
            </a:r>
          </a:p>
        </p:txBody>
      </p:sp>
      <p:sp>
        <p:nvSpPr>
          <p:cNvPr id="6" name="TextBox 5"/>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16654075" y="1183089"/>
            <a:ext cx="16786266" cy="17346124"/>
          </a:xfrm>
          <a:custGeom>
            <a:avLst/>
            <a:gdLst/>
            <a:ahLst/>
            <a:cxnLst/>
            <a:rect l="l" t="t" r="r" b="b"/>
            <a:pathLst>
              <a:path w="16786266" h="17346124">
                <a:moveTo>
                  <a:pt x="0" y="0"/>
                </a:moveTo>
                <a:lnTo>
                  <a:pt x="16786265" y="0"/>
                </a:lnTo>
                <a:lnTo>
                  <a:pt x="16786265" y="17346123"/>
                </a:lnTo>
                <a:lnTo>
                  <a:pt x="0" y="17346123"/>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3403139" y="-867306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1180952" y="9451718"/>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5714056" y="8851957"/>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Authentification et autorisation</a:t>
            </a:r>
          </a:p>
        </p:txBody>
      </p:sp>
      <p:pic>
        <p:nvPicPr>
          <p:cNvPr id="9" name="Picture 8" descr="diagram_7.png"/>
          <p:cNvPicPr>
            <a:picLocks noChangeAspect="1"/>
          </p:cNvPicPr>
          <p:nvPr/>
        </p:nvPicPr>
        <p:blipFill>
          <a:blip r:embed="rId6"/>
          <a:stretch>
            <a:fillRect/>
          </a:stretch>
        </p:blipFill>
        <p:spPr>
          <a:xfrm>
            <a:off x="5293002" y="1280160"/>
            <a:ext cx="7244796" cy="4114800"/>
          </a:xfrm>
          <a:prstGeom prst="rect">
            <a:avLst/>
          </a:prstGeom>
        </p:spPr>
      </p:pic>
      <p:graphicFrame>
        <p:nvGraphicFramePr>
          <p:cNvPr id="10" name="Table 9"/>
          <p:cNvGraphicFramePr>
            <a:graphicFrameLocks noGrp="1"/>
          </p:cNvGraphicFramePr>
          <p:nvPr/>
        </p:nvGraphicFramePr>
        <p:xfrm>
          <a:off x="914400" y="5486400"/>
          <a:ext cx="16002000" cy="1234439"/>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08609">
                <a:tc>
                  <a:txBody>
                    <a:bodyPr/>
                    <a:lstStyle/>
                    <a:p>
                      <a:pPr>
                        <a:defRPr sz="1000" b="1">
                          <a:solidFill>
                            <a:srgbClr val="3D5A6C"/>
                          </a:solidFill>
                        </a:defRPr>
                      </a:pPr>
                      <a:r>
                        <a:t>Mesure</a:t>
                      </a:r>
                    </a:p>
                  </a:txBody>
                  <a:tcPr/>
                </a:tc>
                <a:tc>
                  <a:txBody>
                    <a:bodyPr/>
                    <a:lstStyle/>
                    <a:p>
                      <a:pPr>
                        <a:defRPr sz="1000" b="1">
                          <a:solidFill>
                            <a:srgbClr val="3D5A6C"/>
                          </a:solidFill>
                        </a:defRPr>
                      </a:pPr>
                      <a:r>
                        <a:t>Implémentation</a:t>
                      </a:r>
                    </a:p>
                  </a:txBody>
                  <a:tcPr/>
                </a:tc>
                <a:extLst>
                  <a:ext uri="{0D108BD9-81ED-4DB2-BD59-A6C34878D82A}">
                    <a16:rowId xmlns:a16="http://schemas.microsoft.com/office/drawing/2014/main" val="10000"/>
                  </a:ext>
                </a:extLst>
              </a:tr>
              <a:tr h="308609">
                <a:tc>
                  <a:txBody>
                    <a:bodyPr/>
                    <a:lstStyle/>
                    <a:p>
                      <a:pPr>
                        <a:defRPr sz="1000">
                          <a:solidFill>
                            <a:srgbClr val="2D3A3A"/>
                          </a:solidFill>
                        </a:defRPr>
                      </a:pPr>
                      <a:r>
                        <a:t>Authentification</a:t>
                      </a:r>
                    </a:p>
                  </a:txBody>
                  <a:tcPr/>
                </a:tc>
                <a:tc>
                  <a:txBody>
                    <a:bodyPr/>
                    <a:lstStyle/>
                    <a:p>
                      <a:pPr>
                        <a:defRPr sz="1000">
                          <a:solidFill>
                            <a:srgbClr val="2D3A3A"/>
                          </a:solidFill>
                        </a:defRPr>
                      </a:pPr>
                      <a:r>
                        <a:t>JWT Supabase vérifié à chaque requête (HMAC256)</a:t>
                      </a:r>
                    </a:p>
                  </a:txBody>
                  <a:tcPr/>
                </a:tc>
                <a:extLst>
                  <a:ext uri="{0D108BD9-81ED-4DB2-BD59-A6C34878D82A}">
                    <a16:rowId xmlns:a16="http://schemas.microsoft.com/office/drawing/2014/main" val="10001"/>
                  </a:ext>
                </a:extLst>
              </a:tr>
              <a:tr h="308609">
                <a:tc>
                  <a:txBody>
                    <a:bodyPr/>
                    <a:lstStyle/>
                    <a:p>
                      <a:pPr>
                        <a:defRPr sz="1000">
                          <a:solidFill>
                            <a:srgbClr val="2D3A3A"/>
                          </a:solidFill>
                        </a:defRPr>
                      </a:pPr>
                      <a:r>
                        <a:t>Autorisation</a:t>
                      </a:r>
                    </a:p>
                  </a:txBody>
                  <a:tcPr/>
                </a:tc>
                <a:tc>
                  <a:txBody>
                    <a:bodyPr/>
                    <a:lstStyle/>
                    <a:p>
                      <a:pPr>
                        <a:defRPr sz="1000">
                          <a:solidFill>
                            <a:srgbClr val="2D3A3A"/>
                          </a:solidFill>
                        </a:defRPr>
                      </a:pPr>
                      <a:r>
                        <a:t>Suppression réservée au créateur, identité extraite du JWT</a:t>
                      </a:r>
                    </a:p>
                  </a:txBody>
                  <a:tcPr/>
                </a:tc>
                <a:extLst>
                  <a:ext uri="{0D108BD9-81ED-4DB2-BD59-A6C34878D82A}">
                    <a16:rowId xmlns:a16="http://schemas.microsoft.com/office/drawing/2014/main" val="10002"/>
                  </a:ext>
                </a:extLst>
              </a:tr>
              <a:tr h="308612">
                <a:tc>
                  <a:txBody>
                    <a:bodyPr/>
                    <a:lstStyle/>
                    <a:p>
                      <a:pPr>
                        <a:defRPr sz="1000">
                          <a:solidFill>
                            <a:srgbClr val="2D3A3A"/>
                          </a:solidFill>
                        </a:defRPr>
                      </a:pPr>
                      <a:r>
                        <a:t>Routes publiques</a:t>
                      </a:r>
                    </a:p>
                  </a:txBody>
                  <a:tcPr/>
                </a:tc>
                <a:tc>
                  <a:txBody>
                    <a:bodyPr/>
                    <a:lstStyle/>
                    <a:p>
                      <a:pPr>
                        <a:defRPr sz="1000">
                          <a:solidFill>
                            <a:srgbClr val="2D3A3A"/>
                          </a:solidFill>
                        </a:defRPr>
                      </a:pPr>
                      <a:r>
                        <a:t>Seules /, /info, /health accessibles sans token</a:t>
                      </a:r>
                    </a:p>
                  </a:txBody>
                  <a:tcPr/>
                </a:tc>
                <a:extLst>
                  <a:ext uri="{0D108BD9-81ED-4DB2-BD59-A6C34878D82A}">
                    <a16:rowId xmlns:a16="http://schemas.microsoft.com/office/drawing/2014/main" val="10003"/>
                  </a:ext>
                </a:extLst>
              </a:tr>
            </a:tbl>
          </a:graphicData>
        </a:graphic>
      </p:graphicFrame>
      <p:sp>
        <p:nvSpPr>
          <p:cNvPr id="11" name="TextBox 10"/>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Sécurité applicative</a:t>
            </a:r>
          </a:p>
        </p:txBody>
      </p:sp>
      <p:graphicFrame>
        <p:nvGraphicFramePr>
          <p:cNvPr id="9" name="Table 8"/>
          <p:cNvGraphicFramePr>
            <a:graphicFrameLocks noGrp="1"/>
          </p:cNvGraphicFramePr>
          <p:nvPr/>
        </p:nvGraphicFramePr>
        <p:xfrm>
          <a:off x="914400" y="1280160"/>
          <a:ext cx="16002000" cy="2057400"/>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293914">
                <a:tc>
                  <a:txBody>
                    <a:bodyPr/>
                    <a:lstStyle/>
                    <a:p>
                      <a:pPr>
                        <a:defRPr sz="1000" b="1">
                          <a:solidFill>
                            <a:srgbClr val="3D5A6C"/>
                          </a:solidFill>
                        </a:defRPr>
                      </a:pPr>
                      <a:r>
                        <a:t>Menace</a:t>
                      </a:r>
                    </a:p>
                  </a:txBody>
                  <a:tcPr/>
                </a:tc>
                <a:tc>
                  <a:txBody>
                    <a:bodyPr/>
                    <a:lstStyle/>
                    <a:p>
                      <a:pPr>
                        <a:defRPr sz="1000" b="1">
                          <a:solidFill>
                            <a:srgbClr val="3D5A6C"/>
                          </a:solidFill>
                        </a:defRPr>
                      </a:pPr>
                      <a:r>
                        <a:t>Protection</a:t>
                      </a:r>
                    </a:p>
                  </a:txBody>
                  <a:tcPr/>
                </a:tc>
                <a:extLst>
                  <a:ext uri="{0D108BD9-81ED-4DB2-BD59-A6C34878D82A}">
                    <a16:rowId xmlns:a16="http://schemas.microsoft.com/office/drawing/2014/main" val="10000"/>
                  </a:ext>
                </a:extLst>
              </a:tr>
              <a:tr h="293914">
                <a:tc>
                  <a:txBody>
                    <a:bodyPr/>
                    <a:lstStyle/>
                    <a:p>
                      <a:pPr>
                        <a:defRPr sz="1000">
                          <a:solidFill>
                            <a:srgbClr val="2D3A3A"/>
                          </a:solidFill>
                        </a:defRPr>
                      </a:pPr>
                      <a:r>
                        <a:t>Injection SQL</a:t>
                      </a:r>
                    </a:p>
                  </a:txBody>
                  <a:tcPr/>
                </a:tc>
                <a:tc>
                  <a:txBody>
                    <a:bodyPr/>
                    <a:lstStyle/>
                    <a:p>
                      <a:pPr>
                        <a:defRPr sz="1000">
                          <a:solidFill>
                            <a:srgbClr val="2D3A3A"/>
                          </a:solidFill>
                        </a:defRPr>
                      </a:pPr>
                      <a:r>
                        <a:t>Exposed ORM — requêtes paramétrées exclusivement</a:t>
                      </a:r>
                    </a:p>
                  </a:txBody>
                  <a:tcPr/>
                </a:tc>
                <a:extLst>
                  <a:ext uri="{0D108BD9-81ED-4DB2-BD59-A6C34878D82A}">
                    <a16:rowId xmlns:a16="http://schemas.microsoft.com/office/drawing/2014/main" val="10001"/>
                  </a:ext>
                </a:extLst>
              </a:tr>
              <a:tr h="293914">
                <a:tc>
                  <a:txBody>
                    <a:bodyPr/>
                    <a:lstStyle/>
                    <a:p>
                      <a:pPr>
                        <a:defRPr sz="1000">
                          <a:solidFill>
                            <a:srgbClr val="2D3A3A"/>
                          </a:solidFill>
                        </a:defRPr>
                      </a:pPr>
                      <a:r>
                        <a:t>XSS</a:t>
                      </a:r>
                    </a:p>
                  </a:txBody>
                  <a:tcPr/>
                </a:tc>
                <a:tc>
                  <a:txBody>
                    <a:bodyPr/>
                    <a:lstStyle/>
                    <a:p>
                      <a:pPr>
                        <a:defRPr sz="1000">
                          <a:solidFill>
                            <a:srgbClr val="2D3A3A"/>
                          </a:solidFill>
                        </a:defRPr>
                      </a:pPr>
                      <a:r>
                        <a:t>API retourne du JSON uniquement, échappement React côté front</a:t>
                      </a:r>
                    </a:p>
                  </a:txBody>
                  <a:tcPr/>
                </a:tc>
                <a:extLst>
                  <a:ext uri="{0D108BD9-81ED-4DB2-BD59-A6C34878D82A}">
                    <a16:rowId xmlns:a16="http://schemas.microsoft.com/office/drawing/2014/main" val="10002"/>
                  </a:ext>
                </a:extLst>
              </a:tr>
              <a:tr h="293914">
                <a:tc>
                  <a:txBody>
                    <a:bodyPr/>
                    <a:lstStyle/>
                    <a:p>
                      <a:pPr>
                        <a:defRPr sz="1000">
                          <a:solidFill>
                            <a:srgbClr val="2D3A3A"/>
                          </a:solidFill>
                        </a:defRPr>
                      </a:pPr>
                      <a:r>
                        <a:t>CORS</a:t>
                      </a:r>
                    </a:p>
                  </a:txBody>
                  <a:tcPr/>
                </a:tc>
                <a:tc>
                  <a:txBody>
                    <a:bodyPr/>
                    <a:lstStyle/>
                    <a:p>
                      <a:pPr>
                        <a:defRPr sz="1000">
                          <a:solidFill>
                            <a:srgbClr val="2D3A3A"/>
                          </a:solidFill>
                        </a:defRPr>
                      </a:pPr>
                      <a:r>
                        <a:t>Liste blanche d'origines, pas de wildcard *</a:t>
                      </a:r>
                    </a:p>
                  </a:txBody>
                  <a:tcPr/>
                </a:tc>
                <a:extLst>
                  <a:ext uri="{0D108BD9-81ED-4DB2-BD59-A6C34878D82A}">
                    <a16:rowId xmlns:a16="http://schemas.microsoft.com/office/drawing/2014/main" val="10003"/>
                  </a:ext>
                </a:extLst>
              </a:tr>
              <a:tr h="293914">
                <a:tc>
                  <a:txBody>
                    <a:bodyPr/>
                    <a:lstStyle/>
                    <a:p>
                      <a:pPr>
                        <a:defRPr sz="1000">
                          <a:solidFill>
                            <a:srgbClr val="2D3A3A"/>
                          </a:solidFill>
                        </a:defRPr>
                      </a:pPr>
                      <a:r>
                        <a:t>Secrets exposés</a:t>
                      </a:r>
                    </a:p>
                  </a:txBody>
                  <a:tcPr/>
                </a:tc>
                <a:tc>
                  <a:txBody>
                    <a:bodyPr/>
                    <a:lstStyle/>
                    <a:p>
                      <a:pPr>
                        <a:defRPr sz="1000">
                          <a:solidFill>
                            <a:srgbClr val="2D3A3A"/>
                          </a:solidFill>
                        </a:defRPr>
                      </a:pPr>
                      <a:r>
                        <a:t>Variables d'environnement, Detekt vérifie l'absence de secrets codés en dur</a:t>
                      </a:r>
                    </a:p>
                  </a:txBody>
                  <a:tcPr/>
                </a:tc>
                <a:extLst>
                  <a:ext uri="{0D108BD9-81ED-4DB2-BD59-A6C34878D82A}">
                    <a16:rowId xmlns:a16="http://schemas.microsoft.com/office/drawing/2014/main" val="10004"/>
                  </a:ext>
                </a:extLst>
              </a:tr>
              <a:tr h="293914">
                <a:tc>
                  <a:txBody>
                    <a:bodyPr/>
                    <a:lstStyle/>
                    <a:p>
                      <a:pPr>
                        <a:defRPr sz="1000">
                          <a:solidFill>
                            <a:srgbClr val="2D3A3A"/>
                          </a:solidFill>
                        </a:defRPr>
                      </a:pPr>
                      <a:r>
                        <a:t>Erreurs techniques</a:t>
                      </a:r>
                    </a:p>
                  </a:txBody>
                  <a:tcPr/>
                </a:tc>
                <a:tc>
                  <a:txBody>
                    <a:bodyPr/>
                    <a:lstStyle/>
                    <a:p>
                      <a:pPr>
                        <a:defRPr sz="1000">
                          <a:solidFill>
                            <a:srgbClr val="2D3A3A"/>
                          </a:solidFill>
                        </a:defRPr>
                      </a:pPr>
                      <a:r>
                        <a:t>Messages génériques côté client, logs détaillés côté serveur</a:t>
                      </a:r>
                    </a:p>
                  </a:txBody>
                  <a:tcPr/>
                </a:tc>
                <a:extLst>
                  <a:ext uri="{0D108BD9-81ED-4DB2-BD59-A6C34878D82A}">
                    <a16:rowId xmlns:a16="http://schemas.microsoft.com/office/drawing/2014/main" val="10005"/>
                  </a:ext>
                </a:extLst>
              </a:tr>
              <a:tr h="293916">
                <a:tc>
                  <a:txBody>
                    <a:bodyPr/>
                    <a:lstStyle/>
                    <a:p>
                      <a:pPr>
                        <a:defRPr sz="1000">
                          <a:solidFill>
                            <a:srgbClr val="2D3A3A"/>
                          </a:solidFill>
                        </a:defRPr>
                      </a:pPr>
                      <a:r>
                        <a:t>Usurpation d'identité</a:t>
                      </a:r>
                    </a:p>
                  </a:txBody>
                  <a:tcPr/>
                </a:tc>
                <a:tc>
                  <a:txBody>
                    <a:bodyPr/>
                    <a:lstStyle/>
                    <a:p>
                      <a:pPr>
                        <a:defRPr sz="1000">
                          <a:solidFill>
                            <a:srgbClr val="2D3A3A"/>
                          </a:solidFill>
                        </a:defRPr>
                      </a:pPr>
                      <a:r>
                        <a:t>Email extrait du JWT serveur, jamais du body client</a:t>
                      </a:r>
                    </a:p>
                  </a:txBody>
                  <a:tcPr/>
                </a:tc>
                <a:extLst>
                  <a:ext uri="{0D108BD9-81ED-4DB2-BD59-A6C34878D82A}">
                    <a16:rowId xmlns:a16="http://schemas.microsoft.com/office/drawing/2014/main" val="10006"/>
                  </a:ext>
                </a:extLst>
              </a:tr>
            </a:tbl>
          </a:graphicData>
        </a:graphic>
      </p:graphicFrame>
      <p:sp>
        <p:nvSpPr>
          <p:cNvPr id="10" name="TextBox 9"/>
          <p:cNvSpPr txBox="1"/>
          <p:nvPr/>
        </p:nvSpPr>
        <p:spPr>
          <a:xfrm>
            <a:off x="914400" y="3447288"/>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Validation des entrées — 3 niveaux</a:t>
            </a:r>
          </a:p>
        </p:txBody>
      </p:sp>
      <p:graphicFrame>
        <p:nvGraphicFramePr>
          <p:cNvPr id="11" name="Table 10"/>
          <p:cNvGraphicFramePr>
            <a:graphicFrameLocks noGrp="1"/>
          </p:cNvGraphicFramePr>
          <p:nvPr/>
        </p:nvGraphicFramePr>
        <p:xfrm>
          <a:off x="914400" y="4182465"/>
          <a:ext cx="16002000" cy="1234439"/>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08609">
                <a:tc>
                  <a:txBody>
                    <a:bodyPr/>
                    <a:lstStyle/>
                    <a:p>
                      <a:pPr>
                        <a:defRPr sz="1000" b="1">
                          <a:solidFill>
                            <a:srgbClr val="3D5A6C"/>
                          </a:solidFill>
                        </a:defRPr>
                      </a:pPr>
                      <a:r>
                        <a:t>Niveau</a:t>
                      </a:r>
                    </a:p>
                  </a:txBody>
                  <a:tcPr/>
                </a:tc>
                <a:tc>
                  <a:txBody>
                    <a:bodyPr/>
                    <a:lstStyle/>
                    <a:p>
                      <a:pPr>
                        <a:defRPr sz="1000" b="1">
                          <a:solidFill>
                            <a:srgbClr val="3D5A6C"/>
                          </a:solidFill>
                        </a:defRPr>
                      </a:pPr>
                      <a:r>
                        <a:t>Mesure</a:t>
                      </a:r>
                    </a:p>
                  </a:txBody>
                  <a:tcPr/>
                </a:tc>
                <a:extLst>
                  <a:ext uri="{0D108BD9-81ED-4DB2-BD59-A6C34878D82A}">
                    <a16:rowId xmlns:a16="http://schemas.microsoft.com/office/drawing/2014/main" val="10000"/>
                  </a:ext>
                </a:extLst>
              </a:tr>
              <a:tr h="308609">
                <a:tc>
                  <a:txBody>
                    <a:bodyPr/>
                    <a:lstStyle/>
                    <a:p>
                      <a:pPr>
                        <a:defRPr sz="1000">
                          <a:solidFill>
                            <a:srgbClr val="2D3A3A"/>
                          </a:solidFill>
                        </a:defRPr>
                      </a:pPr>
                      <a:r>
                        <a:t>Endpoint</a:t>
                      </a:r>
                    </a:p>
                  </a:txBody>
                  <a:tcPr/>
                </a:tc>
                <a:tc>
                  <a:txBody>
                    <a:bodyPr/>
                    <a:lstStyle/>
                    <a:p>
                      <a:pPr>
                        <a:defRPr sz="1000">
                          <a:solidFill>
                            <a:srgbClr val="2D3A3A"/>
                          </a:solidFill>
                        </a:defRPr>
                      </a:pPr>
                      <a:r>
                        <a:t>Either.catch sur désérialisation, vérification UUID</a:t>
                      </a:r>
                    </a:p>
                  </a:txBody>
                  <a:tcPr/>
                </a:tc>
                <a:extLst>
                  <a:ext uri="{0D108BD9-81ED-4DB2-BD59-A6C34878D82A}">
                    <a16:rowId xmlns:a16="http://schemas.microsoft.com/office/drawing/2014/main" val="10001"/>
                  </a:ext>
                </a:extLst>
              </a:tr>
              <a:tr h="308609">
                <a:tc>
                  <a:txBody>
                    <a:bodyPr/>
                    <a:lstStyle/>
                    <a:p>
                      <a:pPr>
                        <a:defRPr sz="1000">
                          <a:solidFill>
                            <a:srgbClr val="2D3A3A"/>
                          </a:solidFill>
                        </a:defRPr>
                      </a:pPr>
                      <a:r>
                        <a:t>DTO</a:t>
                      </a:r>
                    </a:p>
                  </a:txBody>
                  <a:tcPr/>
                </a:tc>
                <a:tc>
                  <a:txBody>
                    <a:bodyPr/>
                    <a:lstStyle/>
                    <a:p>
                      <a:pPr>
                        <a:defRPr sz="1000">
                          <a:solidFill>
                            <a:srgbClr val="2D3A3A"/>
                          </a:solidFill>
                        </a:defRPr>
                      </a:pPr>
                      <a:r>
                        <a:t>Jackson : FAIL_ON_NULL_FOR_PRIMITIVES = true</a:t>
                      </a:r>
                    </a:p>
                  </a:txBody>
                  <a:tcPr/>
                </a:tc>
                <a:extLst>
                  <a:ext uri="{0D108BD9-81ED-4DB2-BD59-A6C34878D82A}">
                    <a16:rowId xmlns:a16="http://schemas.microsoft.com/office/drawing/2014/main" val="10002"/>
                  </a:ext>
                </a:extLst>
              </a:tr>
              <a:tr h="308612">
                <a:tc>
                  <a:txBody>
                    <a:bodyPr/>
                    <a:lstStyle/>
                    <a:p>
                      <a:pPr>
                        <a:defRPr sz="1000">
                          <a:solidFill>
                            <a:srgbClr val="2D3A3A"/>
                          </a:solidFill>
                        </a:defRPr>
                      </a:pPr>
                      <a:r>
                        <a:t>Base de données</a:t>
                      </a:r>
                    </a:p>
                  </a:txBody>
                  <a:tcPr/>
                </a:tc>
                <a:tc>
                  <a:txBody>
                    <a:bodyPr/>
                    <a:lstStyle/>
                    <a:p>
                      <a:pPr>
                        <a:defRPr sz="1000">
                          <a:solidFill>
                            <a:srgbClr val="2D3A3A"/>
                          </a:solidFill>
                        </a:defRPr>
                      </a:pPr>
                      <a:r>
                        <a:t>CHECK (quantity &gt; 0), NOT NULL, UNIQUE</a:t>
                      </a:r>
                    </a:p>
                  </a:txBody>
                  <a:tcPr/>
                </a:tc>
                <a:extLst>
                  <a:ext uri="{0D108BD9-81ED-4DB2-BD59-A6C34878D82A}">
                    <a16:rowId xmlns:a16="http://schemas.microsoft.com/office/drawing/2014/main" val="10003"/>
                  </a:ext>
                </a:extLst>
              </a:tr>
            </a:tbl>
          </a:graphicData>
        </a:graphic>
      </p:graphicFrame>
      <p:sp>
        <p:nvSpPr>
          <p:cNvPr id="12" name="TextBox 11"/>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Sécurité infrastructure</a:t>
            </a:r>
          </a:p>
        </p:txBody>
      </p:sp>
      <p:graphicFrame>
        <p:nvGraphicFramePr>
          <p:cNvPr id="9" name="Table 8"/>
          <p:cNvGraphicFramePr>
            <a:graphicFrameLocks noGrp="1"/>
          </p:cNvGraphicFramePr>
          <p:nvPr/>
        </p:nvGraphicFramePr>
        <p:xfrm>
          <a:off x="914400" y="1280160"/>
          <a:ext cx="16002000" cy="2057400"/>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293914">
                <a:tc>
                  <a:txBody>
                    <a:bodyPr/>
                    <a:lstStyle/>
                    <a:p>
                      <a:pPr>
                        <a:defRPr sz="1000" b="1">
                          <a:solidFill>
                            <a:srgbClr val="3D5A6C"/>
                          </a:solidFill>
                        </a:defRPr>
                      </a:pPr>
                      <a:r>
                        <a:t>Mesure</a:t>
                      </a:r>
                    </a:p>
                  </a:txBody>
                  <a:tcPr/>
                </a:tc>
                <a:tc>
                  <a:txBody>
                    <a:bodyPr/>
                    <a:lstStyle/>
                    <a:p>
                      <a:pPr>
                        <a:defRPr sz="1000" b="1">
                          <a:solidFill>
                            <a:srgbClr val="3D5A6C"/>
                          </a:solidFill>
                        </a:defRPr>
                      </a:pPr>
                      <a:r>
                        <a:t>Détail</a:t>
                      </a:r>
                    </a:p>
                  </a:txBody>
                  <a:tcPr/>
                </a:tc>
                <a:extLst>
                  <a:ext uri="{0D108BD9-81ED-4DB2-BD59-A6C34878D82A}">
                    <a16:rowId xmlns:a16="http://schemas.microsoft.com/office/drawing/2014/main" val="10000"/>
                  </a:ext>
                </a:extLst>
              </a:tr>
              <a:tr h="293914">
                <a:tc>
                  <a:txBody>
                    <a:bodyPr/>
                    <a:lstStyle/>
                    <a:p>
                      <a:pPr>
                        <a:defRPr sz="1000">
                          <a:solidFill>
                            <a:srgbClr val="2D3A3A"/>
                          </a:solidFill>
                        </a:defRPr>
                      </a:pPr>
                      <a:r>
                        <a:t>HTTPS</a:t>
                      </a:r>
                    </a:p>
                  </a:txBody>
                  <a:tcPr/>
                </a:tc>
                <a:tc>
                  <a:txBody>
                    <a:bodyPr/>
                    <a:lstStyle/>
                    <a:p>
                      <a:pPr>
                        <a:defRPr sz="1000">
                          <a:solidFill>
                            <a:srgbClr val="2D3A3A"/>
                          </a:solidFill>
                        </a:defRPr>
                      </a:pPr>
                      <a:r>
                        <a:t>Forcé par Render en production (TLS automatique)</a:t>
                      </a:r>
                    </a:p>
                  </a:txBody>
                  <a:tcPr/>
                </a:tc>
                <a:extLst>
                  <a:ext uri="{0D108BD9-81ED-4DB2-BD59-A6C34878D82A}">
                    <a16:rowId xmlns:a16="http://schemas.microsoft.com/office/drawing/2014/main" val="10001"/>
                  </a:ext>
                </a:extLst>
              </a:tr>
              <a:tr h="293914">
                <a:tc>
                  <a:txBody>
                    <a:bodyPr/>
                    <a:lstStyle/>
                    <a:p>
                      <a:pPr>
                        <a:defRPr sz="1000">
                          <a:solidFill>
                            <a:srgbClr val="2D3A3A"/>
                          </a:solidFill>
                        </a:defRPr>
                      </a:pPr>
                      <a:r>
                        <a:t>SSL PostgreSQL</a:t>
                      </a:r>
                    </a:p>
                  </a:txBody>
                  <a:tcPr/>
                </a:tc>
                <a:tc>
                  <a:txBody>
                    <a:bodyPr/>
                    <a:lstStyle/>
                    <a:p>
                      <a:pPr>
                        <a:defRPr sz="1000">
                          <a:solidFill>
                            <a:srgbClr val="2D3A3A"/>
                          </a:solidFill>
                        </a:defRPr>
                      </a:pPr>
                      <a:r>
                        <a:t>DB_SSL_MODE=require</a:t>
                      </a:r>
                    </a:p>
                  </a:txBody>
                  <a:tcPr/>
                </a:tc>
                <a:extLst>
                  <a:ext uri="{0D108BD9-81ED-4DB2-BD59-A6C34878D82A}">
                    <a16:rowId xmlns:a16="http://schemas.microsoft.com/office/drawing/2014/main" val="10002"/>
                  </a:ext>
                </a:extLst>
              </a:tr>
              <a:tr h="293914">
                <a:tc>
                  <a:txBody>
                    <a:bodyPr/>
                    <a:lstStyle/>
                    <a:p>
                      <a:pPr>
                        <a:defRPr sz="1000">
                          <a:solidFill>
                            <a:srgbClr val="2D3A3A"/>
                          </a:solidFill>
                        </a:defRPr>
                      </a:pPr>
                      <a:r>
                        <a:t>Docker non-root</a:t>
                      </a:r>
                    </a:p>
                  </a:txBody>
                  <a:tcPr/>
                </a:tc>
                <a:tc>
                  <a:txBody>
                    <a:bodyPr/>
                    <a:lstStyle/>
                    <a:p>
                      <a:pPr>
                        <a:defRPr sz="1000">
                          <a:solidFill>
                            <a:srgbClr val="2D3A3A"/>
                          </a:solidFill>
                        </a:defRPr>
                      </a:pPr>
                      <a:r>
                        <a:t>USER 1000:1000 dans le Dockerfile</a:t>
                      </a:r>
                    </a:p>
                  </a:txBody>
                  <a:tcPr/>
                </a:tc>
                <a:extLst>
                  <a:ext uri="{0D108BD9-81ED-4DB2-BD59-A6C34878D82A}">
                    <a16:rowId xmlns:a16="http://schemas.microsoft.com/office/drawing/2014/main" val="10003"/>
                  </a:ext>
                </a:extLst>
              </a:tr>
              <a:tr h="293914">
                <a:tc>
                  <a:txBody>
                    <a:bodyPr/>
                    <a:lstStyle/>
                    <a:p>
                      <a:pPr>
                        <a:defRPr sz="1000">
                          <a:solidFill>
                            <a:srgbClr val="2D3A3A"/>
                          </a:solidFill>
                        </a:defRPr>
                      </a:pPr>
                      <a:r>
                        <a:t>Utilisateur DB restreint</a:t>
                      </a:r>
                    </a:p>
                  </a:txBody>
                  <a:tcPr/>
                </a:tc>
                <a:tc>
                  <a:txBody>
                    <a:bodyPr/>
                    <a:lstStyle/>
                    <a:p>
                      <a:pPr>
                        <a:defRPr sz="1000">
                          <a:solidFill>
                            <a:srgbClr val="2D3A3A"/>
                          </a:solidFill>
                        </a:defRPr>
                      </a:pPr>
                      <a:r>
                        <a:t>happyrow_user — droits limités au schéma configuration</a:t>
                      </a:r>
                    </a:p>
                  </a:txBody>
                  <a:tcPr/>
                </a:tc>
                <a:extLst>
                  <a:ext uri="{0D108BD9-81ED-4DB2-BD59-A6C34878D82A}">
                    <a16:rowId xmlns:a16="http://schemas.microsoft.com/office/drawing/2014/main" val="10004"/>
                  </a:ext>
                </a:extLst>
              </a:tr>
              <a:tr h="293914">
                <a:tc>
                  <a:txBody>
                    <a:bodyPr/>
                    <a:lstStyle/>
                    <a:p>
                      <a:pPr>
                        <a:defRPr sz="1000">
                          <a:solidFill>
                            <a:srgbClr val="2D3A3A"/>
                          </a:solidFill>
                        </a:defRPr>
                      </a:pPr>
                      <a:r>
                        <a:t>Secrets CI/CD</a:t>
                      </a:r>
                    </a:p>
                  </a:txBody>
                  <a:tcPr/>
                </a:tc>
                <a:tc>
                  <a:txBody>
                    <a:bodyPr/>
                    <a:lstStyle/>
                    <a:p>
                      <a:pPr>
                        <a:defRPr sz="1000">
                          <a:solidFill>
                            <a:srgbClr val="2D3A3A"/>
                          </a:solidFill>
                        </a:defRPr>
                      </a:pPr>
                      <a:r>
                        <a:t>GitHub Secrets pour RENDER_SERVICE_ID, RENDER_API_KEY, Supabase</a:t>
                      </a:r>
                    </a:p>
                  </a:txBody>
                  <a:tcPr/>
                </a:tc>
                <a:extLst>
                  <a:ext uri="{0D108BD9-81ED-4DB2-BD59-A6C34878D82A}">
                    <a16:rowId xmlns:a16="http://schemas.microsoft.com/office/drawing/2014/main" val="10005"/>
                  </a:ext>
                </a:extLst>
              </a:tr>
              <a:tr h="293916">
                <a:tc>
                  <a:txBody>
                    <a:bodyPr/>
                    <a:lstStyle/>
                    <a:p>
                      <a:pPr>
                        <a:defRPr sz="1000">
                          <a:solidFill>
                            <a:srgbClr val="2D3A3A"/>
                          </a:solidFill>
                        </a:defRPr>
                      </a:pPr>
                      <a:r>
                        <a:t>Dependabot</a:t>
                      </a:r>
                    </a:p>
                  </a:txBody>
                  <a:tcPr/>
                </a:tc>
                <a:tc>
                  <a:txBody>
                    <a:bodyPr/>
                    <a:lstStyle/>
                    <a:p>
                      <a:pPr>
                        <a:defRPr sz="1000">
                          <a:solidFill>
                            <a:srgbClr val="2D3A3A"/>
                          </a:solidFill>
                        </a:defRPr>
                      </a:pPr>
                      <a:r>
                        <a:t>Alertes automatiques sur les dépendances vulnérables</a:t>
                      </a:r>
                    </a:p>
                  </a:txBody>
                  <a:tcPr/>
                </a:tc>
                <a:extLst>
                  <a:ext uri="{0D108BD9-81ED-4DB2-BD59-A6C34878D82A}">
                    <a16:rowId xmlns:a16="http://schemas.microsoft.com/office/drawing/2014/main" val="10006"/>
                  </a:ext>
                </a:extLst>
              </a:tr>
            </a:tbl>
          </a:graphicData>
        </a:graphic>
      </p:graphicFrame>
      <p:sp>
        <p:nvSpPr>
          <p:cNvPr id="10" name="TextBox 9"/>
          <p:cNvSpPr txBox="1"/>
          <p:nvPr/>
        </p:nvSpPr>
        <p:spPr>
          <a:xfrm>
            <a:off x="914400" y="3447288"/>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Intégrité des données</a:t>
            </a:r>
          </a:p>
        </p:txBody>
      </p:sp>
      <p:graphicFrame>
        <p:nvGraphicFramePr>
          <p:cNvPr id="11" name="Table 10"/>
          <p:cNvGraphicFramePr>
            <a:graphicFrameLocks noGrp="1"/>
          </p:cNvGraphicFramePr>
          <p:nvPr/>
        </p:nvGraphicFramePr>
        <p:xfrm>
          <a:off x="914400" y="4182465"/>
          <a:ext cx="16002000" cy="1508760"/>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01752">
                <a:tc>
                  <a:txBody>
                    <a:bodyPr/>
                    <a:lstStyle/>
                    <a:p>
                      <a:pPr>
                        <a:defRPr sz="1000" b="1">
                          <a:solidFill>
                            <a:srgbClr val="3D5A6C"/>
                          </a:solidFill>
                        </a:defRPr>
                      </a:pPr>
                      <a:r>
                        <a:t>Mécanisme</a:t>
                      </a:r>
                    </a:p>
                  </a:txBody>
                  <a:tcPr/>
                </a:tc>
                <a:tc>
                  <a:txBody>
                    <a:bodyPr/>
                    <a:lstStyle/>
                    <a:p>
                      <a:pPr>
                        <a:defRPr sz="1000" b="1">
                          <a:solidFill>
                            <a:srgbClr val="3D5A6C"/>
                          </a:solidFill>
                        </a:defRPr>
                      </a:pPr>
                      <a:r>
                        <a:t>Protection</a:t>
                      </a:r>
                    </a:p>
                  </a:txBody>
                  <a:tcPr/>
                </a:tc>
                <a:extLst>
                  <a:ext uri="{0D108BD9-81ED-4DB2-BD59-A6C34878D82A}">
                    <a16:rowId xmlns:a16="http://schemas.microsoft.com/office/drawing/2014/main" val="10000"/>
                  </a:ext>
                </a:extLst>
              </a:tr>
              <a:tr h="301752">
                <a:tc>
                  <a:txBody>
                    <a:bodyPr/>
                    <a:lstStyle/>
                    <a:p>
                      <a:pPr>
                        <a:defRPr sz="1000">
                          <a:solidFill>
                            <a:srgbClr val="2D3A3A"/>
                          </a:solidFill>
                        </a:defRPr>
                      </a:pPr>
                      <a:r>
                        <a:t>Verrou optimiste</a:t>
                      </a:r>
                    </a:p>
                  </a:txBody>
                  <a:tcPr/>
                </a:tc>
                <a:tc>
                  <a:txBody>
                    <a:bodyPr/>
                    <a:lstStyle/>
                    <a:p>
                      <a:pPr>
                        <a:defRPr sz="1000">
                          <a:solidFill>
                            <a:srgbClr val="2D3A3A"/>
                          </a:solidFill>
                        </a:defRPr>
                      </a:pPr>
                      <a:r>
                        <a:t>Mises à jour concurrentes détectées</a:t>
                      </a:r>
                    </a:p>
                  </a:txBody>
                  <a:tcPr/>
                </a:tc>
                <a:extLst>
                  <a:ext uri="{0D108BD9-81ED-4DB2-BD59-A6C34878D82A}">
                    <a16:rowId xmlns:a16="http://schemas.microsoft.com/office/drawing/2014/main" val="10001"/>
                  </a:ext>
                </a:extLst>
              </a:tr>
              <a:tr h="301752">
                <a:tc>
                  <a:txBody>
                    <a:bodyPr/>
                    <a:lstStyle/>
                    <a:p>
                      <a:pPr>
                        <a:defRPr sz="1000">
                          <a:solidFill>
                            <a:srgbClr val="2D3A3A"/>
                          </a:solidFill>
                        </a:defRPr>
                      </a:pPr>
                      <a:r>
                        <a:t>FK CASCADE</a:t>
                      </a:r>
                    </a:p>
                  </a:txBody>
                  <a:tcPr/>
                </a:tc>
                <a:tc>
                  <a:txBody>
                    <a:bodyPr/>
                    <a:lstStyle/>
                    <a:p>
                      <a:pPr>
                        <a:defRPr sz="1000">
                          <a:solidFill>
                            <a:srgbClr val="2D3A3A"/>
                          </a:solidFill>
                        </a:defRPr>
                      </a:pPr>
                      <a:r>
                        <a:t>Suppression propre des données liées</a:t>
                      </a:r>
                    </a:p>
                  </a:txBody>
                  <a:tcPr/>
                </a:tc>
                <a:extLst>
                  <a:ext uri="{0D108BD9-81ED-4DB2-BD59-A6C34878D82A}">
                    <a16:rowId xmlns:a16="http://schemas.microsoft.com/office/drawing/2014/main" val="10002"/>
                  </a:ext>
                </a:extLst>
              </a:tr>
              <a:tr h="301752">
                <a:tc>
                  <a:txBody>
                    <a:bodyPr/>
                    <a:lstStyle/>
                    <a:p>
                      <a:pPr>
                        <a:defRPr sz="1000">
                          <a:solidFill>
                            <a:srgbClr val="2D3A3A"/>
                          </a:solidFill>
                        </a:defRPr>
                      </a:pPr>
                      <a:r>
                        <a:t>UNIQUE + CHECK</a:t>
                      </a:r>
                    </a:p>
                  </a:txBody>
                  <a:tcPr/>
                </a:tc>
                <a:tc>
                  <a:txBody>
                    <a:bodyPr/>
                    <a:lstStyle/>
                    <a:p>
                      <a:pPr>
                        <a:defRPr sz="1000">
                          <a:solidFill>
                            <a:srgbClr val="2D3A3A"/>
                          </a:solidFill>
                        </a:defRPr>
                      </a:pPr>
                      <a:r>
                        <a:t>Contraintes métier en base</a:t>
                      </a:r>
                    </a:p>
                  </a:txBody>
                  <a:tcPr/>
                </a:tc>
                <a:extLst>
                  <a:ext uri="{0D108BD9-81ED-4DB2-BD59-A6C34878D82A}">
                    <a16:rowId xmlns:a16="http://schemas.microsoft.com/office/drawing/2014/main" val="10003"/>
                  </a:ext>
                </a:extLst>
              </a:tr>
              <a:tr h="301752">
                <a:tc>
                  <a:txBody>
                    <a:bodyPr/>
                    <a:lstStyle/>
                    <a:p>
                      <a:pPr>
                        <a:defRPr sz="1000">
                          <a:solidFill>
                            <a:srgbClr val="2D3A3A"/>
                          </a:solidFill>
                        </a:defRPr>
                      </a:pPr>
                      <a:r>
                        <a:t>Transactions</a:t>
                      </a:r>
                    </a:p>
                  </a:txBody>
                  <a:tcPr/>
                </a:tc>
                <a:tc>
                  <a:txBody>
                    <a:bodyPr/>
                    <a:lstStyle/>
                    <a:p>
                      <a:pPr>
                        <a:defRPr sz="1000">
                          <a:solidFill>
                            <a:srgbClr val="2D3A3A"/>
                          </a:solidFill>
                        </a:defRPr>
                      </a:pPr>
                      <a:r>
                        <a:t>Atomicité de chaque opération</a:t>
                      </a:r>
                    </a:p>
                  </a:txBody>
                  <a:tcPr/>
                </a:tc>
                <a:extLst>
                  <a:ext uri="{0D108BD9-81ED-4DB2-BD59-A6C34878D82A}">
                    <a16:rowId xmlns:a16="http://schemas.microsoft.com/office/drawing/2014/main" val="10004"/>
                  </a:ext>
                </a:extLst>
              </a:tr>
            </a:tbl>
          </a:graphicData>
        </a:graphic>
      </p:graphicFrame>
      <p:sp>
        <p:nvSpPr>
          <p:cNvPr id="12" name="TextBox 11"/>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16654075" y="1183089"/>
            <a:ext cx="16786266" cy="17346124"/>
          </a:xfrm>
          <a:custGeom>
            <a:avLst/>
            <a:gdLst/>
            <a:ahLst/>
            <a:cxnLst/>
            <a:rect l="l" t="t" r="r" b="b"/>
            <a:pathLst>
              <a:path w="16786266" h="17346124">
                <a:moveTo>
                  <a:pt x="0" y="0"/>
                </a:moveTo>
                <a:lnTo>
                  <a:pt x="16786265" y="0"/>
                </a:lnTo>
                <a:lnTo>
                  <a:pt x="16786265" y="17346123"/>
                </a:lnTo>
                <a:lnTo>
                  <a:pt x="0" y="17346123"/>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3403139" y="-867306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1180952" y="9451718"/>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5714056" y="8851957"/>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Éco-conception</a:t>
            </a:r>
          </a:p>
        </p:txBody>
      </p:sp>
      <p:graphicFrame>
        <p:nvGraphicFramePr>
          <p:cNvPr id="9" name="Table 8"/>
          <p:cNvGraphicFramePr>
            <a:graphicFrameLocks noGrp="1"/>
          </p:cNvGraphicFramePr>
          <p:nvPr/>
        </p:nvGraphicFramePr>
        <p:xfrm>
          <a:off x="914400" y="1280160"/>
          <a:ext cx="16002000" cy="2331720"/>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291465">
                <a:tc>
                  <a:txBody>
                    <a:bodyPr/>
                    <a:lstStyle/>
                    <a:p>
                      <a:pPr>
                        <a:defRPr sz="1000" b="1">
                          <a:solidFill>
                            <a:srgbClr val="3D5A6C"/>
                          </a:solidFill>
                        </a:defRPr>
                      </a:pPr>
                      <a:r>
                        <a:t>Principe</a:t>
                      </a:r>
                    </a:p>
                  </a:txBody>
                  <a:tcPr/>
                </a:tc>
                <a:tc>
                  <a:txBody>
                    <a:bodyPr/>
                    <a:lstStyle/>
                    <a:p>
                      <a:pPr>
                        <a:defRPr sz="1000" b="1">
                          <a:solidFill>
                            <a:srgbClr val="3D5A6C"/>
                          </a:solidFill>
                        </a:defRPr>
                      </a:pPr>
                      <a:r>
                        <a:t>Application dans HappyRow</a:t>
                      </a:r>
                    </a:p>
                  </a:txBody>
                  <a:tcPr/>
                </a:tc>
                <a:extLst>
                  <a:ext uri="{0D108BD9-81ED-4DB2-BD59-A6C34878D82A}">
                    <a16:rowId xmlns:a16="http://schemas.microsoft.com/office/drawing/2014/main" val="10000"/>
                  </a:ext>
                </a:extLst>
              </a:tr>
              <a:tr h="291465">
                <a:tc>
                  <a:txBody>
                    <a:bodyPr/>
                    <a:lstStyle/>
                    <a:p>
                      <a:pPr>
                        <a:defRPr sz="1000">
                          <a:solidFill>
                            <a:srgbClr val="2D3A3A"/>
                          </a:solidFill>
                        </a:defRPr>
                      </a:pPr>
                      <a:r>
                        <a:t>Sobriété fonctionnelle</a:t>
                      </a:r>
                    </a:p>
                  </a:txBody>
                  <a:tcPr/>
                </a:tc>
                <a:tc>
                  <a:txBody>
                    <a:bodyPr/>
                    <a:lstStyle/>
                    <a:p>
                      <a:pPr>
                        <a:defRPr sz="1000">
                          <a:solidFill>
                            <a:srgbClr val="2D3A3A"/>
                          </a:solidFill>
                        </a:defRPr>
                      </a:pPr>
                      <a:r>
                        <a:t>Périmètre limité aux besoins réels, pas de fonctionnalités superflues</a:t>
                      </a:r>
                    </a:p>
                  </a:txBody>
                  <a:tcPr/>
                </a:tc>
                <a:extLst>
                  <a:ext uri="{0D108BD9-81ED-4DB2-BD59-A6C34878D82A}">
                    <a16:rowId xmlns:a16="http://schemas.microsoft.com/office/drawing/2014/main" val="10001"/>
                  </a:ext>
                </a:extLst>
              </a:tr>
              <a:tr h="291465">
                <a:tc>
                  <a:txBody>
                    <a:bodyPr/>
                    <a:lstStyle/>
                    <a:p>
                      <a:pPr>
                        <a:defRPr sz="1000">
                          <a:solidFill>
                            <a:srgbClr val="2D3A3A"/>
                          </a:solidFill>
                        </a:defRPr>
                      </a:pPr>
                      <a:r>
                        <a:t>Minimalisme des dépendances</a:t>
                      </a:r>
                    </a:p>
                  </a:txBody>
                  <a:tcPr/>
                </a:tc>
                <a:tc>
                  <a:txBody>
                    <a:bodyPr/>
                    <a:lstStyle/>
                    <a:p>
                      <a:pPr>
                        <a:defRPr sz="1000">
                          <a:solidFill>
                            <a:srgbClr val="2D3A3A"/>
                          </a:solidFill>
                        </a:defRPr>
                      </a:pPr>
                      <a:r>
                        <a:t>3 deps de production front-end (React, Router, Supabase), API fetch native</a:t>
                      </a:r>
                    </a:p>
                  </a:txBody>
                  <a:tcPr/>
                </a:tc>
                <a:extLst>
                  <a:ext uri="{0D108BD9-81ED-4DB2-BD59-A6C34878D82A}">
                    <a16:rowId xmlns:a16="http://schemas.microsoft.com/office/drawing/2014/main" val="10002"/>
                  </a:ext>
                </a:extLst>
              </a:tr>
              <a:tr h="291465">
                <a:tc>
                  <a:txBody>
                    <a:bodyPr/>
                    <a:lstStyle/>
                    <a:p>
                      <a:pPr>
                        <a:defRPr sz="1000">
                          <a:solidFill>
                            <a:srgbClr val="2D3A3A"/>
                          </a:solidFill>
                        </a:defRPr>
                      </a:pPr>
                      <a:r>
                        <a:t>Images Docker optimisées</a:t>
                      </a:r>
                    </a:p>
                  </a:txBody>
                  <a:tcPr/>
                </a:tc>
                <a:tc>
                  <a:txBody>
                    <a:bodyPr/>
                    <a:lstStyle/>
                    <a:p>
                      <a:pPr>
                        <a:defRPr sz="1000">
                          <a:solidFill>
                            <a:srgbClr val="2D3A3A"/>
                          </a:solidFill>
                        </a:defRPr>
                      </a:pPr>
                      <a:r>
                        <a:t>Build multi-stage : image prod = JRE 21 + JAR uniquement, pas de SDK</a:t>
                      </a:r>
                    </a:p>
                  </a:txBody>
                  <a:tcPr/>
                </a:tc>
                <a:extLst>
                  <a:ext uri="{0D108BD9-81ED-4DB2-BD59-A6C34878D82A}">
                    <a16:rowId xmlns:a16="http://schemas.microsoft.com/office/drawing/2014/main" val="10003"/>
                  </a:ext>
                </a:extLst>
              </a:tr>
              <a:tr h="291465">
                <a:tc>
                  <a:txBody>
                    <a:bodyPr/>
                    <a:lstStyle/>
                    <a:p>
                      <a:pPr>
                        <a:defRPr sz="1000">
                          <a:solidFill>
                            <a:srgbClr val="2D3A3A"/>
                          </a:solidFill>
                        </a:defRPr>
                      </a:pPr>
                      <a:r>
                        <a:t>PWA et mode offline</a:t>
                      </a:r>
                    </a:p>
                  </a:txBody>
                  <a:tcPr/>
                </a:tc>
                <a:tc>
                  <a:txBody>
                    <a:bodyPr/>
                    <a:lstStyle/>
                    <a:p>
                      <a:pPr>
                        <a:defRPr sz="1000">
                          <a:solidFill>
                            <a:srgbClr val="2D3A3A"/>
                          </a:solidFill>
                        </a:defRPr>
                      </a:pPr>
                      <a:r>
                        <a:t>Service Worker (Workbox) cache les assets, réduit les requêtes réseau</a:t>
                      </a:r>
                    </a:p>
                  </a:txBody>
                  <a:tcPr/>
                </a:tc>
                <a:extLst>
                  <a:ext uri="{0D108BD9-81ED-4DB2-BD59-A6C34878D82A}">
                    <a16:rowId xmlns:a16="http://schemas.microsoft.com/office/drawing/2014/main" val="10004"/>
                  </a:ext>
                </a:extLst>
              </a:tr>
              <a:tr h="291465">
                <a:tc>
                  <a:txBody>
                    <a:bodyPr/>
                    <a:lstStyle/>
                    <a:p>
                      <a:pPr>
                        <a:defRPr sz="1000">
                          <a:solidFill>
                            <a:srgbClr val="2D3A3A"/>
                          </a:solidFill>
                        </a:defRPr>
                      </a:pPr>
                      <a:r>
                        <a:t>Pool de connexions</a:t>
                      </a:r>
                    </a:p>
                  </a:txBody>
                  <a:tcPr/>
                </a:tc>
                <a:tc>
                  <a:txBody>
                    <a:bodyPr/>
                    <a:lstStyle/>
                    <a:p>
                      <a:pPr>
                        <a:defRPr sz="1000">
                          <a:solidFill>
                            <a:srgbClr val="2D3A3A"/>
                          </a:solidFill>
                        </a:defRPr>
                      </a:pPr>
                      <a:r>
                        <a:t>HikariCP mutualise les connexions PostgreSQL</a:t>
                      </a:r>
                    </a:p>
                  </a:txBody>
                  <a:tcPr/>
                </a:tc>
                <a:extLst>
                  <a:ext uri="{0D108BD9-81ED-4DB2-BD59-A6C34878D82A}">
                    <a16:rowId xmlns:a16="http://schemas.microsoft.com/office/drawing/2014/main" val="10005"/>
                  </a:ext>
                </a:extLst>
              </a:tr>
              <a:tr h="291465">
                <a:tc>
                  <a:txBody>
                    <a:bodyPr/>
                    <a:lstStyle/>
                    <a:p>
                      <a:pPr>
                        <a:defRPr sz="1000">
                          <a:solidFill>
                            <a:srgbClr val="2D3A3A"/>
                          </a:solidFill>
                        </a:defRPr>
                      </a:pPr>
                      <a:r>
                        <a:t>JVM tunée</a:t>
                      </a:r>
                    </a:p>
                  </a:txBody>
                  <a:tcPr/>
                </a:tc>
                <a:tc>
                  <a:txBody>
                    <a:bodyPr/>
                    <a:lstStyle/>
                    <a:p>
                      <a:pPr>
                        <a:defRPr sz="1000">
                          <a:solidFill>
                            <a:srgbClr val="2D3A3A"/>
                          </a:solidFill>
                        </a:defRPr>
                      </a:pPr>
                      <a:r>
                        <a:t>-Xmx512m -Xms256m — consomme uniquement la mémoire nécessaire</a:t>
                      </a:r>
                    </a:p>
                  </a:txBody>
                  <a:tcPr/>
                </a:tc>
                <a:extLst>
                  <a:ext uri="{0D108BD9-81ED-4DB2-BD59-A6C34878D82A}">
                    <a16:rowId xmlns:a16="http://schemas.microsoft.com/office/drawing/2014/main" val="10006"/>
                  </a:ext>
                </a:extLst>
              </a:tr>
              <a:tr h="291465">
                <a:tc>
                  <a:txBody>
                    <a:bodyPr/>
                    <a:lstStyle/>
                    <a:p>
                      <a:pPr>
                        <a:defRPr sz="1000">
                          <a:solidFill>
                            <a:srgbClr val="2D3A3A"/>
                          </a:solidFill>
                        </a:defRPr>
                      </a:pPr>
                      <a:r>
                        <a:t>Requêtes optimisées</a:t>
                      </a:r>
                    </a:p>
                  </a:txBody>
                  <a:tcPr/>
                </a:tc>
                <a:tc>
                  <a:txBody>
                    <a:bodyPr/>
                    <a:lstStyle/>
                    <a:p>
                      <a:pPr>
                        <a:defRPr sz="1000">
                          <a:solidFill>
                            <a:srgbClr val="2D3A3A"/>
                          </a:solidFill>
                        </a:defRPr>
                      </a:pPr>
                      <a:r>
                        <a:t>Index ciblés, verrou optimiste (pas de SELECT FOR UPDATE bloquant)</a:t>
                      </a:r>
                    </a:p>
                  </a:txBody>
                  <a:tcPr/>
                </a:tc>
                <a:extLst>
                  <a:ext uri="{0D108BD9-81ED-4DB2-BD59-A6C34878D82A}">
                    <a16:rowId xmlns:a16="http://schemas.microsoft.com/office/drawing/2014/main" val="10007"/>
                  </a:ext>
                </a:extLst>
              </a:tr>
            </a:tbl>
          </a:graphicData>
        </a:graphic>
      </p:graphicFrame>
      <p:sp>
        <p:nvSpPr>
          <p:cNvPr id="10" name="TextBox 9"/>
          <p:cNvSpPr txBox="1"/>
          <p:nvPr/>
        </p:nvSpPr>
        <p:spPr>
          <a:xfrm>
            <a:off x="914400" y="3721608"/>
            <a:ext cx="16002000" cy="464515"/>
          </a:xfrm>
          <a:prstGeom prst="rect">
            <a:avLst/>
          </a:prstGeom>
          <a:noFill/>
        </p:spPr>
        <p:txBody>
          <a:bodyPr wrap="square">
            <a:spAutoFit/>
          </a:bodyPr>
          <a:lstStyle/>
          <a:p>
            <a:pPr>
              <a:spcBef>
                <a:spcPts val="200"/>
              </a:spcBef>
            </a:pPr>
            <a:r>
              <a:rPr sz="1200" b="0" i="0">
                <a:solidFill>
                  <a:srgbClr val="999999"/>
                </a:solidFill>
                <a:latin typeface="Calibri"/>
              </a:rPr>
              <a:t>Conforme aux recommandations du référentiel GR491 (éco-conception de services numériques)</a:t>
            </a:r>
          </a:p>
        </p:txBody>
      </p:sp>
      <p:sp>
        <p:nvSpPr>
          <p:cNvPr id="11" name="TextBox 10"/>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2B5C73"/>
        </a:solidFill>
        <a:effectLst/>
      </p:bgPr>
    </p:bg>
    <p:spTree>
      <p:nvGrpSpPr>
        <p:cNvPr id="1" name=""/>
        <p:cNvGrpSpPr/>
        <p:nvPr/>
      </p:nvGrpSpPr>
      <p:grpSpPr>
        <a:xfrm>
          <a:off x="0" y="0"/>
          <a:ext cx="0" cy="0"/>
          <a:chOff x="0" y="0"/>
          <a:chExt cx="0" cy="0"/>
        </a:xfrm>
      </p:grpSpPr>
      <p:sp>
        <p:nvSpPr>
          <p:cNvPr id="2" name="TextBox 2"/>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p:nvSpPr>
        <p:spPr>
          <a:xfrm>
            <a:off x="-810449" y="4666508"/>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p:nvSpPr>
        <p:spPr>
          <a:xfrm>
            <a:off x="-658049" y="4818908"/>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extBox 4"/>
          <p:cNvSpPr txBox="1"/>
          <p:nvPr/>
        </p:nvSpPr>
        <p:spPr>
          <a:xfrm>
            <a:off x="1828800" y="3200400"/>
            <a:ext cx="14630400" cy="3657600"/>
          </a:xfrm>
          <a:prstGeom prst="rect">
            <a:avLst/>
          </a:prstGeom>
          <a:noFill/>
        </p:spPr>
        <p:txBody>
          <a:bodyPr wrap="square">
            <a:spAutoFit/>
          </a:bodyPr>
          <a:lstStyle/>
          <a:p>
            <a:pPr algn="ctr"/>
            <a:r>
              <a:rPr sz="2800" b="1" i="0">
                <a:solidFill>
                  <a:srgbClr val="FFFFFF"/>
                </a:solidFill>
                <a:latin typeface="Calibri"/>
              </a:rPr>
              <a:t>Plan de tests et jeu d'essai</a:t>
            </a:r>
          </a:p>
        </p:txBody>
      </p:sp>
      <p:sp>
        <p:nvSpPr>
          <p:cNvPr id="6" name="TextBox 5"/>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Stratégie de tests</a:t>
            </a:r>
          </a:p>
        </p:txBody>
      </p:sp>
      <p:sp>
        <p:nvSpPr>
          <p:cNvPr id="9" name="TextBox 8"/>
          <p:cNvSpPr txBox="1"/>
          <p:nvPr/>
        </p:nvSpPr>
        <p:spPr>
          <a:xfrm>
            <a:off x="914400" y="1280160"/>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Pyramide de tests</a:t>
            </a:r>
          </a:p>
        </p:txBody>
      </p:sp>
      <p:graphicFrame>
        <p:nvGraphicFramePr>
          <p:cNvPr id="10" name="Table 9"/>
          <p:cNvGraphicFramePr>
            <a:graphicFrameLocks noGrp="1"/>
          </p:cNvGraphicFramePr>
          <p:nvPr/>
        </p:nvGraphicFramePr>
        <p:xfrm>
          <a:off x="914400" y="2015337"/>
          <a:ext cx="16002000" cy="1783079"/>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4000500">
                  <a:extLst>
                    <a:ext uri="{9D8B030D-6E8A-4147-A177-3AD203B41FA5}">
                      <a16:colId xmlns:a16="http://schemas.microsoft.com/office/drawing/2014/main" val="20003"/>
                    </a:ext>
                  </a:extLst>
                </a:gridCol>
              </a:tblGrid>
              <a:tr h="297179">
                <a:tc>
                  <a:txBody>
                    <a:bodyPr/>
                    <a:lstStyle/>
                    <a:p>
                      <a:pPr>
                        <a:defRPr sz="1000" b="1">
                          <a:solidFill>
                            <a:srgbClr val="3D5A6C"/>
                          </a:solidFill>
                        </a:defRPr>
                      </a:pPr>
                      <a:r>
                        <a:t>Niveau</a:t>
                      </a:r>
                    </a:p>
                  </a:txBody>
                  <a:tcPr/>
                </a:tc>
                <a:tc>
                  <a:txBody>
                    <a:bodyPr/>
                    <a:lstStyle/>
                    <a:p>
                      <a:pPr>
                        <a:defRPr sz="1000" b="1">
                          <a:solidFill>
                            <a:srgbClr val="3D5A6C"/>
                          </a:solidFill>
                        </a:defRPr>
                      </a:pPr>
                      <a:r>
                        <a:t>Outil</a:t>
                      </a:r>
                    </a:p>
                  </a:txBody>
                  <a:tcPr/>
                </a:tc>
                <a:tc>
                  <a:txBody>
                    <a:bodyPr/>
                    <a:lstStyle/>
                    <a:p>
                      <a:pPr>
                        <a:defRPr sz="1000" b="1">
                          <a:solidFill>
                            <a:srgbClr val="3D5A6C"/>
                          </a:solidFill>
                        </a:defRPr>
                      </a:pPr>
                      <a:r>
                        <a:t>Scope</a:t>
                      </a:r>
                    </a:p>
                  </a:txBody>
                  <a:tcPr/>
                </a:tc>
                <a:tc>
                  <a:txBody>
                    <a:bodyPr/>
                    <a:lstStyle/>
                    <a:p>
                      <a:pPr>
                        <a:defRPr sz="1000" b="1">
                          <a:solidFill>
                            <a:srgbClr val="3D5A6C"/>
                          </a:solidFill>
                        </a:defRPr>
                      </a:pPr>
                      <a:r>
                        <a:t>Quantité</a:t>
                      </a:r>
                    </a:p>
                  </a:txBody>
                  <a:tcPr/>
                </a:tc>
                <a:extLst>
                  <a:ext uri="{0D108BD9-81ED-4DB2-BD59-A6C34878D82A}">
                    <a16:rowId xmlns:a16="http://schemas.microsoft.com/office/drawing/2014/main" val="10000"/>
                  </a:ext>
                </a:extLst>
              </a:tr>
              <a:tr h="297179">
                <a:tc>
                  <a:txBody>
                    <a:bodyPr/>
                    <a:lstStyle/>
                    <a:p>
                      <a:pPr>
                        <a:defRPr sz="1000">
                          <a:solidFill>
                            <a:srgbClr val="2D3A3A"/>
                          </a:solidFill>
                        </a:defRPr>
                      </a:pPr>
                      <a:r>
                        <a:t>Tests unitaires</a:t>
                      </a:r>
                    </a:p>
                  </a:txBody>
                  <a:tcPr/>
                </a:tc>
                <a:tc>
                  <a:txBody>
                    <a:bodyPr/>
                    <a:lstStyle/>
                    <a:p>
                      <a:pPr>
                        <a:defRPr sz="1000">
                          <a:solidFill>
                            <a:srgbClr val="2D3A3A"/>
                          </a:solidFill>
                        </a:defRPr>
                      </a:pPr>
                      <a:r>
                        <a:t>Kotest + MockK</a:t>
                      </a:r>
                    </a:p>
                  </a:txBody>
                  <a:tcPr/>
                </a:tc>
                <a:tc>
                  <a:txBody>
                    <a:bodyPr/>
                    <a:lstStyle/>
                    <a:p>
                      <a:pPr>
                        <a:defRPr sz="1000">
                          <a:solidFill>
                            <a:srgbClr val="2D3A3A"/>
                          </a:solidFill>
                        </a:defRPr>
                      </a:pPr>
                      <a:r>
                        <a:t>Use cases, logique métier</a:t>
                      </a:r>
                    </a:p>
                  </a:txBody>
                  <a:tcPr/>
                </a:tc>
                <a:tc>
                  <a:txBody>
                    <a:bodyPr/>
                    <a:lstStyle/>
                    <a:p>
                      <a:pPr>
                        <a:defRPr sz="1000">
                          <a:solidFill>
                            <a:srgbClr val="2D3A3A"/>
                          </a:solidFill>
                        </a:defRPr>
                      </a:pPr>
                      <a:r>
                        <a:t>~2 tests (domaine)</a:t>
                      </a:r>
                    </a:p>
                  </a:txBody>
                  <a:tcPr/>
                </a:tc>
                <a:extLst>
                  <a:ext uri="{0D108BD9-81ED-4DB2-BD59-A6C34878D82A}">
                    <a16:rowId xmlns:a16="http://schemas.microsoft.com/office/drawing/2014/main" val="10001"/>
                  </a:ext>
                </a:extLst>
              </a:tr>
              <a:tr h="297179">
                <a:tc>
                  <a:txBody>
                    <a:bodyPr/>
                    <a:lstStyle/>
                    <a:p>
                      <a:pPr>
                        <a:defRPr sz="1000">
                          <a:solidFill>
                            <a:srgbClr val="2D3A3A"/>
                          </a:solidFill>
                        </a:defRPr>
                      </a:pPr>
                      <a:r>
                        <a:t>Tests d'intégration</a:t>
                      </a:r>
                    </a:p>
                  </a:txBody>
                  <a:tcPr/>
                </a:tc>
                <a:tc>
                  <a:txBody>
                    <a:bodyPr/>
                    <a:lstStyle/>
                    <a:p>
                      <a:pPr>
                        <a:defRPr sz="1000">
                          <a:solidFill>
                            <a:srgbClr val="2D3A3A"/>
                          </a:solidFill>
                        </a:defRPr>
                      </a:pPr>
                      <a:r>
                        <a:t>Testcontainers</a:t>
                      </a:r>
                    </a:p>
                  </a:txBody>
                  <a:tcPr/>
                </a:tc>
                <a:tc>
                  <a:txBody>
                    <a:bodyPr/>
                    <a:lstStyle/>
                    <a:p>
                      <a:pPr>
                        <a:defRPr sz="1000">
                          <a:solidFill>
                            <a:srgbClr val="2D3A3A"/>
                          </a:solidFill>
                        </a:defRPr>
                      </a:pPr>
                      <a:r>
                        <a:t>Repositories SQL, PostgreSQL réel</a:t>
                      </a:r>
                    </a:p>
                  </a:txBody>
                  <a:tcPr/>
                </a:tc>
                <a:tc>
                  <a:txBody>
                    <a:bodyPr/>
                    <a:lstStyle/>
                    <a:p>
                      <a:pPr>
                        <a:defRPr sz="1000">
                          <a:solidFill>
                            <a:srgbClr val="2D3A3A"/>
                          </a:solidFill>
                        </a:defRPr>
                      </a:pPr>
                      <a:r>
                        <a:t>~40 scénarios</a:t>
                      </a:r>
                    </a:p>
                  </a:txBody>
                  <a:tcPr/>
                </a:tc>
                <a:extLst>
                  <a:ext uri="{0D108BD9-81ED-4DB2-BD59-A6C34878D82A}">
                    <a16:rowId xmlns:a16="http://schemas.microsoft.com/office/drawing/2014/main" val="10002"/>
                  </a:ext>
                </a:extLst>
              </a:tr>
              <a:tr h="297179">
                <a:tc>
                  <a:txBody>
                    <a:bodyPr/>
                    <a:lstStyle/>
                    <a:p>
                      <a:pPr>
                        <a:defRPr sz="1000">
                          <a:solidFill>
                            <a:srgbClr val="2D3A3A"/>
                          </a:solidFill>
                        </a:defRPr>
                      </a:pPr>
                      <a:r>
                        <a:t>Analyse statique</a:t>
                      </a:r>
                    </a:p>
                  </a:txBody>
                  <a:tcPr/>
                </a:tc>
                <a:tc>
                  <a:txBody>
                    <a:bodyPr/>
                    <a:lstStyle/>
                    <a:p>
                      <a:pPr>
                        <a:defRPr sz="1000">
                          <a:solidFill>
                            <a:srgbClr val="2D3A3A"/>
                          </a:solidFill>
                        </a:defRPr>
                      </a:pPr>
                      <a:r>
                        <a:t>Detekt</a:t>
                      </a:r>
                    </a:p>
                  </a:txBody>
                  <a:tcPr/>
                </a:tc>
                <a:tc>
                  <a:txBody>
                    <a:bodyPr/>
                    <a:lstStyle/>
                    <a:p>
                      <a:pPr>
                        <a:defRPr sz="1000">
                          <a:solidFill>
                            <a:srgbClr val="2D3A3A"/>
                          </a:solidFill>
                        </a:defRPr>
                      </a:pPr>
                      <a:r>
                        <a:t>Code smells, complexité, sécurité</a:t>
                      </a:r>
                    </a:p>
                  </a:txBody>
                  <a:tcPr/>
                </a:tc>
                <a:tc>
                  <a:txBody>
                    <a:bodyPr/>
                    <a:lstStyle/>
                    <a:p>
                      <a:pPr>
                        <a:defRPr sz="1000">
                          <a:solidFill>
                            <a:srgbClr val="2D3A3A"/>
                          </a:solidFill>
                        </a:defRPr>
                      </a:pPr>
                      <a:r>
                        <a:t>À chaque push</a:t>
                      </a:r>
                    </a:p>
                  </a:txBody>
                  <a:tcPr/>
                </a:tc>
                <a:extLst>
                  <a:ext uri="{0D108BD9-81ED-4DB2-BD59-A6C34878D82A}">
                    <a16:rowId xmlns:a16="http://schemas.microsoft.com/office/drawing/2014/main" val="10003"/>
                  </a:ext>
                </a:extLst>
              </a:tr>
              <a:tr h="297179">
                <a:tc>
                  <a:txBody>
                    <a:bodyPr/>
                    <a:lstStyle/>
                    <a:p>
                      <a:pPr>
                        <a:defRPr sz="1000">
                          <a:solidFill>
                            <a:srgbClr val="2D3A3A"/>
                          </a:solidFill>
                        </a:defRPr>
                      </a:pPr>
                      <a:r>
                        <a:t>Tests unitaires front</a:t>
                      </a:r>
                    </a:p>
                  </a:txBody>
                  <a:tcPr/>
                </a:tc>
                <a:tc>
                  <a:txBody>
                    <a:bodyPr/>
                    <a:lstStyle/>
                    <a:p>
                      <a:pPr>
                        <a:defRPr sz="1000">
                          <a:solidFill>
                            <a:srgbClr val="2D3A3A"/>
                          </a:solidFill>
                        </a:defRPr>
                      </a:pPr>
                      <a:r>
                        <a:t>Vitest + Testing Library</a:t>
                      </a:r>
                    </a:p>
                  </a:txBody>
                  <a:tcPr/>
                </a:tc>
                <a:tc>
                  <a:txBody>
                    <a:bodyPr/>
                    <a:lstStyle/>
                    <a:p>
                      <a:pPr>
                        <a:defRPr sz="1000">
                          <a:solidFill>
                            <a:srgbClr val="2D3A3A"/>
                          </a:solidFill>
                        </a:defRPr>
                      </a:pPr>
                      <a:r>
                        <a:t>Auth (4 fichiers)</a:t>
                      </a:r>
                    </a:p>
                  </a:txBody>
                  <a:tcPr/>
                </a:tc>
                <a:tc>
                  <a:txBody>
                    <a:bodyPr/>
                    <a:lstStyle/>
                    <a:p>
                      <a:pPr>
                        <a:defRPr sz="1000">
                          <a:solidFill>
                            <a:srgbClr val="2D3A3A"/>
                          </a:solidFill>
                        </a:defRPr>
                      </a:pPr>
                      <a:r>
                        <a:t>46 tests</a:t>
                      </a:r>
                    </a:p>
                  </a:txBody>
                  <a:tcPr/>
                </a:tc>
                <a:extLst>
                  <a:ext uri="{0D108BD9-81ED-4DB2-BD59-A6C34878D82A}">
                    <a16:rowId xmlns:a16="http://schemas.microsoft.com/office/drawing/2014/main" val="10004"/>
                  </a:ext>
                </a:extLst>
              </a:tr>
              <a:tr h="297184">
                <a:tc>
                  <a:txBody>
                    <a:bodyPr/>
                    <a:lstStyle/>
                    <a:p>
                      <a:pPr>
                        <a:defRPr sz="1000">
                          <a:solidFill>
                            <a:srgbClr val="2D3A3A"/>
                          </a:solidFill>
                        </a:defRPr>
                      </a:pPr>
                      <a:r>
                        <a:t>Tests E2E</a:t>
                      </a:r>
                    </a:p>
                  </a:txBody>
                  <a:tcPr/>
                </a:tc>
                <a:tc>
                  <a:txBody>
                    <a:bodyPr/>
                    <a:lstStyle/>
                    <a:p>
                      <a:pPr>
                        <a:defRPr sz="1000">
                          <a:solidFill>
                            <a:srgbClr val="2D3A3A"/>
                          </a:solidFill>
                        </a:defRPr>
                      </a:pPr>
                      <a:r>
                        <a:t>Playwright</a:t>
                      </a:r>
                    </a:p>
                  </a:txBody>
                  <a:tcPr/>
                </a:tc>
                <a:tc>
                  <a:txBody>
                    <a:bodyPr/>
                    <a:lstStyle/>
                    <a:p>
                      <a:pPr>
                        <a:defRPr sz="1000">
                          <a:solidFill>
                            <a:srgbClr val="2D3A3A"/>
                          </a:solidFill>
                        </a:defRPr>
                      </a:pPr>
                      <a:r>
                        <a:t>PWA (manifest, SW, offline)</a:t>
                      </a:r>
                    </a:p>
                  </a:txBody>
                  <a:tcPr/>
                </a:tc>
                <a:tc>
                  <a:txBody>
                    <a:bodyPr/>
                    <a:lstStyle/>
                    <a:p>
                      <a:pPr>
                        <a:defRPr sz="1000">
                          <a:solidFill>
                            <a:srgbClr val="2D3A3A"/>
                          </a:solidFill>
                        </a:defRPr>
                      </a:pPr>
                      <a:r>
                        <a:t>6 tests</a:t>
                      </a:r>
                    </a:p>
                  </a:txBody>
                  <a:tcPr/>
                </a:tc>
                <a:extLst>
                  <a:ext uri="{0D108BD9-81ED-4DB2-BD59-A6C34878D82A}">
                    <a16:rowId xmlns:a16="http://schemas.microsoft.com/office/drawing/2014/main" val="10005"/>
                  </a:ext>
                </a:extLst>
              </a:tr>
            </a:tbl>
          </a:graphicData>
        </a:graphic>
      </p:graphicFrame>
      <p:sp>
        <p:nvSpPr>
          <p:cNvPr id="11" name="TextBox 10"/>
          <p:cNvSpPr txBox="1"/>
          <p:nvPr/>
        </p:nvSpPr>
        <p:spPr>
          <a:xfrm>
            <a:off x="914400" y="3908145"/>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Exécution dans le pipeline CI</a:t>
            </a:r>
          </a:p>
        </p:txBody>
      </p:sp>
      <p:pic>
        <p:nvPicPr>
          <p:cNvPr id="12" name="Picture 11" descr="diagram_8.png"/>
          <p:cNvPicPr>
            <a:picLocks noChangeAspect="1"/>
          </p:cNvPicPr>
          <p:nvPr/>
        </p:nvPicPr>
        <p:blipFill>
          <a:blip r:embed="rId6"/>
          <a:stretch>
            <a:fillRect/>
          </a:stretch>
        </p:blipFill>
        <p:spPr>
          <a:xfrm>
            <a:off x="1496015" y="4643323"/>
            <a:ext cx="14838769" cy="4114800"/>
          </a:xfrm>
          <a:prstGeom prst="rect">
            <a:avLst/>
          </a:prstGeom>
        </p:spPr>
      </p:pic>
      <p:sp>
        <p:nvSpPr>
          <p:cNvPr id="13" name="TextBox 12"/>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50</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853535">
            <a:off x="6056554" y="-2160610"/>
            <a:ext cx="20810414" cy="21504485"/>
          </a:xfrm>
          <a:custGeom>
            <a:avLst/>
            <a:gdLst/>
            <a:ahLst/>
            <a:cxnLst/>
            <a:rect l="l" t="t" r="r" b="b"/>
            <a:pathLst>
              <a:path w="20810414" h="21504485">
                <a:moveTo>
                  <a:pt x="0" y="0"/>
                </a:moveTo>
                <a:lnTo>
                  <a:pt x="20810413" y="0"/>
                </a:lnTo>
                <a:lnTo>
                  <a:pt x="20810413" y="21504486"/>
                </a:lnTo>
                <a:lnTo>
                  <a:pt x="0" y="21504486"/>
                </a:lnTo>
                <a:lnTo>
                  <a:pt x="0" y="0"/>
                </a:lnTo>
                <a:close/>
              </a:path>
            </a:pathLst>
          </a:custGeom>
          <a:blipFill>
            <a:blip/>
            <a:stretch>
              <a:fillRect l="-1203" t="-3998" r="-1203"/>
            </a:stretch>
          </a:blipFill>
        </p:spPr>
        <p:txBody>
          <a:bodyPr/>
          <a:lstStyle/>
          <a:p>
            <a:endParaRPr lang="en-US" dirty="0"/>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Tests unitaires : exemple Kotest BDD</a:t>
            </a:r>
          </a:p>
        </p:txBody>
      </p:sp>
      <p:sp>
        <p:nvSpPr>
          <p:cNvPr id="6" name="TextBox 5"/>
          <p:cNvSpPr txBox="1"/>
          <p:nvPr/>
        </p:nvSpPr>
        <p:spPr>
          <a:xfrm>
            <a:off x="731520" y="1280160"/>
            <a:ext cx="8046720" cy="1309420"/>
          </a:xfrm>
          <a:prstGeom prst="rect">
            <a:avLst/>
          </a:prstGeom>
          <a:noFill/>
        </p:spPr>
        <p:txBody>
          <a:bodyPr wrap="square">
            <a:spAutoFit/>
          </a:bodyPr>
          <a:lstStyle/>
          <a:p>
            <a:pPr>
              <a:spcBef>
                <a:spcPts val="200"/>
              </a:spcBef>
              <a:spcAft>
                <a:spcPts val="200"/>
              </a:spcAft>
            </a:pPr>
            <a:r>
              <a:rPr sz="1200" b="0" i="0">
                <a:solidFill>
                  <a:srgbClr val="2D3A3A"/>
                </a:solidFill>
                <a:latin typeface="Calibri"/>
              </a:rPr>
              <a:t>• Structure </a:t>
            </a:r>
            <a:r>
              <a:rPr sz="1200" b="1" i="0">
                <a:solidFill>
                  <a:srgbClr val="2D3A3A"/>
                </a:solidFill>
                <a:latin typeface="Calibri"/>
              </a:rPr>
              <a:t>BDD</a:t>
            </a:r>
            <a:r>
              <a:rPr sz="1200" b="0" i="0">
                <a:solidFill>
                  <a:srgbClr val="2D3A3A"/>
                </a:solidFill>
                <a:latin typeface="Calibri"/>
              </a:rPr>
              <a:t> : Given / When / Then via fonctions d'aide</a:t>
            </a:r>
          </a:p>
          <a:p>
            <a:pPr>
              <a:spcBef>
                <a:spcPts val="200"/>
              </a:spcBef>
              <a:spcAft>
                <a:spcPts val="200"/>
              </a:spcAft>
            </a:pPr>
            <a:r>
              <a:rPr sz="1200" b="0" i="0">
                <a:solidFill>
                  <a:srgbClr val="2D3A3A"/>
                </a:solidFill>
                <a:latin typeface="Calibri"/>
              </a:rPr>
              <a:t>• </a:t>
            </a:r>
            <a:r>
              <a:rPr sz="1200" b="1" i="0">
                <a:solidFill>
                  <a:srgbClr val="2D3A3A"/>
                </a:solidFill>
                <a:latin typeface="Calibri"/>
              </a:rPr>
              <a:t>Personas</a:t>
            </a:r>
            <a:r>
              <a:rPr sz="1200" b="0" i="0">
                <a:solidFill>
                  <a:srgbClr val="2D3A3A"/>
                </a:solidFill>
                <a:latin typeface="Calibri"/>
              </a:rPr>
              <a:t> : données de test centralisées (</a:t>
            </a:r>
            <a:r>
              <a:rPr sz="1200" b="0" i="0">
                <a:solidFill>
                  <a:srgbClr val="2D3A3A"/>
                </a:solidFill>
                <a:latin typeface="Consolas"/>
              </a:rPr>
              <a:t>Persona.Event.anEvent</a:t>
            </a:r>
            <a:r>
              <a:rPr sz="1200" b="0" i="0">
                <a:solidFill>
                  <a:srgbClr val="2D3A3A"/>
                </a:solidFill>
                <a:latin typeface="Calibri"/>
              </a:rPr>
              <a:t>)</a:t>
            </a:r>
          </a:p>
          <a:p>
            <a:pPr>
              <a:spcBef>
                <a:spcPts val="200"/>
              </a:spcBef>
              <a:spcAft>
                <a:spcPts val="200"/>
              </a:spcAft>
            </a:pPr>
            <a:r>
              <a:rPr sz="1200" b="0" i="0">
                <a:solidFill>
                  <a:srgbClr val="2D3A3A"/>
                </a:solidFill>
                <a:latin typeface="Calibri"/>
              </a:rPr>
              <a:t>• </a:t>
            </a:r>
            <a:r>
              <a:rPr sz="1200" b="1" i="0">
                <a:solidFill>
                  <a:srgbClr val="2D3A3A"/>
                </a:solidFill>
                <a:latin typeface="Calibri"/>
              </a:rPr>
              <a:t>Arrow Test</a:t>
            </a:r>
            <a:r>
              <a:rPr sz="1200" b="0" i="0">
                <a:solidFill>
                  <a:srgbClr val="2D3A3A"/>
                </a:solidFill>
                <a:latin typeface="Calibri"/>
              </a:rPr>
              <a:t> : assertions </a:t>
            </a:r>
            <a:r>
              <a:rPr sz="1200" b="0" i="0">
                <a:solidFill>
                  <a:srgbClr val="2D3A3A"/>
                </a:solidFill>
                <a:latin typeface="Consolas"/>
              </a:rPr>
              <a:t>shouldBeRight</a:t>
            </a:r>
            <a:r>
              <a:rPr sz="1200" b="0" i="0">
                <a:solidFill>
                  <a:srgbClr val="2D3A3A"/>
                </a:solidFill>
                <a:latin typeface="Calibri"/>
              </a:rPr>
              <a:t>, </a:t>
            </a:r>
            <a:r>
              <a:rPr sz="1200" b="0" i="0">
                <a:solidFill>
                  <a:srgbClr val="2D3A3A"/>
                </a:solidFill>
                <a:latin typeface="Consolas"/>
              </a:rPr>
              <a:t>shouldBeLeft</a:t>
            </a:r>
          </a:p>
          <a:p>
            <a:pPr>
              <a:spcBef>
                <a:spcPts val="200"/>
              </a:spcBef>
              <a:spcAft>
                <a:spcPts val="200"/>
              </a:spcAft>
            </a:pPr>
            <a:r>
              <a:rPr sz="1200" b="0" i="0">
                <a:solidFill>
                  <a:srgbClr val="2D3A3A"/>
                </a:solidFill>
                <a:latin typeface="Calibri"/>
              </a:rPr>
              <a:t>• </a:t>
            </a:r>
            <a:r>
              <a:rPr sz="1200" b="1" i="0">
                <a:solidFill>
                  <a:srgbClr val="2D3A3A"/>
                </a:solidFill>
                <a:latin typeface="Calibri"/>
              </a:rPr>
              <a:t>MockK</a:t>
            </a:r>
            <a:r>
              <a:rPr sz="1200" b="0" i="0">
                <a:solidFill>
                  <a:srgbClr val="2D3A3A"/>
                </a:solidFill>
                <a:latin typeface="Calibri"/>
              </a:rPr>
              <a:t> : mocking des repositories (ports du domaine)</a:t>
            </a:r>
          </a:p>
        </p:txBody>
      </p:sp>
      <p:sp>
        <p:nvSpPr>
          <p:cNvPr id="7" name="TextBox 6"/>
          <p:cNvSpPr txBox="1"/>
          <p:nvPr/>
        </p:nvSpPr>
        <p:spPr>
          <a:xfrm>
            <a:off x="9326880" y="1280160"/>
            <a:ext cx="8046720" cy="4224528"/>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domain/event/create/CreateEventUseCaseTestUT.kt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class CreateEventUseCaseTestUT {</a:t>
            </a:r>
          </a:p>
          <a:p>
            <a:pPr>
              <a:spcBef>
                <a:spcPts val="0"/>
              </a:spcBef>
              <a:spcAft>
                <a:spcPts val="0"/>
              </a:spcAft>
            </a:pPr>
            <a:r>
              <a:rPr sz="900" b="0" i="0">
                <a:solidFill>
                  <a:srgbClr val="2D3A3A"/>
                </a:solidFill>
                <a:latin typeface="Consolas"/>
              </a:rPr>
              <a:t>  private val eventRepositoryMock = mockk&lt;EventRepository&gt;()</a:t>
            </a:r>
          </a:p>
          <a:p>
            <a:pPr>
              <a:spcBef>
                <a:spcPts val="0"/>
              </a:spcBef>
              <a:spcAft>
                <a:spcPts val="0"/>
              </a:spcAft>
            </a:pPr>
            <a:r>
              <a:rPr sz="900" b="0" i="0">
                <a:solidFill>
                  <a:srgbClr val="2D3A3A"/>
                </a:solidFill>
                <a:latin typeface="Consolas"/>
              </a:rPr>
              <a:t>  private val participantRepositoryMock = mockk&lt;ParticipantRepository&gt;()</a:t>
            </a:r>
          </a:p>
          <a:p>
            <a:pPr>
              <a:spcBef>
                <a:spcPts val="0"/>
              </a:spcBef>
              <a:spcAft>
                <a:spcPts val="0"/>
              </a:spcAft>
            </a:pPr>
            <a:r>
              <a:rPr sz="900" b="0" i="0">
                <a:solidFill>
                  <a:srgbClr val="2D3A3A"/>
                </a:solidFill>
                <a:latin typeface="Consolas"/>
              </a:rPr>
              <a:t>  private val useCase = CreateEventUseCase(</a:t>
            </a:r>
          </a:p>
          <a:p>
            <a:pPr>
              <a:spcBef>
                <a:spcPts val="0"/>
              </a:spcBef>
              <a:spcAft>
                <a:spcPts val="0"/>
              </a:spcAft>
            </a:pPr>
            <a:r>
              <a:rPr sz="900" b="0" i="0">
                <a:solidFill>
                  <a:srgbClr val="2D3A3A"/>
                </a:solidFill>
                <a:latin typeface="Consolas"/>
              </a:rPr>
              <a:t>    eventRepositoryMock, participantRepositoryMock</a:t>
            </a:r>
          </a:p>
          <a:p>
            <a:pPr>
              <a:spcBef>
                <a:spcPts val="0"/>
              </a:spcBef>
              <a:spcAft>
                <a:spcPts val="0"/>
              </a:spcAft>
            </a:pPr>
            <a:r>
              <a:rPr sz="900" b="0" i="0">
                <a:solidFill>
                  <a:srgbClr val="2D3A3A"/>
                </a:solidFill>
                <a:latin typeface="Consolas"/>
              </a:rPr>
              <a:t>  )</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@Test</a:t>
            </a:r>
          </a:p>
          <a:p>
            <a:pPr>
              <a:spcBef>
                <a:spcPts val="0"/>
              </a:spcBef>
              <a:spcAft>
                <a:spcPts val="0"/>
              </a:spcAft>
            </a:pPr>
            <a:r>
              <a:rPr sz="900" b="0" i="0">
                <a:solidFill>
                  <a:srgbClr val="2D3A3A"/>
                </a:solidFill>
                <a:latin typeface="Consolas"/>
              </a:rPr>
              <a:t>  fun `should create event and auto-add creator as participant`() {</a:t>
            </a:r>
          </a:p>
          <a:p>
            <a:pPr>
              <a:spcBef>
                <a:spcPts val="0"/>
              </a:spcBef>
              <a:spcAft>
                <a:spcPts val="0"/>
              </a:spcAft>
            </a:pPr>
            <a:r>
              <a:rPr sz="900" b="0" i="0">
                <a:solidFill>
                  <a:srgbClr val="2D3A3A"/>
                </a:solidFill>
                <a:latin typeface="Consolas"/>
              </a:rPr>
              <a:t>    givenACreateRequest()</a:t>
            </a:r>
          </a:p>
          <a:p>
            <a:pPr>
              <a:spcBef>
                <a:spcPts val="0"/>
              </a:spcBef>
              <a:spcAft>
                <a:spcPts val="0"/>
              </a:spcAft>
            </a:pPr>
            <a:r>
              <a:rPr sz="900" b="0" i="0">
                <a:solidFill>
                  <a:srgbClr val="2D3A3A"/>
                </a:solidFill>
                <a:latin typeface="Consolas"/>
              </a:rPr>
              <a:t>      .andAWorkingCreation()</a:t>
            </a:r>
          </a:p>
          <a:p>
            <a:pPr>
              <a:spcBef>
                <a:spcPts val="0"/>
              </a:spcBef>
              <a:spcAft>
                <a:spcPts val="0"/>
              </a:spcAft>
            </a:pPr>
            <a:r>
              <a:rPr sz="900" b="0" i="0">
                <a:solidFill>
                  <a:srgbClr val="2D3A3A"/>
                </a:solidFill>
                <a:latin typeface="Consolas"/>
              </a:rPr>
              <a:t>      .whenCreating()</a:t>
            </a:r>
          </a:p>
          <a:p>
            <a:pPr>
              <a:spcBef>
                <a:spcPts val="0"/>
              </a:spcBef>
              <a:spcAft>
                <a:spcPts val="0"/>
              </a:spcAft>
            </a:pPr>
            <a:r>
              <a:rPr sz="900" b="0" i="0">
                <a:solidFill>
                  <a:srgbClr val="2D3A3A"/>
                </a:solidFill>
                <a:latin typeface="Consolas"/>
              </a:rPr>
              <a:t>      .then { (result) -&gt;</a:t>
            </a:r>
          </a:p>
          <a:p>
            <a:pPr>
              <a:spcBef>
                <a:spcPts val="0"/>
              </a:spcBef>
              <a:spcAft>
                <a:spcPts val="0"/>
              </a:spcAft>
            </a:pPr>
            <a:r>
              <a:rPr sz="900" b="0" i="0">
                <a:solidFill>
                  <a:srgbClr val="2D3A3A"/>
                </a:solidFill>
                <a:latin typeface="Consolas"/>
              </a:rPr>
              <a:t>        result shouldBeRight Persona.Event.anEvent</a:t>
            </a:r>
          </a:p>
          <a:p>
            <a:pPr>
              <a:spcBef>
                <a:spcPts val="0"/>
              </a:spcBef>
              <a:spcAft>
                <a:spcPts val="0"/>
              </a:spcAft>
            </a:pPr>
            <a:r>
              <a:rPr sz="900" b="0" i="0">
                <a:solidFill>
                  <a:srgbClr val="2D3A3A"/>
                </a:solidFill>
                <a:latin typeface="Consolas"/>
              </a:rPr>
              <a:t>      }</a:t>
            </a:r>
          </a:p>
          <a:p>
            <a:pPr>
              <a:spcBef>
                <a:spcPts val="0"/>
              </a:spcBef>
              <a:spcAft>
                <a:spcPts val="0"/>
              </a:spcAft>
            </a:pPr>
            <a:r>
              <a:rPr sz="900" b="0" i="0">
                <a:solidFill>
                  <a:srgbClr val="2D3A3A"/>
                </a:solidFill>
                <a:latin typeface="Consolas"/>
              </a:rPr>
              <a:t>  }</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@Test</a:t>
            </a:r>
          </a:p>
          <a:p>
            <a:pPr>
              <a:spcBef>
                <a:spcPts val="0"/>
              </a:spcBef>
              <a:spcAft>
                <a:spcPts val="0"/>
              </a:spcAft>
            </a:pPr>
            <a:r>
              <a:rPr sz="900" b="0" i="0">
                <a:solidFill>
                  <a:srgbClr val="2D3A3A"/>
                </a:solidFill>
                <a:latin typeface="Consolas"/>
              </a:rPr>
              <a:t>  fun `should transfer error from event repository`() {</a:t>
            </a:r>
          </a:p>
          <a:p>
            <a:pPr>
              <a:spcBef>
                <a:spcPts val="0"/>
              </a:spcBef>
              <a:spcAft>
                <a:spcPts val="0"/>
              </a:spcAft>
            </a:pPr>
            <a:r>
              <a:rPr sz="900" b="0" i="0">
                <a:solidFill>
                  <a:srgbClr val="2D3A3A"/>
                </a:solidFill>
                <a:latin typeface="Consolas"/>
              </a:rPr>
              <a:t>    val error = CreateEventRepositoryException(Persona.Event.aCreateEventRequest)</a:t>
            </a:r>
          </a:p>
          <a:p>
            <a:pPr>
              <a:spcBef>
                <a:spcPts val="0"/>
              </a:spcBef>
              <a:spcAft>
                <a:spcPts val="0"/>
              </a:spcAft>
            </a:pPr>
            <a:r>
              <a:rPr sz="900" b="0" i="0">
                <a:solidFill>
                  <a:srgbClr val="2D3A3A"/>
                </a:solidFill>
                <a:latin typeface="Consolas"/>
              </a:rPr>
              <a:t>// ...</a:t>
            </a:r>
          </a:p>
        </p:txBody>
      </p:sp>
      <p:sp>
        <p:nvSpPr>
          <p:cNvPr id="8" name="TextBox 7"/>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16654075" y="1183089"/>
            <a:ext cx="16786266" cy="17346124"/>
          </a:xfrm>
          <a:custGeom>
            <a:avLst/>
            <a:gdLst/>
            <a:ahLst/>
            <a:cxnLst/>
            <a:rect l="l" t="t" r="r" b="b"/>
            <a:pathLst>
              <a:path w="16786266" h="17346124">
                <a:moveTo>
                  <a:pt x="0" y="0"/>
                </a:moveTo>
                <a:lnTo>
                  <a:pt x="16786265" y="0"/>
                </a:lnTo>
                <a:lnTo>
                  <a:pt x="16786265" y="17346123"/>
                </a:lnTo>
                <a:lnTo>
                  <a:pt x="0" y="17346123"/>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3403139" y="-867306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1180952" y="9451718"/>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5714056" y="8851957"/>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Jeu d'essai : scénarios nominal et conflit</a:t>
            </a:r>
          </a:p>
        </p:txBody>
      </p:sp>
      <p:sp>
        <p:nvSpPr>
          <p:cNvPr id="9" name="TextBox 8"/>
          <p:cNvSpPr txBox="1"/>
          <p:nvPr/>
        </p:nvSpPr>
        <p:spPr>
          <a:xfrm>
            <a:off x="914400" y="1280160"/>
            <a:ext cx="16002000" cy="925372"/>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Fonctionnalité représentative : ajout contribution + verrou optimiste</a:t>
            </a:r>
          </a:p>
          <a:p>
            <a:pPr>
              <a:spcBef>
                <a:spcPts val="200"/>
              </a:spcBef>
              <a:spcAft>
                <a:spcPts val="200"/>
              </a:spcAft>
            </a:pPr>
            <a:r>
              <a:rPr sz="1300" b="1" i="0">
                <a:solidFill>
                  <a:srgbClr val="2D3A3A"/>
                </a:solidFill>
                <a:latin typeface="Calibri"/>
              </a:rPr>
              <a:t>Scénario nominal</a:t>
            </a:r>
          </a:p>
        </p:txBody>
      </p:sp>
      <p:graphicFrame>
        <p:nvGraphicFramePr>
          <p:cNvPr id="10" name="Table 9"/>
          <p:cNvGraphicFramePr>
            <a:graphicFrameLocks noGrp="1"/>
          </p:cNvGraphicFramePr>
          <p:nvPr/>
        </p:nvGraphicFramePr>
        <p:xfrm>
          <a:off x="914400" y="2296972"/>
          <a:ext cx="16002000" cy="2057400"/>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4000500">
                  <a:extLst>
                    <a:ext uri="{9D8B030D-6E8A-4147-A177-3AD203B41FA5}">
                      <a16:colId xmlns:a16="http://schemas.microsoft.com/office/drawing/2014/main" val="20003"/>
                    </a:ext>
                  </a:extLst>
                </a:gridCol>
              </a:tblGrid>
              <a:tr h="293914">
                <a:tc>
                  <a:txBody>
                    <a:bodyPr/>
                    <a:lstStyle/>
                    <a:p>
                      <a:pPr>
                        <a:defRPr sz="1000" b="1">
                          <a:solidFill>
                            <a:srgbClr val="3D5A6C"/>
                          </a:solidFill>
                        </a:defRPr>
                      </a:pPr>
                      <a:r>
                        <a:t>Étape</a:t>
                      </a:r>
                    </a:p>
                  </a:txBody>
                  <a:tcPr/>
                </a:tc>
                <a:tc>
                  <a:txBody>
                    <a:bodyPr/>
                    <a:lstStyle/>
                    <a:p>
                      <a:pPr>
                        <a:defRPr sz="1000" b="1">
                          <a:solidFill>
                            <a:srgbClr val="3D5A6C"/>
                          </a:solidFill>
                        </a:defRPr>
                      </a:pPr>
                      <a:r>
                        <a:t>Entrée</a:t>
                      </a:r>
                    </a:p>
                  </a:txBody>
                  <a:tcPr/>
                </a:tc>
                <a:tc>
                  <a:txBody>
                    <a:bodyPr/>
                    <a:lstStyle/>
                    <a:p>
                      <a:pPr>
                        <a:defRPr sz="1000" b="1">
                          <a:solidFill>
                            <a:srgbClr val="3D5A6C"/>
                          </a:solidFill>
                        </a:defRPr>
                      </a:pPr>
                      <a:r>
                        <a:t>Attendu</a:t>
                      </a:r>
                    </a:p>
                  </a:txBody>
                  <a:tcPr/>
                </a:tc>
                <a:tc>
                  <a:txBody>
                    <a:bodyPr/>
                    <a:lstStyle/>
                    <a:p>
                      <a:pPr>
                        <a:defRPr sz="1000" b="1">
                          <a:solidFill>
                            <a:srgbClr val="3D5A6C"/>
                          </a:solidFill>
                        </a:defRPr>
                      </a:pPr>
                      <a:r>
                        <a:t>Obtenu</a:t>
                      </a:r>
                    </a:p>
                  </a:txBody>
                  <a:tcPr/>
                </a:tc>
                <a:extLst>
                  <a:ext uri="{0D108BD9-81ED-4DB2-BD59-A6C34878D82A}">
                    <a16:rowId xmlns:a16="http://schemas.microsoft.com/office/drawing/2014/main" val="10000"/>
                  </a:ext>
                </a:extLst>
              </a:tr>
              <a:tr h="293914">
                <a:tc>
                  <a:txBody>
                    <a:bodyPr/>
                    <a:lstStyle/>
                    <a:p>
                      <a:pPr>
                        <a:defRPr sz="1000">
                          <a:solidFill>
                            <a:srgbClr val="2D3A3A"/>
                          </a:solidFill>
                        </a:defRPr>
                      </a:pPr>
                      <a:r>
                        <a:t>1. Requête HTTP</a:t>
                      </a:r>
                    </a:p>
                  </a:txBody>
                  <a:tcPr/>
                </a:tc>
                <a:tc>
                  <a:txBody>
                    <a:bodyPr/>
                    <a:lstStyle/>
                    <a:p>
                      <a:pPr>
                        <a:defRPr sz="1000">
                          <a:solidFill>
                            <a:srgbClr val="2D3A3A"/>
                          </a:solidFill>
                        </a:defRPr>
                      </a:pPr>
                      <a:r>
                        <a:t>POST .../contributions + JWT + { "quantity": 3 }</a:t>
                      </a:r>
                    </a:p>
                  </a:txBody>
                  <a:tcPr/>
                </a:tc>
                <a:tc>
                  <a:txBody>
                    <a:bodyPr/>
                    <a:lstStyle/>
                    <a:p>
                      <a:pPr>
                        <a:defRPr sz="1000">
                          <a:solidFill>
                            <a:srgbClr val="2D3A3A"/>
                          </a:solidFill>
                        </a:defRPr>
                      </a:pPr>
                      <a:r>
                        <a:t>Acceptée</a:t>
                      </a:r>
                    </a:p>
                  </a:txBody>
                  <a:tcPr/>
                </a:tc>
                <a:tc>
                  <a:txBody>
                    <a:bodyPr/>
                    <a:lstStyle/>
                    <a:p>
                      <a:pPr>
                        <a:defRPr sz="1000">
                          <a:solidFill>
                            <a:srgbClr val="2D3A3A"/>
                          </a:solidFill>
                        </a:defRPr>
                      </a:pPr>
                      <a:r>
                        <a:t>OK</a:t>
                      </a:r>
                    </a:p>
                  </a:txBody>
                  <a:tcPr/>
                </a:tc>
                <a:extLst>
                  <a:ext uri="{0D108BD9-81ED-4DB2-BD59-A6C34878D82A}">
                    <a16:rowId xmlns:a16="http://schemas.microsoft.com/office/drawing/2014/main" val="10001"/>
                  </a:ext>
                </a:extLst>
              </a:tr>
              <a:tr h="293914">
                <a:tc>
                  <a:txBody>
                    <a:bodyPr/>
                    <a:lstStyle/>
                    <a:p>
                      <a:pPr>
                        <a:defRPr sz="1000">
                          <a:solidFill>
                            <a:srgbClr val="2D3A3A"/>
                          </a:solidFill>
                        </a:defRPr>
                      </a:pPr>
                      <a:r>
                        <a:t>2. Auth</a:t>
                      </a:r>
                    </a:p>
                  </a:txBody>
                  <a:tcPr/>
                </a:tc>
                <a:tc>
                  <a:txBody>
                    <a:bodyPr/>
                    <a:lstStyle/>
                    <a:p>
                      <a:pPr>
                        <a:defRPr sz="1000">
                          <a:solidFill>
                            <a:srgbClr val="2D3A3A"/>
                          </a:solidFill>
                        </a:defRPr>
                      </a:pPr>
                      <a:r>
                        <a:t>JWT valide</a:t>
                      </a:r>
                    </a:p>
                  </a:txBody>
                  <a:tcPr/>
                </a:tc>
                <a:tc>
                  <a:txBody>
                    <a:bodyPr/>
                    <a:lstStyle/>
                    <a:p>
                      <a:pPr>
                        <a:defRPr sz="1000">
                          <a:solidFill>
                            <a:srgbClr val="2D3A3A"/>
                          </a:solidFill>
                        </a:defRPr>
                      </a:pPr>
                      <a:r>
                        <a:t>AuthenticatedUser extrait</a:t>
                      </a:r>
                    </a:p>
                  </a:txBody>
                  <a:tcPr/>
                </a:tc>
                <a:tc>
                  <a:txBody>
                    <a:bodyPr/>
                    <a:lstStyle/>
                    <a:p>
                      <a:pPr>
                        <a:defRPr sz="1000">
                          <a:solidFill>
                            <a:srgbClr val="2D3A3A"/>
                          </a:solidFill>
                        </a:defRPr>
                      </a:pPr>
                      <a:r>
                        <a:t>OK</a:t>
                      </a:r>
                    </a:p>
                  </a:txBody>
                  <a:tcPr/>
                </a:tc>
                <a:extLst>
                  <a:ext uri="{0D108BD9-81ED-4DB2-BD59-A6C34878D82A}">
                    <a16:rowId xmlns:a16="http://schemas.microsoft.com/office/drawing/2014/main" val="10002"/>
                  </a:ext>
                </a:extLst>
              </a:tr>
              <a:tr h="293914">
                <a:tc>
                  <a:txBody>
                    <a:bodyPr/>
                    <a:lstStyle/>
                    <a:p>
                      <a:pPr>
                        <a:defRPr sz="1000">
                          <a:solidFill>
                            <a:srgbClr val="2D3A3A"/>
                          </a:solidFill>
                        </a:defRPr>
                      </a:pPr>
                      <a:r>
                        <a:t>3. Participant</a:t>
                      </a:r>
                    </a:p>
                  </a:txBody>
                  <a:tcPr/>
                </a:tc>
                <a:tc>
                  <a:txBody>
                    <a:bodyPr/>
                    <a:lstStyle/>
                    <a:p>
                      <a:pPr>
                        <a:defRPr sz="1000">
                          <a:solidFill>
                            <a:srgbClr val="2D3A3A"/>
                          </a:solidFill>
                        </a:defRPr>
                      </a:pPr>
                      <a:r>
                        <a:t>email + eventId</a:t>
                      </a:r>
                    </a:p>
                  </a:txBody>
                  <a:tcPr/>
                </a:tc>
                <a:tc>
                  <a:txBody>
                    <a:bodyPr/>
                    <a:lstStyle/>
                    <a:p>
                      <a:pPr>
                        <a:defRPr sz="1000">
                          <a:solidFill>
                            <a:srgbClr val="2D3A3A"/>
                          </a:solidFill>
                        </a:defRPr>
                      </a:pPr>
                      <a:r>
                        <a:t>findOrCreate retourne participant</a:t>
                      </a:r>
                    </a:p>
                  </a:txBody>
                  <a:tcPr/>
                </a:tc>
                <a:tc>
                  <a:txBody>
                    <a:bodyPr/>
                    <a:lstStyle/>
                    <a:p>
                      <a:pPr>
                        <a:defRPr sz="1000">
                          <a:solidFill>
                            <a:srgbClr val="2D3A3A"/>
                          </a:solidFill>
                        </a:defRPr>
                      </a:pPr>
                      <a:r>
                        <a:t>OK</a:t>
                      </a:r>
                    </a:p>
                  </a:txBody>
                  <a:tcPr/>
                </a:tc>
                <a:extLst>
                  <a:ext uri="{0D108BD9-81ED-4DB2-BD59-A6C34878D82A}">
                    <a16:rowId xmlns:a16="http://schemas.microsoft.com/office/drawing/2014/main" val="10003"/>
                  </a:ext>
                </a:extLst>
              </a:tr>
              <a:tr h="293914">
                <a:tc>
                  <a:txBody>
                    <a:bodyPr/>
                    <a:lstStyle/>
                    <a:p>
                      <a:pPr>
                        <a:defRPr sz="1000">
                          <a:solidFill>
                            <a:srgbClr val="2D3A3A"/>
                          </a:solidFill>
                        </a:defRPr>
                      </a:pPr>
                      <a:r>
                        <a:t>4. Contribution</a:t>
                      </a:r>
                    </a:p>
                  </a:txBody>
                  <a:tcPr/>
                </a:tc>
                <a:tc>
                  <a:txBody>
                    <a:bodyPr/>
                    <a:lstStyle/>
                    <a:p>
                      <a:pPr>
                        <a:defRPr sz="1000">
                          <a:solidFill>
                            <a:srgbClr val="2D3A3A"/>
                          </a:solidFill>
                        </a:defRPr>
                      </a:pPr>
                      <a:r>
                        <a:t>participantId + resourceId</a:t>
                      </a:r>
                    </a:p>
                  </a:txBody>
                  <a:tcPr/>
                </a:tc>
                <a:tc>
                  <a:txBody>
                    <a:bodyPr/>
                    <a:lstStyle/>
                    <a:p>
                      <a:pPr>
                        <a:defRPr sz="1000">
                          <a:solidFill>
                            <a:srgbClr val="2D3A3A"/>
                          </a:solidFill>
                        </a:defRPr>
                      </a:pPr>
                      <a:r>
                        <a:t>INSERT contribution</a:t>
                      </a:r>
                    </a:p>
                  </a:txBody>
                  <a:tcPr/>
                </a:tc>
                <a:tc>
                  <a:txBody>
                    <a:bodyPr/>
                    <a:lstStyle/>
                    <a:p>
                      <a:pPr>
                        <a:defRPr sz="1000">
                          <a:solidFill>
                            <a:srgbClr val="2D3A3A"/>
                          </a:solidFill>
                        </a:defRPr>
                      </a:pPr>
                      <a:r>
                        <a:t>OK</a:t>
                      </a:r>
                    </a:p>
                  </a:txBody>
                  <a:tcPr/>
                </a:tc>
                <a:extLst>
                  <a:ext uri="{0D108BD9-81ED-4DB2-BD59-A6C34878D82A}">
                    <a16:rowId xmlns:a16="http://schemas.microsoft.com/office/drawing/2014/main" val="10004"/>
                  </a:ext>
                </a:extLst>
              </a:tr>
              <a:tr h="293914">
                <a:tc>
                  <a:txBody>
                    <a:bodyPr/>
                    <a:lstStyle/>
                    <a:p>
                      <a:pPr>
                        <a:defRPr sz="1000">
                          <a:solidFill>
                            <a:srgbClr val="2D3A3A"/>
                          </a:solidFill>
                        </a:defRPr>
                      </a:pPr>
                      <a:r>
                        <a:t>5. Ressource</a:t>
                      </a:r>
                    </a:p>
                  </a:txBody>
                  <a:tcPr/>
                </a:tc>
                <a:tc>
                  <a:txBody>
                    <a:bodyPr/>
                    <a:lstStyle/>
                    <a:p>
                      <a:pPr>
                        <a:defRPr sz="1000">
                          <a:solidFill>
                            <a:srgbClr val="2D3A3A"/>
                          </a:solidFill>
                        </a:defRPr>
                      </a:pPr>
                      <a:r>
                        <a:t>delta=+3, version=0</a:t>
                      </a:r>
                    </a:p>
                  </a:txBody>
                  <a:tcPr/>
                </a:tc>
                <a:tc>
                  <a:txBody>
                    <a:bodyPr/>
                    <a:lstStyle/>
                    <a:p>
                      <a:pPr>
                        <a:defRPr sz="1000">
                          <a:solidFill>
                            <a:srgbClr val="2D3A3A"/>
                          </a:solidFill>
                        </a:defRPr>
                      </a:pPr>
                      <a:r>
                        <a:t>quantity 0→3, version 0→1</a:t>
                      </a:r>
                    </a:p>
                  </a:txBody>
                  <a:tcPr/>
                </a:tc>
                <a:tc>
                  <a:txBody>
                    <a:bodyPr/>
                    <a:lstStyle/>
                    <a:p>
                      <a:pPr>
                        <a:defRPr sz="1000">
                          <a:solidFill>
                            <a:srgbClr val="2D3A3A"/>
                          </a:solidFill>
                        </a:defRPr>
                      </a:pPr>
                      <a:r>
                        <a:t>UPDATE 1 row</a:t>
                      </a:r>
                    </a:p>
                  </a:txBody>
                  <a:tcPr/>
                </a:tc>
                <a:extLst>
                  <a:ext uri="{0D108BD9-81ED-4DB2-BD59-A6C34878D82A}">
                    <a16:rowId xmlns:a16="http://schemas.microsoft.com/office/drawing/2014/main" val="10005"/>
                  </a:ext>
                </a:extLst>
              </a:tr>
              <a:tr h="293916">
                <a:tc>
                  <a:txBody>
                    <a:bodyPr/>
                    <a:lstStyle/>
                    <a:p>
                      <a:pPr>
                        <a:defRPr sz="1000">
                          <a:solidFill>
                            <a:srgbClr val="2D3A3A"/>
                          </a:solidFill>
                        </a:defRPr>
                      </a:pPr>
                      <a:r>
                        <a:t>6. Réponse</a:t>
                      </a:r>
                    </a:p>
                  </a:txBody>
                  <a:tcPr/>
                </a:tc>
                <a:tc>
                  <a:txBody>
                    <a:bodyPr/>
                    <a:lstStyle/>
                    <a:p>
                      <a:pPr>
                        <a:defRPr sz="1000">
                          <a:solidFill>
                            <a:srgbClr val="2D3A3A"/>
                          </a:solidFill>
                        </a:defRPr>
                      </a:pPr>
                      <a:r>
                        <a:t>—</a:t>
                      </a:r>
                    </a:p>
                  </a:txBody>
                  <a:tcPr/>
                </a:tc>
                <a:tc>
                  <a:txBody>
                    <a:bodyPr/>
                    <a:lstStyle/>
                    <a:p>
                      <a:pPr>
                        <a:defRPr sz="1000">
                          <a:solidFill>
                            <a:srgbClr val="2D3A3A"/>
                          </a:solidFill>
                        </a:defRPr>
                      </a:pPr>
                      <a:r>
                        <a:t>200 OK + ContributionDto</a:t>
                      </a:r>
                    </a:p>
                  </a:txBody>
                  <a:tcPr/>
                </a:tc>
                <a:tc>
                  <a:txBody>
                    <a:bodyPr/>
                    <a:lstStyle/>
                    <a:p>
                      <a:pPr>
                        <a:defRPr sz="1000">
                          <a:solidFill>
                            <a:srgbClr val="2D3A3A"/>
                          </a:solidFill>
                        </a:defRPr>
                      </a:pPr>
                      <a:r>
                        <a:t>200 OK</a:t>
                      </a:r>
                    </a:p>
                  </a:txBody>
                  <a:tcPr/>
                </a:tc>
                <a:extLst>
                  <a:ext uri="{0D108BD9-81ED-4DB2-BD59-A6C34878D82A}">
                    <a16:rowId xmlns:a16="http://schemas.microsoft.com/office/drawing/2014/main" val="10006"/>
                  </a:ext>
                </a:extLst>
              </a:tr>
            </a:tbl>
          </a:graphicData>
        </a:graphic>
      </p:graphicFrame>
      <p:sp>
        <p:nvSpPr>
          <p:cNvPr id="11" name="TextBox 10"/>
          <p:cNvSpPr txBox="1"/>
          <p:nvPr/>
        </p:nvSpPr>
        <p:spPr>
          <a:xfrm>
            <a:off x="914400" y="4464100"/>
            <a:ext cx="16002000" cy="746150"/>
          </a:xfrm>
          <a:prstGeom prst="rect">
            <a:avLst/>
          </a:prstGeom>
          <a:noFill/>
        </p:spPr>
        <p:txBody>
          <a:bodyPr wrap="square">
            <a:spAutoFit/>
          </a:bodyPr>
          <a:lstStyle/>
          <a:p>
            <a:pPr>
              <a:spcBef>
                <a:spcPts val="200"/>
              </a:spcBef>
              <a:spcAft>
                <a:spcPts val="200"/>
              </a:spcAft>
            </a:pPr>
            <a:r>
              <a:rPr sz="1300" b="1" i="0">
                <a:solidFill>
                  <a:srgbClr val="2D3A3A"/>
                </a:solidFill>
                <a:latin typeface="Calibri"/>
              </a:rPr>
              <a:t>Aucun écart constaté.</a:t>
            </a:r>
          </a:p>
          <a:p>
            <a:pPr>
              <a:spcBef>
                <a:spcPts val="200"/>
              </a:spcBef>
              <a:spcAft>
                <a:spcPts val="200"/>
              </a:spcAft>
            </a:pPr>
            <a:r>
              <a:rPr sz="1300" b="1" i="0">
                <a:solidFill>
                  <a:srgbClr val="2D3A3A"/>
                </a:solidFill>
                <a:latin typeface="Calibri"/>
              </a:rPr>
              <a:t>Scénario conflit (verrou optimiste)</a:t>
            </a:r>
          </a:p>
        </p:txBody>
      </p:sp>
      <p:graphicFrame>
        <p:nvGraphicFramePr>
          <p:cNvPr id="12" name="Table 11"/>
          <p:cNvGraphicFramePr>
            <a:graphicFrameLocks noGrp="1"/>
          </p:cNvGraphicFramePr>
          <p:nvPr/>
        </p:nvGraphicFramePr>
        <p:xfrm>
          <a:off x="914400" y="5301691"/>
          <a:ext cx="16002000" cy="1234439"/>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4000500">
                  <a:extLst>
                    <a:ext uri="{9D8B030D-6E8A-4147-A177-3AD203B41FA5}">
                      <a16:colId xmlns:a16="http://schemas.microsoft.com/office/drawing/2014/main" val="20003"/>
                    </a:ext>
                  </a:extLst>
                </a:gridCol>
              </a:tblGrid>
              <a:tr h="308609">
                <a:tc>
                  <a:txBody>
                    <a:bodyPr/>
                    <a:lstStyle/>
                    <a:p>
                      <a:pPr>
                        <a:defRPr sz="1000" b="1">
                          <a:solidFill>
                            <a:srgbClr val="3D5A6C"/>
                          </a:solidFill>
                        </a:defRPr>
                      </a:pPr>
                      <a:r>
                        <a:t>Étape</a:t>
                      </a:r>
                    </a:p>
                  </a:txBody>
                  <a:tcPr/>
                </a:tc>
                <a:tc>
                  <a:txBody>
                    <a:bodyPr/>
                    <a:lstStyle/>
                    <a:p>
                      <a:pPr>
                        <a:defRPr sz="1000" b="1">
                          <a:solidFill>
                            <a:srgbClr val="3D5A6C"/>
                          </a:solidFill>
                        </a:defRPr>
                      </a:pPr>
                      <a:r>
                        <a:t>Entrée</a:t>
                      </a:r>
                    </a:p>
                  </a:txBody>
                  <a:tcPr/>
                </a:tc>
                <a:tc>
                  <a:txBody>
                    <a:bodyPr/>
                    <a:lstStyle/>
                    <a:p>
                      <a:pPr>
                        <a:defRPr sz="1000" b="1">
                          <a:solidFill>
                            <a:srgbClr val="3D5A6C"/>
                          </a:solidFill>
                        </a:defRPr>
                      </a:pPr>
                      <a:r>
                        <a:t>Attendu</a:t>
                      </a:r>
                    </a:p>
                  </a:txBody>
                  <a:tcPr/>
                </a:tc>
                <a:tc>
                  <a:txBody>
                    <a:bodyPr/>
                    <a:lstStyle/>
                    <a:p>
                      <a:pPr>
                        <a:defRPr sz="1000" b="1">
                          <a:solidFill>
                            <a:srgbClr val="3D5A6C"/>
                          </a:solidFill>
                        </a:defRPr>
                      </a:pPr>
                      <a:r>
                        <a:t>Obtenu</a:t>
                      </a:r>
                    </a:p>
                  </a:txBody>
                  <a:tcPr/>
                </a:tc>
                <a:extLst>
                  <a:ext uri="{0D108BD9-81ED-4DB2-BD59-A6C34878D82A}">
                    <a16:rowId xmlns:a16="http://schemas.microsoft.com/office/drawing/2014/main" val="10000"/>
                  </a:ext>
                </a:extLst>
              </a:tr>
              <a:tr h="308609">
                <a:tc>
                  <a:txBody>
                    <a:bodyPr/>
                    <a:lstStyle/>
                    <a:p>
                      <a:pPr>
                        <a:defRPr sz="1000">
                          <a:solidFill>
                            <a:srgbClr val="2D3A3A"/>
                          </a:solidFill>
                        </a:defRPr>
                      </a:pPr>
                      <a:r>
                        <a:t>1. User A contribue</a:t>
                      </a:r>
                    </a:p>
                  </a:txBody>
                  <a:tcPr/>
                </a:tc>
                <a:tc>
                  <a:txBody>
                    <a:bodyPr/>
                    <a:lstStyle/>
                    <a:p>
                      <a:pPr>
                        <a:defRPr sz="1000">
                          <a:solidFill>
                            <a:srgbClr val="2D3A3A"/>
                          </a:solidFill>
                        </a:defRPr>
                      </a:pPr>
                      <a:r>
                        <a:t>quantity=3, version=0</a:t>
                      </a:r>
                    </a:p>
                  </a:txBody>
                  <a:tcPr/>
                </a:tc>
                <a:tc>
                  <a:txBody>
                    <a:bodyPr/>
                    <a:lstStyle/>
                    <a:p>
                      <a:pPr>
                        <a:defRPr sz="1000">
                          <a:solidFill>
                            <a:srgbClr val="2D3A3A"/>
                          </a:solidFill>
                        </a:defRPr>
                      </a:pPr>
                      <a:r>
                        <a:t>Succès, version→1</a:t>
                      </a:r>
                    </a:p>
                  </a:txBody>
                  <a:tcPr/>
                </a:tc>
                <a:tc>
                  <a:txBody>
                    <a:bodyPr/>
                    <a:lstStyle/>
                    <a:p>
                      <a:pPr>
                        <a:defRPr sz="1000">
                          <a:solidFill>
                            <a:srgbClr val="2D3A3A"/>
                          </a:solidFill>
                        </a:defRPr>
                      </a:pPr>
                      <a:r>
                        <a:t>OK</a:t>
                      </a:r>
                    </a:p>
                  </a:txBody>
                  <a:tcPr/>
                </a:tc>
                <a:extLst>
                  <a:ext uri="{0D108BD9-81ED-4DB2-BD59-A6C34878D82A}">
                    <a16:rowId xmlns:a16="http://schemas.microsoft.com/office/drawing/2014/main" val="10001"/>
                  </a:ext>
                </a:extLst>
              </a:tr>
              <a:tr h="308609">
                <a:tc>
                  <a:txBody>
                    <a:bodyPr/>
                    <a:lstStyle/>
                    <a:p>
                      <a:pPr>
                        <a:defRPr sz="1000">
                          <a:solidFill>
                            <a:srgbClr val="2D3A3A"/>
                          </a:solidFill>
                        </a:defRPr>
                      </a:pPr>
                      <a:r>
                        <a:t>2. User B contribue</a:t>
                      </a:r>
                    </a:p>
                  </a:txBody>
                  <a:tcPr/>
                </a:tc>
                <a:tc>
                  <a:txBody>
                    <a:bodyPr/>
                    <a:lstStyle/>
                    <a:p>
                      <a:pPr>
                        <a:defRPr sz="1000">
                          <a:solidFill>
                            <a:srgbClr val="2D3A3A"/>
                          </a:solidFill>
                        </a:defRPr>
                      </a:pPr>
                      <a:r>
                        <a:t>quantity=2, version=0 (périmé)</a:t>
                      </a:r>
                    </a:p>
                  </a:txBody>
                  <a:tcPr/>
                </a:tc>
                <a:tc>
                  <a:txBody>
                    <a:bodyPr/>
                    <a:lstStyle/>
                    <a:p>
                      <a:pPr>
                        <a:defRPr sz="1000">
                          <a:solidFill>
                            <a:srgbClr val="2D3A3A"/>
                          </a:solidFill>
                        </a:defRPr>
                      </a:pPr>
                      <a:r>
                        <a:t>OptimisticLockException</a:t>
                      </a:r>
                    </a:p>
                  </a:txBody>
                  <a:tcPr/>
                </a:tc>
                <a:tc>
                  <a:txBody>
                    <a:bodyPr/>
                    <a:lstStyle/>
                    <a:p>
                      <a:pPr>
                        <a:defRPr sz="1000">
                          <a:solidFill>
                            <a:srgbClr val="2D3A3A"/>
                          </a:solidFill>
                        </a:defRPr>
                      </a:pPr>
                      <a:r>
                        <a:t>Exception</a:t>
                      </a:r>
                    </a:p>
                  </a:txBody>
                  <a:tcPr/>
                </a:tc>
                <a:extLst>
                  <a:ext uri="{0D108BD9-81ED-4DB2-BD59-A6C34878D82A}">
                    <a16:rowId xmlns:a16="http://schemas.microsoft.com/office/drawing/2014/main" val="10002"/>
                  </a:ext>
                </a:extLst>
              </a:tr>
              <a:tr h="308612">
                <a:tc>
                  <a:txBody>
                    <a:bodyPr/>
                    <a:lstStyle/>
                    <a:p>
                      <a:pPr>
                        <a:defRPr sz="1000">
                          <a:solidFill>
                            <a:srgbClr val="2D3A3A"/>
                          </a:solidFill>
                        </a:defRPr>
                      </a:pPr>
                      <a:r>
                        <a:t>3. Réponse B</a:t>
                      </a:r>
                    </a:p>
                  </a:txBody>
                  <a:tcPr/>
                </a:tc>
                <a:tc>
                  <a:txBody>
                    <a:bodyPr/>
                    <a:lstStyle/>
                    <a:p>
                      <a:pPr>
                        <a:defRPr sz="1000">
                          <a:solidFill>
                            <a:srgbClr val="2D3A3A"/>
                          </a:solidFill>
                        </a:defRPr>
                      </a:pPr>
                      <a:r>
                        <a:t>—</a:t>
                      </a:r>
                    </a:p>
                  </a:txBody>
                  <a:tcPr/>
                </a:tc>
                <a:tc>
                  <a:txBody>
                    <a:bodyPr/>
                    <a:lstStyle/>
                    <a:p>
                      <a:pPr>
                        <a:defRPr sz="1000">
                          <a:solidFill>
                            <a:srgbClr val="2D3A3A"/>
                          </a:solidFill>
                        </a:defRPr>
                      </a:pPr>
                      <a:r>
                        <a:t>409 Conflict</a:t>
                      </a:r>
                    </a:p>
                  </a:txBody>
                  <a:tcPr/>
                </a:tc>
                <a:tc>
                  <a:txBody>
                    <a:bodyPr/>
                    <a:lstStyle/>
                    <a:p>
                      <a:pPr>
                        <a:defRPr sz="1000">
                          <a:solidFill>
                            <a:srgbClr val="2D3A3A"/>
                          </a:solidFill>
                        </a:defRPr>
                      </a:pPr>
                      <a:r>
                        <a:t>409 + "OPTIMISTIC_LOCK_FAILURE"</a:t>
                      </a:r>
                    </a:p>
                  </a:txBody>
                  <a:tcPr/>
                </a:tc>
                <a:extLst>
                  <a:ext uri="{0D108BD9-81ED-4DB2-BD59-A6C34878D82A}">
                    <a16:rowId xmlns:a16="http://schemas.microsoft.com/office/drawing/2014/main" val="10003"/>
                  </a:ext>
                </a:extLst>
              </a:tr>
            </a:tbl>
          </a:graphicData>
        </a:graphic>
      </p:graphicFrame>
      <p:sp>
        <p:nvSpPr>
          <p:cNvPr id="13" name="TextBox 12"/>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52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16559154" y="-3155940"/>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18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2169174" y="7273568"/>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6686336" y="-520255"/>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7796283" y="2284321"/>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6"/>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Tests de sécurité</a:t>
            </a:r>
          </a:p>
        </p:txBody>
      </p:sp>
      <p:graphicFrame>
        <p:nvGraphicFramePr>
          <p:cNvPr id="9" name="Table 8"/>
          <p:cNvGraphicFramePr>
            <a:graphicFrameLocks noGrp="1"/>
          </p:cNvGraphicFramePr>
          <p:nvPr/>
        </p:nvGraphicFramePr>
        <p:xfrm>
          <a:off x="914400" y="1280160"/>
          <a:ext cx="16002000" cy="23317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gridCol w="3200400">
                  <a:extLst>
                    <a:ext uri="{9D8B030D-6E8A-4147-A177-3AD203B41FA5}">
                      <a16:colId xmlns:a16="http://schemas.microsoft.com/office/drawing/2014/main" val="20004"/>
                    </a:ext>
                  </a:extLst>
                </a:gridCol>
              </a:tblGrid>
              <a:tr h="291465">
                <a:tc>
                  <a:txBody>
                    <a:bodyPr/>
                    <a:lstStyle/>
                    <a:p>
                      <a:pPr>
                        <a:defRPr sz="1000" b="1">
                          <a:solidFill>
                            <a:srgbClr val="3D5A6C"/>
                          </a:solidFill>
                        </a:defRPr>
                      </a:pPr>
                      <a:r>
                        <a:t>#</a:t>
                      </a:r>
                    </a:p>
                  </a:txBody>
                  <a:tcPr/>
                </a:tc>
                <a:tc>
                  <a:txBody>
                    <a:bodyPr/>
                    <a:lstStyle/>
                    <a:p>
                      <a:pPr>
                        <a:defRPr sz="1000" b="1">
                          <a:solidFill>
                            <a:srgbClr val="3D5A6C"/>
                          </a:solidFill>
                        </a:defRPr>
                      </a:pPr>
                      <a:r>
                        <a:t>Cas de test</a:t>
                      </a:r>
                    </a:p>
                  </a:txBody>
                  <a:tcPr/>
                </a:tc>
                <a:tc>
                  <a:txBody>
                    <a:bodyPr/>
                    <a:lstStyle/>
                    <a:p>
                      <a:pPr>
                        <a:defRPr sz="1000" b="1">
                          <a:solidFill>
                            <a:srgbClr val="3D5A6C"/>
                          </a:solidFill>
                        </a:defRPr>
                      </a:pPr>
                      <a:r>
                        <a:t>Entrée</a:t>
                      </a:r>
                    </a:p>
                  </a:txBody>
                  <a:tcPr/>
                </a:tc>
                <a:tc>
                  <a:txBody>
                    <a:bodyPr/>
                    <a:lstStyle/>
                    <a:p>
                      <a:pPr>
                        <a:defRPr sz="1000" b="1">
                          <a:solidFill>
                            <a:srgbClr val="3D5A6C"/>
                          </a:solidFill>
                        </a:defRPr>
                      </a:pPr>
                      <a:r>
                        <a:t>Attendu</a:t>
                      </a:r>
                    </a:p>
                  </a:txBody>
                  <a:tcPr/>
                </a:tc>
                <a:tc>
                  <a:txBody>
                    <a:bodyPr/>
                    <a:lstStyle/>
                    <a:p>
                      <a:pPr>
                        <a:defRPr sz="1000" b="1">
                          <a:solidFill>
                            <a:srgbClr val="3D5A6C"/>
                          </a:solidFill>
                        </a:defRPr>
                      </a:pPr>
                      <a:r>
                        <a:t>Obtenu</a:t>
                      </a:r>
                    </a:p>
                  </a:txBody>
                  <a:tcPr/>
                </a:tc>
                <a:extLst>
                  <a:ext uri="{0D108BD9-81ED-4DB2-BD59-A6C34878D82A}">
                    <a16:rowId xmlns:a16="http://schemas.microsoft.com/office/drawing/2014/main" val="10000"/>
                  </a:ext>
                </a:extLst>
              </a:tr>
              <a:tr h="291465">
                <a:tc>
                  <a:txBody>
                    <a:bodyPr/>
                    <a:lstStyle/>
                    <a:p>
                      <a:pPr>
                        <a:defRPr sz="1000">
                          <a:solidFill>
                            <a:srgbClr val="2D3A3A"/>
                          </a:solidFill>
                        </a:defRPr>
                      </a:pPr>
                      <a:r>
                        <a:t>S1</a:t>
                      </a:r>
                    </a:p>
                  </a:txBody>
                  <a:tcPr/>
                </a:tc>
                <a:tc>
                  <a:txBody>
                    <a:bodyPr/>
                    <a:lstStyle/>
                    <a:p>
                      <a:pPr>
                        <a:defRPr sz="1000">
                          <a:solidFill>
                            <a:srgbClr val="2D3A3A"/>
                          </a:solidFill>
                        </a:defRPr>
                      </a:pPr>
                      <a:r>
                        <a:t>Sans JWT</a:t>
                      </a:r>
                    </a:p>
                  </a:txBody>
                  <a:tcPr/>
                </a:tc>
                <a:tc>
                  <a:txBody>
                    <a:bodyPr/>
                    <a:lstStyle/>
                    <a:p>
                      <a:pPr>
                        <a:defRPr sz="1000">
                          <a:solidFill>
                            <a:srgbClr val="2D3A3A"/>
                          </a:solidFill>
                        </a:defRPr>
                      </a:pPr>
                      <a:r>
                        <a:t>Requête sans Authorization</a:t>
                      </a:r>
                    </a:p>
                  </a:txBody>
                  <a:tcPr/>
                </a:tc>
                <a:tc>
                  <a:txBody>
                    <a:bodyPr/>
                    <a:lstStyle/>
                    <a:p>
                      <a:pPr>
                        <a:defRPr sz="1000">
                          <a:solidFill>
                            <a:srgbClr val="2D3A3A"/>
                          </a:solidFill>
                        </a:defRPr>
                      </a:pPr>
                      <a:r>
                        <a:t>401 MISSING_TOKEN</a:t>
                      </a:r>
                    </a:p>
                  </a:txBody>
                  <a:tcPr/>
                </a:tc>
                <a:tc>
                  <a:txBody>
                    <a:bodyPr/>
                    <a:lstStyle/>
                    <a:p>
                      <a:pPr>
                        <a:defRPr sz="1000">
                          <a:solidFill>
                            <a:srgbClr val="2D3A3A"/>
                          </a:solidFill>
                        </a:defRPr>
                      </a:pPr>
                      <a:r>
                        <a:t>Conforme</a:t>
                      </a:r>
                    </a:p>
                  </a:txBody>
                  <a:tcPr/>
                </a:tc>
                <a:extLst>
                  <a:ext uri="{0D108BD9-81ED-4DB2-BD59-A6C34878D82A}">
                    <a16:rowId xmlns:a16="http://schemas.microsoft.com/office/drawing/2014/main" val="10001"/>
                  </a:ext>
                </a:extLst>
              </a:tr>
              <a:tr h="291465">
                <a:tc>
                  <a:txBody>
                    <a:bodyPr/>
                    <a:lstStyle/>
                    <a:p>
                      <a:pPr>
                        <a:defRPr sz="1000">
                          <a:solidFill>
                            <a:srgbClr val="2D3A3A"/>
                          </a:solidFill>
                        </a:defRPr>
                      </a:pPr>
                      <a:r>
                        <a:t>S2</a:t>
                      </a:r>
                    </a:p>
                  </a:txBody>
                  <a:tcPr/>
                </a:tc>
                <a:tc>
                  <a:txBody>
                    <a:bodyPr/>
                    <a:lstStyle/>
                    <a:p>
                      <a:pPr>
                        <a:defRPr sz="1000">
                          <a:solidFill>
                            <a:srgbClr val="2D3A3A"/>
                          </a:solidFill>
                        </a:defRPr>
                      </a:pPr>
                      <a:r>
                        <a:t>JWT expiré</a:t>
                      </a:r>
                    </a:p>
                  </a:txBody>
                  <a:tcPr/>
                </a:tc>
                <a:tc>
                  <a:txBody>
                    <a:bodyPr/>
                    <a:lstStyle/>
                    <a:p>
                      <a:pPr>
                        <a:defRPr sz="1000">
                          <a:solidFill>
                            <a:srgbClr val="2D3A3A"/>
                          </a:solidFill>
                        </a:defRPr>
                      </a:pPr>
                      <a:r>
                        <a:t>Token avec exp passé</a:t>
                      </a:r>
                    </a:p>
                  </a:txBody>
                  <a:tcPr/>
                </a:tc>
                <a:tc>
                  <a:txBody>
                    <a:bodyPr/>
                    <a:lstStyle/>
                    <a:p>
                      <a:pPr>
                        <a:defRPr sz="1000">
                          <a:solidFill>
                            <a:srgbClr val="2D3A3A"/>
                          </a:solidFill>
                        </a:defRPr>
                      </a:pPr>
                      <a:r>
                        <a:t>401 INVALID_TOKEN</a:t>
                      </a:r>
                    </a:p>
                  </a:txBody>
                  <a:tcPr/>
                </a:tc>
                <a:tc>
                  <a:txBody>
                    <a:bodyPr/>
                    <a:lstStyle/>
                    <a:p>
                      <a:pPr>
                        <a:defRPr sz="1000">
                          <a:solidFill>
                            <a:srgbClr val="2D3A3A"/>
                          </a:solidFill>
                        </a:defRPr>
                      </a:pPr>
                      <a:r>
                        <a:t>Conforme</a:t>
                      </a:r>
                    </a:p>
                  </a:txBody>
                  <a:tcPr/>
                </a:tc>
                <a:extLst>
                  <a:ext uri="{0D108BD9-81ED-4DB2-BD59-A6C34878D82A}">
                    <a16:rowId xmlns:a16="http://schemas.microsoft.com/office/drawing/2014/main" val="10002"/>
                  </a:ext>
                </a:extLst>
              </a:tr>
              <a:tr h="291465">
                <a:tc>
                  <a:txBody>
                    <a:bodyPr/>
                    <a:lstStyle/>
                    <a:p>
                      <a:pPr>
                        <a:defRPr sz="1000">
                          <a:solidFill>
                            <a:srgbClr val="2D3A3A"/>
                          </a:solidFill>
                        </a:defRPr>
                      </a:pPr>
                      <a:r>
                        <a:t>S3</a:t>
                      </a:r>
                    </a:p>
                  </a:txBody>
                  <a:tcPr/>
                </a:tc>
                <a:tc>
                  <a:txBody>
                    <a:bodyPr/>
                    <a:lstStyle/>
                    <a:p>
                      <a:pPr>
                        <a:defRPr sz="1000">
                          <a:solidFill>
                            <a:srgbClr val="2D3A3A"/>
                          </a:solidFill>
                        </a:defRPr>
                      </a:pPr>
                      <a:r>
                        <a:t>Mauvaise signature</a:t>
                      </a:r>
                    </a:p>
                  </a:txBody>
                  <a:tcPr/>
                </a:tc>
                <a:tc>
                  <a:txBody>
                    <a:bodyPr/>
                    <a:lstStyle/>
                    <a:p>
                      <a:pPr>
                        <a:defRPr sz="1000">
                          <a:solidFill>
                            <a:srgbClr val="2D3A3A"/>
                          </a:solidFill>
                        </a:defRPr>
                      </a:pPr>
                      <a:r>
                        <a:t>Token signé avec autre secret</a:t>
                      </a:r>
                    </a:p>
                  </a:txBody>
                  <a:tcPr/>
                </a:tc>
                <a:tc>
                  <a:txBody>
                    <a:bodyPr/>
                    <a:lstStyle/>
                    <a:p>
                      <a:pPr>
                        <a:defRPr sz="1000">
                          <a:solidFill>
                            <a:srgbClr val="2D3A3A"/>
                          </a:solidFill>
                        </a:defRPr>
                      </a:pPr>
                      <a:r>
                        <a:t>401 INVALID_TOKEN</a:t>
                      </a:r>
                    </a:p>
                  </a:txBody>
                  <a:tcPr/>
                </a:tc>
                <a:tc>
                  <a:txBody>
                    <a:bodyPr/>
                    <a:lstStyle/>
                    <a:p>
                      <a:pPr>
                        <a:defRPr sz="1000">
                          <a:solidFill>
                            <a:srgbClr val="2D3A3A"/>
                          </a:solidFill>
                        </a:defRPr>
                      </a:pPr>
                      <a:r>
                        <a:t>Conforme</a:t>
                      </a:r>
                    </a:p>
                  </a:txBody>
                  <a:tcPr/>
                </a:tc>
                <a:extLst>
                  <a:ext uri="{0D108BD9-81ED-4DB2-BD59-A6C34878D82A}">
                    <a16:rowId xmlns:a16="http://schemas.microsoft.com/office/drawing/2014/main" val="10003"/>
                  </a:ext>
                </a:extLst>
              </a:tr>
              <a:tr h="291465">
                <a:tc>
                  <a:txBody>
                    <a:bodyPr/>
                    <a:lstStyle/>
                    <a:p>
                      <a:pPr>
                        <a:defRPr sz="1000">
                          <a:solidFill>
                            <a:srgbClr val="2D3A3A"/>
                          </a:solidFill>
                        </a:defRPr>
                      </a:pPr>
                      <a:r>
                        <a:t>S4</a:t>
                      </a:r>
                    </a:p>
                  </a:txBody>
                  <a:tcPr/>
                </a:tc>
                <a:tc>
                  <a:txBody>
                    <a:bodyPr/>
                    <a:lstStyle/>
                    <a:p>
                      <a:pPr>
                        <a:defRPr sz="1000">
                          <a:solidFill>
                            <a:srgbClr val="2D3A3A"/>
                          </a:solidFill>
                        </a:defRPr>
                      </a:pPr>
                      <a:r>
                        <a:t>Quantité négative</a:t>
                      </a:r>
                    </a:p>
                  </a:txBody>
                  <a:tcPr/>
                </a:tc>
                <a:tc>
                  <a:txBody>
                    <a:bodyPr/>
                    <a:lstStyle/>
                    <a:p>
                      <a:pPr>
                        <a:defRPr sz="1000">
                          <a:solidFill>
                            <a:srgbClr val="2D3A3A"/>
                          </a:solidFill>
                        </a:defRPr>
                      </a:pPr>
                      <a:r>
                        <a:t>{ "quantity": -5 }</a:t>
                      </a:r>
                    </a:p>
                  </a:txBody>
                  <a:tcPr/>
                </a:tc>
                <a:tc>
                  <a:txBody>
                    <a:bodyPr/>
                    <a:lstStyle/>
                    <a:p>
                      <a:pPr>
                        <a:defRPr sz="1000">
                          <a:solidFill>
                            <a:srgbClr val="2D3A3A"/>
                          </a:solidFill>
                        </a:defRPr>
                      </a:pPr>
                      <a:r>
                        <a:t>400 Bad Request</a:t>
                      </a:r>
                    </a:p>
                  </a:txBody>
                  <a:tcPr/>
                </a:tc>
                <a:tc>
                  <a:txBody>
                    <a:bodyPr/>
                    <a:lstStyle/>
                    <a:p>
                      <a:pPr>
                        <a:defRPr sz="1000">
                          <a:solidFill>
                            <a:srgbClr val="2D3A3A"/>
                          </a:solidFill>
                        </a:defRPr>
                      </a:pPr>
                      <a:r>
                        <a:t>Conforme</a:t>
                      </a:r>
                    </a:p>
                  </a:txBody>
                  <a:tcPr/>
                </a:tc>
                <a:extLst>
                  <a:ext uri="{0D108BD9-81ED-4DB2-BD59-A6C34878D82A}">
                    <a16:rowId xmlns:a16="http://schemas.microsoft.com/office/drawing/2014/main" val="10004"/>
                  </a:ext>
                </a:extLst>
              </a:tr>
              <a:tr h="291465">
                <a:tc>
                  <a:txBody>
                    <a:bodyPr/>
                    <a:lstStyle/>
                    <a:p>
                      <a:pPr>
                        <a:defRPr sz="1000">
                          <a:solidFill>
                            <a:srgbClr val="2D3A3A"/>
                          </a:solidFill>
                        </a:defRPr>
                      </a:pPr>
                      <a:r>
                        <a:t>S5</a:t>
                      </a:r>
                    </a:p>
                  </a:txBody>
                  <a:tcPr/>
                </a:tc>
                <a:tc>
                  <a:txBody>
                    <a:bodyPr/>
                    <a:lstStyle/>
                    <a:p>
                      <a:pPr>
                        <a:defRPr sz="1000">
                          <a:solidFill>
                            <a:srgbClr val="2D3A3A"/>
                          </a:solidFill>
                        </a:defRPr>
                      </a:pPr>
                      <a:r>
                        <a:t>Quantité non-numérique</a:t>
                      </a:r>
                    </a:p>
                  </a:txBody>
                  <a:tcPr/>
                </a:tc>
                <a:tc>
                  <a:txBody>
                    <a:bodyPr/>
                    <a:lstStyle/>
                    <a:p>
                      <a:pPr>
                        <a:defRPr sz="1000">
                          <a:solidFill>
                            <a:srgbClr val="2D3A3A"/>
                          </a:solidFill>
                        </a:defRPr>
                      </a:pPr>
                      <a:r>
                        <a:t>{ "quantity": "abc" }</a:t>
                      </a:r>
                    </a:p>
                  </a:txBody>
                  <a:tcPr/>
                </a:tc>
                <a:tc>
                  <a:txBody>
                    <a:bodyPr/>
                    <a:lstStyle/>
                    <a:p>
                      <a:pPr>
                        <a:defRPr sz="1000">
                          <a:solidFill>
                            <a:srgbClr val="2D3A3A"/>
                          </a:solidFill>
                        </a:defRPr>
                      </a:pPr>
                      <a:r>
                        <a:t>400 Bad Request</a:t>
                      </a:r>
                    </a:p>
                  </a:txBody>
                  <a:tcPr/>
                </a:tc>
                <a:tc>
                  <a:txBody>
                    <a:bodyPr/>
                    <a:lstStyle/>
                    <a:p>
                      <a:pPr>
                        <a:defRPr sz="1000">
                          <a:solidFill>
                            <a:srgbClr val="2D3A3A"/>
                          </a:solidFill>
                        </a:defRPr>
                      </a:pPr>
                      <a:r>
                        <a:t>Conforme</a:t>
                      </a:r>
                    </a:p>
                  </a:txBody>
                  <a:tcPr/>
                </a:tc>
                <a:extLst>
                  <a:ext uri="{0D108BD9-81ED-4DB2-BD59-A6C34878D82A}">
                    <a16:rowId xmlns:a16="http://schemas.microsoft.com/office/drawing/2014/main" val="10005"/>
                  </a:ext>
                </a:extLst>
              </a:tr>
              <a:tr h="291465">
                <a:tc>
                  <a:txBody>
                    <a:bodyPr/>
                    <a:lstStyle/>
                    <a:p>
                      <a:pPr>
                        <a:defRPr sz="1000">
                          <a:solidFill>
                            <a:srgbClr val="2D3A3A"/>
                          </a:solidFill>
                        </a:defRPr>
                      </a:pPr>
                      <a:r>
                        <a:t>S6</a:t>
                      </a:r>
                    </a:p>
                  </a:txBody>
                  <a:tcPr/>
                </a:tc>
                <a:tc>
                  <a:txBody>
                    <a:bodyPr/>
                    <a:lstStyle/>
                    <a:p>
                      <a:pPr>
                        <a:defRPr sz="1000">
                          <a:solidFill>
                            <a:srgbClr val="2D3A3A"/>
                          </a:solidFill>
                        </a:defRPr>
                      </a:pPr>
                      <a:r>
                        <a:t>Injection SQL</a:t>
                      </a:r>
                    </a:p>
                  </a:txBody>
                  <a:tcPr/>
                </a:tc>
                <a:tc>
                  <a:txBody>
                    <a:bodyPr/>
                    <a:lstStyle/>
                    <a:p>
                      <a:pPr>
                        <a:defRPr sz="1000">
                          <a:solidFill>
                            <a:srgbClr val="2D3A3A"/>
                          </a:solidFill>
                        </a:defRPr>
                      </a:pPr>
                      <a:r>
                        <a:t>"1; DROP TABLE..."</a:t>
                      </a:r>
                    </a:p>
                  </a:txBody>
                  <a:tcPr/>
                </a:tc>
                <a:tc>
                  <a:txBody>
                    <a:bodyPr/>
                    <a:lstStyle/>
                    <a:p>
                      <a:pPr>
                        <a:defRPr sz="1000">
                          <a:solidFill>
                            <a:srgbClr val="2D3A3A"/>
                          </a:solidFill>
                        </a:defRPr>
                      </a:pPr>
                      <a:r>
                        <a:t>400 Bad Request</a:t>
                      </a:r>
                    </a:p>
                  </a:txBody>
                  <a:tcPr/>
                </a:tc>
                <a:tc>
                  <a:txBody>
                    <a:bodyPr/>
                    <a:lstStyle/>
                    <a:p>
                      <a:pPr>
                        <a:defRPr sz="1000">
                          <a:solidFill>
                            <a:srgbClr val="2D3A3A"/>
                          </a:solidFill>
                        </a:defRPr>
                      </a:pPr>
                      <a:r>
                        <a:t>Conforme</a:t>
                      </a:r>
                    </a:p>
                  </a:txBody>
                  <a:tcPr/>
                </a:tc>
                <a:extLst>
                  <a:ext uri="{0D108BD9-81ED-4DB2-BD59-A6C34878D82A}">
                    <a16:rowId xmlns:a16="http://schemas.microsoft.com/office/drawing/2014/main" val="10006"/>
                  </a:ext>
                </a:extLst>
              </a:tr>
              <a:tr h="291465">
                <a:tc>
                  <a:txBody>
                    <a:bodyPr/>
                    <a:lstStyle/>
                    <a:p>
                      <a:pPr>
                        <a:defRPr sz="1000">
                          <a:solidFill>
                            <a:srgbClr val="2D3A3A"/>
                          </a:solidFill>
                        </a:defRPr>
                      </a:pPr>
                      <a:r>
                        <a:t>S7</a:t>
                      </a:r>
                    </a:p>
                  </a:txBody>
                  <a:tcPr/>
                </a:tc>
                <a:tc>
                  <a:txBody>
                    <a:bodyPr/>
                    <a:lstStyle/>
                    <a:p>
                      <a:pPr>
                        <a:defRPr sz="1000">
                          <a:solidFill>
                            <a:srgbClr val="2D3A3A"/>
                          </a:solidFill>
                        </a:defRPr>
                      </a:pPr>
                      <a:r>
                        <a:t>Usurpation identité</a:t>
                      </a:r>
                    </a:p>
                  </a:txBody>
                  <a:tcPr/>
                </a:tc>
                <a:tc>
                  <a:txBody>
                    <a:bodyPr/>
                    <a:lstStyle/>
                    <a:p>
                      <a:pPr>
                        <a:defRPr sz="1000">
                          <a:solidFill>
                            <a:srgbClr val="2D3A3A"/>
                          </a:solidFill>
                        </a:defRPr>
                      </a:pPr>
                      <a:r>
                        <a:t>JWT de A, email de B</a:t>
                      </a:r>
                    </a:p>
                  </a:txBody>
                  <a:tcPr/>
                </a:tc>
                <a:tc>
                  <a:txBody>
                    <a:bodyPr/>
                    <a:lstStyle/>
                    <a:p>
                      <a:pPr>
                        <a:defRPr sz="1000">
                          <a:solidFill>
                            <a:srgbClr val="2D3A3A"/>
                          </a:solidFill>
                        </a:defRPr>
                      </a:pPr>
                      <a:r>
                        <a:t>Contribution avec email A</a:t>
                      </a:r>
                    </a:p>
                  </a:txBody>
                  <a:tcPr/>
                </a:tc>
                <a:tc>
                  <a:txBody>
                    <a:bodyPr/>
                    <a:lstStyle/>
                    <a:p>
                      <a:pPr>
                        <a:defRPr sz="1000">
                          <a:solidFill>
                            <a:srgbClr val="2D3A3A"/>
                          </a:solidFill>
                        </a:defRPr>
                      </a:pPr>
                      <a:r>
                        <a:t>Conforme</a:t>
                      </a:r>
                    </a:p>
                  </a:txBody>
                  <a:tcPr/>
                </a:tc>
                <a:extLst>
                  <a:ext uri="{0D108BD9-81ED-4DB2-BD59-A6C34878D82A}">
                    <a16:rowId xmlns:a16="http://schemas.microsoft.com/office/drawing/2014/main" val="10007"/>
                  </a:ext>
                </a:extLst>
              </a:tr>
            </a:tbl>
          </a:graphicData>
        </a:graphic>
      </p:graphicFrame>
      <p:sp>
        <p:nvSpPr>
          <p:cNvPr id="10" name="TextBox 9"/>
          <p:cNvSpPr txBox="1"/>
          <p:nvPr/>
        </p:nvSpPr>
        <p:spPr>
          <a:xfrm>
            <a:off x="914400" y="3721608"/>
            <a:ext cx="16002000" cy="464515"/>
          </a:xfrm>
          <a:prstGeom prst="rect">
            <a:avLst/>
          </a:prstGeom>
          <a:noFill/>
        </p:spPr>
        <p:txBody>
          <a:bodyPr wrap="square">
            <a:spAutoFit/>
          </a:bodyPr>
          <a:lstStyle/>
          <a:p>
            <a:pPr>
              <a:spcBef>
                <a:spcPts val="200"/>
              </a:spcBef>
              <a:spcAft>
                <a:spcPts val="200"/>
              </a:spcAft>
            </a:pPr>
            <a:r>
              <a:rPr sz="1300" b="1" i="0">
                <a:solidFill>
                  <a:srgbClr val="2D3A3A"/>
                </a:solidFill>
                <a:latin typeface="Calibri"/>
              </a:rPr>
              <a:t>Défense en profondeur</a:t>
            </a:r>
            <a:r>
              <a:rPr sz="1300" b="0" i="0">
                <a:solidFill>
                  <a:srgbClr val="2D3A3A"/>
                </a:solidFill>
                <a:latin typeface="Calibri"/>
              </a:rPr>
              <a:t> : validation endpoint → validation domaine → contraintes base de données</a:t>
            </a:r>
          </a:p>
        </p:txBody>
      </p:sp>
      <p:sp>
        <p:nvSpPr>
          <p:cNvPr id="11" name="TextBox 10"/>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53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2B5C73"/>
        </a:solidFill>
        <a:effectLst/>
      </p:bgPr>
    </p:bg>
    <p:spTree>
      <p:nvGrpSpPr>
        <p:cNvPr id="1" name=""/>
        <p:cNvGrpSpPr/>
        <p:nvPr/>
      </p:nvGrpSpPr>
      <p:grpSpPr>
        <a:xfrm>
          <a:off x="0" y="0"/>
          <a:ext cx="0" cy="0"/>
          <a:chOff x="0" y="0"/>
          <a:chExt cx="0" cy="0"/>
        </a:xfrm>
      </p:grpSpPr>
      <p:sp>
        <p:nvSpPr>
          <p:cNvPr id="2" name="TextBox 2"/>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p:nvSpPr>
        <p:spPr>
          <a:xfrm>
            <a:off x="-810449" y="4666508"/>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p:nvSpPr>
        <p:spPr>
          <a:xfrm>
            <a:off x="-658049" y="4818908"/>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extBox 4"/>
          <p:cNvSpPr txBox="1"/>
          <p:nvPr/>
        </p:nvSpPr>
        <p:spPr>
          <a:xfrm>
            <a:off x="1828800" y="3200400"/>
            <a:ext cx="14630400" cy="3657600"/>
          </a:xfrm>
          <a:prstGeom prst="rect">
            <a:avLst/>
          </a:prstGeom>
          <a:noFill/>
        </p:spPr>
        <p:txBody>
          <a:bodyPr wrap="square">
            <a:spAutoFit/>
          </a:bodyPr>
          <a:lstStyle/>
          <a:p>
            <a:pPr algn="ctr"/>
            <a:r>
              <a:rPr sz="2800" b="1" i="0">
                <a:solidFill>
                  <a:srgbClr val="FFFFFF"/>
                </a:solidFill>
                <a:latin typeface="Calibri"/>
              </a:rPr>
              <a:t>Déploiement et DevOps</a:t>
            </a:r>
          </a:p>
        </p:txBody>
      </p:sp>
      <p:sp>
        <p:nvSpPr>
          <p:cNvPr id="6" name="TextBox 5"/>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16654075" y="1183089"/>
            <a:ext cx="16786266" cy="17346124"/>
          </a:xfrm>
          <a:custGeom>
            <a:avLst/>
            <a:gdLst/>
            <a:ahLst/>
            <a:cxnLst/>
            <a:rect l="l" t="t" r="r" b="b"/>
            <a:pathLst>
              <a:path w="16786266" h="17346124">
                <a:moveTo>
                  <a:pt x="0" y="0"/>
                </a:moveTo>
                <a:lnTo>
                  <a:pt x="16786265" y="0"/>
                </a:lnTo>
                <a:lnTo>
                  <a:pt x="16786265" y="17346123"/>
                </a:lnTo>
                <a:lnTo>
                  <a:pt x="0" y="17346123"/>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3403139" y="-867306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1180952" y="9451718"/>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5714056" y="8851957"/>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Architecture de déploiement</a:t>
            </a:r>
          </a:p>
        </p:txBody>
      </p:sp>
      <p:pic>
        <p:nvPicPr>
          <p:cNvPr id="9" name="Picture 8" descr="diagram_9.png"/>
          <p:cNvPicPr>
            <a:picLocks noChangeAspect="1"/>
          </p:cNvPicPr>
          <p:nvPr/>
        </p:nvPicPr>
        <p:blipFill>
          <a:blip r:embed="rId6"/>
          <a:stretch>
            <a:fillRect/>
          </a:stretch>
        </p:blipFill>
        <p:spPr>
          <a:xfrm>
            <a:off x="914400" y="1280160"/>
            <a:ext cx="16002000" cy="3608559"/>
          </a:xfrm>
          <a:prstGeom prst="rect">
            <a:avLst/>
          </a:prstGeom>
        </p:spPr>
      </p:pic>
      <p:graphicFrame>
        <p:nvGraphicFramePr>
          <p:cNvPr id="10" name="Table 9"/>
          <p:cNvGraphicFramePr>
            <a:graphicFrameLocks noGrp="1"/>
          </p:cNvGraphicFramePr>
          <p:nvPr/>
        </p:nvGraphicFramePr>
        <p:xfrm>
          <a:off x="914400" y="5486400"/>
          <a:ext cx="16002000" cy="1234439"/>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gridCol w="4000500">
                  <a:extLst>
                    <a:ext uri="{9D8B030D-6E8A-4147-A177-3AD203B41FA5}">
                      <a16:colId xmlns:a16="http://schemas.microsoft.com/office/drawing/2014/main" val="20003"/>
                    </a:ext>
                  </a:extLst>
                </a:gridCol>
              </a:tblGrid>
              <a:tr h="308609">
                <a:tc>
                  <a:txBody>
                    <a:bodyPr/>
                    <a:lstStyle/>
                    <a:p>
                      <a:pPr>
                        <a:defRPr sz="1000" b="1">
                          <a:solidFill>
                            <a:srgbClr val="3D5A6C"/>
                          </a:solidFill>
                        </a:defRPr>
                      </a:pPr>
                      <a:r>
                        <a:t>Environnement</a:t>
                      </a:r>
                    </a:p>
                  </a:txBody>
                  <a:tcPr/>
                </a:tc>
                <a:tc>
                  <a:txBody>
                    <a:bodyPr/>
                    <a:lstStyle/>
                    <a:p>
                      <a:pPr>
                        <a:defRPr sz="1000" b="1">
                          <a:solidFill>
                            <a:srgbClr val="3D5A6C"/>
                          </a:solidFill>
                        </a:defRPr>
                      </a:pPr>
                      <a:r>
                        <a:t>Back-end</a:t>
                      </a:r>
                    </a:p>
                  </a:txBody>
                  <a:tcPr/>
                </a:tc>
                <a:tc>
                  <a:txBody>
                    <a:bodyPr/>
                    <a:lstStyle/>
                    <a:p>
                      <a:pPr>
                        <a:defRPr sz="1000" b="1">
                          <a:solidFill>
                            <a:srgbClr val="3D5A6C"/>
                          </a:solidFill>
                        </a:defRPr>
                      </a:pPr>
                      <a:r>
                        <a:t>Front-end</a:t>
                      </a:r>
                    </a:p>
                  </a:txBody>
                  <a:tcPr/>
                </a:tc>
                <a:tc>
                  <a:txBody>
                    <a:bodyPr/>
                    <a:lstStyle/>
                    <a:p>
                      <a:pPr>
                        <a:defRPr sz="1000" b="1">
                          <a:solidFill>
                            <a:srgbClr val="3D5A6C"/>
                          </a:solidFill>
                        </a:defRPr>
                      </a:pPr>
                      <a:r>
                        <a:t>Base de données</a:t>
                      </a:r>
                    </a:p>
                  </a:txBody>
                  <a:tcPr/>
                </a:tc>
                <a:extLst>
                  <a:ext uri="{0D108BD9-81ED-4DB2-BD59-A6C34878D82A}">
                    <a16:rowId xmlns:a16="http://schemas.microsoft.com/office/drawing/2014/main" val="10000"/>
                  </a:ext>
                </a:extLst>
              </a:tr>
              <a:tr h="308609">
                <a:tc>
                  <a:txBody>
                    <a:bodyPr/>
                    <a:lstStyle/>
                    <a:p>
                      <a:pPr>
                        <a:defRPr sz="1000">
                          <a:solidFill>
                            <a:srgbClr val="2D3A3A"/>
                          </a:solidFill>
                        </a:defRPr>
                      </a:pPr>
                      <a:r>
                        <a:t>Local</a:t>
                      </a:r>
                    </a:p>
                  </a:txBody>
                  <a:tcPr/>
                </a:tc>
                <a:tc>
                  <a:txBody>
                    <a:bodyPr/>
                    <a:lstStyle/>
                    <a:p>
                      <a:pPr>
                        <a:defRPr sz="1000">
                          <a:solidFill>
                            <a:srgbClr val="2D3A3A"/>
                          </a:solidFill>
                        </a:defRPr>
                      </a:pPr>
                      <a:r>
                        <a:t>./gradlew run</a:t>
                      </a:r>
                    </a:p>
                  </a:txBody>
                  <a:tcPr/>
                </a:tc>
                <a:tc>
                  <a:txBody>
                    <a:bodyPr/>
                    <a:lstStyle/>
                    <a:p>
                      <a:pPr>
                        <a:defRPr sz="1000">
                          <a:solidFill>
                            <a:srgbClr val="2D3A3A"/>
                          </a:solidFill>
                        </a:defRPr>
                      </a:pPr>
                      <a:r>
                        <a:t>npm run dev (Vite)</a:t>
                      </a:r>
                    </a:p>
                  </a:txBody>
                  <a:tcPr/>
                </a:tc>
                <a:tc>
                  <a:txBody>
                    <a:bodyPr/>
                    <a:lstStyle/>
                    <a:p>
                      <a:pPr>
                        <a:defRPr sz="1000">
                          <a:solidFill>
                            <a:srgbClr val="2D3A3A"/>
                          </a:solidFill>
                        </a:defRPr>
                      </a:pPr>
                      <a:r>
                        <a:t>docker-compose PostgreSQL</a:t>
                      </a:r>
                    </a:p>
                  </a:txBody>
                  <a:tcPr/>
                </a:tc>
                <a:extLst>
                  <a:ext uri="{0D108BD9-81ED-4DB2-BD59-A6C34878D82A}">
                    <a16:rowId xmlns:a16="http://schemas.microsoft.com/office/drawing/2014/main" val="10001"/>
                  </a:ext>
                </a:extLst>
              </a:tr>
              <a:tr h="308609">
                <a:tc>
                  <a:txBody>
                    <a:bodyPr/>
                    <a:lstStyle/>
                    <a:p>
                      <a:pPr>
                        <a:defRPr sz="1000">
                          <a:solidFill>
                            <a:srgbClr val="2D3A3A"/>
                          </a:solidFill>
                        </a:defRPr>
                      </a:pPr>
                      <a:r>
                        <a:t>CI</a:t>
                      </a:r>
                    </a:p>
                  </a:txBody>
                  <a:tcPr/>
                </a:tc>
                <a:tc>
                  <a:txBody>
                    <a:bodyPr/>
                    <a:lstStyle/>
                    <a:p>
                      <a:pPr>
                        <a:defRPr sz="1000">
                          <a:solidFill>
                            <a:srgbClr val="2D3A3A"/>
                          </a:solidFill>
                        </a:defRPr>
                      </a:pPr>
                      <a:r>
                        <a:t>GitHub Actions</a:t>
                      </a:r>
                    </a:p>
                  </a:txBody>
                  <a:tcPr/>
                </a:tc>
                <a:tc>
                  <a:txBody>
                    <a:bodyPr/>
                    <a:lstStyle/>
                    <a:p>
                      <a:pPr>
                        <a:defRPr sz="1000">
                          <a:solidFill>
                            <a:srgbClr val="2D3A3A"/>
                          </a:solidFill>
                        </a:defRPr>
                      </a:pPr>
                      <a:r>
                        <a:t>GitHub Actions</a:t>
                      </a:r>
                    </a:p>
                  </a:txBody>
                  <a:tcPr/>
                </a:tc>
                <a:tc>
                  <a:txBody>
                    <a:bodyPr/>
                    <a:lstStyle/>
                    <a:p>
                      <a:pPr>
                        <a:defRPr sz="1000">
                          <a:solidFill>
                            <a:srgbClr val="2D3A3A"/>
                          </a:solidFill>
                        </a:defRPr>
                      </a:pPr>
                      <a:r>
                        <a:t>— (tests unitaires seulement)</a:t>
                      </a:r>
                    </a:p>
                  </a:txBody>
                  <a:tcPr/>
                </a:tc>
                <a:extLst>
                  <a:ext uri="{0D108BD9-81ED-4DB2-BD59-A6C34878D82A}">
                    <a16:rowId xmlns:a16="http://schemas.microsoft.com/office/drawing/2014/main" val="10002"/>
                  </a:ext>
                </a:extLst>
              </a:tr>
              <a:tr h="308612">
                <a:tc>
                  <a:txBody>
                    <a:bodyPr/>
                    <a:lstStyle/>
                    <a:p>
                      <a:pPr>
                        <a:defRPr sz="1000">
                          <a:solidFill>
                            <a:srgbClr val="2D3A3A"/>
                          </a:solidFill>
                        </a:defRPr>
                      </a:pPr>
                      <a:r>
                        <a:t>Production</a:t>
                      </a:r>
                    </a:p>
                  </a:txBody>
                  <a:tcPr/>
                </a:tc>
                <a:tc>
                  <a:txBody>
                    <a:bodyPr/>
                    <a:lstStyle/>
                    <a:p>
                      <a:pPr>
                        <a:defRPr sz="1000">
                          <a:solidFill>
                            <a:srgbClr val="2D3A3A"/>
                          </a:solidFill>
                        </a:defRPr>
                      </a:pPr>
                      <a:r>
                        <a:t>Render (Docker)</a:t>
                      </a:r>
                    </a:p>
                  </a:txBody>
                  <a:tcPr/>
                </a:tc>
                <a:tc>
                  <a:txBody>
                    <a:bodyPr/>
                    <a:lstStyle/>
                    <a:p>
                      <a:pPr>
                        <a:defRPr sz="1000">
                          <a:solidFill>
                            <a:srgbClr val="2D3A3A"/>
                          </a:solidFill>
                        </a:defRPr>
                      </a:pPr>
                      <a:r>
                        <a:t>Vercel</a:t>
                      </a:r>
                    </a:p>
                  </a:txBody>
                  <a:tcPr/>
                </a:tc>
                <a:tc>
                  <a:txBody>
                    <a:bodyPr/>
                    <a:lstStyle/>
                    <a:p>
                      <a:pPr>
                        <a:defRPr sz="1000">
                          <a:solidFill>
                            <a:srgbClr val="2D3A3A"/>
                          </a:solidFill>
                        </a:defRPr>
                      </a:pPr>
                      <a:r>
                        <a:t>Supabase PostgreSQL</a:t>
                      </a:r>
                    </a:p>
                  </a:txBody>
                  <a:tcPr/>
                </a:tc>
                <a:extLst>
                  <a:ext uri="{0D108BD9-81ED-4DB2-BD59-A6C34878D82A}">
                    <a16:rowId xmlns:a16="http://schemas.microsoft.com/office/drawing/2014/main" val="10003"/>
                  </a:ext>
                </a:extLst>
              </a:tr>
            </a:tbl>
          </a:graphicData>
        </a:graphic>
      </p:graphicFrame>
      <p:sp>
        <p:nvSpPr>
          <p:cNvPr id="11" name="TextBox 10"/>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55</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593757">
            <a:off x="-7871390" y="-2369047"/>
            <a:ext cx="21312191" cy="15025095"/>
          </a:xfrm>
          <a:custGeom>
            <a:avLst/>
            <a:gdLst/>
            <a:ahLst/>
            <a:cxnLst/>
            <a:rect l="l" t="t" r="r" b="b"/>
            <a:pathLst>
              <a:path w="21312191" h="15025095">
                <a:moveTo>
                  <a:pt x="0" y="0"/>
                </a:moveTo>
                <a:lnTo>
                  <a:pt x="21312192" y="0"/>
                </a:lnTo>
                <a:lnTo>
                  <a:pt x="21312192" y="15025094"/>
                </a:lnTo>
                <a:lnTo>
                  <a:pt x="0" y="15025094"/>
                </a:lnTo>
                <a:lnTo>
                  <a:pt x="0" y="0"/>
                </a:lnTo>
                <a:close/>
              </a:path>
            </a:pathLst>
          </a:custGeom>
          <a:blipFill>
            <a:blip/>
            <a:stretch>
              <a:fillRect/>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Pipeline CI/CD détaillé</a:t>
            </a:r>
          </a:p>
        </p:txBody>
      </p:sp>
      <p:sp>
        <p:nvSpPr>
          <p:cNvPr id="6" name="TextBox 5"/>
          <p:cNvSpPr txBox="1"/>
          <p:nvPr/>
        </p:nvSpPr>
        <p:spPr>
          <a:xfrm>
            <a:off x="731520" y="1280160"/>
            <a:ext cx="8046720" cy="3355848"/>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on:</a:t>
            </a:r>
          </a:p>
          <a:p>
            <a:pPr>
              <a:spcBef>
                <a:spcPts val="0"/>
              </a:spcBef>
              <a:spcAft>
                <a:spcPts val="0"/>
              </a:spcAft>
            </a:pPr>
            <a:r>
              <a:rPr sz="900" b="0" i="0">
                <a:solidFill>
                  <a:srgbClr val="2D3A3A"/>
                </a:solidFill>
                <a:latin typeface="Consolas"/>
              </a:rPr>
              <a:t>  push:</a:t>
            </a:r>
          </a:p>
          <a:p>
            <a:pPr>
              <a:spcBef>
                <a:spcPts val="0"/>
              </a:spcBef>
              <a:spcAft>
                <a:spcPts val="0"/>
              </a:spcAft>
            </a:pPr>
            <a:r>
              <a:rPr sz="900" b="0" i="0">
                <a:solidFill>
                  <a:srgbClr val="2D3A3A"/>
                </a:solidFill>
                <a:latin typeface="Consolas"/>
              </a:rPr>
              <a:t>    branches: [ main ]</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jobs:</a:t>
            </a:r>
          </a:p>
          <a:p>
            <a:pPr>
              <a:spcBef>
                <a:spcPts val="0"/>
              </a:spcBef>
              <a:spcAft>
                <a:spcPts val="0"/>
              </a:spcAft>
            </a:pPr>
            <a:r>
              <a:rPr sz="900" b="0" i="0">
                <a:solidFill>
                  <a:srgbClr val="2D3A3A"/>
                </a:solidFill>
                <a:latin typeface="Consolas"/>
              </a:rPr>
              <a:t>  detekt:        # Analyse statique (Detekt)</a:t>
            </a:r>
          </a:p>
          <a:p>
            <a:pPr>
              <a:spcBef>
                <a:spcPts val="0"/>
              </a:spcBef>
              <a:spcAft>
                <a:spcPts val="0"/>
              </a:spcAft>
            </a:pPr>
            <a:r>
              <a:rPr sz="900" b="0" i="0">
                <a:solidFill>
                  <a:srgbClr val="2D3A3A"/>
                </a:solidFill>
                <a:latin typeface="Consolas"/>
              </a:rPr>
              <a:t>    run: ./gradlew detekt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test:          # Tests unitaires (Kotest + MockK)</a:t>
            </a:r>
          </a:p>
          <a:p>
            <a:pPr>
              <a:spcBef>
                <a:spcPts val="0"/>
              </a:spcBef>
              <a:spcAft>
                <a:spcPts val="0"/>
              </a:spcAft>
            </a:pPr>
            <a:r>
              <a:rPr sz="900" b="0" i="0">
                <a:solidFill>
                  <a:srgbClr val="2D3A3A"/>
                </a:solidFill>
                <a:latin typeface="Consolas"/>
              </a:rPr>
              <a:t>    needs: detekt</a:t>
            </a:r>
          </a:p>
          <a:p>
            <a:pPr>
              <a:spcBef>
                <a:spcPts val="0"/>
              </a:spcBef>
              <a:spcAft>
                <a:spcPts val="0"/>
              </a:spcAft>
            </a:pPr>
            <a:r>
              <a:rPr sz="900" b="0" i="0">
                <a:solidFill>
                  <a:srgbClr val="2D3A3A"/>
                </a:solidFill>
                <a:latin typeface="Consolas"/>
              </a:rPr>
              <a:t>    run: ./gradlew test -PWithoutIntegrationTests</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deploy:        # Déploiement Render via API</a:t>
            </a:r>
          </a:p>
          <a:p>
            <a:pPr>
              <a:spcBef>
                <a:spcPts val="0"/>
              </a:spcBef>
              <a:spcAft>
                <a:spcPts val="0"/>
              </a:spcAft>
            </a:pPr>
            <a:r>
              <a:rPr sz="900" b="0" i="0">
                <a:solidFill>
                  <a:srgbClr val="2D3A3A"/>
                </a:solidFill>
                <a:latin typeface="Consolas"/>
              </a:rPr>
              <a:t>    needs: test</a:t>
            </a:r>
          </a:p>
          <a:p>
            <a:pPr>
              <a:spcBef>
                <a:spcPts val="0"/>
              </a:spcBef>
              <a:spcAft>
                <a:spcPts val="0"/>
              </a:spcAft>
            </a:pPr>
            <a:r>
              <a:rPr sz="900" b="0" i="0">
                <a:solidFill>
                  <a:srgbClr val="2D3A3A"/>
                </a:solidFill>
                <a:latin typeface="Consolas"/>
              </a:rPr>
              <a:t>    uses: johnbeynon/render-deploy-action@v0.0.8</a:t>
            </a:r>
          </a:p>
          <a:p>
            <a:pPr>
              <a:spcBef>
                <a:spcPts val="0"/>
              </a:spcBef>
              <a:spcAft>
                <a:spcPts val="0"/>
              </a:spcAft>
            </a:pPr>
            <a:r>
              <a:rPr sz="900" b="0" i="0">
                <a:solidFill>
                  <a:srgbClr val="2D3A3A"/>
                </a:solidFill>
                <a:latin typeface="Consolas"/>
              </a:rPr>
              <a:t>    with:</a:t>
            </a:r>
          </a:p>
          <a:p>
            <a:pPr>
              <a:spcBef>
                <a:spcPts val="0"/>
              </a:spcBef>
              <a:spcAft>
                <a:spcPts val="0"/>
              </a:spcAft>
            </a:pPr>
            <a:r>
              <a:rPr sz="900" b="0" i="0">
                <a:solidFill>
                  <a:srgbClr val="2D3A3A"/>
                </a:solidFill>
                <a:latin typeface="Consolas"/>
              </a:rPr>
              <a:t>      service-id: ${{ secrets.RENDER_SERVICE_ID }}</a:t>
            </a:r>
          </a:p>
          <a:p>
            <a:pPr>
              <a:spcBef>
                <a:spcPts val="0"/>
              </a:spcBef>
              <a:spcAft>
                <a:spcPts val="0"/>
              </a:spcAft>
            </a:pPr>
            <a:r>
              <a:rPr sz="900" b="0" i="0">
                <a:solidFill>
                  <a:srgbClr val="2D3A3A"/>
                </a:solidFill>
                <a:latin typeface="Consolas"/>
              </a:rPr>
              <a:t>      api-key: ${{ secrets.RENDER_API_KEY }}</a:t>
            </a:r>
          </a:p>
        </p:txBody>
      </p:sp>
      <p:sp>
        <p:nvSpPr>
          <p:cNvPr id="7" name="TextBox 6"/>
          <p:cNvSpPr txBox="1"/>
          <p:nvPr/>
        </p:nvSpPr>
        <p:spPr>
          <a:xfrm>
            <a:off x="9326880" y="1280160"/>
            <a:ext cx="8046720" cy="3818534"/>
          </a:xfrm>
          <a:prstGeom prst="rect">
            <a:avLst/>
          </a:prstGeom>
          <a:noFill/>
        </p:spPr>
        <p:txBody>
          <a:bodyPr wrap="square">
            <a:spAutoFit/>
          </a:bodyPr>
          <a:lstStyle/>
          <a:p>
            <a:pPr>
              <a:spcBef>
                <a:spcPts val="800"/>
              </a:spcBef>
              <a:spcAft>
                <a:spcPts val="200"/>
              </a:spcAft>
            </a:pPr>
            <a:r>
              <a:rPr sz="1300" b="1" i="0">
                <a:solidFill>
                  <a:srgbClr val="3D5A6C"/>
                </a:solidFill>
                <a:latin typeface="Calibri"/>
              </a:rPr>
              <a:t>Back-end (deploy-render.yml)</a:t>
            </a:r>
          </a:p>
          <a:p>
            <a:pPr>
              <a:spcBef>
                <a:spcPts val="800"/>
              </a:spcBef>
              <a:spcAft>
                <a:spcPts val="200"/>
              </a:spcAft>
            </a:pPr>
            <a:r>
              <a:rPr sz="1300" b="1" i="0">
                <a:solidFill>
                  <a:srgbClr val="3D5A6C"/>
                </a:solidFill>
                <a:latin typeface="Calibri"/>
              </a:rPr>
              <a:t>Front-end (4 jobs)</a:t>
            </a:r>
          </a:p>
          <a:p>
            <a:pPr>
              <a:spcBef>
                <a:spcPts val="200"/>
              </a:spcBef>
              <a:spcAft>
                <a:spcPts val="200"/>
              </a:spcAft>
            </a:pPr>
            <a:r>
              <a:rPr sz="1200" b="0" i="0">
                <a:solidFill>
                  <a:srgbClr val="2D3A3A"/>
                </a:solidFill>
                <a:latin typeface="Calibri"/>
              </a:rPr>
              <a:t>1. </a:t>
            </a:r>
            <a:r>
              <a:rPr sz="1200" b="1" i="0">
                <a:solidFill>
                  <a:srgbClr val="2D3A3A"/>
                </a:solidFill>
                <a:latin typeface="Calibri"/>
              </a:rPr>
              <a:t>Test</a:t>
            </a:r>
            <a:r>
              <a:rPr sz="1200" b="0" i="0">
                <a:solidFill>
                  <a:srgbClr val="2D3A3A"/>
                </a:solidFill>
                <a:latin typeface="Calibri"/>
              </a:rPr>
              <a:t> : lockfile-lint → </a:t>
            </a:r>
            <a:r>
              <a:rPr sz="1200" b="0" i="0">
                <a:solidFill>
                  <a:srgbClr val="2D3A3A"/>
                </a:solidFill>
                <a:latin typeface="Consolas"/>
              </a:rPr>
              <a:t>npm ci --ignore-scripts</a:t>
            </a:r>
            <a:r>
              <a:rPr sz="1200" b="0" i="0">
                <a:solidFill>
                  <a:srgbClr val="2D3A3A"/>
                </a:solidFill>
                <a:latin typeface="Calibri"/>
              </a:rPr>
              <a:t> → ESLint → Vitest → build</a:t>
            </a:r>
          </a:p>
          <a:p>
            <a:pPr>
              <a:spcBef>
                <a:spcPts val="200"/>
              </a:spcBef>
              <a:spcAft>
                <a:spcPts val="200"/>
              </a:spcAft>
            </a:pPr>
            <a:r>
              <a:rPr sz="1200" b="0" i="0">
                <a:solidFill>
                  <a:srgbClr val="2D3A3A"/>
                </a:solidFill>
                <a:latin typeface="Calibri"/>
              </a:rPr>
              <a:t>2. </a:t>
            </a:r>
            <a:r>
              <a:rPr sz="1200" b="1" i="0">
                <a:solidFill>
                  <a:srgbClr val="2D3A3A"/>
                </a:solidFill>
                <a:latin typeface="Calibri"/>
              </a:rPr>
              <a:t>Build Docker</a:t>
            </a:r>
            <a:r>
              <a:rPr sz="1200" b="0" i="0">
                <a:solidFill>
                  <a:srgbClr val="2D3A3A"/>
                </a:solidFill>
                <a:latin typeface="Calibri"/>
              </a:rPr>
              <a:t> : image multi-stage → push </a:t>
            </a:r>
            <a:r>
              <a:rPr sz="1200" b="0" i="0">
                <a:solidFill>
                  <a:srgbClr val="2D3A3A"/>
                </a:solidFill>
                <a:latin typeface="Consolas"/>
              </a:rPr>
              <a:t>ghcr.io</a:t>
            </a:r>
          </a:p>
          <a:p>
            <a:pPr>
              <a:spcBef>
                <a:spcPts val="200"/>
              </a:spcBef>
              <a:spcAft>
                <a:spcPts val="200"/>
              </a:spcAft>
            </a:pPr>
            <a:r>
              <a:rPr sz="1200" b="0" i="0">
                <a:solidFill>
                  <a:srgbClr val="2D3A3A"/>
                </a:solidFill>
                <a:latin typeface="Calibri"/>
              </a:rPr>
              <a:t>3. </a:t>
            </a:r>
            <a:r>
              <a:rPr sz="1200" b="1" i="0">
                <a:solidFill>
                  <a:srgbClr val="2D3A3A"/>
                </a:solidFill>
                <a:latin typeface="Calibri"/>
              </a:rPr>
              <a:t>Approval</a:t>
            </a:r>
            <a:r>
              <a:rPr sz="1200" b="0" i="0">
                <a:solidFill>
                  <a:srgbClr val="2D3A3A"/>
                </a:solidFill>
                <a:latin typeface="Calibri"/>
              </a:rPr>
              <a:t> : approbation manuelle (GitHub Environment "production")</a:t>
            </a:r>
          </a:p>
          <a:p>
            <a:pPr>
              <a:spcBef>
                <a:spcPts val="200"/>
              </a:spcBef>
              <a:spcAft>
                <a:spcPts val="200"/>
              </a:spcAft>
            </a:pPr>
            <a:r>
              <a:rPr sz="1200" b="0" i="0">
                <a:solidFill>
                  <a:srgbClr val="2D3A3A"/>
                </a:solidFill>
                <a:latin typeface="Calibri"/>
              </a:rPr>
              <a:t>4. </a:t>
            </a:r>
            <a:r>
              <a:rPr sz="1200" b="1" i="0">
                <a:solidFill>
                  <a:srgbClr val="2D3A3A"/>
                </a:solidFill>
                <a:latin typeface="Calibri"/>
              </a:rPr>
              <a:t>Deploy</a:t>
            </a:r>
            <a:r>
              <a:rPr sz="1200" b="0" i="0">
                <a:solidFill>
                  <a:srgbClr val="2D3A3A"/>
                </a:solidFill>
                <a:latin typeface="Calibri"/>
              </a:rPr>
              <a:t> : </a:t>
            </a:r>
            <a:r>
              <a:rPr sz="1200" b="0" i="0">
                <a:solidFill>
                  <a:srgbClr val="2D3A3A"/>
                </a:solidFill>
                <a:latin typeface="Consolas"/>
              </a:rPr>
              <a:t>vercel --prod</a:t>
            </a:r>
          </a:p>
          <a:p>
            <a:pPr>
              <a:spcBef>
                <a:spcPts val="800"/>
              </a:spcBef>
              <a:spcAft>
                <a:spcPts val="200"/>
              </a:spcAft>
            </a:pPr>
            <a:r>
              <a:rPr sz="1300" b="1" i="0">
                <a:solidFill>
                  <a:srgbClr val="3D5A6C"/>
                </a:solidFill>
                <a:latin typeface="Calibri"/>
              </a:rPr>
              <a:t>Sécurité quotidienne (cron)</a:t>
            </a:r>
          </a:p>
          <a:p>
            <a:pPr>
              <a:spcBef>
                <a:spcPts val="200"/>
              </a:spcBef>
              <a:spcAft>
                <a:spcPts val="200"/>
              </a:spcAft>
            </a:pPr>
            <a:r>
              <a:rPr sz="1200" b="0" i="0">
                <a:solidFill>
                  <a:srgbClr val="2D3A3A"/>
                </a:solidFill>
                <a:latin typeface="Calibri"/>
              </a:rPr>
              <a:t>• </a:t>
            </a:r>
            <a:r>
              <a:rPr sz="1200" b="0" i="0">
                <a:solidFill>
                  <a:srgbClr val="2D3A3A"/>
                </a:solidFill>
                <a:latin typeface="Consolas"/>
              </a:rPr>
              <a:t>npm audit</a:t>
            </a:r>
            <a:r>
              <a:rPr sz="1200" b="0" i="0">
                <a:solidFill>
                  <a:srgbClr val="2D3A3A"/>
                </a:solidFill>
                <a:latin typeface="Calibri"/>
              </a:rPr>
              <a:t> — vulnérabilités connues</a:t>
            </a:r>
          </a:p>
          <a:p>
            <a:pPr>
              <a:spcBef>
                <a:spcPts val="200"/>
              </a:spcBef>
              <a:spcAft>
                <a:spcPts val="200"/>
              </a:spcAft>
            </a:pPr>
            <a:r>
              <a:rPr sz="1200" b="0" i="0">
                <a:solidFill>
                  <a:srgbClr val="2D3A3A"/>
                </a:solidFill>
                <a:latin typeface="Calibri"/>
              </a:rPr>
              <a:t>• </a:t>
            </a:r>
            <a:r>
              <a:rPr sz="1200" b="0" i="0">
                <a:solidFill>
                  <a:srgbClr val="2D3A3A"/>
                </a:solidFill>
                <a:latin typeface="Consolas"/>
              </a:rPr>
              <a:t>lockfile-lint</a:t>
            </a:r>
            <a:r>
              <a:rPr sz="1200" b="0" i="0">
                <a:solidFill>
                  <a:srgbClr val="2D3A3A"/>
                </a:solidFill>
                <a:latin typeface="Calibri"/>
              </a:rPr>
              <a:t> — intégrité du lockfile</a:t>
            </a:r>
          </a:p>
          <a:p>
            <a:pPr>
              <a:spcBef>
                <a:spcPts val="200"/>
              </a:spcBef>
              <a:spcAft>
                <a:spcPts val="200"/>
              </a:spcAft>
            </a:pPr>
            <a:r>
              <a:rPr sz="1200" b="0" i="0">
                <a:solidFill>
                  <a:srgbClr val="2D3A3A"/>
                </a:solidFill>
                <a:latin typeface="Calibri"/>
              </a:rPr>
              <a:t>• Détection de scripts d'installation suspects</a:t>
            </a:r>
          </a:p>
          <a:p>
            <a:pPr>
              <a:spcBef>
                <a:spcPts val="200"/>
              </a:spcBef>
              <a:spcAft>
                <a:spcPts val="200"/>
              </a:spcAft>
            </a:pPr>
            <a:r>
              <a:rPr sz="1200" b="0" i="0">
                <a:solidFill>
                  <a:srgbClr val="2D3A3A"/>
                </a:solidFill>
                <a:latin typeface="Calibri"/>
              </a:rPr>
              <a:t>• Contrôle de fraîcheur des dépendances</a:t>
            </a:r>
          </a:p>
        </p:txBody>
      </p:sp>
      <p:sp>
        <p:nvSpPr>
          <p:cNvPr id="8" name="TextBox 7"/>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56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853535">
            <a:off x="6056554" y="-2160610"/>
            <a:ext cx="20810414" cy="21504485"/>
          </a:xfrm>
          <a:custGeom>
            <a:avLst/>
            <a:gdLst/>
            <a:ahLst/>
            <a:cxnLst/>
            <a:rect l="l" t="t" r="r" b="b"/>
            <a:pathLst>
              <a:path w="20810414" h="21504485">
                <a:moveTo>
                  <a:pt x="0" y="0"/>
                </a:moveTo>
                <a:lnTo>
                  <a:pt x="20810413" y="0"/>
                </a:lnTo>
                <a:lnTo>
                  <a:pt x="20810413" y="21504486"/>
                </a:lnTo>
                <a:lnTo>
                  <a:pt x="0" y="21504486"/>
                </a:lnTo>
                <a:lnTo>
                  <a:pt x="0" y="0"/>
                </a:lnTo>
                <a:close/>
              </a:path>
            </a:pathLst>
          </a:custGeom>
          <a:blipFill>
            <a:blip/>
            <a:stretch>
              <a:fillRect l="-1203" t="-3998" r="-1203"/>
            </a:stretch>
          </a:blipFill>
        </p:spPr>
        <p:txBody>
          <a:bodyPr/>
          <a:lstStyle/>
          <a:p>
            <a:endParaRPr lang="en-US" dirty="0"/>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TextBox 4"/>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Mise en production</a:t>
            </a:r>
          </a:p>
        </p:txBody>
      </p:sp>
      <p:sp>
        <p:nvSpPr>
          <p:cNvPr id="6" name="TextBox 5"/>
          <p:cNvSpPr txBox="1"/>
          <p:nvPr/>
        </p:nvSpPr>
        <p:spPr>
          <a:xfrm>
            <a:off x="731520" y="1280160"/>
            <a:ext cx="8046720" cy="1104595"/>
          </a:xfrm>
          <a:prstGeom prst="rect">
            <a:avLst/>
          </a:prstGeom>
          <a:noFill/>
        </p:spPr>
        <p:txBody>
          <a:bodyPr wrap="square">
            <a:spAutoFit/>
          </a:bodyPr>
          <a:lstStyle/>
          <a:p>
            <a:pPr>
              <a:spcBef>
                <a:spcPts val="800"/>
              </a:spcBef>
              <a:spcAft>
                <a:spcPts val="200"/>
              </a:spcAft>
            </a:pPr>
            <a:r>
              <a:rPr sz="1300" b="1" i="0">
                <a:solidFill>
                  <a:srgbClr val="3D5A6C"/>
                </a:solidFill>
                <a:latin typeface="Calibri"/>
              </a:rPr>
              <a:t>Dockerfile multi-stage (back-end)</a:t>
            </a:r>
          </a:p>
          <a:p>
            <a:pPr>
              <a:spcBef>
                <a:spcPts val="800"/>
              </a:spcBef>
              <a:spcAft>
                <a:spcPts val="200"/>
              </a:spcAft>
            </a:pPr>
            <a:r>
              <a:rPr sz="1300" b="1" i="0">
                <a:solidFill>
                  <a:srgbClr val="3D5A6C"/>
                </a:solidFill>
                <a:latin typeface="Calibri"/>
              </a:rPr>
              <a:t>Variables d'environnement (Render)</a:t>
            </a:r>
          </a:p>
        </p:txBody>
      </p:sp>
      <p:graphicFrame>
        <p:nvGraphicFramePr>
          <p:cNvPr id="7" name="Table 6"/>
          <p:cNvGraphicFramePr>
            <a:graphicFrameLocks noGrp="1"/>
          </p:cNvGraphicFramePr>
          <p:nvPr/>
        </p:nvGraphicFramePr>
        <p:xfrm>
          <a:off x="731520" y="2476195"/>
          <a:ext cx="8046720" cy="1508760"/>
        </p:xfrm>
        <a:graphic>
          <a:graphicData uri="http://schemas.openxmlformats.org/drawingml/2006/table">
            <a:tbl>
              <a:tblPr firstRow="1" bandRow="1">
                <a:tableStyleId>{5C22544A-7EE6-4342-B048-85BDC9FD1C3A}</a:tableStyleId>
              </a:tblPr>
              <a:tblGrid>
                <a:gridCol w="40233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01752">
                <a:tc>
                  <a:txBody>
                    <a:bodyPr/>
                    <a:lstStyle/>
                    <a:p>
                      <a:pPr>
                        <a:defRPr sz="1000" b="1">
                          <a:solidFill>
                            <a:srgbClr val="3D5A6C"/>
                          </a:solidFill>
                        </a:defRPr>
                      </a:pPr>
                      <a:r>
                        <a:t>Variable</a:t>
                      </a:r>
                    </a:p>
                  </a:txBody>
                  <a:tcPr/>
                </a:tc>
                <a:tc>
                  <a:txBody>
                    <a:bodyPr/>
                    <a:lstStyle/>
                    <a:p>
                      <a:pPr>
                        <a:defRPr sz="1000" b="1">
                          <a:solidFill>
                            <a:srgbClr val="3D5A6C"/>
                          </a:solidFill>
                        </a:defRPr>
                      </a:pPr>
                      <a:r>
                        <a:t>Description</a:t>
                      </a:r>
                    </a:p>
                  </a:txBody>
                  <a:tcPr/>
                </a:tc>
                <a:extLst>
                  <a:ext uri="{0D108BD9-81ED-4DB2-BD59-A6C34878D82A}">
                    <a16:rowId xmlns:a16="http://schemas.microsoft.com/office/drawing/2014/main" val="10000"/>
                  </a:ext>
                </a:extLst>
              </a:tr>
              <a:tr h="301752">
                <a:tc>
                  <a:txBody>
                    <a:bodyPr/>
                    <a:lstStyle/>
                    <a:p>
                      <a:pPr>
                        <a:defRPr sz="1000">
                          <a:solidFill>
                            <a:srgbClr val="2D3A3A"/>
                          </a:solidFill>
                        </a:defRPr>
                      </a:pPr>
                      <a:r>
                        <a:t>DATABASE_URL</a:t>
                      </a:r>
                    </a:p>
                  </a:txBody>
                  <a:tcPr/>
                </a:tc>
                <a:tc>
                  <a:txBody>
                    <a:bodyPr/>
                    <a:lstStyle/>
                    <a:p>
                      <a:pPr>
                        <a:defRPr sz="1000">
                          <a:solidFill>
                            <a:srgbClr val="2D3A3A"/>
                          </a:solidFill>
                        </a:defRPr>
                      </a:pPr>
                      <a:r>
                        <a:t>URL de connexion PostgreSQL</a:t>
                      </a:r>
                    </a:p>
                  </a:txBody>
                  <a:tcPr/>
                </a:tc>
                <a:extLst>
                  <a:ext uri="{0D108BD9-81ED-4DB2-BD59-A6C34878D82A}">
                    <a16:rowId xmlns:a16="http://schemas.microsoft.com/office/drawing/2014/main" val="10001"/>
                  </a:ext>
                </a:extLst>
              </a:tr>
              <a:tr h="301752">
                <a:tc>
                  <a:txBody>
                    <a:bodyPr/>
                    <a:lstStyle/>
                    <a:p>
                      <a:pPr>
                        <a:defRPr sz="1000">
                          <a:solidFill>
                            <a:srgbClr val="2D3A3A"/>
                          </a:solidFill>
                        </a:defRPr>
                      </a:pPr>
                      <a:r>
                        <a:t>SUPABASE_JWT_SECRET</a:t>
                      </a:r>
                    </a:p>
                  </a:txBody>
                  <a:tcPr/>
                </a:tc>
                <a:tc>
                  <a:txBody>
                    <a:bodyPr/>
                    <a:lstStyle/>
                    <a:p>
                      <a:pPr>
                        <a:defRPr sz="1000">
                          <a:solidFill>
                            <a:srgbClr val="2D3A3A"/>
                          </a:solidFill>
                        </a:defRPr>
                      </a:pPr>
                      <a:r>
                        <a:t>Secret HMAC256 pour vérification JWT</a:t>
                      </a:r>
                    </a:p>
                  </a:txBody>
                  <a:tcPr/>
                </a:tc>
                <a:extLst>
                  <a:ext uri="{0D108BD9-81ED-4DB2-BD59-A6C34878D82A}">
                    <a16:rowId xmlns:a16="http://schemas.microsoft.com/office/drawing/2014/main" val="10002"/>
                  </a:ext>
                </a:extLst>
              </a:tr>
              <a:tr h="301752">
                <a:tc>
                  <a:txBody>
                    <a:bodyPr/>
                    <a:lstStyle/>
                    <a:p>
                      <a:pPr>
                        <a:defRPr sz="1000">
                          <a:solidFill>
                            <a:srgbClr val="2D3A3A"/>
                          </a:solidFill>
                        </a:defRPr>
                      </a:pPr>
                      <a:r>
                        <a:t>DB_SSL_MODE</a:t>
                      </a:r>
                    </a:p>
                  </a:txBody>
                  <a:tcPr/>
                </a:tc>
                <a:tc>
                  <a:txBody>
                    <a:bodyPr/>
                    <a:lstStyle/>
                    <a:p>
                      <a:pPr>
                        <a:defRPr sz="1000">
                          <a:solidFill>
                            <a:srgbClr val="2D3A3A"/>
                          </a:solidFill>
                        </a:defRPr>
                      </a:pPr>
                      <a:r>
                        <a:t>require — connexion SSL obligatoire</a:t>
                      </a:r>
                    </a:p>
                  </a:txBody>
                  <a:tcPr/>
                </a:tc>
                <a:extLst>
                  <a:ext uri="{0D108BD9-81ED-4DB2-BD59-A6C34878D82A}">
                    <a16:rowId xmlns:a16="http://schemas.microsoft.com/office/drawing/2014/main" val="10003"/>
                  </a:ext>
                </a:extLst>
              </a:tr>
              <a:tr h="301752">
                <a:tc>
                  <a:txBody>
                    <a:bodyPr/>
                    <a:lstStyle/>
                    <a:p>
                      <a:pPr>
                        <a:defRPr sz="1000">
                          <a:solidFill>
                            <a:srgbClr val="2D3A3A"/>
                          </a:solidFill>
                        </a:defRPr>
                      </a:pPr>
                      <a:r>
                        <a:t>CORS_ALLOWED_ORIGINS</a:t>
                      </a:r>
                    </a:p>
                  </a:txBody>
                  <a:tcPr/>
                </a:tc>
                <a:tc>
                  <a:txBody>
                    <a:bodyPr/>
                    <a:lstStyle/>
                    <a:p>
                      <a:pPr>
                        <a:defRPr sz="1000">
                          <a:solidFill>
                            <a:srgbClr val="2D3A3A"/>
                          </a:solidFill>
                        </a:defRPr>
                      </a:pPr>
                      <a:r>
                        <a:t>URL front-end Vercel autorisée</a:t>
                      </a:r>
                    </a:p>
                  </a:txBody>
                  <a:tcPr/>
                </a:tc>
                <a:extLst>
                  <a:ext uri="{0D108BD9-81ED-4DB2-BD59-A6C34878D82A}">
                    <a16:rowId xmlns:a16="http://schemas.microsoft.com/office/drawing/2014/main" val="10004"/>
                  </a:ext>
                </a:extLst>
              </a:tr>
            </a:tbl>
          </a:graphicData>
        </a:graphic>
      </p:graphicFrame>
      <p:sp>
        <p:nvSpPr>
          <p:cNvPr id="8" name="TextBox 7"/>
          <p:cNvSpPr txBox="1"/>
          <p:nvPr/>
        </p:nvSpPr>
        <p:spPr>
          <a:xfrm>
            <a:off x="731520" y="4094683"/>
            <a:ext cx="8046720" cy="1770278"/>
          </a:xfrm>
          <a:prstGeom prst="rect">
            <a:avLst/>
          </a:prstGeom>
          <a:noFill/>
        </p:spPr>
        <p:txBody>
          <a:bodyPr wrap="square">
            <a:spAutoFit/>
          </a:bodyPr>
          <a:lstStyle/>
          <a:p>
            <a:pPr>
              <a:spcBef>
                <a:spcPts val="800"/>
              </a:spcBef>
              <a:spcAft>
                <a:spcPts val="200"/>
              </a:spcAft>
            </a:pPr>
            <a:r>
              <a:rPr sz="1300" b="1" i="0">
                <a:solidFill>
                  <a:srgbClr val="3D5A6C"/>
                </a:solidFill>
                <a:latin typeface="Calibri"/>
              </a:rPr>
              <a:t>Procédure de déploiement</a:t>
            </a:r>
          </a:p>
          <a:p>
            <a:pPr>
              <a:spcBef>
                <a:spcPts val="200"/>
              </a:spcBef>
              <a:spcAft>
                <a:spcPts val="200"/>
              </a:spcAft>
            </a:pPr>
            <a:r>
              <a:rPr sz="1200" b="0" i="0">
                <a:solidFill>
                  <a:srgbClr val="2D3A3A"/>
                </a:solidFill>
                <a:latin typeface="Calibri"/>
              </a:rPr>
              <a:t>1. Push sur </a:t>
            </a:r>
            <a:r>
              <a:rPr sz="1200" b="0" i="0">
                <a:solidFill>
                  <a:srgbClr val="2D3A3A"/>
                </a:solidFill>
                <a:latin typeface="Consolas"/>
              </a:rPr>
              <a:t>main</a:t>
            </a:r>
            <a:r>
              <a:rPr sz="1200" b="0" i="0">
                <a:solidFill>
                  <a:srgbClr val="2D3A3A"/>
                </a:solidFill>
                <a:latin typeface="Calibri"/>
              </a:rPr>
              <a:t> → GitHub Actions (Detekt → Tests → Deploy)</a:t>
            </a:r>
          </a:p>
          <a:p>
            <a:pPr>
              <a:spcBef>
                <a:spcPts val="200"/>
              </a:spcBef>
              <a:spcAft>
                <a:spcPts val="200"/>
              </a:spcAft>
            </a:pPr>
            <a:r>
              <a:rPr sz="1200" b="0" i="0">
                <a:solidFill>
                  <a:srgbClr val="2D3A3A"/>
                </a:solidFill>
                <a:latin typeface="Calibri"/>
              </a:rPr>
              <a:t>2. Render clone, exécute Dockerfile multi-stage</a:t>
            </a:r>
          </a:p>
          <a:p>
            <a:pPr>
              <a:spcBef>
                <a:spcPts val="200"/>
              </a:spcBef>
              <a:spcAft>
                <a:spcPts val="200"/>
              </a:spcAft>
            </a:pPr>
            <a:r>
              <a:rPr sz="1200" b="0" i="0">
                <a:solidFill>
                  <a:srgbClr val="2D3A3A"/>
                </a:solidFill>
                <a:latin typeface="Calibri"/>
              </a:rPr>
              <a:t>3. Image Docker : build Gradle → runtime JRE 21 uniquement</a:t>
            </a:r>
          </a:p>
          <a:p>
            <a:pPr>
              <a:spcBef>
                <a:spcPts val="200"/>
              </a:spcBef>
              <a:spcAft>
                <a:spcPts val="200"/>
              </a:spcAft>
            </a:pPr>
            <a:r>
              <a:rPr sz="1200" b="0" i="0">
                <a:solidFill>
                  <a:srgbClr val="2D3A3A"/>
                </a:solidFill>
                <a:latin typeface="Calibri"/>
              </a:rPr>
              <a:t>4. Déploiement zero-downtime, serveur Francfort (UE)</a:t>
            </a:r>
          </a:p>
        </p:txBody>
      </p:sp>
      <p:sp>
        <p:nvSpPr>
          <p:cNvPr id="9" name="TextBox 8"/>
          <p:cNvSpPr txBox="1"/>
          <p:nvPr/>
        </p:nvSpPr>
        <p:spPr>
          <a:xfrm>
            <a:off x="9326880" y="1280160"/>
            <a:ext cx="8046720" cy="2487168"/>
          </a:xfrm>
          <a:prstGeom prst="rect">
            <a:avLst/>
          </a:prstGeom>
          <a:solidFill>
            <a:srgbClr val="F5F5F5"/>
          </a:solidFill>
        </p:spPr>
        <p:txBody>
          <a:bodyPr wrap="square">
            <a:spAutoFit/>
          </a:bodyPr>
          <a:lstStyle/>
          <a:p>
            <a:pPr>
              <a:spcBef>
                <a:spcPts val="0"/>
              </a:spcBef>
              <a:spcAft>
                <a:spcPts val="0"/>
              </a:spcAft>
            </a:pPr>
            <a:r>
              <a:rPr sz="900" b="0" i="0">
                <a:solidFill>
                  <a:srgbClr val="2D3A3A"/>
                </a:solidFill>
                <a:latin typeface="Consolas"/>
              </a:rPr>
              <a:t># Stage 1 — Build (image complète Gradle)</a:t>
            </a:r>
          </a:p>
          <a:p>
            <a:pPr>
              <a:spcBef>
                <a:spcPts val="0"/>
              </a:spcBef>
              <a:spcAft>
                <a:spcPts val="0"/>
              </a:spcAft>
            </a:pPr>
            <a:r>
              <a:rPr sz="900" b="0" i="0">
                <a:solidFill>
                  <a:srgbClr val="2D3A3A"/>
                </a:solidFill>
                <a:latin typeface="Consolas"/>
              </a:rPr>
              <a:t>FROM gradle:8-jdk21 AS build</a:t>
            </a:r>
          </a:p>
          <a:p>
            <a:pPr>
              <a:spcBef>
                <a:spcPts val="0"/>
              </a:spcBef>
              <a:spcAft>
                <a:spcPts val="0"/>
              </a:spcAft>
            </a:pPr>
            <a:r>
              <a:rPr sz="900" b="0" i="0">
                <a:solidFill>
                  <a:srgbClr val="2D3A3A"/>
                </a:solidFill>
                <a:latin typeface="Consolas"/>
              </a:rPr>
              <a:t>WORKDIR /app</a:t>
            </a:r>
          </a:p>
          <a:p>
            <a:pPr>
              <a:spcBef>
                <a:spcPts val="0"/>
              </a:spcBef>
              <a:spcAft>
                <a:spcPts val="0"/>
              </a:spcAft>
            </a:pPr>
            <a:r>
              <a:rPr sz="900" b="0" i="0">
                <a:solidFill>
                  <a:srgbClr val="2D3A3A"/>
                </a:solidFill>
                <a:latin typeface="Consolas"/>
              </a:rPr>
              <a:t>COPY . .</a:t>
            </a:r>
          </a:p>
          <a:p>
            <a:pPr>
              <a:spcBef>
                <a:spcPts val="0"/>
              </a:spcBef>
              <a:spcAft>
                <a:spcPts val="0"/>
              </a:spcAft>
            </a:pPr>
            <a:r>
              <a:rPr sz="900" b="0" i="0">
                <a:solidFill>
                  <a:srgbClr val="2D3A3A"/>
                </a:solidFill>
                <a:latin typeface="Consolas"/>
              </a:rPr>
              <a:t>RUN ./gradlew clean build --no-daemon -x test</a:t>
            </a:r>
          </a:p>
          <a:p>
            <a:pPr>
              <a:spcBef>
                <a:spcPts val="0"/>
              </a:spcBef>
              <a:spcAft>
                <a:spcPts val="0"/>
              </a:spcAft>
            </a:pPr>
            <a:endParaRPr sz="900" b="0" i="0">
              <a:solidFill>
                <a:srgbClr val="2D3A3A"/>
              </a:solidFill>
              <a:latin typeface="Consolas"/>
            </a:endParaRPr>
          </a:p>
          <a:p>
            <a:pPr>
              <a:spcBef>
                <a:spcPts val="0"/>
              </a:spcBef>
              <a:spcAft>
                <a:spcPts val="0"/>
              </a:spcAft>
            </a:pPr>
            <a:r>
              <a:rPr sz="900" b="0" i="0">
                <a:solidFill>
                  <a:srgbClr val="2D3A3A"/>
                </a:solidFill>
                <a:latin typeface="Consolas"/>
              </a:rPr>
              <a:t># Stage 2 — Runtime (image légère JRE)</a:t>
            </a:r>
          </a:p>
          <a:p>
            <a:pPr>
              <a:spcBef>
                <a:spcPts val="0"/>
              </a:spcBef>
              <a:spcAft>
                <a:spcPts val="0"/>
              </a:spcAft>
            </a:pPr>
            <a:r>
              <a:rPr sz="900" b="0" i="0">
                <a:solidFill>
                  <a:srgbClr val="2D3A3A"/>
                </a:solidFill>
                <a:latin typeface="Consolas"/>
              </a:rPr>
              <a:t>FROM eclipse-temurin:21-jre-jammy</a:t>
            </a:r>
          </a:p>
          <a:p>
            <a:pPr>
              <a:spcBef>
                <a:spcPts val="0"/>
              </a:spcBef>
              <a:spcAft>
                <a:spcPts val="0"/>
              </a:spcAft>
            </a:pPr>
            <a:r>
              <a:rPr sz="900" b="0" i="0">
                <a:solidFill>
                  <a:srgbClr val="2D3A3A"/>
                </a:solidFill>
                <a:latin typeface="Consolas"/>
              </a:rPr>
              <a:t>USER 1000:1000</a:t>
            </a:r>
          </a:p>
          <a:p>
            <a:pPr>
              <a:spcBef>
                <a:spcPts val="0"/>
              </a:spcBef>
              <a:spcAft>
                <a:spcPts val="0"/>
              </a:spcAft>
            </a:pPr>
            <a:r>
              <a:rPr sz="900" b="0" i="0">
                <a:solidFill>
                  <a:srgbClr val="2D3A3A"/>
                </a:solidFill>
                <a:latin typeface="Consolas"/>
              </a:rPr>
              <a:t>WORKDIR /app</a:t>
            </a:r>
          </a:p>
          <a:p>
            <a:pPr>
              <a:spcBef>
                <a:spcPts val="0"/>
              </a:spcBef>
              <a:spcAft>
                <a:spcPts val="0"/>
              </a:spcAft>
            </a:pPr>
            <a:r>
              <a:rPr sz="900" b="0" i="0">
                <a:solidFill>
                  <a:srgbClr val="2D3A3A"/>
                </a:solidFill>
                <a:latin typeface="Consolas"/>
              </a:rPr>
              <a:t>COPY --from=build /app/build/libs/*.jar happyrow-core.jar</a:t>
            </a:r>
          </a:p>
          <a:p>
            <a:pPr>
              <a:spcBef>
                <a:spcPts val="0"/>
              </a:spcBef>
              <a:spcAft>
                <a:spcPts val="0"/>
              </a:spcAft>
            </a:pPr>
            <a:r>
              <a:rPr sz="900" b="0" i="0">
                <a:solidFill>
                  <a:srgbClr val="2D3A3A"/>
                </a:solidFill>
                <a:latin typeface="Consolas"/>
              </a:rPr>
              <a:t>EXPOSE 8080</a:t>
            </a:r>
          </a:p>
          <a:p>
            <a:pPr>
              <a:spcBef>
                <a:spcPts val="0"/>
              </a:spcBef>
              <a:spcAft>
                <a:spcPts val="0"/>
              </a:spcAft>
            </a:pPr>
            <a:r>
              <a:rPr sz="900" b="0" i="0">
                <a:solidFill>
                  <a:srgbClr val="2D3A3A"/>
                </a:solidFill>
                <a:latin typeface="Consolas"/>
              </a:rPr>
              <a:t>CMD ["-Xmx512m", "-Xms256m", "-XX:+UseG1GC", "-jar", "happyrow-core.jar"]</a:t>
            </a:r>
          </a:p>
        </p:txBody>
      </p:sp>
      <p:sp>
        <p:nvSpPr>
          <p:cNvPr id="10" name="TextBox 9"/>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57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2B5C73"/>
        </a:solidFill>
        <a:effectLst/>
      </p:bgPr>
    </p:bg>
    <p:spTree>
      <p:nvGrpSpPr>
        <p:cNvPr id="1" name=""/>
        <p:cNvGrpSpPr/>
        <p:nvPr/>
      </p:nvGrpSpPr>
      <p:grpSpPr>
        <a:xfrm>
          <a:off x="0" y="0"/>
          <a:ext cx="0" cy="0"/>
          <a:chOff x="0" y="0"/>
          <a:chExt cx="0" cy="0"/>
        </a:xfrm>
      </p:grpSpPr>
      <p:sp>
        <p:nvSpPr>
          <p:cNvPr id="2" name="TextBox 2"/>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p:nvSpPr>
        <p:spPr>
          <a:xfrm>
            <a:off x="-810449" y="4666508"/>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p:nvSpPr>
        <p:spPr>
          <a:xfrm>
            <a:off x="-658049" y="4818908"/>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extBox 4"/>
          <p:cNvSpPr txBox="1"/>
          <p:nvPr/>
        </p:nvSpPr>
        <p:spPr>
          <a:xfrm>
            <a:off x="1828800" y="3200400"/>
            <a:ext cx="14630400" cy="3657600"/>
          </a:xfrm>
          <a:prstGeom prst="rect">
            <a:avLst/>
          </a:prstGeom>
          <a:noFill/>
        </p:spPr>
        <p:txBody>
          <a:bodyPr wrap="square">
            <a:spAutoFit/>
          </a:bodyPr>
          <a:lstStyle/>
          <a:p>
            <a:pPr algn="ctr"/>
            <a:r>
              <a:rPr sz="2800" b="1" i="0">
                <a:solidFill>
                  <a:srgbClr val="FFFFFF"/>
                </a:solidFill>
                <a:latin typeface="Calibri"/>
              </a:rPr>
              <a:t>Veille sur les vulnérabilités de sécurité</a:t>
            </a:r>
          </a:p>
        </p:txBody>
      </p:sp>
      <p:sp>
        <p:nvSpPr>
          <p:cNvPr id="6" name="TextBox 5"/>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16559154" y="-3155940"/>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18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7156610">
            <a:off x="-12169174" y="7273568"/>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6" name="Freeform 6"/>
          <p:cNvSpPr/>
          <p:nvPr/>
        </p:nvSpPr>
        <p:spPr>
          <a:xfrm rot="212015">
            <a:off x="16686336" y="-520255"/>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rot="-7156610">
            <a:off x="-7796283" y="2284321"/>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7000"/>
              <a:extLst>
                <a:ext uri="{96DAC541-7B7A-43D3-8B79-37D633B846F1}">
                  <asvg:svgBlip xmlns:asvg="http://schemas.microsoft.com/office/drawing/2016/SVG/main" r:embed="rId6"/>
                </a:ext>
              </a:extLst>
            </a:blip>
            <a:stretch>
              <a:fillRect l="-1203" t="-3998" r="-1203"/>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Démarche et chronologie</a:t>
            </a:r>
          </a:p>
        </p:txBody>
      </p:sp>
      <p:graphicFrame>
        <p:nvGraphicFramePr>
          <p:cNvPr id="9" name="Table 8"/>
          <p:cNvGraphicFramePr>
            <a:graphicFrameLocks noGrp="1"/>
          </p:cNvGraphicFramePr>
          <p:nvPr/>
        </p:nvGraphicFramePr>
        <p:xfrm>
          <a:off x="914400" y="1280160"/>
          <a:ext cx="16002000" cy="2057400"/>
        </p:xfrm>
        <a:graphic>
          <a:graphicData uri="http://schemas.openxmlformats.org/drawingml/2006/table">
            <a:tbl>
              <a:tblPr firstRow="1" bandRow="1">
                <a:tableStyleId>{5C22544A-7EE6-4342-B048-85BDC9FD1C3A}</a:tableStyleId>
              </a:tblPr>
              <a:tblGrid>
                <a:gridCol w="5334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5334000">
                  <a:extLst>
                    <a:ext uri="{9D8B030D-6E8A-4147-A177-3AD203B41FA5}">
                      <a16:colId xmlns:a16="http://schemas.microsoft.com/office/drawing/2014/main" val="20002"/>
                    </a:ext>
                  </a:extLst>
                </a:gridCol>
              </a:tblGrid>
              <a:tr h="293914">
                <a:tc>
                  <a:txBody>
                    <a:bodyPr/>
                    <a:lstStyle/>
                    <a:p>
                      <a:pPr>
                        <a:defRPr sz="1000" b="1">
                          <a:solidFill>
                            <a:srgbClr val="3D5A6C"/>
                          </a:solidFill>
                        </a:defRPr>
                      </a:pPr>
                      <a:r>
                        <a:t>Période</a:t>
                      </a:r>
                    </a:p>
                  </a:txBody>
                  <a:tcPr/>
                </a:tc>
                <a:tc>
                  <a:txBody>
                    <a:bodyPr/>
                    <a:lstStyle/>
                    <a:p>
                      <a:pPr>
                        <a:defRPr sz="1000" b="1">
                          <a:solidFill>
                            <a:srgbClr val="3D5A6C"/>
                          </a:solidFill>
                        </a:defRPr>
                      </a:pPr>
                      <a:r>
                        <a:t>Action</a:t>
                      </a:r>
                    </a:p>
                  </a:txBody>
                  <a:tcPr/>
                </a:tc>
                <a:tc>
                  <a:txBody>
                    <a:bodyPr/>
                    <a:lstStyle/>
                    <a:p>
                      <a:pPr>
                        <a:defRPr sz="1000" b="1">
                          <a:solidFill>
                            <a:srgbClr val="3D5A6C"/>
                          </a:solidFill>
                        </a:defRPr>
                      </a:pPr>
                      <a:r>
                        <a:t>Résultat</a:t>
                      </a:r>
                    </a:p>
                  </a:txBody>
                  <a:tcPr/>
                </a:tc>
                <a:extLst>
                  <a:ext uri="{0D108BD9-81ED-4DB2-BD59-A6C34878D82A}">
                    <a16:rowId xmlns:a16="http://schemas.microsoft.com/office/drawing/2014/main" val="10000"/>
                  </a:ext>
                </a:extLst>
              </a:tr>
              <a:tr h="293914">
                <a:tc>
                  <a:txBody>
                    <a:bodyPr/>
                    <a:lstStyle/>
                    <a:p>
                      <a:pPr>
                        <a:defRPr sz="1000">
                          <a:solidFill>
                            <a:srgbClr val="2D3A3A"/>
                          </a:solidFill>
                        </a:defRPr>
                      </a:pPr>
                      <a:r>
                        <a:t>Phase 1 — Fondations</a:t>
                      </a:r>
                    </a:p>
                  </a:txBody>
                  <a:tcPr/>
                </a:tc>
                <a:tc>
                  <a:txBody>
                    <a:bodyPr/>
                    <a:lstStyle/>
                    <a:p>
                      <a:pPr>
                        <a:defRPr sz="1000">
                          <a:solidFill>
                            <a:srgbClr val="2D3A3A"/>
                          </a:solidFill>
                        </a:defRPr>
                      </a:pPr>
                      <a:r>
                        <a:t>Étude OWASP Top 10 (2021)</a:t>
                      </a:r>
                    </a:p>
                  </a:txBody>
                  <a:tcPr/>
                </a:tc>
                <a:tc>
                  <a:txBody>
                    <a:bodyPr/>
                    <a:lstStyle/>
                    <a:p>
                      <a:pPr>
                        <a:defRPr sz="1000">
                          <a:solidFill>
                            <a:srgbClr val="2D3A3A"/>
                          </a:solidFill>
                        </a:defRPr>
                      </a:pPr>
                      <a:r>
                        <a:t>6 catégories pertinentes identifiées</a:t>
                      </a:r>
                    </a:p>
                  </a:txBody>
                  <a:tcPr/>
                </a:tc>
                <a:extLst>
                  <a:ext uri="{0D108BD9-81ED-4DB2-BD59-A6C34878D82A}">
                    <a16:rowId xmlns:a16="http://schemas.microsoft.com/office/drawing/2014/main" val="10001"/>
                  </a:ext>
                </a:extLst>
              </a:tr>
              <a:tr h="293914">
                <a:tc>
                  <a:txBody>
                    <a:bodyPr/>
                    <a:lstStyle/>
                    <a:p>
                      <a:pPr>
                        <a:defRPr sz="1000">
                          <a:solidFill>
                            <a:srgbClr val="2D3A3A"/>
                          </a:solidFill>
                        </a:defRPr>
                      </a:pPr>
                      <a:r>
                        <a:t>Phase 2 — Authentification</a:t>
                      </a:r>
                    </a:p>
                  </a:txBody>
                  <a:tcPr/>
                </a:tc>
                <a:tc>
                  <a:txBody>
                    <a:bodyPr/>
                    <a:lstStyle/>
                    <a:p>
                      <a:pPr>
                        <a:defRPr sz="1000">
                          <a:solidFill>
                            <a:srgbClr val="2D3A3A"/>
                          </a:solidFill>
                        </a:defRPr>
                      </a:pPr>
                      <a:r>
                        <a:t>Docs Ktor Security + Supabase Auth, vérification CVE auth0 java-jwt</a:t>
                      </a:r>
                    </a:p>
                  </a:txBody>
                  <a:tcPr/>
                </a:tc>
                <a:tc>
                  <a:txBody>
                    <a:bodyPr/>
                    <a:lstStyle/>
                    <a:p>
                      <a:pPr>
                        <a:defRPr sz="1000">
                          <a:solidFill>
                            <a:srgbClr val="2D3A3A"/>
                          </a:solidFill>
                        </a:defRPr>
                      </a:pPr>
                      <a:r>
                        <a:t>Aucune CVE critique, HMAC256 validé (RFC 7518)</a:t>
                      </a:r>
                    </a:p>
                  </a:txBody>
                  <a:tcPr/>
                </a:tc>
                <a:extLst>
                  <a:ext uri="{0D108BD9-81ED-4DB2-BD59-A6C34878D82A}">
                    <a16:rowId xmlns:a16="http://schemas.microsoft.com/office/drawing/2014/main" val="10002"/>
                  </a:ext>
                </a:extLst>
              </a:tr>
              <a:tr h="293914">
                <a:tc>
                  <a:txBody>
                    <a:bodyPr/>
                    <a:lstStyle/>
                    <a:p>
                      <a:pPr>
                        <a:defRPr sz="1000">
                          <a:solidFill>
                            <a:srgbClr val="2D3A3A"/>
                          </a:solidFill>
                        </a:defRPr>
                      </a:pPr>
                      <a:r>
                        <a:t>Phase 3 — Participants</a:t>
                      </a:r>
                    </a:p>
                  </a:txBody>
                  <a:tcPr/>
                </a:tc>
                <a:tc>
                  <a:txBody>
                    <a:bodyPr/>
                    <a:lstStyle/>
                    <a:p>
                      <a:pPr>
                        <a:defRPr sz="1000">
                          <a:solidFill>
                            <a:srgbClr val="2D3A3A"/>
                          </a:solidFill>
                        </a:defRPr>
                      </a:pPr>
                      <a:r>
                        <a:t>Activation Dependabot, vérification advisories Exposed ORM</a:t>
                      </a:r>
                    </a:p>
                  </a:txBody>
                  <a:tcPr/>
                </a:tc>
                <a:tc>
                  <a:txBody>
                    <a:bodyPr/>
                    <a:lstStyle/>
                    <a:p>
                      <a:pPr>
                        <a:defRPr sz="1000">
                          <a:solidFill>
                            <a:srgbClr val="2D3A3A"/>
                          </a:solidFill>
                        </a:defRPr>
                      </a:pPr>
                      <a:r>
                        <a:t>Alertes automatiques configurées</a:t>
                      </a:r>
                    </a:p>
                  </a:txBody>
                  <a:tcPr/>
                </a:tc>
                <a:extLst>
                  <a:ext uri="{0D108BD9-81ED-4DB2-BD59-A6C34878D82A}">
                    <a16:rowId xmlns:a16="http://schemas.microsoft.com/office/drawing/2014/main" val="10003"/>
                  </a:ext>
                </a:extLst>
              </a:tr>
              <a:tr h="293914">
                <a:tc>
                  <a:txBody>
                    <a:bodyPr/>
                    <a:lstStyle/>
                    <a:p>
                      <a:pPr>
                        <a:defRPr sz="1000">
                          <a:solidFill>
                            <a:srgbClr val="2D3A3A"/>
                          </a:solidFill>
                        </a:defRPr>
                      </a:pPr>
                      <a:r>
                        <a:t>Phase 4 — Contributions</a:t>
                      </a:r>
                    </a:p>
                  </a:txBody>
                  <a:tcPr/>
                </a:tc>
                <a:tc>
                  <a:txBody>
                    <a:bodyPr/>
                    <a:lstStyle/>
                    <a:p>
                      <a:pPr>
                        <a:defRPr sz="1000">
                          <a:solidFill>
                            <a:srgbClr val="2D3A3A"/>
                          </a:solidFill>
                        </a:defRPr>
                      </a:pPr>
                      <a:r>
                        <a:t>Recherche vulnérabilités concurrence (TOCTOU), docs PostgreSQL isolation</a:t>
                      </a:r>
                    </a:p>
                  </a:txBody>
                  <a:tcPr/>
                </a:tc>
                <a:tc>
                  <a:txBody>
                    <a:bodyPr/>
                    <a:lstStyle/>
                    <a:p>
                      <a:pPr>
                        <a:defRPr sz="1000">
                          <a:solidFill>
                            <a:srgbClr val="2D3A3A"/>
                          </a:solidFill>
                        </a:defRPr>
                      </a:pPr>
                      <a:r>
                        <a:t>Verrou optimiste avec double vérification</a:t>
                      </a:r>
                    </a:p>
                  </a:txBody>
                  <a:tcPr/>
                </a:tc>
                <a:extLst>
                  <a:ext uri="{0D108BD9-81ED-4DB2-BD59-A6C34878D82A}">
                    <a16:rowId xmlns:a16="http://schemas.microsoft.com/office/drawing/2014/main" val="10004"/>
                  </a:ext>
                </a:extLst>
              </a:tr>
              <a:tr h="293914">
                <a:tc>
                  <a:txBody>
                    <a:bodyPr/>
                    <a:lstStyle/>
                    <a:p>
                      <a:pPr>
                        <a:defRPr sz="1000">
                          <a:solidFill>
                            <a:srgbClr val="2D3A3A"/>
                          </a:solidFill>
                        </a:defRPr>
                      </a:pPr>
                      <a:r>
                        <a:t>Phase 5 — Qualité</a:t>
                      </a:r>
                    </a:p>
                  </a:txBody>
                  <a:tcPr/>
                </a:tc>
                <a:tc>
                  <a:txBody>
                    <a:bodyPr/>
                    <a:lstStyle/>
                    <a:p>
                      <a:pPr>
                        <a:defRPr sz="1000">
                          <a:solidFill>
                            <a:srgbClr val="2D3A3A"/>
                          </a:solidFill>
                        </a:defRPr>
                      </a:pPr>
                      <a:r>
                        <a:t>Audit npm, workflow Security Audit quotidien (cron GitHub Actions)</a:t>
                      </a:r>
                    </a:p>
                  </a:txBody>
                  <a:tcPr/>
                </a:tc>
                <a:tc>
                  <a:txBody>
                    <a:bodyPr/>
                    <a:lstStyle/>
                    <a:p>
                      <a:pPr>
                        <a:defRPr sz="1000">
                          <a:solidFill>
                            <a:srgbClr val="2D3A3A"/>
                          </a:solidFill>
                        </a:defRPr>
                      </a:pPr>
                      <a:r>
                        <a:t>Pipeline sécurité front-end automatisé</a:t>
                      </a:r>
                    </a:p>
                  </a:txBody>
                  <a:tcPr/>
                </a:tc>
                <a:extLst>
                  <a:ext uri="{0D108BD9-81ED-4DB2-BD59-A6C34878D82A}">
                    <a16:rowId xmlns:a16="http://schemas.microsoft.com/office/drawing/2014/main" val="10005"/>
                  </a:ext>
                </a:extLst>
              </a:tr>
              <a:tr h="293916">
                <a:tc>
                  <a:txBody>
                    <a:bodyPr/>
                    <a:lstStyle/>
                    <a:p>
                      <a:pPr>
                        <a:defRPr sz="1000">
                          <a:solidFill>
                            <a:srgbClr val="2D3A3A"/>
                          </a:solidFill>
                        </a:defRPr>
                      </a:pPr>
                      <a:r>
                        <a:t>En continu</a:t>
                      </a:r>
                    </a:p>
                  </a:txBody>
                  <a:tcPr/>
                </a:tc>
                <a:tc>
                  <a:txBody>
                    <a:bodyPr/>
                    <a:lstStyle/>
                    <a:p>
                      <a:pPr>
                        <a:defRPr sz="1000">
                          <a:solidFill>
                            <a:srgbClr val="2D3A3A"/>
                          </a:solidFill>
                        </a:defRPr>
                      </a:pPr>
                      <a:r>
                        <a:t>Surveillance Dependabot, mises à jour Ktor/Supabase</a:t>
                      </a:r>
                    </a:p>
                  </a:txBody>
                  <a:tcPr/>
                </a:tc>
                <a:tc>
                  <a:txBody>
                    <a:bodyPr/>
                    <a:lstStyle/>
                    <a:p>
                      <a:pPr>
                        <a:defRPr sz="1000">
                          <a:solidFill>
                            <a:srgbClr val="2D3A3A"/>
                          </a:solidFill>
                        </a:defRPr>
                      </a:pPr>
                      <a:r>
                        <a:t>Mises à jour mineures appliquées</a:t>
                      </a:r>
                    </a:p>
                  </a:txBody>
                  <a:tcPr/>
                </a:tc>
                <a:extLst>
                  <a:ext uri="{0D108BD9-81ED-4DB2-BD59-A6C34878D82A}">
                    <a16:rowId xmlns:a16="http://schemas.microsoft.com/office/drawing/2014/main" val="10006"/>
                  </a:ext>
                </a:extLst>
              </a:tr>
            </a:tbl>
          </a:graphicData>
        </a:graphic>
      </p:graphicFrame>
      <p:sp>
        <p:nvSpPr>
          <p:cNvPr id="10" name="TextBox 9"/>
          <p:cNvSpPr txBox="1"/>
          <p:nvPr/>
        </p:nvSpPr>
        <p:spPr>
          <a:xfrm>
            <a:off x="914400" y="3447288"/>
            <a:ext cx="16002000" cy="925372"/>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Sources consultées</a:t>
            </a:r>
          </a:p>
          <a:p>
            <a:pPr>
              <a:spcBef>
                <a:spcPts val="200"/>
              </a:spcBef>
              <a:spcAft>
                <a:spcPts val="200"/>
              </a:spcAft>
            </a:pPr>
            <a:r>
              <a:rPr sz="1300" b="0" i="0">
                <a:solidFill>
                  <a:srgbClr val="2D3A3A"/>
                </a:solidFill>
                <a:latin typeface="Calibri"/>
              </a:rPr>
              <a:t>OWASP Top 10 | CVE Database | GitHub Dependabot | Docs Ktor/Supabase | ANSSI | PostgreSQL Security</a:t>
            </a:r>
          </a:p>
        </p:txBody>
      </p:sp>
      <p:sp>
        <p:nvSpPr>
          <p:cNvPr id="11" name="TextBox 10"/>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59</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969309">
            <a:off x="-2959069" y="8159482"/>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64000"/>
            </a:blip>
            <a:stretch>
              <a:fillRect l="-1203" t="-3998" r="-1203"/>
            </a:stretch>
          </a:blipFill>
        </p:spPr>
        <p:txBody>
          <a:bodyPr/>
          <a:lstStyle/>
          <a:p>
            <a:endParaRPr lang="en-US"/>
          </a:p>
        </p:txBody>
      </p:sp>
      <p:sp>
        <p:nvSpPr>
          <p:cNvPr id="3" name="Freeform 3"/>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5" name="Freeform 5"/>
          <p:cNvSpPr/>
          <p:nvPr/>
        </p:nvSpPr>
        <p:spPr>
          <a:xfrm rot="9969309">
            <a:off x="7880301" y="-13959069"/>
            <a:ext cx="16786266" cy="17346124"/>
          </a:xfrm>
          <a:custGeom>
            <a:avLst/>
            <a:gdLst/>
            <a:ahLst/>
            <a:cxnLst/>
            <a:rect l="l" t="t" r="r" b="b"/>
            <a:pathLst>
              <a:path w="16786266" h="17346124">
                <a:moveTo>
                  <a:pt x="0" y="0"/>
                </a:moveTo>
                <a:lnTo>
                  <a:pt x="16786266" y="0"/>
                </a:lnTo>
                <a:lnTo>
                  <a:pt x="16786266" y="17346124"/>
                </a:lnTo>
                <a:lnTo>
                  <a:pt x="0" y="17346124"/>
                </a:lnTo>
                <a:lnTo>
                  <a:pt x="0" y="0"/>
                </a:lnTo>
                <a:close/>
              </a:path>
            </a:pathLst>
          </a:custGeom>
          <a:blipFill>
            <a:blip>
              <a:alphaModFix amt="44999"/>
            </a:blip>
            <a:stretch>
              <a:fillRect l="-1203" t="-3998" r="-1203"/>
            </a:stretch>
          </a:blipFill>
        </p:spPr>
        <p:txBody>
          <a:bodyPr/>
          <a:lstStyle/>
          <a:p>
            <a:endParaRPr lang="en-US"/>
          </a:p>
        </p:txBody>
      </p:sp>
      <p:sp>
        <p:nvSpPr>
          <p:cNvPr id="6" name="Freeform 6"/>
          <p:cNvSpPr/>
          <p:nvPr/>
        </p:nvSpPr>
        <p:spPr>
          <a:xfrm rot="-5220598">
            <a:off x="-3159090" y="1658423"/>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3147869" y="-677768"/>
            <a:ext cx="1192173" cy="1143741"/>
          </a:xfrm>
          <a:custGeom>
            <a:avLst/>
            <a:gdLst/>
            <a:ahLst/>
            <a:cxnLst/>
            <a:rect l="l" t="t" r="r" b="b"/>
            <a:pathLst>
              <a:path w="1192173" h="1143741">
                <a:moveTo>
                  <a:pt x="0" y="0"/>
                </a:moveTo>
                <a:lnTo>
                  <a:pt x="1192173" y="0"/>
                </a:lnTo>
                <a:lnTo>
                  <a:pt x="1192173" y="1143740"/>
                </a:lnTo>
                <a:lnTo>
                  <a:pt x="0" y="1143740"/>
                </a:lnTo>
                <a:lnTo>
                  <a:pt x="0" y="0"/>
                </a:lnTo>
                <a:close/>
              </a:path>
            </a:pathLst>
          </a:custGeom>
          <a:blipFill>
            <a:blip>
              <a:alphaModFix amt="31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7"/>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OWASP Top 10 : couverture</a:t>
            </a:r>
          </a:p>
        </p:txBody>
      </p:sp>
      <p:sp>
        <p:nvSpPr>
          <p:cNvPr id="9" name="TextBox 8"/>
          <p:cNvSpPr txBox="1"/>
          <p:nvPr/>
        </p:nvSpPr>
        <p:spPr>
          <a:xfrm>
            <a:off x="914400" y="1280160"/>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Catégories traitées</a:t>
            </a:r>
          </a:p>
        </p:txBody>
      </p:sp>
      <p:graphicFrame>
        <p:nvGraphicFramePr>
          <p:cNvPr id="10" name="Table 9"/>
          <p:cNvGraphicFramePr>
            <a:graphicFrameLocks noGrp="1"/>
          </p:cNvGraphicFramePr>
          <p:nvPr/>
        </p:nvGraphicFramePr>
        <p:xfrm>
          <a:off x="914400" y="2015337"/>
          <a:ext cx="16002000" cy="2057400"/>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293914">
                <a:tc>
                  <a:txBody>
                    <a:bodyPr/>
                    <a:lstStyle/>
                    <a:p>
                      <a:pPr>
                        <a:defRPr sz="1000" b="1">
                          <a:solidFill>
                            <a:srgbClr val="3D5A6C"/>
                          </a:solidFill>
                        </a:defRPr>
                      </a:pPr>
                      <a:r>
                        <a:t>Catégorie</a:t>
                      </a:r>
                    </a:p>
                  </a:txBody>
                  <a:tcPr/>
                </a:tc>
                <a:tc>
                  <a:txBody>
                    <a:bodyPr/>
                    <a:lstStyle/>
                    <a:p>
                      <a:pPr>
                        <a:defRPr sz="1000" b="1">
                          <a:solidFill>
                            <a:srgbClr val="3D5A6C"/>
                          </a:solidFill>
                        </a:defRPr>
                      </a:pPr>
                      <a:r>
                        <a:t>Protection appliquée</a:t>
                      </a:r>
                    </a:p>
                  </a:txBody>
                  <a:tcPr/>
                </a:tc>
                <a:extLst>
                  <a:ext uri="{0D108BD9-81ED-4DB2-BD59-A6C34878D82A}">
                    <a16:rowId xmlns:a16="http://schemas.microsoft.com/office/drawing/2014/main" val="10000"/>
                  </a:ext>
                </a:extLst>
              </a:tr>
              <a:tr h="293914">
                <a:tc>
                  <a:txBody>
                    <a:bodyPr/>
                    <a:lstStyle/>
                    <a:p>
                      <a:pPr>
                        <a:defRPr sz="1000">
                          <a:solidFill>
                            <a:srgbClr val="2D3A3A"/>
                          </a:solidFill>
                        </a:defRPr>
                      </a:pPr>
                      <a:r>
                        <a:t>A01 — Broken Access Control</a:t>
                      </a:r>
                    </a:p>
                  </a:txBody>
                  <a:tcPr/>
                </a:tc>
                <a:tc>
                  <a:txBody>
                    <a:bodyPr/>
                    <a:lstStyle/>
                    <a:p>
                      <a:pPr>
                        <a:defRPr sz="1000">
                          <a:solidFill>
                            <a:srgbClr val="2D3A3A"/>
                          </a:solidFill>
                        </a:defRPr>
                      </a:pPr>
                      <a:r>
                        <a:t>JWT obligatoire, autorisation créateur, email du JWT serveur</a:t>
                      </a:r>
                    </a:p>
                  </a:txBody>
                  <a:tcPr/>
                </a:tc>
                <a:extLst>
                  <a:ext uri="{0D108BD9-81ED-4DB2-BD59-A6C34878D82A}">
                    <a16:rowId xmlns:a16="http://schemas.microsoft.com/office/drawing/2014/main" val="10001"/>
                  </a:ext>
                </a:extLst>
              </a:tr>
              <a:tr h="293914">
                <a:tc>
                  <a:txBody>
                    <a:bodyPr/>
                    <a:lstStyle/>
                    <a:p>
                      <a:pPr>
                        <a:defRPr sz="1000">
                          <a:solidFill>
                            <a:srgbClr val="2D3A3A"/>
                          </a:solidFill>
                        </a:defRPr>
                      </a:pPr>
                      <a:r>
                        <a:t>A02 — Cryptographic Failures</a:t>
                      </a:r>
                    </a:p>
                  </a:txBody>
                  <a:tcPr/>
                </a:tc>
                <a:tc>
                  <a:txBody>
                    <a:bodyPr/>
                    <a:lstStyle/>
                    <a:p>
                      <a:pPr>
                        <a:defRPr sz="1000">
                          <a:solidFill>
                            <a:srgbClr val="2D3A3A"/>
                          </a:solidFill>
                        </a:defRPr>
                      </a:pPr>
                      <a:r>
                        <a:t>HMAC256, HTTPS, SSL PostgreSQL, secrets en env vars</a:t>
                      </a:r>
                    </a:p>
                  </a:txBody>
                  <a:tcPr/>
                </a:tc>
                <a:extLst>
                  <a:ext uri="{0D108BD9-81ED-4DB2-BD59-A6C34878D82A}">
                    <a16:rowId xmlns:a16="http://schemas.microsoft.com/office/drawing/2014/main" val="10002"/>
                  </a:ext>
                </a:extLst>
              </a:tr>
              <a:tr h="293914">
                <a:tc>
                  <a:txBody>
                    <a:bodyPr/>
                    <a:lstStyle/>
                    <a:p>
                      <a:pPr>
                        <a:defRPr sz="1000">
                          <a:solidFill>
                            <a:srgbClr val="2D3A3A"/>
                          </a:solidFill>
                        </a:defRPr>
                      </a:pPr>
                      <a:r>
                        <a:t>A03 — Injection</a:t>
                      </a:r>
                    </a:p>
                  </a:txBody>
                  <a:tcPr/>
                </a:tc>
                <a:tc>
                  <a:txBody>
                    <a:bodyPr/>
                    <a:lstStyle/>
                    <a:p>
                      <a:pPr>
                        <a:defRPr sz="1000">
                          <a:solidFill>
                            <a:srgbClr val="2D3A3A"/>
                          </a:solidFill>
                        </a:defRPr>
                      </a:pPr>
                      <a:r>
                        <a:t>Exposed ORM, requêtes paramétrées, pas de SQL brut</a:t>
                      </a:r>
                    </a:p>
                  </a:txBody>
                  <a:tcPr/>
                </a:tc>
                <a:extLst>
                  <a:ext uri="{0D108BD9-81ED-4DB2-BD59-A6C34878D82A}">
                    <a16:rowId xmlns:a16="http://schemas.microsoft.com/office/drawing/2014/main" val="10003"/>
                  </a:ext>
                </a:extLst>
              </a:tr>
              <a:tr h="293914">
                <a:tc>
                  <a:txBody>
                    <a:bodyPr/>
                    <a:lstStyle/>
                    <a:p>
                      <a:pPr>
                        <a:defRPr sz="1000">
                          <a:solidFill>
                            <a:srgbClr val="2D3A3A"/>
                          </a:solidFill>
                        </a:defRPr>
                      </a:pPr>
                      <a:r>
                        <a:t>A05 — Security Misconfiguration</a:t>
                      </a:r>
                    </a:p>
                  </a:txBody>
                  <a:tcPr/>
                </a:tc>
                <a:tc>
                  <a:txBody>
                    <a:bodyPr/>
                    <a:lstStyle/>
                    <a:p>
                      <a:pPr>
                        <a:defRPr sz="1000">
                          <a:solidFill>
                            <a:srgbClr val="2D3A3A"/>
                          </a:solidFill>
                        </a:defRPr>
                      </a:pPr>
                      <a:r>
                        <a:t>CORS whitelist, Docker non-root, erreurs génériques</a:t>
                      </a:r>
                    </a:p>
                  </a:txBody>
                  <a:tcPr/>
                </a:tc>
                <a:extLst>
                  <a:ext uri="{0D108BD9-81ED-4DB2-BD59-A6C34878D82A}">
                    <a16:rowId xmlns:a16="http://schemas.microsoft.com/office/drawing/2014/main" val="10004"/>
                  </a:ext>
                </a:extLst>
              </a:tr>
              <a:tr h="293914">
                <a:tc>
                  <a:txBody>
                    <a:bodyPr/>
                    <a:lstStyle/>
                    <a:p>
                      <a:pPr>
                        <a:defRPr sz="1000">
                          <a:solidFill>
                            <a:srgbClr val="2D3A3A"/>
                          </a:solidFill>
                        </a:defRPr>
                      </a:pPr>
                      <a:r>
                        <a:t>A07 — XSS</a:t>
                      </a:r>
                    </a:p>
                  </a:txBody>
                  <a:tcPr/>
                </a:tc>
                <a:tc>
                  <a:txBody>
                    <a:bodyPr/>
                    <a:lstStyle/>
                    <a:p>
                      <a:pPr>
                        <a:defRPr sz="1000">
                          <a:solidFill>
                            <a:srgbClr val="2D3A3A"/>
                          </a:solidFill>
                        </a:defRPr>
                      </a:pPr>
                      <a:r>
                        <a:t>API JSON only, échappement React</a:t>
                      </a:r>
                    </a:p>
                  </a:txBody>
                  <a:tcPr/>
                </a:tc>
                <a:extLst>
                  <a:ext uri="{0D108BD9-81ED-4DB2-BD59-A6C34878D82A}">
                    <a16:rowId xmlns:a16="http://schemas.microsoft.com/office/drawing/2014/main" val="10005"/>
                  </a:ext>
                </a:extLst>
              </a:tr>
              <a:tr h="293916">
                <a:tc>
                  <a:txBody>
                    <a:bodyPr/>
                    <a:lstStyle/>
                    <a:p>
                      <a:pPr>
                        <a:defRPr sz="1000">
                          <a:solidFill>
                            <a:srgbClr val="2D3A3A"/>
                          </a:solidFill>
                        </a:defRPr>
                      </a:pPr>
                      <a:r>
                        <a:t>A08 — Data Integrity</a:t>
                      </a:r>
                    </a:p>
                  </a:txBody>
                  <a:tcPr/>
                </a:tc>
                <a:tc>
                  <a:txBody>
                    <a:bodyPr/>
                    <a:lstStyle/>
                    <a:p>
                      <a:pPr>
                        <a:defRPr sz="1000">
                          <a:solidFill>
                            <a:srgbClr val="2D3A3A"/>
                          </a:solidFill>
                        </a:defRPr>
                      </a:pPr>
                      <a:r>
                        <a:t>Dependabot, versions fixées, verrou optimiste, FK/CHECK</a:t>
                      </a:r>
                    </a:p>
                  </a:txBody>
                  <a:tcPr/>
                </a:tc>
                <a:extLst>
                  <a:ext uri="{0D108BD9-81ED-4DB2-BD59-A6C34878D82A}">
                    <a16:rowId xmlns:a16="http://schemas.microsoft.com/office/drawing/2014/main" val="10006"/>
                  </a:ext>
                </a:extLst>
              </a:tr>
            </a:tbl>
          </a:graphicData>
        </a:graphic>
      </p:graphicFrame>
      <p:sp>
        <p:nvSpPr>
          <p:cNvPr id="11" name="TextBox 10"/>
          <p:cNvSpPr txBox="1"/>
          <p:nvPr/>
        </p:nvSpPr>
        <p:spPr>
          <a:xfrm>
            <a:off x="914400" y="4182465"/>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Catégories non traitées (justification)</a:t>
            </a:r>
          </a:p>
        </p:txBody>
      </p:sp>
      <p:graphicFrame>
        <p:nvGraphicFramePr>
          <p:cNvPr id="12" name="Table 11"/>
          <p:cNvGraphicFramePr>
            <a:graphicFrameLocks noGrp="1"/>
          </p:cNvGraphicFramePr>
          <p:nvPr/>
        </p:nvGraphicFramePr>
        <p:xfrm>
          <a:off x="914400" y="4917643"/>
          <a:ext cx="16002000" cy="1508760"/>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01752">
                <a:tc>
                  <a:txBody>
                    <a:bodyPr/>
                    <a:lstStyle/>
                    <a:p>
                      <a:pPr>
                        <a:defRPr sz="1000" b="1">
                          <a:solidFill>
                            <a:srgbClr val="3D5A6C"/>
                          </a:solidFill>
                        </a:defRPr>
                      </a:pPr>
                      <a:r>
                        <a:t>Catégorie</a:t>
                      </a:r>
                    </a:p>
                  </a:txBody>
                  <a:tcPr/>
                </a:tc>
                <a:tc>
                  <a:txBody>
                    <a:bodyPr/>
                    <a:lstStyle/>
                    <a:p>
                      <a:pPr>
                        <a:defRPr sz="1000" b="1">
                          <a:solidFill>
                            <a:srgbClr val="3D5A6C"/>
                          </a:solidFill>
                        </a:defRPr>
                      </a:pPr>
                      <a:r>
                        <a:t>Raison</a:t>
                      </a:r>
                    </a:p>
                  </a:txBody>
                  <a:tcPr/>
                </a:tc>
                <a:extLst>
                  <a:ext uri="{0D108BD9-81ED-4DB2-BD59-A6C34878D82A}">
                    <a16:rowId xmlns:a16="http://schemas.microsoft.com/office/drawing/2014/main" val="10000"/>
                  </a:ext>
                </a:extLst>
              </a:tr>
              <a:tr h="301752">
                <a:tc>
                  <a:txBody>
                    <a:bodyPr/>
                    <a:lstStyle/>
                    <a:p>
                      <a:pPr>
                        <a:defRPr sz="1000">
                          <a:solidFill>
                            <a:srgbClr val="2D3A3A"/>
                          </a:solidFill>
                        </a:defRPr>
                      </a:pPr>
                      <a:r>
                        <a:t>A04 — Insecure Design</a:t>
                      </a:r>
                    </a:p>
                  </a:txBody>
                  <a:tcPr/>
                </a:tc>
                <a:tc>
                  <a:txBody>
                    <a:bodyPr/>
                    <a:lstStyle/>
                    <a:p>
                      <a:pPr>
                        <a:defRPr sz="1000">
                          <a:solidFill>
                            <a:srgbClr val="2D3A3A"/>
                          </a:solidFill>
                        </a:defRPr>
                      </a:pPr>
                      <a:r>
                        <a:t>Couvert implicitement : architecture hexagonale, validation multi-couche</a:t>
                      </a:r>
                    </a:p>
                  </a:txBody>
                  <a:tcPr/>
                </a:tc>
                <a:extLst>
                  <a:ext uri="{0D108BD9-81ED-4DB2-BD59-A6C34878D82A}">
                    <a16:rowId xmlns:a16="http://schemas.microsoft.com/office/drawing/2014/main" val="10001"/>
                  </a:ext>
                </a:extLst>
              </a:tr>
              <a:tr h="301752">
                <a:tc>
                  <a:txBody>
                    <a:bodyPr/>
                    <a:lstStyle/>
                    <a:p>
                      <a:pPr>
                        <a:defRPr sz="1000">
                          <a:solidFill>
                            <a:srgbClr val="2D3A3A"/>
                          </a:solidFill>
                        </a:defRPr>
                      </a:pPr>
                      <a:r>
                        <a:t>A06 — Vulnerable Components</a:t>
                      </a:r>
                    </a:p>
                  </a:txBody>
                  <a:tcPr/>
                </a:tc>
                <a:tc>
                  <a:txBody>
                    <a:bodyPr/>
                    <a:lstStyle/>
                    <a:p>
                      <a:pPr>
                        <a:defRPr sz="1000">
                          <a:solidFill>
                            <a:srgbClr val="2D3A3A"/>
                          </a:solidFill>
                        </a:defRPr>
                      </a:pPr>
                      <a:r>
                        <a:t>Couvert par Dependabot + versionnage strict</a:t>
                      </a:r>
                    </a:p>
                  </a:txBody>
                  <a:tcPr/>
                </a:tc>
                <a:extLst>
                  <a:ext uri="{0D108BD9-81ED-4DB2-BD59-A6C34878D82A}">
                    <a16:rowId xmlns:a16="http://schemas.microsoft.com/office/drawing/2014/main" val="10002"/>
                  </a:ext>
                </a:extLst>
              </a:tr>
              <a:tr h="301752">
                <a:tc>
                  <a:txBody>
                    <a:bodyPr/>
                    <a:lstStyle/>
                    <a:p>
                      <a:pPr>
                        <a:defRPr sz="1000">
                          <a:solidFill>
                            <a:srgbClr val="2D3A3A"/>
                          </a:solidFill>
                        </a:defRPr>
                      </a:pPr>
                      <a:r>
                        <a:t>A09 — Logging Failures</a:t>
                      </a:r>
                    </a:p>
                  </a:txBody>
                  <a:tcPr/>
                </a:tc>
                <a:tc>
                  <a:txBody>
                    <a:bodyPr/>
                    <a:lstStyle/>
                    <a:p>
                      <a:pPr>
                        <a:defRPr sz="1000">
                          <a:solidFill>
                            <a:srgbClr val="2D3A3A"/>
                          </a:solidFill>
                        </a:defRPr>
                      </a:pPr>
                      <a:r>
                        <a:t>Monitoring identifié comme perspective d'évolution</a:t>
                      </a:r>
                    </a:p>
                  </a:txBody>
                  <a:tcPr/>
                </a:tc>
                <a:extLst>
                  <a:ext uri="{0D108BD9-81ED-4DB2-BD59-A6C34878D82A}">
                    <a16:rowId xmlns:a16="http://schemas.microsoft.com/office/drawing/2014/main" val="10003"/>
                  </a:ext>
                </a:extLst>
              </a:tr>
              <a:tr h="301752">
                <a:tc>
                  <a:txBody>
                    <a:bodyPr/>
                    <a:lstStyle/>
                    <a:p>
                      <a:pPr>
                        <a:defRPr sz="1000">
                          <a:solidFill>
                            <a:srgbClr val="2D3A3A"/>
                          </a:solidFill>
                        </a:defRPr>
                      </a:pPr>
                      <a:r>
                        <a:t>A10 — SSRF</a:t>
                      </a:r>
                    </a:p>
                  </a:txBody>
                  <a:tcPr/>
                </a:tc>
                <a:tc>
                  <a:txBody>
                    <a:bodyPr/>
                    <a:lstStyle/>
                    <a:p>
                      <a:pPr>
                        <a:defRPr sz="1000">
                          <a:solidFill>
                            <a:srgbClr val="2D3A3A"/>
                          </a:solidFill>
                        </a:defRPr>
                      </a:pPr>
                      <a:r>
                        <a:t>Non applicable : aucun appel HTTP sortant basé sur des données utilisateur</a:t>
                      </a:r>
                    </a:p>
                  </a:txBody>
                  <a:tcPr/>
                </a:tc>
                <a:extLst>
                  <a:ext uri="{0D108BD9-81ED-4DB2-BD59-A6C34878D82A}">
                    <a16:rowId xmlns:a16="http://schemas.microsoft.com/office/drawing/2014/main" val="10004"/>
                  </a:ext>
                </a:extLst>
              </a:tr>
            </a:tbl>
          </a:graphicData>
        </a:graphic>
      </p:graphicFrame>
      <p:sp>
        <p:nvSpPr>
          <p:cNvPr id="13" name="TextBox 12"/>
          <p:cNvSpPr txBox="1"/>
          <p:nvPr/>
        </p:nvSpPr>
        <p:spPr>
          <a:xfrm>
            <a:off x="914400" y="6536131"/>
            <a:ext cx="16002000" cy="464515"/>
          </a:xfrm>
          <a:prstGeom prst="rect">
            <a:avLst/>
          </a:prstGeom>
          <a:noFill/>
        </p:spPr>
        <p:txBody>
          <a:bodyPr wrap="square">
            <a:spAutoFit/>
          </a:bodyPr>
          <a:lstStyle/>
          <a:p>
            <a:pPr>
              <a:spcBef>
                <a:spcPts val="200"/>
              </a:spcBef>
              <a:spcAft>
                <a:spcPts val="200"/>
              </a:spcAft>
            </a:pPr>
            <a:r>
              <a:rPr sz="1300" b="1" i="0">
                <a:solidFill>
                  <a:srgbClr val="2D3A3A"/>
                </a:solidFill>
                <a:latin typeface="Calibri"/>
              </a:rPr>
              <a:t>Aucune CVE critique identifiée</a:t>
            </a:r>
            <a:r>
              <a:rPr sz="1300" b="0" i="0">
                <a:solidFill>
                  <a:srgbClr val="2D3A3A"/>
                </a:solidFill>
                <a:latin typeface="Calibri"/>
              </a:rPr>
              <a:t> sur les dépendances pendant la durée du projet.</a:t>
            </a:r>
          </a:p>
        </p:txBody>
      </p:sp>
      <p:sp>
        <p:nvSpPr>
          <p:cNvPr id="14" name="TextBox 13"/>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60</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2B5C73"/>
        </a:solidFill>
        <a:effectLst/>
      </p:bgPr>
    </p:bg>
    <p:spTree>
      <p:nvGrpSpPr>
        <p:cNvPr id="1" name=""/>
        <p:cNvGrpSpPr/>
        <p:nvPr/>
      </p:nvGrpSpPr>
      <p:grpSpPr>
        <a:xfrm>
          <a:off x="0" y="0"/>
          <a:ext cx="0" cy="0"/>
          <a:chOff x="0" y="0"/>
          <a:chExt cx="0" cy="0"/>
        </a:xfrm>
      </p:grpSpPr>
      <p:sp>
        <p:nvSpPr>
          <p:cNvPr id="2" name="TextBox 2"/>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3" name="AutoShape 3"/>
          <p:cNvSpPr/>
          <p:nvPr/>
        </p:nvSpPr>
        <p:spPr>
          <a:xfrm>
            <a:off x="-810449" y="4666508"/>
            <a:ext cx="1252888" cy="8960760"/>
          </a:xfrm>
          <a:prstGeom prst="line">
            <a:avLst/>
          </a:prstGeom>
          <a:ln w="38100" cap="flat">
            <a:solidFill>
              <a:srgbClr val="FFFFFF">
                <a:alpha val="38824"/>
              </a:srgbClr>
            </a:solidFill>
            <a:prstDash val="solid"/>
            <a:headEnd type="none" w="sm" len="sm"/>
            <a:tailEnd type="none" w="sm" len="sm"/>
          </a:ln>
        </p:spPr>
        <p:txBody>
          <a:bodyPr/>
          <a:lstStyle/>
          <a:p>
            <a:endParaRPr lang="en-US"/>
          </a:p>
        </p:txBody>
      </p:sp>
      <p:sp>
        <p:nvSpPr>
          <p:cNvPr id="4" name="AutoShape 4"/>
          <p:cNvSpPr/>
          <p:nvPr/>
        </p:nvSpPr>
        <p:spPr>
          <a:xfrm>
            <a:off x="-658049" y="4818908"/>
            <a:ext cx="1252888" cy="8960760"/>
          </a:xfrm>
          <a:prstGeom prst="line">
            <a:avLst/>
          </a:prstGeom>
          <a:ln w="38100" cap="flat">
            <a:solidFill>
              <a:srgbClr val="EC998D">
                <a:alpha val="17647"/>
              </a:srgbClr>
            </a:solidFill>
            <a:prstDash val="solid"/>
            <a:headEnd type="none" w="sm" len="sm"/>
            <a:tailEnd type="none" w="sm" len="sm"/>
          </a:ln>
        </p:spPr>
        <p:txBody>
          <a:bodyPr/>
          <a:lstStyle/>
          <a:p>
            <a:endParaRPr lang="en-US"/>
          </a:p>
        </p:txBody>
      </p:sp>
      <p:sp>
        <p:nvSpPr>
          <p:cNvPr id="5" name="TextBox 4"/>
          <p:cNvSpPr txBox="1"/>
          <p:nvPr/>
        </p:nvSpPr>
        <p:spPr>
          <a:xfrm>
            <a:off x="1828800" y="3200400"/>
            <a:ext cx="14630400" cy="3657600"/>
          </a:xfrm>
          <a:prstGeom prst="rect">
            <a:avLst/>
          </a:prstGeom>
          <a:noFill/>
        </p:spPr>
        <p:txBody>
          <a:bodyPr wrap="square">
            <a:spAutoFit/>
          </a:bodyPr>
          <a:lstStyle/>
          <a:p>
            <a:pPr algn="ctr"/>
            <a:r>
              <a:rPr sz="2800" b="1" i="0">
                <a:solidFill>
                  <a:srgbClr val="FFFFFF"/>
                </a:solidFill>
                <a:latin typeface="Calibri"/>
              </a:rPr>
              <a:t>Synthèse et conclusion</a:t>
            </a:r>
          </a:p>
        </p:txBody>
      </p:sp>
      <p:sp>
        <p:nvSpPr>
          <p:cNvPr id="6" name="TextBox 5"/>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61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7156610">
            <a:off x="10232044" y="-11742155"/>
            <a:ext cx="16786266" cy="17346124"/>
          </a:xfrm>
          <a:custGeom>
            <a:avLst/>
            <a:gdLst/>
            <a:ahLst/>
            <a:cxnLst/>
            <a:rect l="l" t="t" r="r" b="b"/>
            <a:pathLst>
              <a:path w="16786266" h="17346124">
                <a:moveTo>
                  <a:pt x="0" y="0"/>
                </a:moveTo>
                <a:lnTo>
                  <a:pt x="16786266" y="0"/>
                </a:lnTo>
                <a:lnTo>
                  <a:pt x="16786266" y="17346123"/>
                </a:lnTo>
                <a:lnTo>
                  <a:pt x="0" y="17346123"/>
                </a:lnTo>
                <a:lnTo>
                  <a:pt x="0" y="0"/>
                </a:lnTo>
                <a:close/>
              </a:path>
            </a:pathLst>
          </a:custGeom>
          <a:blipFill>
            <a:blip>
              <a:alphaModFix amt="17000"/>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4" name="Freeform 4"/>
          <p:cNvSpPr/>
          <p:nvPr/>
        </p:nvSpPr>
        <p:spPr>
          <a:xfrm rot="212015">
            <a:off x="16686336" y="-520255"/>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blip>
            <a:stretch>
              <a:fillRect/>
            </a:stretch>
          </a:blipFill>
        </p:spPr>
        <p:txBody>
          <a:bodyPr/>
          <a:lstStyle/>
          <a:p>
            <a:endParaRPr lang="en-US"/>
          </a:p>
        </p:txBody>
      </p:sp>
      <p:sp>
        <p:nvSpPr>
          <p:cNvPr id="5" name="Freeform 5"/>
          <p:cNvSpPr/>
          <p:nvPr/>
        </p:nvSpPr>
        <p:spPr>
          <a:xfrm rot="-7156610">
            <a:off x="10080395" y="-5506746"/>
            <a:ext cx="8834862" cy="9129524"/>
          </a:xfrm>
          <a:custGeom>
            <a:avLst/>
            <a:gdLst/>
            <a:ahLst/>
            <a:cxnLst/>
            <a:rect l="l" t="t" r="r" b="b"/>
            <a:pathLst>
              <a:path w="8834862" h="9129524">
                <a:moveTo>
                  <a:pt x="0" y="0"/>
                </a:moveTo>
                <a:lnTo>
                  <a:pt x="8834862" y="0"/>
                </a:lnTo>
                <a:lnTo>
                  <a:pt x="8834862" y="9129523"/>
                </a:lnTo>
                <a:lnTo>
                  <a:pt x="0" y="9129523"/>
                </a:lnTo>
                <a:lnTo>
                  <a:pt x="0" y="0"/>
                </a:lnTo>
                <a:close/>
              </a:path>
            </a:pathLst>
          </a:custGeom>
          <a:blipFill>
            <a:blip>
              <a:alphaModFix amt="14000"/>
              <a:extLst>
                <a:ext uri="{96DAC541-7B7A-43D3-8B79-37D633B846F1}">
                  <asvg:svgBlip xmlns:asvg="http://schemas.microsoft.com/office/drawing/2016/SVG/main" r:embed="rId5"/>
                </a:ext>
              </a:extLst>
            </a:blip>
            <a:stretch>
              <a:fillRect l="-1203" t="-3998" r="-1203"/>
            </a:stretch>
          </a:blipFill>
        </p:spPr>
        <p:txBody>
          <a:bodyPr/>
          <a:lstStyle/>
          <a:p>
            <a:endParaRPr lang="en-US"/>
          </a:p>
        </p:txBody>
      </p:sp>
      <p:sp>
        <p:nvSpPr>
          <p:cNvPr id="6" name="Freeform 6"/>
          <p:cNvSpPr/>
          <p:nvPr/>
        </p:nvSpPr>
        <p:spPr>
          <a:xfrm rot="8587749">
            <a:off x="-13325992" y="4200628"/>
            <a:ext cx="23401196" cy="21061076"/>
          </a:xfrm>
          <a:custGeom>
            <a:avLst/>
            <a:gdLst/>
            <a:ahLst/>
            <a:cxnLst/>
            <a:rect l="l" t="t" r="r" b="b"/>
            <a:pathLst>
              <a:path w="23401196" h="21061076">
                <a:moveTo>
                  <a:pt x="0" y="0"/>
                </a:moveTo>
                <a:lnTo>
                  <a:pt x="23401196" y="0"/>
                </a:lnTo>
                <a:lnTo>
                  <a:pt x="23401196" y="21061076"/>
                </a:lnTo>
                <a:lnTo>
                  <a:pt x="0" y="2106107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TextBox 7"/>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8" name="Freeform 8"/>
          <p:cNvSpPr/>
          <p:nvPr/>
        </p:nvSpPr>
        <p:spPr>
          <a:xfrm rot="-7156610">
            <a:off x="-7734008" y="1146609"/>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4000"/>
              <a:extLst>
                <a:ext uri="{96DAC541-7B7A-43D3-8B79-37D633B846F1}">
                  <asvg:svgBlip xmlns:asvg="http://schemas.microsoft.com/office/drawing/2016/SVG/main" r:embed="rId7"/>
                </a:ext>
              </a:extLst>
            </a:blip>
            <a:stretch>
              <a:fillRect l="-1203" t="-3998" r="-1203"/>
            </a:stretch>
          </a:blipFill>
        </p:spPr>
        <p:txBody>
          <a:bodyPr/>
          <a:lstStyle/>
          <a:p>
            <a:endParaRPr lang="en-US"/>
          </a:p>
        </p:txBody>
      </p:sp>
      <p:sp>
        <p:nvSpPr>
          <p:cNvPr id="9" name="TextBox 8"/>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Bilan et satisfactions</a:t>
            </a:r>
          </a:p>
        </p:txBody>
      </p:sp>
      <p:sp>
        <p:nvSpPr>
          <p:cNvPr id="10" name="TextBox 9"/>
          <p:cNvSpPr txBox="1"/>
          <p:nvPr/>
        </p:nvSpPr>
        <p:spPr>
          <a:xfrm>
            <a:off x="914400" y="1280160"/>
            <a:ext cx="16002000" cy="643737"/>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Chiffres clés</a:t>
            </a:r>
          </a:p>
        </p:txBody>
      </p:sp>
      <p:graphicFrame>
        <p:nvGraphicFramePr>
          <p:cNvPr id="11" name="Table 10"/>
          <p:cNvGraphicFramePr>
            <a:graphicFrameLocks noGrp="1"/>
          </p:cNvGraphicFramePr>
          <p:nvPr/>
        </p:nvGraphicFramePr>
        <p:xfrm>
          <a:off x="914400" y="2015337"/>
          <a:ext cx="16002000" cy="1783079"/>
        </p:xfrm>
        <a:graphic>
          <a:graphicData uri="http://schemas.openxmlformats.org/drawingml/2006/table">
            <a:tbl>
              <a:tblPr firstRow="1" bandRow="1">
                <a:tableStyleId>{5C22544A-7EE6-4342-B048-85BDC9FD1C3A}</a:tableStyleId>
              </a:tblPr>
              <a:tblGrid>
                <a:gridCol w="5334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5334000">
                  <a:extLst>
                    <a:ext uri="{9D8B030D-6E8A-4147-A177-3AD203B41FA5}">
                      <a16:colId xmlns:a16="http://schemas.microsoft.com/office/drawing/2014/main" val="20002"/>
                    </a:ext>
                  </a:extLst>
                </a:gridCol>
              </a:tblGrid>
              <a:tr h="297179">
                <a:tc>
                  <a:txBody>
                    <a:bodyPr/>
                    <a:lstStyle/>
                    <a:p>
                      <a:pPr>
                        <a:defRPr sz="1000" b="1">
                          <a:solidFill>
                            <a:srgbClr val="3D5A6C"/>
                          </a:solidFill>
                        </a:defRPr>
                      </a:pPr>
                      <a:endParaRPr/>
                    </a:p>
                  </a:txBody>
                  <a:tcPr/>
                </a:tc>
                <a:tc>
                  <a:txBody>
                    <a:bodyPr/>
                    <a:lstStyle/>
                    <a:p>
                      <a:pPr>
                        <a:defRPr sz="1000" b="1">
                          <a:solidFill>
                            <a:srgbClr val="3D5A6C"/>
                          </a:solidFill>
                        </a:defRPr>
                      </a:pPr>
                      <a:r>
                        <a:t>Back-end</a:t>
                      </a:r>
                    </a:p>
                  </a:txBody>
                  <a:tcPr/>
                </a:tc>
                <a:tc>
                  <a:txBody>
                    <a:bodyPr/>
                    <a:lstStyle/>
                    <a:p>
                      <a:pPr>
                        <a:defRPr sz="1000" b="1">
                          <a:solidFill>
                            <a:srgbClr val="3D5A6C"/>
                          </a:solidFill>
                        </a:defRPr>
                      </a:pPr>
                      <a:r>
                        <a:t>Front-end</a:t>
                      </a:r>
                    </a:p>
                  </a:txBody>
                  <a:tcPr/>
                </a:tc>
                <a:extLst>
                  <a:ext uri="{0D108BD9-81ED-4DB2-BD59-A6C34878D82A}">
                    <a16:rowId xmlns:a16="http://schemas.microsoft.com/office/drawing/2014/main" val="10000"/>
                  </a:ext>
                </a:extLst>
              </a:tr>
              <a:tr h="297179">
                <a:tc>
                  <a:txBody>
                    <a:bodyPr/>
                    <a:lstStyle/>
                    <a:p>
                      <a:pPr>
                        <a:defRPr sz="1000">
                          <a:solidFill>
                            <a:srgbClr val="2D3A3A"/>
                          </a:solidFill>
                        </a:defRPr>
                      </a:pPr>
                      <a:r>
                        <a:t>Endpoints / Écrans</a:t>
                      </a:r>
                    </a:p>
                  </a:txBody>
                  <a:tcPr/>
                </a:tc>
                <a:tc>
                  <a:txBody>
                    <a:bodyPr/>
                    <a:lstStyle/>
                    <a:p>
                      <a:pPr>
                        <a:defRPr sz="1000">
                          <a:solidFill>
                            <a:srgbClr val="2D3A3A"/>
                          </a:solidFill>
                        </a:defRPr>
                      </a:pPr>
                      <a:r>
                        <a:t>15 endpoints REST</a:t>
                      </a:r>
                    </a:p>
                  </a:txBody>
                  <a:tcPr/>
                </a:tc>
                <a:tc>
                  <a:txBody>
                    <a:bodyPr/>
                    <a:lstStyle/>
                    <a:p>
                      <a:pPr>
                        <a:defRPr sz="1000">
                          <a:solidFill>
                            <a:srgbClr val="2D3A3A"/>
                          </a:solidFill>
                        </a:defRPr>
                      </a:pPr>
                      <a:r>
                        <a:t>8 écrans + 6 modales</a:t>
                      </a:r>
                    </a:p>
                  </a:txBody>
                  <a:tcPr/>
                </a:tc>
                <a:extLst>
                  <a:ext uri="{0D108BD9-81ED-4DB2-BD59-A6C34878D82A}">
                    <a16:rowId xmlns:a16="http://schemas.microsoft.com/office/drawing/2014/main" val="10001"/>
                  </a:ext>
                </a:extLst>
              </a:tr>
              <a:tr h="297179">
                <a:tc>
                  <a:txBody>
                    <a:bodyPr/>
                    <a:lstStyle/>
                    <a:p>
                      <a:pPr>
                        <a:defRPr sz="1000">
                          <a:solidFill>
                            <a:srgbClr val="2D3A3A"/>
                          </a:solidFill>
                        </a:defRPr>
                      </a:pPr>
                      <a:r>
                        <a:t>Code</a:t>
                      </a:r>
                    </a:p>
                  </a:txBody>
                  <a:tcPr/>
                </a:tc>
                <a:tc>
                  <a:txBody>
                    <a:bodyPr/>
                    <a:lstStyle/>
                    <a:p>
                      <a:pPr>
                        <a:defRPr sz="1000">
                          <a:solidFill>
                            <a:srgbClr val="2D3A3A"/>
                          </a:solidFill>
                        </a:defRPr>
                      </a:pPr>
                      <a:r>
                        <a:t>~5 000 lignes Kotlin</a:t>
                      </a:r>
                    </a:p>
                  </a:txBody>
                  <a:tcPr/>
                </a:tc>
                <a:tc>
                  <a:txBody>
                    <a:bodyPr/>
                    <a:lstStyle/>
                    <a:p>
                      <a:pPr>
                        <a:defRPr sz="1000">
                          <a:solidFill>
                            <a:srgbClr val="2D3A3A"/>
                          </a:solidFill>
                        </a:defRPr>
                      </a:pPr>
                      <a:r>
                        <a:t>React 19 / TypeScript</a:t>
                      </a:r>
                    </a:p>
                  </a:txBody>
                  <a:tcPr/>
                </a:tc>
                <a:extLst>
                  <a:ext uri="{0D108BD9-81ED-4DB2-BD59-A6C34878D82A}">
                    <a16:rowId xmlns:a16="http://schemas.microsoft.com/office/drawing/2014/main" val="10002"/>
                  </a:ext>
                </a:extLst>
              </a:tr>
              <a:tr h="297179">
                <a:tc>
                  <a:txBody>
                    <a:bodyPr/>
                    <a:lstStyle/>
                    <a:p>
                      <a:pPr>
                        <a:defRPr sz="1000">
                          <a:solidFill>
                            <a:srgbClr val="2D3A3A"/>
                          </a:solidFill>
                        </a:defRPr>
                      </a:pPr>
                      <a:r>
                        <a:t>Tests</a:t>
                      </a:r>
                    </a:p>
                  </a:txBody>
                  <a:tcPr/>
                </a:tc>
                <a:tc>
                  <a:txBody>
                    <a:bodyPr/>
                    <a:lstStyle/>
                    <a:p>
                      <a:pPr>
                        <a:defRPr sz="1000">
                          <a:solidFill>
                            <a:srgbClr val="2D3A3A"/>
                          </a:solidFill>
                        </a:defRPr>
                      </a:pPr>
                      <a:r>
                        <a:t>Kotest + MockK + Testcontainers</a:t>
                      </a:r>
                    </a:p>
                  </a:txBody>
                  <a:tcPr/>
                </a:tc>
                <a:tc>
                  <a:txBody>
                    <a:bodyPr/>
                    <a:lstStyle/>
                    <a:p>
                      <a:pPr>
                        <a:defRPr sz="1000">
                          <a:solidFill>
                            <a:srgbClr val="2D3A3A"/>
                          </a:solidFill>
                        </a:defRPr>
                      </a:pPr>
                      <a:r>
                        <a:t>46 tests Vitest + 6 E2E Playwright</a:t>
                      </a:r>
                    </a:p>
                  </a:txBody>
                  <a:tcPr/>
                </a:tc>
                <a:extLst>
                  <a:ext uri="{0D108BD9-81ED-4DB2-BD59-A6C34878D82A}">
                    <a16:rowId xmlns:a16="http://schemas.microsoft.com/office/drawing/2014/main" val="10003"/>
                  </a:ext>
                </a:extLst>
              </a:tr>
              <a:tr h="297179">
                <a:tc>
                  <a:txBody>
                    <a:bodyPr/>
                    <a:lstStyle/>
                    <a:p>
                      <a:pPr>
                        <a:defRPr sz="1000">
                          <a:solidFill>
                            <a:srgbClr val="2D3A3A"/>
                          </a:solidFill>
                        </a:defRPr>
                      </a:pPr>
                      <a:r>
                        <a:t>CI/CD</a:t>
                      </a:r>
                    </a:p>
                  </a:txBody>
                  <a:tcPr/>
                </a:tc>
                <a:tc>
                  <a:txBody>
                    <a:bodyPr/>
                    <a:lstStyle/>
                    <a:p>
                      <a:pPr>
                        <a:defRPr sz="1000">
                          <a:solidFill>
                            <a:srgbClr val="2D3A3A"/>
                          </a:solidFill>
                        </a:defRPr>
                      </a:pPr>
                      <a:r>
                        <a:t>Detekt → Tests → Render</a:t>
                      </a:r>
                    </a:p>
                  </a:txBody>
                  <a:tcPr/>
                </a:tc>
                <a:tc>
                  <a:txBody>
                    <a:bodyPr/>
                    <a:lstStyle/>
                    <a:p>
                      <a:pPr>
                        <a:defRPr sz="1000">
                          <a:solidFill>
                            <a:srgbClr val="2D3A3A"/>
                          </a:solidFill>
                        </a:defRPr>
                      </a:pPr>
                      <a:r>
                        <a:t>ESLint → Tests → Docker → Vercel</a:t>
                      </a:r>
                    </a:p>
                  </a:txBody>
                  <a:tcPr/>
                </a:tc>
                <a:extLst>
                  <a:ext uri="{0D108BD9-81ED-4DB2-BD59-A6C34878D82A}">
                    <a16:rowId xmlns:a16="http://schemas.microsoft.com/office/drawing/2014/main" val="10004"/>
                  </a:ext>
                </a:extLst>
              </a:tr>
              <a:tr h="297184">
                <a:tc>
                  <a:txBody>
                    <a:bodyPr/>
                    <a:lstStyle/>
                    <a:p>
                      <a:pPr>
                        <a:defRPr sz="1000">
                          <a:solidFill>
                            <a:srgbClr val="2D3A3A"/>
                          </a:solidFill>
                        </a:defRPr>
                      </a:pPr>
                      <a:r>
                        <a:t>Dépendances</a:t>
                      </a:r>
                    </a:p>
                  </a:txBody>
                  <a:tcPr/>
                </a:tc>
                <a:tc>
                  <a:txBody>
                    <a:bodyPr/>
                    <a:lstStyle/>
                    <a:p>
                      <a:pPr>
                        <a:defRPr sz="1000">
                          <a:solidFill>
                            <a:srgbClr val="2D3A3A"/>
                          </a:solidFill>
                        </a:defRPr>
                      </a:pPr>
                      <a:r>
                        <a:t>Kotlin, Ktor, Exposed, Arrow</a:t>
                      </a:r>
                    </a:p>
                  </a:txBody>
                  <a:tcPr/>
                </a:tc>
                <a:tc>
                  <a:txBody>
                    <a:bodyPr/>
                    <a:lstStyle/>
                    <a:p>
                      <a:pPr>
                        <a:defRPr sz="1000">
                          <a:solidFill>
                            <a:srgbClr val="2D3A3A"/>
                          </a:solidFill>
                        </a:defRPr>
                      </a:pPr>
                      <a:r>
                        <a:t>3 deps prod (React, Router, Supabase)</a:t>
                      </a:r>
                    </a:p>
                  </a:txBody>
                  <a:tcPr/>
                </a:tc>
                <a:extLst>
                  <a:ext uri="{0D108BD9-81ED-4DB2-BD59-A6C34878D82A}">
                    <a16:rowId xmlns:a16="http://schemas.microsoft.com/office/drawing/2014/main" val="10005"/>
                  </a:ext>
                </a:extLst>
              </a:tr>
            </a:tbl>
          </a:graphicData>
        </a:graphic>
      </p:graphicFrame>
      <p:sp>
        <p:nvSpPr>
          <p:cNvPr id="12" name="TextBox 11"/>
          <p:cNvSpPr txBox="1"/>
          <p:nvPr/>
        </p:nvSpPr>
        <p:spPr>
          <a:xfrm>
            <a:off x="914400" y="3908145"/>
            <a:ext cx="16002000" cy="2051913"/>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Satisfactions</a:t>
            </a:r>
          </a:p>
          <a:p>
            <a:pPr>
              <a:spcBef>
                <a:spcPts val="200"/>
              </a:spcBef>
              <a:spcAft>
                <a:spcPts val="200"/>
              </a:spcAft>
            </a:pPr>
            <a:r>
              <a:rPr sz="1300" b="0" i="0">
                <a:solidFill>
                  <a:srgbClr val="2D3A3A"/>
                </a:solidFill>
                <a:latin typeface="Calibri"/>
              </a:rPr>
              <a:t>• </a:t>
            </a:r>
            <a:r>
              <a:rPr sz="1300" b="1" i="0">
                <a:solidFill>
                  <a:srgbClr val="2D3A3A"/>
                </a:solidFill>
                <a:latin typeface="Calibri"/>
              </a:rPr>
              <a:t>Architecture hexagonale</a:t>
            </a:r>
            <a:r>
              <a:rPr sz="1300" b="0" i="0">
                <a:solidFill>
                  <a:srgbClr val="2D3A3A"/>
                </a:solidFill>
                <a:latin typeface="Calibri"/>
              </a:rPr>
              <a:t> : testabilité, évolutivité, lisibilité</a:t>
            </a:r>
          </a:p>
          <a:p>
            <a:pPr>
              <a:spcBef>
                <a:spcPts val="200"/>
              </a:spcBef>
              <a:spcAft>
                <a:spcPts val="200"/>
              </a:spcAft>
            </a:pPr>
            <a:r>
              <a:rPr sz="1300" b="0" i="0">
                <a:solidFill>
                  <a:srgbClr val="2D3A3A"/>
                </a:solidFill>
                <a:latin typeface="Calibri"/>
              </a:rPr>
              <a:t>• </a:t>
            </a:r>
            <a:r>
              <a:rPr sz="1300" b="1" i="0">
                <a:solidFill>
                  <a:srgbClr val="2D3A3A"/>
                </a:solidFill>
                <a:latin typeface="Calibri"/>
              </a:rPr>
              <a:t>Arrow Either</a:t>
            </a:r>
            <a:r>
              <a:rPr sz="1300" b="0" i="0">
                <a:solidFill>
                  <a:srgbClr val="2D3A3A"/>
                </a:solidFill>
                <a:latin typeface="Calibri"/>
              </a:rPr>
              <a:t> : gestion fonctionnelle des erreurs, composabilité, traçabilité</a:t>
            </a:r>
          </a:p>
          <a:p>
            <a:pPr>
              <a:spcBef>
                <a:spcPts val="200"/>
              </a:spcBef>
              <a:spcAft>
                <a:spcPts val="200"/>
              </a:spcAft>
            </a:pPr>
            <a:r>
              <a:rPr sz="1300" b="0" i="0">
                <a:solidFill>
                  <a:srgbClr val="2D3A3A"/>
                </a:solidFill>
                <a:latin typeface="Calibri"/>
              </a:rPr>
              <a:t>• </a:t>
            </a:r>
            <a:r>
              <a:rPr sz="1300" b="1" i="0">
                <a:solidFill>
                  <a:srgbClr val="2D3A3A"/>
                </a:solidFill>
                <a:latin typeface="Calibri"/>
              </a:rPr>
              <a:t>Verrou optimiste</a:t>
            </a:r>
            <a:r>
              <a:rPr sz="1300" b="0" i="0">
                <a:solidFill>
                  <a:srgbClr val="2D3A3A"/>
                </a:solidFill>
                <a:latin typeface="Calibri"/>
              </a:rPr>
              <a:t> : gestion d'un problème de concurrence réel</a:t>
            </a:r>
          </a:p>
          <a:p>
            <a:pPr>
              <a:spcBef>
                <a:spcPts val="200"/>
              </a:spcBef>
              <a:spcAft>
                <a:spcPts val="200"/>
              </a:spcAft>
            </a:pPr>
            <a:r>
              <a:rPr sz="1300" b="0" i="0">
                <a:solidFill>
                  <a:srgbClr val="2D3A3A"/>
                </a:solidFill>
                <a:latin typeface="Calibri"/>
              </a:rPr>
              <a:t>• </a:t>
            </a:r>
            <a:r>
              <a:rPr sz="1300" b="1" i="0">
                <a:solidFill>
                  <a:srgbClr val="2D3A3A"/>
                </a:solidFill>
                <a:latin typeface="Calibri"/>
              </a:rPr>
              <a:t>Clean Architecture front-end</a:t>
            </a:r>
            <a:r>
              <a:rPr sz="1300" b="0" i="0">
                <a:solidFill>
                  <a:srgbClr val="2D3A3A"/>
                </a:solidFill>
                <a:latin typeface="Calibri"/>
              </a:rPr>
              <a:t> : cohérence architecturale back/front</a:t>
            </a:r>
          </a:p>
          <a:p>
            <a:pPr>
              <a:spcBef>
                <a:spcPts val="200"/>
              </a:spcBef>
              <a:spcAft>
                <a:spcPts val="200"/>
              </a:spcAft>
            </a:pPr>
            <a:r>
              <a:rPr sz="1300" b="0" i="0">
                <a:solidFill>
                  <a:srgbClr val="2D3A3A"/>
                </a:solidFill>
                <a:latin typeface="Calibri"/>
              </a:rPr>
              <a:t>• </a:t>
            </a:r>
            <a:r>
              <a:rPr sz="1300" b="1" i="0">
                <a:solidFill>
                  <a:srgbClr val="2D3A3A"/>
                </a:solidFill>
                <a:latin typeface="Calibri"/>
              </a:rPr>
              <a:t>CI/CD complet</a:t>
            </a:r>
            <a:r>
              <a:rPr sz="1300" b="0" i="0">
                <a:solidFill>
                  <a:srgbClr val="2D3A3A"/>
                </a:solidFill>
                <a:latin typeface="Calibri"/>
              </a:rPr>
              <a:t> : filet de sécurité à chaque push</a:t>
            </a:r>
          </a:p>
        </p:txBody>
      </p:sp>
      <p:sp>
        <p:nvSpPr>
          <p:cNvPr id="13" name="TextBox 12"/>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62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273434" y="8114689"/>
            <a:ext cx="2870662" cy="2735572"/>
          </a:xfrm>
          <a:custGeom>
            <a:avLst/>
            <a:gdLst/>
            <a:ahLst/>
            <a:cxnLst/>
            <a:rect l="l" t="t" r="r" b="b"/>
            <a:pathLst>
              <a:path w="2870662" h="2735572">
                <a:moveTo>
                  <a:pt x="0" y="0"/>
                </a:moveTo>
                <a:lnTo>
                  <a:pt x="2870663" y="0"/>
                </a:lnTo>
                <a:lnTo>
                  <a:pt x="2870663" y="2735572"/>
                </a:lnTo>
                <a:lnTo>
                  <a:pt x="0" y="27355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7156610">
            <a:off x="10232044" y="-11742155"/>
            <a:ext cx="16786266" cy="17346124"/>
          </a:xfrm>
          <a:custGeom>
            <a:avLst/>
            <a:gdLst/>
            <a:ahLst/>
            <a:cxnLst/>
            <a:rect l="l" t="t" r="r" b="b"/>
            <a:pathLst>
              <a:path w="16786266" h="17346124">
                <a:moveTo>
                  <a:pt x="0" y="0"/>
                </a:moveTo>
                <a:lnTo>
                  <a:pt x="16786266" y="0"/>
                </a:lnTo>
                <a:lnTo>
                  <a:pt x="16786266" y="17346123"/>
                </a:lnTo>
                <a:lnTo>
                  <a:pt x="0" y="17346123"/>
                </a:lnTo>
                <a:lnTo>
                  <a:pt x="0" y="0"/>
                </a:lnTo>
                <a:close/>
              </a:path>
            </a:pathLst>
          </a:custGeom>
          <a:blipFill>
            <a:blip>
              <a:alphaModFix amt="17000"/>
              <a:extLst>
                <a:ext uri="{96DAC541-7B7A-43D3-8B79-37D633B846F1}">
                  <asvg:svgBlip xmlns:asvg="http://schemas.microsoft.com/office/drawing/2016/SVG/main" r:embed="rId4"/>
                </a:ext>
              </a:extLst>
            </a:blip>
            <a:stretch>
              <a:fillRect l="-1203" t="-3998" r="-1203"/>
            </a:stretch>
          </a:blipFill>
        </p:spPr>
        <p:txBody>
          <a:bodyPr/>
          <a:lstStyle/>
          <a:p>
            <a:endParaRPr lang="en-US"/>
          </a:p>
        </p:txBody>
      </p:sp>
      <p:sp>
        <p:nvSpPr>
          <p:cNvPr id="4" name="Freeform 4"/>
          <p:cNvSpPr/>
          <p:nvPr/>
        </p:nvSpPr>
        <p:spPr>
          <a:xfrm rot="212015">
            <a:off x="16686336" y="-520255"/>
            <a:ext cx="6318180" cy="1355537"/>
          </a:xfrm>
          <a:custGeom>
            <a:avLst/>
            <a:gdLst/>
            <a:ahLst/>
            <a:cxnLst/>
            <a:rect l="l" t="t" r="r" b="b"/>
            <a:pathLst>
              <a:path w="6318180" h="1355537">
                <a:moveTo>
                  <a:pt x="0" y="0"/>
                </a:moveTo>
                <a:lnTo>
                  <a:pt x="6318180" y="0"/>
                </a:lnTo>
                <a:lnTo>
                  <a:pt x="6318180" y="1355537"/>
                </a:lnTo>
                <a:lnTo>
                  <a:pt x="0" y="1355537"/>
                </a:lnTo>
                <a:lnTo>
                  <a:pt x="0" y="0"/>
                </a:lnTo>
                <a:close/>
              </a:path>
            </a:pathLst>
          </a:custGeom>
          <a:blipFill>
            <a:blip>
              <a:alphaModFix amt="31999"/>
            </a:blip>
            <a:stretch>
              <a:fillRect/>
            </a:stretch>
          </a:blipFill>
        </p:spPr>
        <p:txBody>
          <a:bodyPr/>
          <a:lstStyle/>
          <a:p>
            <a:endParaRPr lang="en-US"/>
          </a:p>
        </p:txBody>
      </p:sp>
      <p:sp>
        <p:nvSpPr>
          <p:cNvPr id="5" name="Freeform 5"/>
          <p:cNvSpPr/>
          <p:nvPr/>
        </p:nvSpPr>
        <p:spPr>
          <a:xfrm rot="-7156610">
            <a:off x="10080395" y="-5506746"/>
            <a:ext cx="8834862" cy="9129524"/>
          </a:xfrm>
          <a:custGeom>
            <a:avLst/>
            <a:gdLst/>
            <a:ahLst/>
            <a:cxnLst/>
            <a:rect l="l" t="t" r="r" b="b"/>
            <a:pathLst>
              <a:path w="8834862" h="9129524">
                <a:moveTo>
                  <a:pt x="0" y="0"/>
                </a:moveTo>
                <a:lnTo>
                  <a:pt x="8834862" y="0"/>
                </a:lnTo>
                <a:lnTo>
                  <a:pt x="8834862" y="9129523"/>
                </a:lnTo>
                <a:lnTo>
                  <a:pt x="0" y="9129523"/>
                </a:lnTo>
                <a:lnTo>
                  <a:pt x="0" y="0"/>
                </a:lnTo>
                <a:close/>
              </a:path>
            </a:pathLst>
          </a:custGeom>
          <a:blipFill>
            <a:blip>
              <a:alphaModFix amt="14000"/>
              <a:extLst>
                <a:ext uri="{96DAC541-7B7A-43D3-8B79-37D633B846F1}">
                  <asvg:svgBlip xmlns:asvg="http://schemas.microsoft.com/office/drawing/2016/SVG/main" r:embed="rId5"/>
                </a:ext>
              </a:extLst>
            </a:blip>
            <a:stretch>
              <a:fillRect l="-1203" t="-3998" r="-1203"/>
            </a:stretch>
          </a:blipFill>
        </p:spPr>
        <p:txBody>
          <a:bodyPr/>
          <a:lstStyle/>
          <a:p>
            <a:endParaRPr lang="en-US"/>
          </a:p>
        </p:txBody>
      </p:sp>
      <p:sp>
        <p:nvSpPr>
          <p:cNvPr id="6" name="Freeform 6"/>
          <p:cNvSpPr/>
          <p:nvPr/>
        </p:nvSpPr>
        <p:spPr>
          <a:xfrm rot="8587749">
            <a:off x="-13325992" y="4200628"/>
            <a:ext cx="23401196" cy="21061076"/>
          </a:xfrm>
          <a:custGeom>
            <a:avLst/>
            <a:gdLst/>
            <a:ahLst/>
            <a:cxnLst/>
            <a:rect l="l" t="t" r="r" b="b"/>
            <a:pathLst>
              <a:path w="23401196" h="21061076">
                <a:moveTo>
                  <a:pt x="0" y="0"/>
                </a:moveTo>
                <a:lnTo>
                  <a:pt x="23401196" y="0"/>
                </a:lnTo>
                <a:lnTo>
                  <a:pt x="23401196" y="21061076"/>
                </a:lnTo>
                <a:lnTo>
                  <a:pt x="0" y="2106107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TextBox 7"/>
          <p:cNvSpPr txBox="1"/>
          <p:nvPr/>
        </p:nvSpPr>
        <p:spPr>
          <a:xfrm>
            <a:off x="13353522" y="9818051"/>
            <a:ext cx="4610477" cy="274264"/>
          </a:xfrm>
          <a:prstGeom prst="rect">
            <a:avLst/>
          </a:prstGeom>
        </p:spPr>
        <p:txBody>
          <a:bodyPr lIns="0" tIns="0" rIns="0" bIns="0" rtlCol="0" anchor="t">
            <a:spAutoFit/>
          </a:bodyPr>
          <a:lstStyle/>
          <a:p>
            <a:pPr algn="ctr">
              <a:lnSpc>
                <a:spcPts val="2203"/>
              </a:lnSpc>
            </a:pPr>
            <a:r>
              <a:rPr lang="en-US" sz="1573">
                <a:solidFill>
                  <a:srgbClr val="000000">
                    <a:alpha val="49804"/>
                  </a:srgbClr>
                </a:solidFill>
                <a:latin typeface="Neue Einstellung"/>
                <a:ea typeface="Neue Einstellung"/>
                <a:cs typeface="Neue Einstellung"/>
                <a:sym typeface="Neue Einstellung"/>
              </a:rPr>
              <a:t>CONFIDENTIAL DOCUMENT</a:t>
            </a:r>
          </a:p>
        </p:txBody>
      </p:sp>
      <p:sp>
        <p:nvSpPr>
          <p:cNvPr id="8" name="Freeform 8"/>
          <p:cNvSpPr/>
          <p:nvPr/>
        </p:nvSpPr>
        <p:spPr>
          <a:xfrm rot="-7156610">
            <a:off x="-7734008" y="1146609"/>
            <a:ext cx="8834862" cy="9129524"/>
          </a:xfrm>
          <a:custGeom>
            <a:avLst/>
            <a:gdLst/>
            <a:ahLst/>
            <a:cxnLst/>
            <a:rect l="l" t="t" r="r" b="b"/>
            <a:pathLst>
              <a:path w="8834862" h="9129524">
                <a:moveTo>
                  <a:pt x="0" y="0"/>
                </a:moveTo>
                <a:lnTo>
                  <a:pt x="8834862" y="0"/>
                </a:lnTo>
                <a:lnTo>
                  <a:pt x="8834862" y="9129524"/>
                </a:lnTo>
                <a:lnTo>
                  <a:pt x="0" y="9129524"/>
                </a:lnTo>
                <a:lnTo>
                  <a:pt x="0" y="0"/>
                </a:lnTo>
                <a:close/>
              </a:path>
            </a:pathLst>
          </a:custGeom>
          <a:blipFill>
            <a:blip>
              <a:alphaModFix amt="14000"/>
              <a:extLst>
                <a:ext uri="{96DAC541-7B7A-43D3-8B79-37D633B846F1}">
                  <asvg:svgBlip xmlns:asvg="http://schemas.microsoft.com/office/drawing/2016/SVG/main" r:embed="rId7"/>
                </a:ext>
              </a:extLst>
            </a:blip>
            <a:stretch>
              <a:fillRect l="-1203" t="-3998" r="-1203"/>
            </a:stretch>
          </a:blipFill>
        </p:spPr>
        <p:txBody>
          <a:bodyPr/>
          <a:lstStyle/>
          <a:p>
            <a:endParaRPr lang="en-US"/>
          </a:p>
        </p:txBody>
      </p:sp>
      <p:sp>
        <p:nvSpPr>
          <p:cNvPr id="9" name="TextBox 8"/>
          <p:cNvSpPr txBox="1"/>
          <p:nvPr/>
        </p:nvSpPr>
        <p:spPr>
          <a:xfrm>
            <a:off x="914400" y="274320"/>
            <a:ext cx="10972800" cy="640080"/>
          </a:xfrm>
          <a:prstGeom prst="rect">
            <a:avLst/>
          </a:prstGeom>
          <a:noFill/>
        </p:spPr>
        <p:txBody>
          <a:bodyPr wrap="square">
            <a:spAutoFit/>
          </a:bodyPr>
          <a:lstStyle/>
          <a:p>
            <a:pPr algn="l"/>
            <a:r>
              <a:rPr sz="2200" b="1" i="0">
                <a:solidFill>
                  <a:srgbClr val="3D5A6C"/>
                </a:solidFill>
                <a:latin typeface="Calibri"/>
              </a:rPr>
              <a:t>Difficultés et perspectives</a:t>
            </a:r>
          </a:p>
        </p:txBody>
      </p:sp>
      <p:sp>
        <p:nvSpPr>
          <p:cNvPr id="10" name="TextBox 9"/>
          <p:cNvSpPr txBox="1"/>
          <p:nvPr/>
        </p:nvSpPr>
        <p:spPr>
          <a:xfrm>
            <a:off x="914400" y="1280160"/>
            <a:ext cx="16002000" cy="1949500"/>
          </a:xfrm>
          <a:prstGeom prst="rect">
            <a:avLst/>
          </a:prstGeom>
          <a:noFill/>
        </p:spPr>
        <p:txBody>
          <a:bodyPr wrap="square">
            <a:spAutoFit/>
          </a:bodyPr>
          <a:lstStyle/>
          <a:p>
            <a:pPr>
              <a:spcBef>
                <a:spcPts val="800"/>
              </a:spcBef>
              <a:spcAft>
                <a:spcPts val="200"/>
              </a:spcAft>
            </a:pPr>
            <a:r>
              <a:rPr sz="1400" b="1" i="0">
                <a:solidFill>
                  <a:srgbClr val="3D5A6C"/>
                </a:solidFill>
                <a:latin typeface="Calibri"/>
              </a:rPr>
              <a:t>Difficultés rencontrées</a:t>
            </a:r>
          </a:p>
          <a:p>
            <a:pPr>
              <a:spcBef>
                <a:spcPts val="200"/>
              </a:spcBef>
              <a:spcAft>
                <a:spcPts val="200"/>
              </a:spcAft>
            </a:pPr>
            <a:r>
              <a:rPr sz="1300" b="0" i="0">
                <a:solidFill>
                  <a:srgbClr val="2D3A3A"/>
                </a:solidFill>
                <a:latin typeface="Calibri"/>
              </a:rPr>
              <a:t>• </a:t>
            </a:r>
            <a:r>
              <a:rPr sz="1300" b="1" i="0">
                <a:solidFill>
                  <a:srgbClr val="2D3A3A"/>
                </a:solidFill>
                <a:latin typeface="Calibri"/>
              </a:rPr>
              <a:t>Concurrence</a:t>
            </a:r>
            <a:r>
              <a:rPr sz="1300" b="0" i="0">
                <a:solidFill>
                  <a:srgbClr val="2D3A3A"/>
                </a:solidFill>
                <a:latin typeface="Calibri"/>
              </a:rPr>
              <a:t> : propager la </a:t>
            </a:r>
            <a:r>
              <a:rPr sz="1300" b="0" i="0">
                <a:solidFill>
                  <a:srgbClr val="2D3A3A"/>
                </a:solidFill>
                <a:latin typeface="Consolas"/>
              </a:rPr>
              <a:t>version</a:t>
            </a:r>
            <a:r>
              <a:rPr sz="1300" b="0" i="0">
                <a:solidFill>
                  <a:srgbClr val="2D3A3A"/>
                </a:solidFill>
                <a:latin typeface="Calibri"/>
              </a:rPr>
              <a:t> à travers toutes les couches (Repository → UseCase → Endpoint → 409)</a:t>
            </a:r>
          </a:p>
          <a:p>
            <a:pPr>
              <a:spcBef>
                <a:spcPts val="200"/>
              </a:spcBef>
              <a:spcAft>
                <a:spcPts val="200"/>
              </a:spcAft>
            </a:pPr>
            <a:r>
              <a:rPr sz="1300" b="0" i="0">
                <a:solidFill>
                  <a:srgbClr val="2D3A3A"/>
                </a:solidFill>
                <a:latin typeface="Calibri"/>
              </a:rPr>
              <a:t>• </a:t>
            </a:r>
            <a:r>
              <a:rPr sz="1300" b="1" i="0">
                <a:solidFill>
                  <a:srgbClr val="2D3A3A"/>
                </a:solidFill>
                <a:latin typeface="Calibri"/>
              </a:rPr>
              <a:t>Suppression en cascade</a:t>
            </a:r>
            <a:r>
              <a:rPr sz="1300" b="0" i="0">
                <a:solidFill>
                  <a:srgbClr val="2D3A3A"/>
                </a:solidFill>
                <a:latin typeface="Calibri"/>
              </a:rPr>
              <a:t> : ordre imposé par les FK (contributions → ressources → participants → événement)</a:t>
            </a:r>
          </a:p>
          <a:p>
            <a:pPr>
              <a:spcBef>
                <a:spcPts val="200"/>
              </a:spcBef>
              <a:spcAft>
                <a:spcPts val="200"/>
              </a:spcAft>
            </a:pPr>
            <a:r>
              <a:rPr sz="1300" b="0" i="0">
                <a:solidFill>
                  <a:srgbClr val="2D3A3A"/>
                </a:solidFill>
                <a:latin typeface="Calibri"/>
              </a:rPr>
              <a:t>• </a:t>
            </a:r>
            <a:r>
              <a:rPr sz="1300" b="1" i="0">
                <a:solidFill>
                  <a:srgbClr val="2D3A3A"/>
                </a:solidFill>
                <a:latin typeface="Calibri"/>
              </a:rPr>
              <a:t>SSL Raspberry Pi</a:t>
            </a:r>
            <a:r>
              <a:rPr sz="1300" b="0" i="0">
                <a:solidFill>
                  <a:srgbClr val="2D3A3A"/>
                </a:solidFill>
                <a:latin typeface="Calibri"/>
              </a:rPr>
              <a:t> : tunnel Cloudflare + certificats PostgreSQL → centralisation des secrets en env vars</a:t>
            </a:r>
          </a:p>
          <a:p>
            <a:pPr>
              <a:spcBef>
                <a:spcPts val="800"/>
              </a:spcBef>
              <a:spcAft>
                <a:spcPts val="200"/>
              </a:spcAft>
            </a:pPr>
            <a:r>
              <a:rPr sz="1400" b="1" i="0">
                <a:solidFill>
                  <a:srgbClr val="3D5A6C"/>
                </a:solidFill>
                <a:latin typeface="Calibri"/>
              </a:rPr>
              <a:t>Perspectives d'évolution</a:t>
            </a:r>
          </a:p>
        </p:txBody>
      </p:sp>
      <p:graphicFrame>
        <p:nvGraphicFramePr>
          <p:cNvPr id="11" name="Table 10"/>
          <p:cNvGraphicFramePr>
            <a:graphicFrameLocks noGrp="1"/>
          </p:cNvGraphicFramePr>
          <p:nvPr/>
        </p:nvGraphicFramePr>
        <p:xfrm>
          <a:off x="914400" y="3321100"/>
          <a:ext cx="16002000" cy="1783079"/>
        </p:xfrm>
        <a:graphic>
          <a:graphicData uri="http://schemas.openxmlformats.org/drawingml/2006/table">
            <a:tbl>
              <a:tblPr firstRow="1" bandRow="1">
                <a:tableStyleId>{5C22544A-7EE6-4342-B048-85BDC9FD1C3A}</a:tableStyleId>
              </a:tblPr>
              <a:tblGrid>
                <a:gridCol w="8001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297179">
                <a:tc>
                  <a:txBody>
                    <a:bodyPr/>
                    <a:lstStyle/>
                    <a:p>
                      <a:pPr>
                        <a:defRPr sz="1000" b="1">
                          <a:solidFill>
                            <a:srgbClr val="3D5A6C"/>
                          </a:solidFill>
                        </a:defRPr>
                      </a:pPr>
                      <a:r>
                        <a:t>Évolution</a:t>
                      </a:r>
                    </a:p>
                  </a:txBody>
                  <a:tcPr/>
                </a:tc>
                <a:tc>
                  <a:txBody>
                    <a:bodyPr/>
                    <a:lstStyle/>
                    <a:p>
                      <a:pPr>
                        <a:defRPr sz="1000" b="1">
                          <a:solidFill>
                            <a:srgbClr val="3D5A6C"/>
                          </a:solidFill>
                        </a:defRPr>
                      </a:pPr>
                      <a:r>
                        <a:t>Description</a:t>
                      </a:r>
                    </a:p>
                  </a:txBody>
                  <a:tcPr/>
                </a:tc>
                <a:extLst>
                  <a:ext uri="{0D108BD9-81ED-4DB2-BD59-A6C34878D82A}">
                    <a16:rowId xmlns:a16="http://schemas.microsoft.com/office/drawing/2014/main" val="10000"/>
                  </a:ext>
                </a:extLst>
              </a:tr>
              <a:tr h="297179">
                <a:tc>
                  <a:txBody>
                    <a:bodyPr/>
                    <a:lstStyle/>
                    <a:p>
                      <a:pPr>
                        <a:defRPr sz="1000">
                          <a:solidFill>
                            <a:srgbClr val="2D3A3A"/>
                          </a:solidFill>
                        </a:defRPr>
                      </a:pPr>
                      <a:r>
                        <a:t>Application mobile</a:t>
                      </a:r>
                    </a:p>
                  </a:txBody>
                  <a:tcPr/>
                </a:tc>
                <a:tc>
                  <a:txBody>
                    <a:bodyPr/>
                    <a:lstStyle/>
                    <a:p>
                      <a:pPr>
                        <a:defRPr sz="1000">
                          <a:solidFill>
                            <a:srgbClr val="2D3A3A"/>
                          </a:solidFill>
                        </a:defRPr>
                      </a:pPr>
                      <a:r>
                        <a:t>Client natif ou cross-platform</a:t>
                      </a:r>
                    </a:p>
                  </a:txBody>
                  <a:tcPr/>
                </a:tc>
                <a:extLst>
                  <a:ext uri="{0D108BD9-81ED-4DB2-BD59-A6C34878D82A}">
                    <a16:rowId xmlns:a16="http://schemas.microsoft.com/office/drawing/2014/main" val="10001"/>
                  </a:ext>
                </a:extLst>
              </a:tr>
              <a:tr h="297179">
                <a:tc>
                  <a:txBody>
                    <a:bodyPr/>
                    <a:lstStyle/>
                    <a:p>
                      <a:pPr>
                        <a:defRPr sz="1000">
                          <a:solidFill>
                            <a:srgbClr val="2D3A3A"/>
                          </a:solidFill>
                        </a:defRPr>
                      </a:pPr>
                      <a:r>
                        <a:t>Notifications temps réel</a:t>
                      </a:r>
                    </a:p>
                  </a:txBody>
                  <a:tcPr/>
                </a:tc>
                <a:tc>
                  <a:txBody>
                    <a:bodyPr/>
                    <a:lstStyle/>
                    <a:p>
                      <a:pPr>
                        <a:defRPr sz="1000">
                          <a:solidFill>
                            <a:srgbClr val="2D3A3A"/>
                          </a:solidFill>
                        </a:defRPr>
                      </a:pPr>
                      <a:r>
                        <a:t>WebSocket ou SSE</a:t>
                      </a:r>
                    </a:p>
                  </a:txBody>
                  <a:tcPr/>
                </a:tc>
                <a:extLst>
                  <a:ext uri="{0D108BD9-81ED-4DB2-BD59-A6C34878D82A}">
                    <a16:rowId xmlns:a16="http://schemas.microsoft.com/office/drawing/2014/main" val="10002"/>
                  </a:ext>
                </a:extLst>
              </a:tr>
              <a:tr h="297179">
                <a:tc>
                  <a:txBody>
                    <a:bodyPr/>
                    <a:lstStyle/>
                    <a:p>
                      <a:pPr>
                        <a:defRPr sz="1000">
                          <a:solidFill>
                            <a:srgbClr val="2D3A3A"/>
                          </a:solidFill>
                        </a:defRPr>
                      </a:pPr>
                      <a:r>
                        <a:t>NoSQL</a:t>
                      </a:r>
                    </a:p>
                  </a:txBody>
                  <a:tcPr/>
                </a:tc>
                <a:tc>
                  <a:txBody>
                    <a:bodyPr/>
                    <a:lstStyle/>
                    <a:p>
                      <a:pPr>
                        <a:defRPr sz="1000">
                          <a:solidFill>
                            <a:srgbClr val="2D3A3A"/>
                          </a:solidFill>
                        </a:defRPr>
                      </a:pPr>
                      <a:r>
                        <a:t>Logs d'activité, historique contributions</a:t>
                      </a:r>
                    </a:p>
                  </a:txBody>
                  <a:tcPr/>
                </a:tc>
                <a:extLst>
                  <a:ext uri="{0D108BD9-81ED-4DB2-BD59-A6C34878D82A}">
                    <a16:rowId xmlns:a16="http://schemas.microsoft.com/office/drawing/2014/main" val="10003"/>
                  </a:ext>
                </a:extLst>
              </a:tr>
              <a:tr h="297179">
                <a:tc>
                  <a:txBody>
                    <a:bodyPr/>
                    <a:lstStyle/>
                    <a:p>
                      <a:pPr>
                        <a:defRPr sz="1000">
                          <a:solidFill>
                            <a:srgbClr val="2D3A3A"/>
                          </a:solidFill>
                        </a:defRPr>
                      </a:pPr>
                      <a:r>
                        <a:t>Tests intégration en CI</a:t>
                      </a:r>
                    </a:p>
                  </a:txBody>
                  <a:tcPr/>
                </a:tc>
                <a:tc>
                  <a:txBody>
                    <a:bodyPr/>
                    <a:lstStyle/>
                    <a:p>
                      <a:pPr>
                        <a:defRPr sz="1000">
                          <a:solidFill>
                            <a:srgbClr val="2D3A3A"/>
                          </a:solidFill>
                        </a:defRPr>
                      </a:pPr>
                      <a:r>
                        <a:t>Testcontainers dans GitHub Actions</a:t>
                      </a:r>
                    </a:p>
                  </a:txBody>
                  <a:tcPr/>
                </a:tc>
                <a:extLst>
                  <a:ext uri="{0D108BD9-81ED-4DB2-BD59-A6C34878D82A}">
                    <a16:rowId xmlns:a16="http://schemas.microsoft.com/office/drawing/2014/main" val="10004"/>
                  </a:ext>
                </a:extLst>
              </a:tr>
              <a:tr h="297184">
                <a:tc>
                  <a:txBody>
                    <a:bodyPr/>
                    <a:lstStyle/>
                    <a:p>
                      <a:pPr>
                        <a:defRPr sz="1000">
                          <a:solidFill>
                            <a:srgbClr val="2D3A3A"/>
                          </a:solidFill>
                        </a:defRPr>
                      </a:pPr>
                      <a:r>
                        <a:t>Monitoring</a:t>
                      </a:r>
                    </a:p>
                  </a:txBody>
                  <a:tcPr/>
                </a:tc>
                <a:tc>
                  <a:txBody>
                    <a:bodyPr/>
                    <a:lstStyle/>
                    <a:p>
                      <a:pPr>
                        <a:defRPr sz="1000">
                          <a:solidFill>
                            <a:srgbClr val="2D3A3A"/>
                          </a:solidFill>
                        </a:defRPr>
                      </a:pPr>
                      <a:r>
                        <a:t>Micrometer + Grafana</a:t>
                      </a:r>
                    </a:p>
                  </a:txBody>
                  <a:tcPr/>
                </a:tc>
                <a:extLst>
                  <a:ext uri="{0D108BD9-81ED-4DB2-BD59-A6C34878D82A}">
                    <a16:rowId xmlns:a16="http://schemas.microsoft.com/office/drawing/2014/main" val="10005"/>
                  </a:ext>
                </a:extLst>
              </a:tr>
            </a:tbl>
          </a:graphicData>
        </a:graphic>
      </p:graphicFrame>
      <p:sp>
        <p:nvSpPr>
          <p:cNvPr id="12" name="TextBox 11"/>
          <p:cNvSpPr txBox="1"/>
          <p:nvPr/>
        </p:nvSpPr>
        <p:spPr>
          <a:xfrm>
            <a:off x="914400" y="5213908"/>
            <a:ext cx="16002000" cy="746150"/>
          </a:xfrm>
          <a:prstGeom prst="rect">
            <a:avLst/>
          </a:prstGeom>
          <a:noFill/>
        </p:spPr>
        <p:txBody>
          <a:bodyPr wrap="square">
            <a:spAutoFit/>
          </a:bodyPr>
          <a:lstStyle/>
          <a:p>
            <a:pPr>
              <a:spcBef>
                <a:spcPts val="200"/>
              </a:spcBef>
              <a:spcAft>
                <a:spcPts val="200"/>
              </a:spcAft>
            </a:pPr>
            <a:r>
              <a:rPr sz="1300" b="1" i="0">
                <a:solidFill>
                  <a:srgbClr val="2D3A3A"/>
                </a:solidFill>
                <a:latin typeface="Calibri"/>
              </a:rPr>
              <a:t>Merci pour votre attention.</a:t>
            </a:r>
          </a:p>
          <a:p>
            <a:pPr>
              <a:spcBef>
                <a:spcPts val="200"/>
              </a:spcBef>
              <a:spcAft>
                <a:spcPts val="200"/>
              </a:spcAft>
            </a:pPr>
            <a:r>
              <a:rPr sz="1300" b="0" i="1">
                <a:solidFill>
                  <a:srgbClr val="2D3A3A"/>
                </a:solidFill>
                <a:latin typeface="Calibri"/>
              </a:rPr>
              <a:t>Je suis disponible pour vos questions.</a:t>
            </a:r>
          </a:p>
        </p:txBody>
      </p:sp>
      <p:sp>
        <p:nvSpPr>
          <p:cNvPr id="13" name="TextBox 12"/>
          <p:cNvSpPr txBox="1"/>
          <p:nvPr/>
        </p:nvSpPr>
        <p:spPr>
          <a:xfrm>
            <a:off x="16642080" y="9601200"/>
            <a:ext cx="1188720" cy="457200"/>
          </a:xfrm>
          <a:prstGeom prst="rect">
            <a:avLst/>
          </a:prstGeom>
          <a:noFill/>
        </p:spPr>
        <p:txBody>
          <a:bodyPr wrap="square">
            <a:spAutoFit/>
          </a:bodyPr>
          <a:lstStyle/>
          <a:p>
            <a:pPr algn="r"/>
            <a:r>
              <a:rPr sz="1000" b="0" i="0">
                <a:solidFill>
                  <a:srgbClr val="999999"/>
                </a:solidFill>
                <a:latin typeface="Calibri"/>
              </a:rPr>
              <a:t>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happyrow_template" id="{49F8B519-5DAC-504B-B2E2-1D633D1D4F1C}" vid="{EF250B9D-7382-0D46-8431-22D61693B43C}"/>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happyrow_template" id="{49F8B519-5DAC-504B-B2E2-1D633D1D4F1C}" vid="{EF250B9D-7382-0D46-8431-22D61693B43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5938</TotalTime>
  <Words>12448</Words>
  <Application>Microsoft Macintosh PowerPoint</Application>
  <PresentationFormat>Custom</PresentationFormat>
  <Paragraphs>1260</Paragraphs>
  <Slides>63</Slides>
  <Notes>50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63</vt:i4>
      </vt:variant>
    </vt:vector>
  </HeadingPairs>
  <TitlesOfParts>
    <vt:vector size="70" baseType="lpstr">
      <vt:lpstr>Consolas</vt:lpstr>
      <vt:lpstr>Arial</vt:lpstr>
      <vt:lpstr>Calibri</vt:lpstr>
      <vt:lpstr>Aptos</vt:lpstr>
      <vt:lpstr>Neue Einstellung</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CONFIDENTIAL DOCUMENT</dc:title>
  <cp:lastModifiedBy>Jimmy NI</cp:lastModifiedBy>
  <cp:revision>4</cp:revision>
  <dcterms:created xsi:type="dcterms:W3CDTF">2006-08-16T00:00:00Z</dcterms:created>
  <dcterms:modified xsi:type="dcterms:W3CDTF">2026-03-17T13:55:57Z</dcterms:modified>
  <dc:identifier>DAHD0LUKwaU</dc:identifier>
</cp:coreProperties>
</file>