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41.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2.xml" ContentType="application/vnd.openxmlformats-officedocument.presentationml.slide+xml"/>
  <Override PartName="/ppt/slides/slide54.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9.xml" ContentType="application/vnd.openxmlformats-officedocument.presentationml.slide+xml"/>
  <Override PartName="/ppt/slides/slide61.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6.xml" ContentType="application/vnd.openxmlformats-officedocument.presentationml.slide+xml"/>
  <Override PartName="/ppt/slides/slide68.xml" ContentType="application/vnd.openxmlformats-officedocument.presentationml.slide+xml"/>
  <Override PartName="/ppt/slides/slide71.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package/2006/relationships/metadata/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76"/>
  </p:notesMasterIdLst>
  <p:sldIdLst>
    <p:sldId id="256" r:id="rId2"/>
    <p:sldId id="257" r:id="rId3"/>
    <p:sldId id="258" r:id="rId4"/>
    <p:sldId id="259" r:id="rId5"/>
    <p:sldId id="260" r:id="rId6"/>
    <p:sldId id="263" r:id="rId9"/>
    <p:sldId id="264" r:id="rId10"/>
    <p:sldId id="265" r:id="rId11"/>
    <p:sldId id="267" r:id="rId13"/>
    <p:sldId id="268" r:id="rId14"/>
    <p:sldId id="270" r:id="rId16"/>
    <p:sldId id="271" r:id="rId17"/>
    <p:sldId id="273" r:id="rId19"/>
    <p:sldId id="275" r:id="rId21"/>
    <p:sldId id="276" r:id="rId22"/>
    <p:sldId id="277" r:id="rId23"/>
    <p:sldId id="278" r:id="rId24"/>
    <p:sldId id="279" r:id="rId25"/>
    <p:sldId id="280" r:id="rId26"/>
    <p:sldId id="281" r:id="rId27"/>
    <p:sldId id="282" r:id="rId28"/>
    <p:sldId id="283" r:id="rId29"/>
    <p:sldId id="285" r:id="rId31"/>
    <p:sldId id="286" r:id="rId32"/>
    <p:sldId id="287" r:id="rId33"/>
    <p:sldId id="288" r:id="rId34"/>
    <p:sldId id="289" r:id="rId35"/>
    <p:sldId id="290" r:id="rId36"/>
    <p:sldId id="291" r:id="rId37"/>
    <p:sldId id="292" r:id="rId38"/>
    <p:sldId id="293" r:id="rId39"/>
    <p:sldId id="294" r:id="rId40"/>
    <p:sldId id="295" r:id="rId41"/>
    <p:sldId id="296" r:id="rId42"/>
    <p:sldId id="298" r:id="rId44"/>
    <p:sldId id="299" r:id="rId45"/>
    <p:sldId id="300" r:id="rId46"/>
    <p:sldId id="301" r:id="rId47"/>
    <p:sldId id="303" r:id="rId49"/>
    <p:sldId id="305" r:id="rId51"/>
    <p:sldId id="307" r:id="rId53"/>
    <p:sldId id="309" r:id="rId55"/>
    <p:sldId id="311" r:id="rId57"/>
    <p:sldId id="312" r:id="rId58"/>
    <p:sldId id="314" r:id="rId60"/>
    <p:sldId id="316" r:id="rId62"/>
    <p:sldId id="318" r:id="rId64"/>
    <p:sldId id="319" r:id="rId65"/>
    <p:sldId id="321" r:id="rId67"/>
    <p:sldId id="323" r:id="rId69"/>
    <p:sldId id="326" r:id="rId72"/>
    <p:sldId id="328" r:id="rId7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3" Type="http://schemas.openxmlformats.org/officeDocument/2006/relationships/slide" Target="slides/slide12.xml"/><Relationship Id="rId14" Type="http://schemas.openxmlformats.org/officeDocument/2006/relationships/slide" Target="slides/slide13.xml"/><Relationship Id="rId16" Type="http://schemas.openxmlformats.org/officeDocument/2006/relationships/slide" Target="slides/slide15.xml"/><Relationship Id="rId17" Type="http://schemas.openxmlformats.org/officeDocument/2006/relationships/slide" Target="slides/slide16.xml"/><Relationship Id="rId19" Type="http://schemas.openxmlformats.org/officeDocument/2006/relationships/slide" Target="slides/slide18.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9" Type="http://schemas.openxmlformats.org/officeDocument/2006/relationships/slide" Target="slides/slide48.xml"/><Relationship Id="rId51" Type="http://schemas.openxmlformats.org/officeDocument/2006/relationships/slide" Target="slides/slide50.xml"/><Relationship Id="rId53" Type="http://schemas.openxmlformats.org/officeDocument/2006/relationships/slide" Target="slides/slide52.xml"/><Relationship Id="rId55" Type="http://schemas.openxmlformats.org/officeDocument/2006/relationships/slide" Target="slides/slide54.xml"/><Relationship Id="rId57" Type="http://schemas.openxmlformats.org/officeDocument/2006/relationships/slide" Target="slides/slide56.xml"/><Relationship Id="rId58" Type="http://schemas.openxmlformats.org/officeDocument/2006/relationships/slide" Target="slides/slide57.xml"/><Relationship Id="rId60" Type="http://schemas.openxmlformats.org/officeDocument/2006/relationships/slide" Target="slides/slide59.xml"/><Relationship Id="rId62" Type="http://schemas.openxmlformats.org/officeDocument/2006/relationships/slide" Target="slides/slide61.xml"/><Relationship Id="rId64" Type="http://schemas.openxmlformats.org/officeDocument/2006/relationships/slide" Target="slides/slide63.xml"/><Relationship Id="rId65" Type="http://schemas.openxmlformats.org/officeDocument/2006/relationships/slide" Target="slides/slide64.xml"/><Relationship Id="rId67" Type="http://schemas.openxmlformats.org/officeDocument/2006/relationships/slide" Target="slides/slide66.xml"/><Relationship Id="rId69" Type="http://schemas.openxmlformats.org/officeDocument/2006/relationships/slide" Target="slides/slide68.xml"/><Relationship Id="rId72" Type="http://schemas.openxmlformats.org/officeDocument/2006/relationships/slide" Target="slides/slide71.xml"/><Relationship Id="rId74" Type="http://schemas.openxmlformats.org/officeDocument/2006/relationships/slide" Target="slides/slide73.xml"/><Relationship Id="rId76" Type="http://schemas.openxmlformats.org/officeDocument/2006/relationships/notesMaster" Target="notesMasters/notesMaster1.xml"/><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Bonjour, je m’appelle </a:t>
            </a:r>
            <a:r>
              <a:rPr i="1"/>
              <a:t>[Prénom Nom]</a:t>
            </a:r>
            <a:r>
              <a:rPr/>
              <a:t> et je vous présente aujourd’hui mon projet </a:t>
            </a:r>
            <a:r>
              <a:rPr b="1"/>
              <a:t>HappyRow</a:t>
            </a:r>
            <a:r>
              <a:rPr/>
              <a:t>, réalisé dans le cadre du titre professionnel Concepteur Développeur d’Applications. HappyRow est une plateforme collaborative de gestion d’événements, développée en Kotlin avec Ktor pour le back-end, et React TypeScript pour le front-end.</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 présentation est organisée en 13 parties. Je commencerai par le contexte et le cahier des charges, puis la gestion de projet. Ensuite, les spécifications fonctionnelles — architecture, maquettes, modèle de données. Puis les réalisations concrètes, organisées par couche : interfaces utilisateur, composants métier, accès aux données, et autres composants. Je poursuivrai avec la sécurité, les tests et le jeu d’essai, le déploiement et DevOps, la veille sécurité. Et je terminerai par la synthèse et la conclusion.</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Avant d’entrer dans le projet, je vais vous montrer comment HappyRow couvre les 11 compétences du référentiel CDA, réparties dans les 3 CCP. Pour le CCP 1 — Développer une application sécurisée : j’ai installé et configuré mon environnement avec Kotlin, JDK 21, Gradle multi-modules et Docker. J’ai développé les interfaces utilisateur côté front-end avec React et côté back-end avec les endpoints REST Ktor. Les composants métier sont les 12 use cases du module domaine. Et la gestion de projet s’appuie sur Kanban, GitHub Projects et les pipelines CI/CD. Pour le CCP 2 — Concevoir et développer une application organisée en couches : l’analyse des besoins et les maquettes Figma, l’architecture hexagonale Ports et Adapters, le modèle de données PostgreSQL avec 4 tables et contraintes, et les 4 repositories SQL avec Exposed ORM. Pour le CCP 3 — Préparer le déploiement : les tests unitaires et d’intégration avec Kotest, MockK, Testcontainers, Vitest et Playwright. Le déploiement documenté avec Docker multi-stage et Render. Et la mise en production DevOps avec les pipelines GitHub Actions.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Ce projet a été réalisé pendant ma formation CDA au sein de </a:t>
            </a:r>
            <a:r>
              <a:rPr i="1"/>
              <a:t>[nom du centre de formation]</a:t>
            </a:r>
            <a:r>
              <a:rPr/>
              <a:t>. Notre promotion comptait </a:t>
            </a:r>
            <a:r>
              <a:rPr i="1"/>
              <a:t>[X]</a:t>
            </a:r>
            <a:r>
              <a:rPr/>
              <a:t> apprenants, encadrés par </a:t>
            </a:r>
            <a:r>
              <a:rPr i="1"/>
              <a:t>[X]</a:t>
            </a:r>
            <a:r>
              <a:rPr/>
              <a:t> formateurs techniques. La formation est organisée autour de projets individuels et collectifs. Chaque apprenant développe un projet personnel full-stack qui doit couvrir l’ensemble des compétences du référentiel CDA.</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HappyRow est un projet personnel que j’ai conçu, développé et déployé en totale autonomie, de l’analyse des besoins jusqu’à la mise en production. J’ai été responsable de l’ensemble de la chaîne : la conception de l’architecture, le développement back-end et front-end, la mise en place de la base de données, l’écriture des tests, la configuration du CI/CD, et le déploiement en production. Les formateurs ont joué un rôle de conseil et de validation, sans intervenir directement dans le code.</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 projet HappyRow est né d’un constat simple : quand on organise un événement entre amis ou collègues — une fête, un dîner — la coordination repose souvent sur des messages informels ou des tableurs partagés, qui manquent de structure. Qui apporte quoi ? Est-ce qu’on a assez de boissons ? L’objectif est de centraliser cette coordination dans une application dédiée. Un utilisateur authentifié peut créer un événement, inviter des participants, définir les ressources nécessaires, et chaque participant peut déclarer sa contribution. Un point clé : quand plusieurs personnes contribuent en même temps sur la même ressource, il faut gérer les accès concurrents. C’est ce qui m’a amené à implémenter un verrou optimiste.</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J’ai adopté une approche Kanban, adaptée au contexte d’un développeur en autonomie. Les tâches sont organisées en tickets dans GitHub Issues, visualisées dans un tableau GitHub Projects avec trois colonnes : To Do, In Progress, Done. Le projet a été découpé en 5 phases itératives. La phase 1 pose les fondations : architecture hexagonale, Gradle multi-modules, Docker, PostgreSQL et le pipeline CI/CD. Les phases 2 et 3 couvrent les événements et les participants. La phase 4, la plus complexe, implémente les ressources et les contributions avec le verrou optimiste. Et la phase 5 se concentre sur la qualité et le déploiement en production.</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L’architecture suit strictement le pattern Ports et Adapters. Au centre, le domaine contient toute la logique métier : les use cases, les modèles et les interfaces de repository — qu’on appelle les ports. Autour du domaine, deux types d’adapters. Les adapters driving, côté entrant, ce sont les endpoints REST qui reçoivent les requêtes HTTP et appellent les use cases. Les adapters driven, côté sortant, ce sont les repositories SQL qui implémentent les interfaces définies dans le domaine. Le principe fondamental, c’est l’inversion de dépendance : le domaine ne dépend d’aucune bibliothèque technique — ni Ktor, ni Exposed, ni Jackson. C’est l’infrastructure qui dépend du domaine.</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Concrètement, le code est organisé en deux modules Gradle séparés. Le module </a:t>
            </a:r>
            <a:r>
              <a:rPr>
                <a:latin typeface="Courier"/>
              </a:rPr>
              <a:t>domain</a:t>
            </a:r>
            <a:r>
              <a:rPr/>
              <a:t> ne contient que la logique métier pure — les use cases, les modèles, les interfaces de repository. Il a zéro dépendance technique. Le module </a:t>
            </a:r>
            <a:r>
              <a:rPr>
                <a:latin typeface="Courier"/>
              </a:rPr>
              <a:t>infrastructure</a:t>
            </a:r>
            <a:r>
              <a:rPr/>
              <a:t> contient les adapters : les endpoints REST dans des dossiers </a:t>
            </a:r>
            <a:r>
              <a:rPr>
                <a:latin typeface="Courier"/>
              </a:rPr>
              <a:t>driving</a:t>
            </a:r>
            <a:r>
              <a:rPr/>
              <a:t>, les repositories SQL dans des dossiers </a:t>
            </a:r>
            <a:r>
              <a:rPr>
                <a:latin typeface="Courier"/>
              </a:rPr>
              <a:t>driven</a:t>
            </a:r>
            <a:r>
              <a:rPr/>
              <a:t>, et les composants techniques comme l’authentification JWT, la configuration de la base de données et l’injection de dépendances avec Koin. Chaque bounded context — événements, participants, ressources, contributions — a sa propre arborescence dans les deux modules.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L’application est une SPA avec React Router. L’enchaînement repose sur l’état d’authentification : si l’utilisateur n’est pas connecté, il voit la page d’accueil avec les boutons Login et Register. Une fois authentifié, il accède au dashboard avec la liste de ses événements. En cliquant sur un événement, il accède à la vue détail avec les ressources organisées par catégorie. C’est ici que la fonctionnalité de contribution est accessible : les boutons plus/moins pour sélectionner un delta, et le bouton Validate pour confirmer. La charte graphique utilise des Design Tokens CSS avec les couleurs teal, navy et coral, et la police Comic Neue pour un ton convivial.</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 modèle conceptuel comprend 4 entités. Un événement héberge des participants et nécessite des ressources. Un participant apporte des contributions, et une ressource reçoit des contributions. Les points importants : la table </a:t>
            </a:r>
            <a:r>
              <a:rPr>
                <a:latin typeface="Courier"/>
              </a:rPr>
              <a:t>resource</a:t>
            </a:r>
            <a:r>
              <a:rPr/>
              <a:t> a un champ </a:t>
            </a:r>
            <a:r>
              <a:rPr>
                <a:latin typeface="Courier"/>
              </a:rPr>
              <a:t>version</a:t>
            </a:r>
            <a:r>
              <a:rPr/>
              <a:t> pour le verrou optimiste, incrémenté à chaque modification de quantité. Les relations sont toutes en 1-N. Et les contraintes d’intégrité — clés étrangères, index uniques, contraintes CHECK — sont définies au niveau physique.</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Au niveau physique, les tables sont définies avec Exposed ORM en Kotlin. Ici, la table </a:t>
            </a:r>
            <a:r>
              <a:rPr>
                <a:latin typeface="Courier"/>
              </a:rPr>
              <a:t>resource</a:t>
            </a:r>
            <a:r>
              <a:rPr/>
              <a:t> dans le schéma </a:t>
            </a:r>
            <a:r>
              <a:rPr>
                <a:latin typeface="Courier"/>
              </a:rPr>
              <a:t>configuration</a:t>
            </a:r>
            <a:r>
              <a:rPr/>
              <a:t> avec ses champs, l’enum pour la catégorie, la version initialisée à 0, et la clé étrangère vers la table </a:t>
            </a:r>
            <a:r>
              <a:rPr>
                <a:latin typeface="Courier"/>
              </a:rPr>
              <a:t>event</a:t>
            </a:r>
            <a:r>
              <a:rPr/>
              <a:t>. Le script SQL correspondant crée le schéma, la table avec les contraintes — </a:t>
            </a:r>
            <a:r>
              <a:rPr>
                <a:latin typeface="Courier"/>
              </a:rPr>
              <a:t>NOT NULL</a:t>
            </a:r>
            <a:r>
              <a:rPr/>
              <a:t>, </a:t>
            </a:r>
            <a:r>
              <a:rPr>
                <a:latin typeface="Courier"/>
              </a:rPr>
              <a:t>CHECK</a:t>
            </a:r>
            <a:r>
              <a:rPr/>
              <a:t> sur les quantités positives, </a:t>
            </a:r>
            <a:r>
              <a:rPr>
                <a:latin typeface="Courier"/>
              </a:rPr>
              <a:t>DEFAULT</a:t>
            </a:r>
            <a:r>
              <a:rPr/>
              <a:t> pour la version. Exposed génère les requêtes SQL paramétrées à partir de ces définitions.</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 projet couvre 12 cas d’utilisation répartis dans les 4 bounded contexts. Événements : créer, consulter, modifier, supprimer. Participants : ajouter, consulter, modifier le statut. Ressources : créer, consulter. Contributions : ajouter, réduire, supprimer. Deux règles métier notables : la création d’un événement inclut automatiquement l’ajout du créateur comme participant confirmé — c’est le lien « inclut ». Et la suppression d’un événement déclenche la cascade de toutes les données liées.</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Ce diagramme montre le flux complet de la création d’un événement. Le front-end envoie un POST avec le JWT et le body. Le plugin d’authentification valide le token HMAC256 et extrait l’utilisateur. Le endpoint désérialise la requête et appelle le use case. Le use case crée l’événement dans le repository, puis crée automatiquement le participant avec le statut CONFIRMED — c’est la règle métier encapsulée dans le domaine. Enfin, le endpoint convertit le résultat en DTO et retourne un 201 Created. Le point important, c’est l’utilisation d’Arrow Either. Si la création de l’événement échoue, le </a:t>
            </a:r>
            <a:r>
              <a:rPr>
                <a:latin typeface="Courier"/>
              </a:rPr>
              <a:t>flatMap</a:t>
            </a:r>
            <a:r>
              <a:rPr/>
              <a:t> empêche la création du participant. L’erreur remonte proprement.</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C’est la fonctionnalité la plus complexe du projet. Quand un utilisateur contribue à une ressource, le système doit mettre à jour la quantité de façon atomique. Le repository cherche d’abord si une contribution existe déjà. S’il s’agit d’une nouvelle contribution, il l’insère. Ensuite, il appelle </a:t>
            </a:r>
            <a:r>
              <a:rPr>
                <a:latin typeface="Courier"/>
              </a:rPr>
              <a:t>updateQuantity</a:t>
            </a:r>
            <a:r>
              <a:rPr/>
              <a:t> sur la ressource avec le delta et la version attendue. Le SQL exécute un UPDATE conditionnel : </a:t>
            </a:r>
            <a:r>
              <a:rPr>
                <a:latin typeface="Courier"/>
              </a:rPr>
              <a:t>WHERE version = expectedVersion</a:t>
            </a:r>
            <a:r>
              <a:rPr/>
              <a:t>. Si une autre personne a modifié la ressource entre-temps, la version en base ne correspond plus, zéro lignes sont mises à jour, et une </a:t>
            </a:r>
            <a:r>
              <a:rPr>
                <a:latin typeface="Courier"/>
              </a:rPr>
              <a:t>OptimisticLockException</a:t>
            </a:r>
            <a:r>
              <a:rPr/>
              <a:t> est levée. Cette exception remonte et le endpoint retourne un 409 Conflict. Le client doit rafraîchir et réessayer. L’avantage par rapport au verrou pessimiste, c’est que ça ne bloque pas les autres transactions.</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Voici le dashboard de l’application. Il affiche les événements de l’utilisateur sous forme de cartes — les EventCards — avec la date, le nom, le nombre de participants et la localisation. La barre de navigation permet d’accéder au profil, de créer un nouvel événement avec le bouton plus, et de revenir à l’accueil. L’application est une PWA installable, avec un mode offline grâce au Service Worker Workbox. Et je le rappelle : seulement 3 dépendances de production — React, React Router et Supabase.</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La vue détail d’un événement montre les ressources organisées par catégorie — Food, Drinks, et cetera. Chaque ressource affiche la quantité courante par rapport à la quantité suggérée. Les contrôles de contribution sont intégrés directement : les boutons plus et moins pour sélectionner un delta de quantité. Quand un delta est sélectionné, le bouton Validate apparaît pour confirmer la contribution. Le design utilise les Design Tokens CSS — les couleurs teal, navy et coral définies comme variables CSS — ce qui garantit la cohérence graphique et facilite la maintenance.</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 composant </a:t>
            </a:r>
            <a:r>
              <a:rPr>
                <a:latin typeface="Courier"/>
              </a:rPr>
              <a:t>ResourceItem</a:t>
            </a:r>
            <a:r>
              <a:rPr/>
              <a:t> gère l’interaction de contribution. La logique est intéressante : selon l’état actuel, le composant décide s’il faut ajouter, mettre à jour ou supprimer la contribution. Le </a:t>
            </a:r>
            <a:r>
              <a:rPr>
                <a:latin typeface="Courier"/>
              </a:rPr>
              <a:t>selectedQuantity</a:t>
            </a:r>
            <a:r>
              <a:rPr/>
              <a:t> est un delta par rapport à la contribution existante. Si la quantité résultante tombe à zéro ou moins, c’est une suppression. Si l’utilisateur n’avait pas de contribution, c’est un ajout. Sinon, c’est une mise à jour. Le bouton Validate n’apparaît que quand un delta est sélectionné — on ne peut pas soumettre une contribution vide. Et le state </a:t>
            </a:r>
            <a:r>
              <a:rPr>
                <a:latin typeface="Courier"/>
              </a:rPr>
              <a:t>isSaving</a:t>
            </a:r>
            <a:r>
              <a:rPr/>
              <a:t> empêche les doubles soumissions pendant l’appel API.</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 front-end suit le même principe d’inversion de dépendance que le back-end. Le flux est : Composants React → Context/Provider → Use Cases → Repository interface → HttpRepository qui utilise l’API native </a:t>
            </a:r>
            <a:r>
              <a:rPr>
                <a:latin typeface="Courier"/>
              </a:rPr>
              <a:t>fetch</a:t>
            </a:r>
            <a:r>
              <a:rPr/>
              <a:t>. Chaque domaine fonctionnel — auth, events, participants, resources, contributions — est un module isolé dans </a:t>
            </a:r>
            <a:r>
              <a:rPr>
                <a:latin typeface="Courier"/>
              </a:rPr>
              <a:t>src/features/</a:t>
            </a:r>
            <a:r>
              <a:rPr/>
              <a:t> avec ses propres composants, hooks, services, use cases et types. Le token JWT est injecté via une callback </a:t>
            </a:r>
            <a:r>
              <a:rPr>
                <a:latin typeface="Courier"/>
              </a:rPr>
              <a:t>getToken</a:t>
            </a:r>
            <a:r>
              <a:rPr/>
              <a:t> dans les providers. Chaque repository HTTP ajoute le header Authorization Bearer automatiquement. Cette architecture permet de mocker les repositories dans les tests — exactement comme côté back-end.</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Ce use case illustre la composition fonctionnelle avec Arrow Either. La méthode </a:t>
            </a:r>
            <a:r>
              <a:rPr>
                <a:latin typeface="Courier"/>
              </a:rPr>
              <a:t>create</a:t>
            </a:r>
            <a:r>
              <a:rPr/>
              <a:t> enchaîne deux opérations : la création de l’événement et l’ajout du participant. Le </a:t>
            </a:r>
            <a:r>
              <a:rPr>
                <a:latin typeface="Courier"/>
              </a:rPr>
              <a:t>flatMap</a:t>
            </a:r>
            <a:r>
              <a:rPr/>
              <a:t> assure que le participant n’est créé que si l’événement a réussi. Le </a:t>
            </a:r>
            <a:r>
              <a:rPr>
                <a:latin typeface="Courier"/>
              </a:rPr>
              <a:t>mapLeft</a:t>
            </a:r>
            <a:r>
              <a:rPr/>
              <a:t> enveloppe les erreurs de repository dans une exception domaine pour préserver le contexte. Le point fondamental, c’est que ce use case ne dépend que des interfaces — les ports — jamais des implémentations SQL. Il est testable avec des mocks, sans base de données. Et la règle métier — le créateur est automatiquement participant confirmé — est encapsulée dans le domaine, pas dans l’infrastructure.</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Ce deuxième use case montre la chaîne fonctionnelle complète pour l’ajout d’une contribution. Il orchestre deux repositories : le repository de participants et celui des contributions. D’abord, il cherche ou crée le participant avec </a:t>
            </a:r>
            <a:r>
              <a:rPr>
                <a:latin typeface="Courier"/>
              </a:rPr>
              <a:t>findOrCreate</a:t>
            </a:r>
            <a:r>
              <a:rPr/>
              <a:t> — si le participant n’existe pas encore pour cet événement, il est créé automatiquement. Ensuite, il appelle </a:t>
            </a:r>
            <a:r>
              <a:rPr>
                <a:latin typeface="Courier"/>
              </a:rPr>
              <a:t>addOrUpdate</a:t>
            </a:r>
            <a:r>
              <a:rPr/>
              <a:t> sur le repository de contributions, qui inclut le verrou optimiste dans son implémentation SQL. Le use case ne connaît pas les détails de l’implémentation. Il ne sait pas qu’il y a un verrou optimiste ou une transaction SQL. Il sait seulement qu’il orchestre deux opérations qui peuvent réussir ou échouer, et il compose les résultats avec </a:t>
            </a:r>
            <a:r>
              <a:rPr>
                <a:latin typeface="Courier"/>
              </a:rPr>
              <a:t>flatMap</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Les modèles du domaine sont des </a:t>
            </a:r>
            <a:r>
              <a:rPr>
                <a:latin typeface="Courier"/>
              </a:rPr>
              <a:t>data class</a:t>
            </a:r>
            <a:r>
              <a:rPr/>
              <a:t> Kotlin pures. Aucune annotation framework — pas de </a:t>
            </a:r>
            <a:r>
              <a:rPr>
                <a:latin typeface="Courier"/>
              </a:rPr>
              <a:t>@Entity</a:t>
            </a:r>
            <a:r>
              <a:rPr/>
              <a:t>, pas de </a:t>
            </a:r>
            <a:r>
              <a:rPr>
                <a:latin typeface="Courier"/>
              </a:rPr>
              <a:t>@Column</a:t>
            </a:r>
            <a:r>
              <a:rPr/>
              <a:t>. Le domaine est complètement isolé de l’infrastructure. Le type </a:t>
            </a:r>
            <a:r>
              <a:rPr>
                <a:latin typeface="Courier"/>
              </a:rPr>
              <a:t>Creator</a:t>
            </a:r>
            <a:r>
              <a:rPr/>
              <a:t> est un </a:t>
            </a:r>
            <a:r>
              <a:rPr>
                <a:latin typeface="Courier"/>
              </a:rPr>
              <a:t>@JvmInline value class</a:t>
            </a:r>
            <a:r>
              <a:rPr/>
              <a:t> : c’est un typage fort qui encapsule un String, mais sans coût mémoire à l’exécution — le compilateur l’inline. Ça empêche de confondre un email avec un nom ou un identifiant. Le champ </a:t>
            </a:r>
            <a:r>
              <a:rPr>
                <a:latin typeface="Courier"/>
              </a:rPr>
              <a:t>version</a:t>
            </a:r>
            <a:r>
              <a:rPr/>
              <a:t> dans </a:t>
            </a:r>
            <a:r>
              <a:rPr>
                <a:latin typeface="Courier"/>
              </a:rPr>
              <a:t>Resource</a:t>
            </a:r>
            <a:r>
              <a:rPr/>
              <a:t> porte la sémantique du verrou optimiste directement au niveau du modèle. Ce n’est pas un détail technique caché dans l’infrastructure — c’est un concept métier explicite.</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Pour résumer le pattern de gestion d’erreurs : chaque opération retourne un </a:t>
            </a:r>
            <a:r>
              <a:rPr>
                <a:latin typeface="Courier"/>
              </a:rPr>
              <a:t>Either&lt;Error, Success&gt;</a:t>
            </a:r>
            <a:r>
              <a:rPr/>
              <a:t>. Le type de retour est explicite — on voit dans la signature que l’opération peut échouer. La composition se fait via </a:t>
            </a:r>
            <a:r>
              <a:rPr>
                <a:latin typeface="Courier"/>
              </a:rPr>
              <a:t>flatMap</a:t>
            </a:r>
            <a:r>
              <a:rPr/>
              <a:t> pour chaîner les opérations qui dépendent du résultat précédent, et </a:t>
            </a:r>
            <a:r>
              <a:rPr>
                <a:latin typeface="Courier"/>
              </a:rPr>
              <a:t>mapLeft</a:t>
            </a:r>
            <a:r>
              <a:rPr/>
              <a:t> pour envelopper les erreurs avec du contexte supplémentaire. Et </a:t>
            </a:r>
            <a:r>
              <a:rPr>
                <a:latin typeface="Courier"/>
              </a:rPr>
              <a:t>fold</a:t>
            </a:r>
            <a:r>
              <a:rPr/>
              <a:t> résout le résultat final en séparant le chemin d’erreur du chemin de succès. Les avantages par rapport aux exceptions classiques : c’est composable, il n’y a pas de coût de stack trace, et la traçabilité est meilleure car chaque couche enveloppe les erreurs de la couche inférieure.</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C’est l’extrait de code le plus significatif du projet. La méthode </a:t>
            </a:r>
            <a:r>
              <a:rPr>
                <a:latin typeface="Courier"/>
              </a:rPr>
              <a:t>updateQuantity</a:t>
            </a:r>
            <a:r>
              <a:rPr/>
              <a:t> implémente le verrou optimiste en deux temps. D’abord, elle lit la ressource avec une clause </a:t>
            </a:r>
            <a:r>
              <a:rPr>
                <a:latin typeface="Courier"/>
              </a:rPr>
              <a:t>WHERE version = expectedVersion</a:t>
            </a:r>
            <a:r>
              <a:rPr/>
              <a:t>. Si aucune ligne n’est retournée, elle distingue deux cas : la ressource n’existe pas — erreur 404 — ou la version a changé — conflit de concurrence. Ensuite, elle exécute un UPDATE conditionnel avec la même clause sur la version. Si entre la lecture et l’écriture un autre thread a modifié la ressource, l’UPDATE retourne zéro lignes, et une </a:t>
            </a:r>
            <a:r>
              <a:rPr>
                <a:latin typeface="Courier"/>
              </a:rPr>
              <a:t>OptimisticLockException</a:t>
            </a:r>
            <a:r>
              <a:rPr/>
              <a:t> est levée. La double vérification — à la lecture et à l’écriture — est une défense en profondeur contre les race conditions. Le delta de quantité, plutôt qu’une valeur absolue, permet des mises à jour concurrentes valides si elles ne concernent pas la même version.</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La table Exposed pour les contributions montre l’approche de défense en profondeur au niveau de la base de données. L’index unique composite sur </a:t>
            </a:r>
            <a:r>
              <a:rPr>
                <a:latin typeface="Courier"/>
              </a:rPr>
              <a:t>participantId</a:t>
            </a:r>
            <a:r>
              <a:rPr/>
              <a:t> et </a:t>
            </a:r>
            <a:r>
              <a:rPr>
                <a:latin typeface="Courier"/>
              </a:rPr>
              <a:t>resourceId</a:t>
            </a:r>
            <a:r>
              <a:rPr/>
              <a:t> empêche qu’un participant contribue deux fois à la même ressource — même si un bug applicatif tentait de le faire. La contrainte CHECK garantit que les quantités sont positives. Les index sur les clés étrangères optimisent les requêtes de recherche. C’est le principe : les contraintes ne sont pas seulement dans le code applicatif, elles sont aussi dans la base.</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Ce repository illustre l’implémentation concrète d’un port du domaine. La méthode </a:t>
            </a:r>
            <a:r>
              <a:rPr>
                <a:latin typeface="Courier"/>
              </a:rPr>
              <a:t>addOrUpdate</a:t>
            </a:r>
            <a:r>
              <a:rPr/>
              <a:t> recherche d’abord une contribution existante pour le participant et la ressource. Si elle existe, elle met à jour la quantité. Sinon, elle insère une nouvelle contribution. Tout est encapsulé dans une transaction Exposed, ce qui garantit l’atomicité. Et les requêtes sont automatiquement paramétrées par Exposed — pas de risque d’injection SQL. Après l’opération sur la contribution, le use case appelle </a:t>
            </a:r>
            <a:r>
              <a:rPr>
                <a:latin typeface="Courier"/>
              </a:rPr>
              <a:t>updateQuantity</a:t>
            </a:r>
            <a:r>
              <a:rPr/>
              <a:t> sur la ressource pour mettre à jour la quantité courante avec le verrou optimiste.</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L’authentification utilise un plugin Ktor personnalisé plutôt que le module auth standard. Ça donne un contrôle total sur le flux. Le plugin intercepte chaque requête. Les routes OPTIONS — pour le pré-vol CORS — et les routes publiques sont exclues. Si le token est absent, c’est un 401 avec le type </a:t>
            </a:r>
            <a:r>
              <a:rPr>
                <a:latin typeface="Courier"/>
              </a:rPr>
              <a:t>MISSING_TOKEN</a:t>
            </a:r>
            <a:r>
              <a:rPr/>
              <a:t>. Sinon, le </a:t>
            </a:r>
            <a:r>
              <a:rPr>
                <a:latin typeface="Courier"/>
              </a:rPr>
              <a:t>SupabaseJwtService</a:t>
            </a:r>
            <a:r>
              <a:rPr/>
              <a:t> vérifie la signature HMAC256, l’issuer, l’audience et l’expiration. Si tout est valide, l’utilisateur authentifié est stocké dans les attributs du call. Le secret JWT est chargé depuis une variable d’environnement, jamais codé en dur. Detekt vérifie l’absence de secrets dans le code.</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Cet endpoint est un example typique de driving adapter. Il reçoit la requête HTTP, la désérialise, appelle le use case du domaine, et formate la réponse. </a:t>
            </a:r>
            <a:r>
              <a:rPr>
                <a:latin typeface="Courier"/>
              </a:rPr>
              <a:t>Either.catch</a:t>
            </a:r>
            <a:r>
              <a:rPr/>
              <a:t> capture les exceptions de désérialisation et les transforme en erreur typée. </a:t>
            </a:r>
            <a:r>
              <a:rPr>
                <a:latin typeface="Courier"/>
              </a:rPr>
              <a:t>flatMap</a:t>
            </a:r>
            <a:r>
              <a:rPr/>
              <a:t> chaîne l’appel au use case — si la désérialisation échoue, le use case n’est pas appelé. Les fonctions </a:t>
            </a:r>
            <a:r>
              <a:rPr>
                <a:latin typeface="Courier"/>
              </a:rPr>
              <a:t>toDomain()</a:t>
            </a:r>
            <a:r>
              <a:rPr/>
              <a:t> et </a:t>
            </a:r>
            <a:r>
              <a:rPr>
                <a:latin typeface="Courier"/>
              </a:rPr>
              <a:t>toDto()</a:t>
            </a:r>
            <a:r>
              <a:rPr/>
              <a:t> assurent l’isolation entre les objets de l’API et ceux du domaine. Et </a:t>
            </a:r>
            <a:r>
              <a:rPr>
                <a:latin typeface="Courier"/>
              </a:rPr>
              <a:t>fold</a:t>
            </a:r>
            <a:r>
              <a:rPr/>
              <a:t> sépare clairement le chemin d’erreur du chemin de succès. Ce pattern est appliqué à tous les 15 endpoints de l’application.</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La gestion des erreurs HTTP est typée et centralisée. Pour la contribution, le </a:t>
            </a:r>
            <a:r>
              <a:rPr>
                <a:latin typeface="Courier"/>
              </a:rPr>
              <a:t>handleFailure</a:t>
            </a:r>
            <a:r>
              <a:rPr/>
              <a:t> remonte la cause racine via </a:t>
            </a:r>
            <a:r>
              <a:rPr>
                <a:latin typeface="Courier"/>
              </a:rPr>
              <a:t>generateSequence</a:t>
            </a:r>
            <a:r>
              <a:rPr/>
              <a:t> pour distinguer un conflit de concurrence d’une erreur technique. Si c’est une </a:t>
            </a:r>
            <a:r>
              <a:rPr>
                <a:latin typeface="Courier"/>
              </a:rPr>
              <a:t>OptimisticLockException</a:t>
            </a:r>
            <a:r>
              <a:rPr/>
              <a:t>, on retourne un 409 Conflict avec un message explicite. Sinon, c’est un 500 avec un message générique — aucune stack trace exposée au client. Les codes HTTP utilisés dans l’application sont standards : 201 pour la création, 200 pour le succès, 400 pour les requêtes invalides, 401 pour l’authentification manquante, 403 pour l’autorisation refusée, 409 pour les conflits, et 500 pour les erreurs techniques.</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Les tests suivent une structure BDD — Given, When, Then — avec des fonctions d’aide pour la lisibilité. Le premier test vérifie le scénario nominal : créer un événement et vérifier que le créateur est automatiquement ajouté comme participant. Le deuxième test vérifie la propagation des erreurs : si le repository échoue, l’erreur est correctement enveloppée dans une exception domaine. Les données de test sont centralisées dans des objets Persona réutilisables. Les assertions Arrow — </a:t>
            </a:r>
            <a:r>
              <a:rPr>
                <a:latin typeface="Courier"/>
              </a:rPr>
              <a:t>shouldBeRight</a:t>
            </a:r>
            <a:r>
              <a:rPr/>
              <a:t> et </a:t>
            </a:r>
            <a:r>
              <a:rPr>
                <a:latin typeface="Courier"/>
              </a:rPr>
              <a:t>shouldBeLeft</a:t>
            </a:r>
            <a:r>
              <a:rPr/>
              <a:t> — vérifient le contenu de l’Either.</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 pipeline back-end s’exécute en 3 étapes séquentielles : d’abord Detekt pour l’analyse statique, puis les tests unitaires avec Kotest et MockK — sans les tests d’intégration pour la performance — et enfin le déploiement sur Render via son API. Le pipeline front-end a 4 étapes : d’abord les tests avec lockfile-lint, npm ci en mode sécurisé, ESLint et Vitest. Ensuite le build Docker avec push sur le registry GitHub. Puis une approbation manuelle — un gate de sécurité humain. Et enfin le déploiement sur Vercel. En plus, un workflow de sécurité s’exécute quotidiennement en cron : audit npm pour les vulnérabilités connues, vérification de l’intégrité du lockfile, et détection de scripts d’installation suspects.</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sz="3200">
                <a:solidFill>
                  <a:srgbClr val="3D5A6C"/>
                </a:solidFill>
              </a:rPr>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z="1800">
                <a:solidFill>
                  <a:srgbClr val="2D3A3A"/>
                </a:solidFill>
              </a:rPr>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solidFill>
                  <a:srgbClr val="3D5A6C"/>
                </a:solidFill>
              </a:rPr>
              <a:t>Click to edit Master title style</a:t>
            </a:r>
          </a:p>
        </p:txBody>
      </p:sp>
      <p:sp>
        <p:nvSpPr>
          <p:cNvPr id="3" name="Content Placeholder 2"/>
          <p:cNvSpPr>
            <a:spLocks noGrp="1"/>
          </p:cNvSpPr>
          <p:nvPr>
            <p:ph idx="1"/>
          </p:nvPr>
        </p:nvSpPr>
        <p:spPr/>
        <p:txBody>
          <a:bodyPr/>
          <a:lstStyle/>
          <a:p>
            <a:pPr lvl="0"/>
            <a:r>
              <a:rPr lang="en-US" sz="1800">
                <a:solidFill>
                  <a:srgbClr val="2D3A3A"/>
                </a:solidFill>
              </a:rPr>
              <a:t>Click to edit Master text styles</a:t>
            </a:r>
          </a:p>
          <a:p>
            <a:pPr lvl="1"/>
            <a:r>
              <a:rPr lang="en-US" sz="1800">
                <a:solidFill>
                  <a:srgbClr val="2D3A3A"/>
                </a:solidFill>
              </a:rPr>
              <a:t>Second level</a:t>
            </a:r>
          </a:p>
          <a:p>
            <a:pPr lvl="2"/>
            <a:r>
              <a:rPr lang="en-US" sz="1800">
                <a:solidFill>
                  <a:srgbClr val="2D3A3A"/>
                </a:solidFill>
              </a:rPr>
              <a:t>Third level</a:t>
            </a:r>
          </a:p>
          <a:p>
            <a:pPr lvl="3"/>
            <a:r>
              <a:rPr lang="en-US" sz="1800">
                <a:solidFill>
                  <a:srgbClr val="2D3A3A"/>
                </a:solidFill>
              </a:rPr>
              <a:t>Fourth level</a:t>
            </a:r>
          </a:p>
          <a:p>
            <a:pPr lvl="4"/>
            <a:r>
              <a:rPr lang="en-US" sz="1800">
                <a:solidFill>
                  <a:srgbClr val="2D3A3A"/>
                </a:solidFill>
              </a:rPr>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sz="3200">
                <a:solidFill>
                  <a:srgbClr val="3D5A6C"/>
                </a:solidFill>
              </a:rPr>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z="1800">
                <a:solidFill>
                  <a:srgbClr val="2D3A3A"/>
                </a:solidFill>
              </a:rPr>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solidFill>
                  <a:srgbClr val="3D5A6C"/>
                </a:solidFill>
              </a:rPr>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z="1800">
                <a:solidFill>
                  <a:srgbClr val="2D3A3A"/>
                </a:solidFill>
              </a:rPr>
              <a:t>Click to edit Master text styles</a:t>
            </a:r>
          </a:p>
          <a:p>
            <a:pPr lvl="1"/>
            <a:r>
              <a:rPr lang="en-US" sz="1800">
                <a:solidFill>
                  <a:srgbClr val="2D3A3A"/>
                </a:solidFill>
              </a:rPr>
              <a:t>Second level</a:t>
            </a:r>
          </a:p>
          <a:p>
            <a:pPr lvl="2"/>
            <a:r>
              <a:rPr lang="en-US" sz="1800">
                <a:solidFill>
                  <a:srgbClr val="2D3A3A"/>
                </a:solidFill>
              </a:rPr>
              <a:t>Third level</a:t>
            </a:r>
          </a:p>
          <a:p>
            <a:pPr lvl="3"/>
            <a:r>
              <a:rPr lang="en-US" sz="1800">
                <a:solidFill>
                  <a:srgbClr val="2D3A3A"/>
                </a:solidFill>
              </a:rPr>
              <a:t>Fourth level</a:t>
            </a:r>
          </a:p>
          <a:p>
            <a:pPr lvl="4"/>
            <a:r>
              <a:rPr lang="en-US" sz="1800">
                <a:solidFill>
                  <a:srgbClr val="2D3A3A"/>
                </a:solidFill>
              </a:rPr>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z="3200">
                <a:solidFill>
                  <a:srgbClr val="3D5A6C"/>
                </a:solidFill>
              </a:rPr>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z="1800">
                <a:solidFill>
                  <a:srgbClr val="2D3A3A"/>
                </a:solidFill>
              </a:rPr>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solidFill>
                  <a:srgbClr val="3D5A6C"/>
                </a:solidFill>
              </a:rPr>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sz="3200">
                <a:solidFill>
                  <a:srgbClr val="3D5A6C"/>
                </a:solidFill>
              </a:rPr>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z="1800">
                <a:solidFill>
                  <a:srgbClr val="2D3A3A"/>
                </a:solidFill>
              </a:rPr>
              <a:t>Click to edit Master text styles</a:t>
            </a:r>
          </a:p>
          <a:p>
            <a:pPr lvl="1"/>
            <a:r>
              <a:rPr lang="en-US" sz="1800">
                <a:solidFill>
                  <a:srgbClr val="2D3A3A"/>
                </a:solidFill>
              </a:rPr>
              <a:t>Second level</a:t>
            </a:r>
          </a:p>
          <a:p>
            <a:pPr lvl="2"/>
            <a:r>
              <a:rPr lang="en-US" sz="1800">
                <a:solidFill>
                  <a:srgbClr val="2D3A3A"/>
                </a:solidFill>
              </a:rPr>
              <a:t>Third level</a:t>
            </a:r>
          </a:p>
          <a:p>
            <a:pPr lvl="3"/>
            <a:r>
              <a:rPr lang="en-US" sz="1800">
                <a:solidFill>
                  <a:srgbClr val="2D3A3A"/>
                </a:solidFill>
              </a:rPr>
              <a:t>Fourth level</a:t>
            </a:r>
          </a:p>
          <a:p>
            <a:pPr lvl="4"/>
            <a:r>
              <a:rPr lang="en-US" sz="1800">
                <a:solidFill>
                  <a:srgbClr val="2D3A3A"/>
                </a:solidFill>
              </a:rPr>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sz="3200">
                <a:solidFill>
                  <a:srgbClr val="3D5A6C"/>
                </a:solidFill>
              </a:rPr>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solidFill>
                  <a:srgbClr val="3D5A6C"/>
                </a:solidFill>
              </a:rPr>
              <a:t>Click to edit Master title style</a:t>
            </a:r>
          </a:p>
        </p:txBody>
      </p:sp>
      <p:sp>
        <p:nvSpPr>
          <p:cNvPr id="3" name="Vertical Text Placeholder 2"/>
          <p:cNvSpPr>
            <a:spLocks noGrp="1"/>
          </p:cNvSpPr>
          <p:nvPr>
            <p:ph type="body" orient="vert" idx="1"/>
          </p:nvPr>
        </p:nvSpPr>
        <p:spPr/>
        <p:txBody>
          <a:bodyPr vert="eaVert"/>
          <a:lstStyle/>
          <a:p>
            <a:pPr lvl="0"/>
            <a:r>
              <a:rPr lang="en-US" sz="1800">
                <a:solidFill>
                  <a:srgbClr val="2D3A3A"/>
                </a:solidFill>
              </a:rPr>
              <a:t>Click to edit Master text styles</a:t>
            </a:r>
          </a:p>
          <a:p>
            <a:pPr lvl="1"/>
            <a:r>
              <a:rPr lang="en-US" sz="1800">
                <a:solidFill>
                  <a:srgbClr val="2D3A3A"/>
                </a:solidFill>
              </a:rPr>
              <a:t>Second level</a:t>
            </a:r>
          </a:p>
          <a:p>
            <a:pPr lvl="2"/>
            <a:r>
              <a:rPr lang="en-US" sz="1800">
                <a:solidFill>
                  <a:srgbClr val="2D3A3A"/>
                </a:solidFill>
              </a:rPr>
              <a:t>Third level</a:t>
            </a:r>
          </a:p>
          <a:p>
            <a:pPr lvl="3"/>
            <a:r>
              <a:rPr lang="en-US" sz="1800">
                <a:solidFill>
                  <a:srgbClr val="2D3A3A"/>
                </a:solidFill>
              </a:rPr>
              <a:t>Fourth level</a:t>
            </a:r>
          </a:p>
          <a:p>
            <a:pPr lvl="4"/>
            <a:r>
              <a:rPr lang="en-US" sz="1800">
                <a:solidFill>
                  <a:srgbClr val="2D3A3A"/>
                </a:solidFill>
              </a:rPr>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sz="3200">
                <a:solidFill>
                  <a:srgbClr val="3D5A6C"/>
                </a:solidFill>
              </a:rPr>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sz="1800">
                <a:solidFill>
                  <a:srgbClr val="2D3A3A"/>
                </a:solidFill>
              </a:rPr>
              <a:t>Click to edit Master text styles</a:t>
            </a:r>
          </a:p>
          <a:p>
            <a:pPr lvl="1"/>
            <a:r>
              <a:rPr lang="en-US" sz="1800">
                <a:solidFill>
                  <a:srgbClr val="2D3A3A"/>
                </a:solidFill>
              </a:rPr>
              <a:t>Second level</a:t>
            </a:r>
          </a:p>
          <a:p>
            <a:pPr lvl="2"/>
            <a:r>
              <a:rPr lang="en-US" sz="1800">
                <a:solidFill>
                  <a:srgbClr val="2D3A3A"/>
                </a:solidFill>
              </a:rPr>
              <a:t>Third level</a:t>
            </a:r>
          </a:p>
          <a:p>
            <a:pPr lvl="3"/>
            <a:r>
              <a:rPr lang="en-US" sz="1800">
                <a:solidFill>
                  <a:srgbClr val="2D3A3A"/>
                </a:solidFill>
              </a:rPr>
              <a:t>Fourth level</a:t>
            </a:r>
          </a:p>
          <a:p>
            <a:pPr lvl="4"/>
            <a:r>
              <a:rPr lang="en-US" sz="1800">
                <a:solidFill>
                  <a:srgbClr val="2D3A3A"/>
                </a:solidFill>
              </a:rPr>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lgn="ctr">
              <a:buNone/>
            </a:pPr>
            <a:r>
              <a:rPr sz="3600" b="1">
                <a:solidFill>
                  <a:srgbClr val="3D5A6C"/>
                </a:solidFill>
              </a:rPr>
              <a:t>HappyRow</a:t>
            </a:r>
          </a:p>
        </p:txBody>
      </p:sp>
      <p:sp>
        <p:nvSpPr>
          <p:cNvPr id="3" name="Subtitle 2"/>
          <p:cNvSpPr>
            <a:spLocks noGrp="1"/>
          </p:cNvSpPr>
          <p:nvPr>
            <p:ph idx="1" type="subTitle"/>
          </p:nvPr>
        </p:nvSpPr>
        <p:spPr>
          <a:xfrm>
            <a:off x="1371600" y="2914650"/>
            <a:ext cx="6400800" cy="1314450"/>
          </a:xfrm>
        </p:spPr>
        <p:txBody>
          <a:bodyPr/>
          <a:lstStyle/>
          <a:p>
            <a:pPr lvl="0" indent="0" marL="0" algn="ctr">
              <a:buNone/>
            </a:pPr>
            <a:r>
              <a:rPr sz="1800">
                <a:solidFill>
                  <a:srgbClr val="5FBDB4"/>
                </a:solidFill>
              </a:rPr>
              <a:t>Plateforme collaborative de gestion d’événements — Titre Professionnel CDA</a:t>
            </a:r>
            <a:br/>
            <a:br/>
            <a:r>
              <a:rPr sz="1800">
                <a:solidFill>
                  <a:srgbClr val="5FBDB4"/>
                </a:solidFill>
              </a:rPr>
              <a:t>[Nom Prénom]</a:t>
            </a:r>
          </a:p>
        </p:txBody>
      </p:sp>
      <p:sp>
        <p:nvSpPr>
          <p:cNvPr id="4" name="Date Placeholder 3"/>
          <p:cNvSpPr>
            <a:spLocks noGrp="1"/>
          </p:cNvSpPr>
          <p:nvPr>
            <p:ph idx="10" sz="half" type="dt"/>
          </p:nvPr>
        </p:nvSpPr>
        <p:spPr/>
        <p:txBody>
          <a:bodyPr/>
          <a:lstStyle/>
          <a:p>
            <a:pPr lvl="0" indent="0" marL="0">
              <a:buNone/>
            </a:pPr>
            <a:r>
              <a:rPr/>
              <a:t>[Date de session]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Page titre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b="1">
                <a:solidFill>
                  <a:srgbClr val="3D5A6C"/>
                </a:solidFill>
              </a:rPr>
              <a:t>Plateforme collaborative de gestion d’événements</a:t>
            </a:r>
          </a:p>
        </p:txBody>
      </p:sp>
      <p:sp>
        <p:nvSpPr>
          <p:cNvPr id="4" name="Text Placeholder 3"/>
          <p:cNvSpPr>
            <a:spLocks noGrp="1"/>
          </p:cNvSpPr>
          <p:nvPr>
            <p:ph idx="2" sz="half" type="body"/>
          </p:nvPr>
        </p:nvSpPr>
        <p:spPr/>
        <p:txBody>
          <a:bodyPr/>
          <a:lstStyle/>
          <a:p>
            <a:pPr lvl="0" indent="0" marL="0">
              <a:buNone/>
            </a:pPr>
            <a:r>
              <a:rPr b="1"/>
              <a:t>Titre Professionnel visé</a:t>
            </a:r>
            <a:r>
              <a:rPr/>
              <a:t> : Concepteur Développeur d’Applications (CDA) — Niveau 6</a:t>
            </a:r>
          </a:p>
          <a:p>
            <a:pPr lvl="0" indent="0" marL="0">
              <a:buNone/>
            </a:pPr>
            <a:r>
              <a:rPr b="1"/>
              <a:t>Candidat</a:t>
            </a:r>
            <a:r>
              <a:rPr/>
              <a:t> : </a:t>
            </a:r>
            <a:r>
              <a:rPr i="1"/>
              <a:t>[Nom Prénom]</a:t>
            </a:r>
          </a:p>
          <a:p>
            <a:pPr lvl="0" indent="0" marL="0">
              <a:buNone/>
            </a:pPr>
            <a:r>
              <a:rPr b="1"/>
              <a:t>Date de session</a:t>
            </a:r>
            <a:r>
              <a:rPr/>
              <a:t> : </a:t>
            </a:r>
            <a:r>
              <a:rPr i="1"/>
              <a:t>[À compléter]</a:t>
            </a:r>
          </a:p>
          <a:p>
            <a:pPr lvl="0" indent="0" marL="0">
              <a:buNone/>
            </a:pPr>
            <a:r>
              <a:rPr b="1"/>
              <a:t>Centre de formation</a:t>
            </a:r>
            <a:r>
              <a:rPr/>
              <a:t> : </a:t>
            </a:r>
            <a:r>
              <a:rPr i="1"/>
              <a:t>[À compléter]</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Dépôt</a:t>
                      </a:r>
                    </a:p>
                  </a:txBody>
                  <a:tcPr/>
                </a:tc>
                <a:tc>
                  <a:txBody>
                    <a:bodyPr/>
                    <a:lstStyle/>
                    <a:p>
                      <a:pPr lvl="0" indent="0" marL="0">
                        <a:buNone/>
                      </a:pPr>
                      <a:r>
                        <a:rPr/>
                        <a:t>Stack</a:t>
                      </a:r>
                    </a:p>
                  </a:txBody>
                  <a:tcPr/>
                </a:tc>
              </a:tr>
              <a:tr h="0">
                <a:tc>
                  <a:txBody>
                    <a:bodyPr/>
                    <a:lstStyle/>
                    <a:p>
                      <a:pPr lvl="0" indent="0" marL="0">
                        <a:buNone/>
                      </a:pPr>
                      <a:r>
                        <a:rPr>
                          <a:latin typeface="Courier"/>
                        </a:rPr>
                        <a:t>happyrow-core</a:t>
                      </a:r>
                    </a:p>
                  </a:txBody>
                </a:tc>
                <a:tc>
                  <a:txBody>
                    <a:bodyPr/>
                    <a:lstStyle/>
                    <a:p>
                      <a:pPr lvl="0" indent="0" marL="0">
                        <a:buNone/>
                      </a:pPr>
                      <a:r>
                        <a:rPr/>
                        <a:t>Back-end — Kotlin / Ktor / PostgreSQL</a:t>
                      </a:r>
                    </a:p>
                  </a:txBody>
                </a:tc>
              </a:tr>
              <a:tr h="0">
                <a:tc>
                  <a:txBody>
                    <a:bodyPr/>
                    <a:lstStyle/>
                    <a:p>
                      <a:pPr lvl="0" indent="0" marL="0">
                        <a:buNone/>
                      </a:pPr>
                      <a:r>
                        <a:rPr>
                          <a:latin typeface="Courier"/>
                        </a:rPr>
                        <a:t>happyrow-front</a:t>
                      </a:r>
                    </a:p>
                  </a:txBody>
                </a:tc>
                <a:tc>
                  <a:txBody>
                    <a:bodyPr/>
                    <a:lstStyle/>
                    <a:p>
                      <a:pPr lvl="0" indent="0" marL="0">
                        <a:buNone/>
                      </a:pPr>
                      <a:r>
                        <a:rPr/>
                        <a:t>Front-end — React 19 / TypeScript</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Sommaire</a:t>
            </a:r>
          </a:p>
        </p:txBody>
      </p:sp>
      <p:sp>
        <p:nvSpPr>
          <p:cNvPr id="3" name="Content Placeholder 2"/>
          <p:cNvSpPr>
            <a:spLocks noGrp="1"/>
          </p:cNvSpPr>
          <p:nvPr>
            <p:ph idx="1"/>
          </p:nvPr>
        </p:nvSpPr>
        <p:spPr/>
        <p:txBody>
          <a:bodyPr/>
          <a:lstStyle/>
          <a:p>
            <a:pPr lvl="0" indent="-342900" marL="342900">
              <a:buAutoNum type="arabicPeriod"/>
            </a:pPr>
            <a:r>
              <a:rPr b="1"/>
              <a:t>Contexte</a:t>
            </a:r>
            <a:r>
              <a:rPr/>
              <a:t> — Formation, rôle, environnement de travail</a:t>
            </a:r>
          </a:p>
          <a:p>
            <a:pPr lvl="0" indent="-342900" marL="342900">
              <a:buAutoNum type="arabicPeriod"/>
            </a:pPr>
            <a:r>
              <a:rPr b="1"/>
              <a:t>Cahier des charges</a:t>
            </a:r>
            <a:r>
              <a:rPr/>
              <a:t> — Besoins, contraintes, livrables</a:t>
            </a:r>
          </a:p>
          <a:p>
            <a:pPr lvl="0" indent="-342900" marL="342900">
              <a:buAutoNum type="arabicPeriod"/>
            </a:pPr>
            <a:r>
              <a:rPr b="1"/>
              <a:t>Gestion de projet</a:t>
            </a:r>
            <a:r>
              <a:rPr/>
              <a:t> — Kanban, suivi, qualité</a:t>
            </a:r>
          </a:p>
          <a:p>
            <a:pPr lvl="0" indent="-342900" marL="342900">
              <a:buAutoNum type="arabicPeriod"/>
            </a:pPr>
            <a:r>
              <a:rPr b="1"/>
              <a:t>Spécifications fonctionnelles</a:t>
            </a:r>
            <a:r>
              <a:rPr/>
              <a:t> — Architecture, maquettes, MCD, séquences</a:t>
            </a:r>
          </a:p>
          <a:p>
            <a:pPr lvl="0" indent="-342900" marL="342900">
              <a:buAutoNum type="arabicPeriod"/>
            </a:pPr>
            <a:r>
              <a:rPr b="1"/>
              <a:t>Réalisations — UI</a:t>
            </a:r>
            <a:r>
              <a:rPr/>
              <a:t> — Captures d’écran, code React</a:t>
            </a:r>
          </a:p>
          <a:p>
            <a:pPr lvl="0" indent="-342900" marL="342900">
              <a:buAutoNum type="arabicPeriod"/>
            </a:pPr>
            <a:r>
              <a:rPr b="1"/>
              <a:t>Réalisations — Métier</a:t>
            </a:r>
            <a:r>
              <a:rPr/>
              <a:t> — Use cases, modèles domaine, Arrow Either</a:t>
            </a:r>
          </a:p>
          <a:p>
            <a:pPr lvl="0" indent="-342900" marL="342900">
              <a:buAutoNum type="arabicPeriod"/>
            </a:pPr>
            <a:r>
              <a:rPr b="1"/>
              <a:t>Réalisations — Données</a:t>
            </a:r>
            <a:r>
              <a:rPr/>
              <a:t> — Verrou optimiste, repositories SQL</a:t>
            </a:r>
          </a:p>
          <a:p>
            <a:pPr lvl="0" indent="-342900" marL="342900">
              <a:buAutoNum type="arabicPeriod"/>
            </a:pPr>
            <a:r>
              <a:rPr b="1"/>
              <a:t>Réalisations — Autres composants</a:t>
            </a:r>
            <a:r>
              <a:rPr/>
              <a:t> — JWT, endpoints REST, erreurs</a:t>
            </a:r>
          </a:p>
          <a:p>
            <a:pPr lvl="0" indent="-342900" marL="342900">
              <a:buAutoNum type="arabicPeriod"/>
            </a:pPr>
            <a:r>
              <a:rPr b="1"/>
              <a:t>Sécurité</a:t>
            </a:r>
            <a:r>
              <a:rPr/>
              <a:t> — Auth, applicative, infrastructure, éco-conception</a:t>
            </a:r>
          </a:p>
          <a:p>
            <a:pPr lvl="0" indent="-342900" marL="342900">
              <a:buAutoNum type="arabicPeriod"/>
            </a:pPr>
            <a:r>
              <a:rPr b="1"/>
              <a:t>Tests et jeu d’essai</a:t>
            </a:r>
            <a:r>
              <a:rPr/>
              <a:t> — Stratégie, Kotest, scénarios</a:t>
            </a:r>
          </a:p>
          <a:p>
            <a:pPr lvl="0" indent="-342900" marL="342900">
              <a:buAutoNum type="arabicPeriod"/>
            </a:pPr>
            <a:r>
              <a:rPr b="1"/>
              <a:t>Déploiement et DevOps</a:t>
            </a:r>
            <a:r>
              <a:rPr/>
              <a:t> — Docker, CI/CD, mise en production</a:t>
            </a:r>
          </a:p>
          <a:p>
            <a:pPr lvl="0" indent="-342900" marL="342900">
              <a:buAutoNum type="arabicPeriod"/>
            </a:pPr>
            <a:r>
              <a:rPr b="1"/>
              <a:t>Veille sécurité</a:t>
            </a:r>
            <a:r>
              <a:rPr/>
              <a:t> — OWASP Top 10, CVE</a:t>
            </a:r>
          </a:p>
          <a:p>
            <a:pPr lvl="0" indent="-342900" marL="342900">
              <a:buAutoNum type="arabicPeriod"/>
            </a:pPr>
            <a:r>
              <a:rPr b="1"/>
              <a:t>Synthèse et conclusion</a:t>
            </a:r>
            <a:r>
              <a:rPr/>
              <a:t> — Bilan, perspectives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b="1">
                <a:solidFill>
                  <a:srgbClr val="3D5A6C"/>
                </a:solidFill>
              </a:rPr>
              <a:t>Compétences CDA mises en œuvre</a:t>
            </a:r>
          </a:p>
        </p:txBody>
      </p:sp>
      <p:sp>
        <p:nvSpPr>
          <p:cNvPr id="4" name="Text Placeholder 3"/>
          <p:cNvSpPr>
            <a:spLocks noGrp="1"/>
          </p:cNvSpPr>
          <p:nvPr>
            <p:ph idx="2" sz="half" type="body"/>
          </p:nvPr>
        </p:nvSpPr>
        <p:spPr/>
        <p:txBody>
          <a:bodyPr/>
          <a:lstStyle/>
          <a:p>
            <a:pPr lvl="0" indent="0" marL="0">
              <a:buNone/>
            </a:pPr>
            <a:r>
              <a:rPr b="1"/>
              <a:t>CCP 1 — Développer une application sécurisée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Compétence</a:t>
                      </a:r>
                    </a:p>
                  </a:txBody>
                  <a:tcPr/>
                </a:tc>
                <a:tc>
                  <a:txBody>
                    <a:bodyPr/>
                    <a:lstStyle/>
                    <a:p>
                      <a:pPr lvl="0" indent="0" marL="0">
                        <a:buNone/>
                      </a:pPr>
                      <a:r>
                        <a:rPr/>
                        <a:t>Mise en œuvre</a:t>
                      </a:r>
                    </a:p>
                  </a:txBody>
                  <a:tcPr/>
                </a:tc>
              </a:tr>
              <a:tr h="0">
                <a:tc>
                  <a:txBody>
                    <a:bodyPr/>
                    <a:lstStyle/>
                    <a:p>
                      <a:pPr lvl="0" indent="0" marL="0">
                        <a:buNone/>
                      </a:pPr>
                      <a:r>
                        <a:rPr b="1"/>
                        <a:t>C1 — Installer et configurer l’environnement</a:t>
                      </a:r>
                    </a:p>
                  </a:txBody>
                </a:tc>
                <a:tc>
                  <a:txBody>
                    <a:bodyPr/>
                    <a:lstStyle/>
                    <a:p>
                      <a:pPr lvl="0" indent="0" marL="0">
                        <a:buNone/>
                      </a:pPr>
                      <a:r>
                        <a:rPr/>
                        <a:t>Kotlin 2.2 / JDK 21, Gradle multi-modules, Docker, IntelliJ IDEA, docker-compose</a:t>
                      </a:r>
                    </a:p>
                  </a:txBody>
                </a:tc>
              </a:tr>
              <a:tr h="0">
                <a:tc>
                  <a:txBody>
                    <a:bodyPr/>
                    <a:lstStyle/>
                    <a:p>
                      <a:pPr lvl="0" indent="0" marL="0">
                        <a:buNone/>
                      </a:pPr>
                      <a:r>
                        <a:rPr b="1"/>
                        <a:t>C2 — Développer des interfaces utilisateur</a:t>
                      </a:r>
                    </a:p>
                  </a:txBody>
                </a:tc>
                <a:tc>
                  <a:txBody>
                    <a:bodyPr/>
                    <a:lstStyle/>
                    <a:p>
                      <a:pPr lvl="0" indent="0" marL="0">
                        <a:buNone/>
                      </a:pPr>
                      <a:r>
                        <a:rPr/>
                        <a:t>Endpoints REST Ktor + SPA React 19 / TypeScript (8 vues, 6 modales)</a:t>
                      </a:r>
                    </a:p>
                  </a:txBody>
                </a:tc>
              </a:tr>
              <a:tr h="0">
                <a:tc>
                  <a:txBody>
                    <a:bodyPr/>
                    <a:lstStyle/>
                    <a:p>
                      <a:pPr lvl="0" indent="0" marL="0">
                        <a:buNone/>
                      </a:pPr>
                      <a:r>
                        <a:rPr b="1"/>
                        <a:t>C3 — Développer des composants métier</a:t>
                      </a:r>
                    </a:p>
                  </a:txBody>
                </a:tc>
                <a:tc>
                  <a:txBody>
                    <a:bodyPr/>
                    <a:lstStyle/>
                    <a:p>
                      <a:pPr lvl="0" indent="0" marL="0">
                        <a:buNone/>
                      </a:pPr>
                      <a:r>
                        <a:rPr/>
                        <a:t>12 use cases (module </a:t>
                      </a:r>
                      <a:r>
                        <a:rPr>
                          <a:latin typeface="Courier"/>
                        </a:rPr>
                        <a:t>domain</a:t>
                      </a:r>
                      <a:r>
                        <a:rPr/>
                        <a:t>), Arrow Either, verrou optimiste</a:t>
                      </a:r>
                    </a:p>
                  </a:txBody>
                </a:tc>
              </a:tr>
              <a:tr h="0">
                <a:tc>
                  <a:txBody>
                    <a:bodyPr/>
                    <a:lstStyle/>
                    <a:p>
                      <a:pPr lvl="0" indent="0" marL="0">
                        <a:buNone/>
                      </a:pPr>
                      <a:r>
                        <a:rPr b="1"/>
                        <a:t>C4 — Contribuer à la gestion de projet</a:t>
                      </a:r>
                    </a:p>
                  </a:txBody>
                </a:tc>
                <a:tc>
                  <a:txBody>
                    <a:bodyPr/>
                    <a:lstStyle/>
                    <a:p>
                      <a:pPr lvl="0" indent="0" marL="0">
                        <a:buNone/>
                      </a:pPr>
                      <a:r>
                        <a:rPr/>
                        <a:t>Kanban GitHub, CI/CD GitHub Actions, Detekt + Spotless</a:t>
                      </a:r>
                    </a:p>
                  </a:txBody>
                </a:tc>
              </a:tr>
            </a:tbl>
          </a:graphicData>
        </a:graphic>
      </p:graphicFrame>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L’organisme et la promotion</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0" bandRow="1">
                <a:tableStyleId>{5C22544A-7EE6-4342-B048-85BDC9FD1C3A}</a:tableStyleId>
              </a:tblPr>
              <a:tblGrid>
                <a:gridCol w="4114800"/>
                <a:gridCol w="4114800"/>
              </a:tblGrid>
              <a:tr h="0">
                <a:tc>
                  <a:txBody>
                    <a:bodyPr/>
                    <a:lstStyle/>
                    <a:p>
                      <a:pPr lvl="0" indent="0" marL="0">
                        <a:buNone/>
                      </a:pPr>
                      <a:r>
                        <a:rPr b="1"/>
                        <a:t>Organisme</a:t>
                      </a:r>
                    </a:p>
                  </a:txBody>
                </a:tc>
                <a:tc>
                  <a:txBody>
                    <a:bodyPr/>
                    <a:lstStyle/>
                    <a:p>
                      <a:pPr lvl="0" indent="0" marL="0">
                        <a:buNone/>
                      </a:pPr>
                      <a:r>
                        <a:rPr i="1"/>
                        <a:t>[Nom du centre de formation]</a:t>
                      </a:r>
                    </a:p>
                  </a:txBody>
                </a:tc>
              </a:tr>
              <a:tr h="0">
                <a:tc>
                  <a:txBody>
                    <a:bodyPr/>
                    <a:lstStyle/>
                    <a:p>
                      <a:pPr lvl="0" indent="0" marL="0">
                        <a:buNone/>
                      </a:pPr>
                      <a:r>
                        <a:rPr b="1"/>
                        <a:t>Formation</a:t>
                      </a:r>
                    </a:p>
                  </a:txBody>
                </a:tc>
                <a:tc>
                  <a:txBody>
                    <a:bodyPr/>
                    <a:lstStyle/>
                    <a:p>
                      <a:pPr lvl="0" indent="0" marL="0">
                        <a:buNone/>
                      </a:pPr>
                      <a:r>
                        <a:rPr/>
                        <a:t>Titre Professionnel CDA — Niveau 6</a:t>
                      </a:r>
                    </a:p>
                  </a:txBody>
                </a:tc>
              </a:tr>
              <a:tr h="0">
                <a:tc>
                  <a:txBody>
                    <a:bodyPr/>
                    <a:lstStyle/>
                    <a:p>
                      <a:pPr lvl="0" indent="0" marL="0">
                        <a:buNone/>
                      </a:pPr>
                      <a:r>
                        <a:rPr b="1"/>
                        <a:t>Promotion</a:t>
                      </a:r>
                    </a:p>
                  </a:txBody>
                </a:tc>
                <a:tc>
                  <a:txBody>
                    <a:bodyPr/>
                    <a:lstStyle/>
                    <a:p>
                      <a:pPr lvl="0" indent="0" marL="0">
                        <a:buNone/>
                      </a:pPr>
                      <a:r>
                        <a:rPr i="1"/>
                        <a:t>[Promotion CDA 2025-2026]</a:t>
                      </a:r>
                    </a:p>
                  </a:txBody>
                </a:tc>
              </a:tr>
              <a:tr h="0">
                <a:tc>
                  <a:txBody>
                    <a:bodyPr/>
                    <a:lstStyle/>
                    <a:p>
                      <a:pPr lvl="0" indent="0" marL="0">
                        <a:buNone/>
                      </a:pPr>
                      <a:r>
                        <a:rPr b="1"/>
                        <a:t>Effectif</a:t>
                      </a:r>
                    </a:p>
                  </a:txBody>
                </a:tc>
                <a:tc>
                  <a:txBody>
                    <a:bodyPr/>
                    <a:lstStyle/>
                    <a:p>
                      <a:pPr lvl="0" indent="0" marL="0">
                        <a:buNone/>
                      </a:pPr>
                      <a:r>
                        <a:rPr i="1"/>
                        <a:t>[X apprenants]</a:t>
                      </a:r>
                    </a:p>
                  </a:txBody>
                </a:tc>
              </a:tr>
              <a:tr h="0">
                <a:tc>
                  <a:txBody>
                    <a:bodyPr/>
                    <a:lstStyle/>
                    <a:p>
                      <a:pPr lvl="0" indent="0" marL="0">
                        <a:buNone/>
                      </a:pPr>
                      <a:r>
                        <a:rPr b="1"/>
                        <a:t>Encadrement</a:t>
                      </a:r>
                    </a:p>
                  </a:txBody>
                </a:tc>
                <a:tc>
                  <a:txBody>
                    <a:bodyPr/>
                    <a:lstStyle/>
                    <a:p>
                      <a:pPr lvl="0" indent="0" marL="0">
                        <a:buNone/>
                      </a:pPr>
                      <a:r>
                        <a:rPr i="1"/>
                        <a:t>[X formateurs techniques]</a:t>
                      </a:r>
                    </a:p>
                  </a:txBody>
                </a:tc>
              </a:tr>
            </a:tbl>
          </a:graphicData>
        </a:graphic>
      </p:graphicFrame>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Mon rôle et le projet</a:t>
            </a:r>
          </a:p>
        </p:txBody>
      </p:sp>
      <p:sp>
        <p:nvSpPr>
          <p:cNvPr id="3" name="Content Placeholder 2"/>
          <p:cNvSpPr>
            <a:spLocks noGrp="1"/>
          </p:cNvSpPr>
          <p:nvPr>
            <p:ph idx="1"/>
          </p:nvPr>
        </p:nvSpPr>
        <p:spPr/>
        <p:txBody>
          <a:bodyPr/>
          <a:lstStyle/>
          <a:p>
            <a:pPr lvl="0" indent="0" marL="0">
              <a:buNone/>
            </a:pPr>
            <a:r>
              <a:rPr b="1"/>
              <a:t>Projet personnel</a:t>
            </a:r>
            <a:r>
              <a:rPr/>
              <a:t> réalisé en autonomie pendant la formation</a:t>
            </a:r>
          </a:p>
          <a:p>
            <a:pPr lvl="0"/>
            <a:r>
              <a:rPr b="1"/>
              <a:t>Conception</a:t>
            </a:r>
            <a:r>
              <a:rPr/>
              <a:t> : architecture, modèle de données, choix techniques</a:t>
            </a:r>
          </a:p>
          <a:p>
            <a:pPr lvl="0"/>
            <a:r>
              <a:rPr b="1"/>
              <a:t>Développement</a:t>
            </a:r>
            <a:r>
              <a:rPr/>
              <a:t> : back-end (Kotlin/Ktor) + front-end (React/TypeScript)</a:t>
            </a:r>
          </a:p>
          <a:p>
            <a:pPr lvl="0"/>
            <a:r>
              <a:rPr b="1"/>
              <a:t>Tests</a:t>
            </a:r>
            <a:r>
              <a:rPr/>
              <a:t> : unitaires, intégration, E2E, analyse statique</a:t>
            </a:r>
          </a:p>
          <a:p>
            <a:pPr lvl="0"/>
            <a:r>
              <a:rPr b="1"/>
              <a:t>Déploiement</a:t>
            </a:r>
            <a:r>
              <a:rPr/>
              <a:t> : Docker, CI/CD GitHub Actions, Render + Vercel</a:t>
            </a:r>
          </a:p>
          <a:p>
            <a:pPr lvl="0"/>
            <a:r>
              <a:rPr b="1"/>
              <a:t>Encadrement</a:t>
            </a:r>
            <a:r>
              <a:rPr/>
              <a:t> : formateurs en rôle de conseil et validation</a:t>
            </a:r>
          </a:p>
          <a:p>
            <a:pPr lvl="0" indent="0" marL="1270000">
              <a:buNone/>
            </a:pPr>
            <a:r>
              <a:rPr sz="2000"/>
              <a:t>Objectif : couvrir les 11 compétences professionnelles du référentiel CDA</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b="1">
                <a:solidFill>
                  <a:srgbClr val="3D5A6C"/>
                </a:solidFill>
              </a:rPr>
              <a:t>Environnement de travail</a:t>
            </a:r>
          </a:p>
        </p:txBody>
      </p:sp>
      <p:sp>
        <p:nvSpPr>
          <p:cNvPr id="4" name="Text Placeholder 3"/>
          <p:cNvSpPr>
            <a:spLocks noGrp="1"/>
          </p:cNvSpPr>
          <p:nvPr>
            <p:ph idx="2" sz="half" type="body"/>
          </p:nvPr>
        </p:nvSpPr>
        <p:spPr/>
        <p:txBody>
          <a:bodyPr/>
          <a:lstStyle/>
          <a:p>
            <a:pPr lvl="0" indent="0" marL="0">
              <a:buNone/>
            </a:pPr>
            <a:r>
              <a:rPr b="1"/>
              <a:t>Outils de développement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Outil</a:t>
                      </a:r>
                    </a:p>
                  </a:txBody>
                  <a:tcPr/>
                </a:tc>
                <a:tc>
                  <a:txBody>
                    <a:bodyPr/>
                    <a:lstStyle/>
                    <a:p>
                      <a:pPr lvl="0" indent="0" marL="0">
                        <a:buNone/>
                      </a:pPr>
                      <a:r>
                        <a:rPr/>
                        <a:t>Usage</a:t>
                      </a:r>
                    </a:p>
                  </a:txBody>
                  <a:tcPr/>
                </a:tc>
              </a:tr>
              <a:tr h="0">
                <a:tc>
                  <a:txBody>
                    <a:bodyPr/>
                    <a:lstStyle/>
                    <a:p>
                      <a:pPr lvl="0" indent="0" marL="0">
                        <a:buNone/>
                      </a:pPr>
                      <a:r>
                        <a:rPr b="1"/>
                        <a:t>IntelliJ IDEA</a:t>
                      </a:r>
                    </a:p>
                  </a:txBody>
                </a:tc>
                <a:tc>
                  <a:txBody>
                    <a:bodyPr/>
                    <a:lstStyle/>
                    <a:p>
                      <a:pPr lvl="0" indent="0" marL="0">
                        <a:buNone/>
                      </a:pPr>
                      <a:r>
                        <a:rPr/>
                        <a:t>IDE principal (Kotlin, Gradle, Docker)</a:t>
                      </a:r>
                    </a:p>
                  </a:txBody>
                </a:tc>
              </a:tr>
              <a:tr h="0">
                <a:tc>
                  <a:txBody>
                    <a:bodyPr/>
                    <a:lstStyle/>
                    <a:p>
                      <a:pPr lvl="0" indent="0" marL="0">
                        <a:buNone/>
                      </a:pPr>
                      <a:r>
                        <a:rPr b="1"/>
                        <a:t>VS Code</a:t>
                      </a:r>
                    </a:p>
                  </a:txBody>
                </a:tc>
                <a:tc>
                  <a:txBody>
                    <a:bodyPr/>
                    <a:lstStyle/>
                    <a:p>
                      <a:pPr lvl="0" indent="0" marL="0">
                        <a:buNone/>
                      </a:pPr>
                      <a:r>
                        <a:rPr/>
                        <a:t>Développement front-end (React, TypeScript)</a:t>
                      </a:r>
                    </a:p>
                  </a:txBody>
                </a:tc>
              </a:tr>
              <a:tr h="0">
                <a:tc>
                  <a:txBody>
                    <a:bodyPr/>
                    <a:lstStyle/>
                    <a:p>
                      <a:pPr lvl="0" indent="0" marL="0">
                        <a:buNone/>
                      </a:pPr>
                      <a:r>
                        <a:rPr b="1"/>
                        <a:t>JDK 21</a:t>
                      </a:r>
                      <a:r>
                        <a:rPr/>
                        <a:t> (Eclipse Temurin)</a:t>
                      </a:r>
                    </a:p>
                  </a:txBody>
                </a:tc>
                <a:tc>
                  <a:txBody>
                    <a:bodyPr/>
                    <a:lstStyle/>
                    <a:p>
                      <a:pPr lvl="0" indent="0" marL="0">
                        <a:buNone/>
                      </a:pPr>
                      <a:r>
                        <a:rPr/>
                        <a:t>Runtime JVM pour le back-end</a:t>
                      </a:r>
                    </a:p>
                  </a:txBody>
                </a:tc>
              </a:tr>
              <a:tr h="0">
                <a:tc>
                  <a:txBody>
                    <a:bodyPr/>
                    <a:lstStyle/>
                    <a:p>
                      <a:pPr lvl="0" indent="0" marL="0">
                        <a:buNone/>
                      </a:pPr>
                      <a:r>
                        <a:rPr b="1"/>
                        <a:t>Node.js 22</a:t>
                      </a:r>
                    </a:p>
                  </a:txBody>
                </a:tc>
                <a:tc>
                  <a:txBody>
                    <a:bodyPr/>
                    <a:lstStyle/>
                    <a:p>
                      <a:pPr lvl="0" indent="0" marL="0">
                        <a:buNone/>
                      </a:pPr>
                      <a:r>
                        <a:rPr/>
                        <a:t>Runtime front-end, npm, Vite</a:t>
                      </a:r>
                    </a:p>
                  </a:txBody>
                </a:tc>
              </a:tr>
              <a:tr h="0">
                <a:tc>
                  <a:txBody>
                    <a:bodyPr/>
                    <a:lstStyle/>
                    <a:p>
                      <a:pPr lvl="0" indent="0" marL="0">
                        <a:buNone/>
                      </a:pPr>
                      <a:r>
                        <a:rPr b="1"/>
                        <a:t>Docker Desktop</a:t>
                      </a:r>
                    </a:p>
                  </a:txBody>
                </a:tc>
                <a:tc>
                  <a:txBody>
                    <a:bodyPr/>
                    <a:lstStyle/>
                    <a:p>
                      <a:pPr lvl="0" indent="0" marL="0">
                        <a:buNone/>
                      </a:pPr>
                      <a:r>
                        <a:rPr/>
                        <a:t>Conteneurisation, PostgreSQL local</a:t>
                      </a:r>
                    </a:p>
                  </a:txBody>
                </a:tc>
              </a:tr>
              <a:tr h="0">
                <a:tc>
                  <a:txBody>
                    <a:bodyPr/>
                    <a:lstStyle/>
                    <a:p>
                      <a:pPr lvl="0" indent="0" marL="0">
                        <a:buNone/>
                      </a:pPr>
                      <a:r>
                        <a:rPr b="1"/>
                        <a:t>Git + GitHub</a:t>
                      </a:r>
                    </a:p>
                  </a:txBody>
                </a:tc>
                <a:tc>
                  <a:txBody>
                    <a:bodyPr/>
                    <a:lstStyle/>
                    <a:p>
                      <a:pPr lvl="0" indent="0" marL="0">
                        <a:buNone/>
                      </a:pPr>
                      <a:r>
                        <a:rPr/>
                        <a:t>Gestion de versions, collaboration, CI/CD</a:t>
                      </a:r>
                    </a:p>
                  </a:txBody>
                </a:tc>
              </a:tr>
            </a:tbl>
          </a:graphicData>
        </a:graphic>
      </p:graphicFrame>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Contexte et objectifs</a:t>
            </a:r>
          </a:p>
        </p:txBody>
      </p:sp>
      <p:sp>
        <p:nvSpPr>
          <p:cNvPr id="3" name="Content Placeholder 2"/>
          <p:cNvSpPr>
            <a:spLocks noGrp="1"/>
          </p:cNvSpPr>
          <p:nvPr>
            <p:ph idx="1"/>
          </p:nvPr>
        </p:nvSpPr>
        <p:spPr/>
        <p:txBody>
          <a:bodyPr/>
          <a:lstStyle/>
          <a:p>
            <a:pPr lvl="0" indent="0" marL="0">
              <a:buNone/>
            </a:pPr>
            <a:r>
              <a:rPr b="1"/>
              <a:t>HappyRow</a:t>
            </a:r>
            <a:r>
              <a:rPr/>
              <a:t> — Application web collaborative de gestion d’événements</a:t>
            </a:r>
          </a:p>
          <a:p>
            <a:pPr lvl="0" indent="0" marL="0">
              <a:buNone/>
            </a:pPr>
            <a:r>
              <a:rPr b="1"/>
              <a:t>Problème</a:t>
            </a:r>
            <a:r>
              <a:rPr/>
              <a:t> : organiser un événement entre plusieurs personnes repose sur des échanges informels (messages, tableurs) — manque de structure et de visibilité</a:t>
            </a:r>
          </a:p>
          <a:p>
            <a:pPr lvl="0" indent="0" marL="0">
              <a:buNone/>
            </a:pPr>
            <a:r>
              <a:rPr b="1"/>
              <a:t>Solution</a:t>
            </a:r>
            <a:r>
              <a:rPr/>
              <a:t> : centraliser la coordination dans une application dédiée</a:t>
            </a:r>
          </a:p>
          <a:p>
            <a:pPr lvl="0" indent="0" marL="0">
              <a:buNone/>
            </a:pPr>
            <a:r>
              <a:rPr b="1"/>
              <a:t>Objectifs fonctionnels</a:t>
            </a:r>
          </a:p>
          <a:p>
            <a:pPr lvl="0"/>
            <a:r>
              <a:rPr/>
              <a:t>Créer et gérer des événements (fête, anniversaire, dîner…)</a:t>
            </a:r>
          </a:p>
          <a:p>
            <a:pPr lvl="0"/>
            <a:r>
              <a:rPr/>
              <a:t>Inviter des participants et suivre leur statut</a:t>
            </a:r>
          </a:p>
          <a:p>
            <a:pPr lvl="0"/>
            <a:r>
              <a:rPr/>
              <a:t>Définir les ressources nécessaires (nourriture, boissons, ustensiles…)</a:t>
            </a:r>
          </a:p>
          <a:p>
            <a:pPr lvl="0"/>
            <a:r>
              <a:rPr/>
              <a:t>Permettre aux participants de déclarer leurs contributions</a:t>
            </a:r>
          </a:p>
          <a:p>
            <a:pPr lvl="0"/>
            <a:r>
              <a:rPr/>
              <a:t>Gérer les accès concurrents sur les ressources (verrou optimiste)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b="1">
                <a:solidFill>
                  <a:srgbClr val="3D5A6C"/>
                </a:solidFill>
              </a:rPr>
              <a:t>Contraintes techniques et livrables</a:t>
            </a:r>
          </a:p>
        </p:txBody>
      </p:sp>
      <p:sp>
        <p:nvSpPr>
          <p:cNvPr id="4" name="Text Placeholder 3"/>
          <p:cNvSpPr>
            <a:spLocks noGrp="1"/>
          </p:cNvSpPr>
          <p:nvPr>
            <p:ph idx="2" sz="half" type="body"/>
          </p:nvPr>
        </p:nvSpPr>
        <p:spPr/>
        <p:txBody>
          <a:bodyPr/>
          <a:lstStyle/>
          <a:p>
            <a:pPr lvl="0" indent="0" marL="0">
              <a:buNone/>
            </a:pPr>
            <a:r>
              <a:rPr b="1"/>
              <a:t>Contraintes techniques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Contrainte</a:t>
                      </a:r>
                    </a:p>
                  </a:txBody>
                  <a:tcPr/>
                </a:tc>
                <a:tc>
                  <a:txBody>
                    <a:bodyPr/>
                    <a:lstStyle/>
                    <a:p>
                      <a:pPr lvl="0" indent="0" marL="0">
                        <a:buNone/>
                      </a:pPr>
                      <a:r>
                        <a:rPr/>
                        <a:t>Choix</a:t>
                      </a:r>
                    </a:p>
                  </a:txBody>
                  <a:tcPr/>
                </a:tc>
              </a:tr>
              <a:tr h="0">
                <a:tc>
                  <a:txBody>
                    <a:bodyPr/>
                    <a:lstStyle/>
                    <a:p>
                      <a:pPr lvl="0" indent="0" marL="0">
                        <a:buNone/>
                      </a:pPr>
                      <a:r>
                        <a:rPr/>
                        <a:t>Langage</a:t>
                      </a:r>
                    </a:p>
                  </a:txBody>
                </a:tc>
                <a:tc>
                  <a:txBody>
                    <a:bodyPr/>
                    <a:lstStyle/>
                    <a:p>
                      <a:pPr lvl="0" indent="0" marL="0">
                        <a:buNone/>
                      </a:pPr>
                      <a:r>
                        <a:rPr/>
                        <a:t>Kotlin 2.2 / JVM 21</a:t>
                      </a:r>
                    </a:p>
                  </a:txBody>
                </a:tc>
              </a:tr>
              <a:tr h="0">
                <a:tc>
                  <a:txBody>
                    <a:bodyPr/>
                    <a:lstStyle/>
                    <a:p>
                      <a:pPr lvl="0" indent="0" marL="0">
                        <a:buNone/>
                      </a:pPr>
                      <a:r>
                        <a:rPr/>
                        <a:t>Framework web</a:t>
                      </a:r>
                    </a:p>
                  </a:txBody>
                </a:tc>
                <a:tc>
                  <a:txBody>
                    <a:bodyPr/>
                    <a:lstStyle/>
                    <a:p>
                      <a:pPr lvl="0" indent="0" marL="0">
                        <a:buNone/>
                      </a:pPr>
                      <a:r>
                        <a:rPr/>
                        <a:t>Ktor 3.2.2</a:t>
                      </a:r>
                    </a:p>
                  </a:txBody>
                </a:tc>
              </a:tr>
              <a:tr h="0">
                <a:tc>
                  <a:txBody>
                    <a:bodyPr/>
                    <a:lstStyle/>
                    <a:p>
                      <a:pPr lvl="0" indent="0" marL="0">
                        <a:buNone/>
                      </a:pPr>
                      <a:r>
                        <a:rPr/>
                        <a:t>Base de données</a:t>
                      </a:r>
                    </a:p>
                  </a:txBody>
                </a:tc>
                <a:tc>
                  <a:txBody>
                    <a:bodyPr/>
                    <a:lstStyle/>
                    <a:p>
                      <a:pPr lvl="0" indent="0" marL="0">
                        <a:buNone/>
                      </a:pPr>
                      <a:r>
                        <a:rPr/>
                        <a:t>PostgreSQL</a:t>
                      </a:r>
                    </a:p>
                  </a:txBody>
                </a:tc>
              </a:tr>
              <a:tr h="0">
                <a:tc>
                  <a:txBody>
                    <a:bodyPr/>
                    <a:lstStyle/>
                    <a:p>
                      <a:pPr lvl="0" indent="0" marL="0">
                        <a:buNone/>
                      </a:pPr>
                      <a:r>
                        <a:rPr/>
                        <a:t>Authentification</a:t>
                      </a:r>
                    </a:p>
                  </a:txBody>
                </a:tc>
                <a:tc>
                  <a:txBody>
                    <a:bodyPr/>
                    <a:lstStyle/>
                    <a:p>
                      <a:pPr lvl="0" indent="0" marL="0">
                        <a:buNone/>
                      </a:pPr>
                      <a:r>
                        <a:rPr/>
                        <a:t>JWT via Supabase (HMAC256)</a:t>
                      </a:r>
                    </a:p>
                  </a:txBody>
                </a:tc>
              </a:tr>
              <a:tr h="0">
                <a:tc>
                  <a:txBody>
                    <a:bodyPr/>
                    <a:lstStyle/>
                    <a:p>
                      <a:pPr lvl="0" indent="0" marL="0">
                        <a:buNone/>
                      </a:pPr>
                      <a:r>
                        <a:rPr/>
                        <a:t>Architecture</a:t>
                      </a:r>
                    </a:p>
                  </a:txBody>
                </a:tc>
                <a:tc>
                  <a:txBody>
                    <a:bodyPr/>
                    <a:lstStyle/>
                    <a:p>
                      <a:pPr lvl="0" indent="0" marL="0">
                        <a:buNone/>
                      </a:pPr>
                      <a:r>
                        <a:rPr/>
                        <a:t>Hexagonale (Ports &amp; Adapters)</a:t>
                      </a:r>
                    </a:p>
                  </a:txBody>
                </a:tc>
              </a:tr>
              <a:tr h="0">
                <a:tc>
                  <a:txBody>
                    <a:bodyPr/>
                    <a:lstStyle/>
                    <a:p>
                      <a:pPr lvl="0" indent="0" marL="0">
                        <a:buNone/>
                      </a:pPr>
                      <a:r>
                        <a:rPr/>
                        <a:t>Front-end</a:t>
                      </a:r>
                    </a:p>
                  </a:txBody>
                </a:tc>
                <a:tc>
                  <a:txBody>
                    <a:bodyPr/>
                    <a:lstStyle/>
                    <a:p>
                      <a:pPr lvl="0" indent="0" marL="0">
                        <a:buNone/>
                      </a:pPr>
                      <a:r>
                        <a:rPr/>
                        <a:t>React 19 / TypeScript — SPA + PWA</a:t>
                      </a:r>
                    </a:p>
                  </a:txBody>
                </a:tc>
              </a:tr>
              <a:tr h="0">
                <a:tc>
                  <a:txBody>
                    <a:bodyPr/>
                    <a:lstStyle/>
                    <a:p>
                      <a:pPr lvl="0" indent="0" marL="0">
                        <a:buNone/>
                      </a:pPr>
                      <a:r>
                        <a:rPr/>
                        <a:t>Déploiement</a:t>
                      </a:r>
                    </a:p>
                  </a:txBody>
                </a:tc>
                <a:tc>
                  <a:txBody>
                    <a:bodyPr/>
                    <a:lstStyle/>
                    <a:p>
                      <a:pPr lvl="0" indent="0" marL="0">
                        <a:buNone/>
                      </a:pPr>
                      <a:r>
                        <a:rPr/>
                        <a:t>Docker + Render (back) / Vercel (front)</a:t>
                      </a:r>
                    </a:p>
                  </a:txBody>
                </a:tc>
              </a:tr>
              <a:tr h="0">
                <a:tc>
                  <a:txBody>
                    <a:bodyPr/>
                    <a:lstStyle/>
                    <a:p>
                      <a:pPr lvl="0" indent="0" marL="0">
                        <a:buNone/>
                      </a:pPr>
                      <a:r>
                        <a:rPr/>
                        <a:t>Qualité</a:t>
                      </a:r>
                    </a:p>
                  </a:txBody>
                </a:tc>
                <a:tc>
                  <a:txBody>
                    <a:bodyPr/>
                    <a:lstStyle/>
                    <a:p>
                      <a:pPr lvl="0" indent="0" marL="0">
                        <a:buNone/>
                      </a:pPr>
                      <a:r>
                        <a:rPr/>
                        <a:t>Detekt + Spotless obligatoires en CI</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b="1">
                <a:solidFill>
                  <a:srgbClr val="3D5A6C"/>
                </a:solidFill>
              </a:rPr>
              <a:t>Méthodologie et planning</a:t>
            </a:r>
          </a:p>
        </p:txBody>
      </p:sp>
      <p:sp>
        <p:nvSpPr>
          <p:cNvPr id="4" name="Text Placeholder 3"/>
          <p:cNvSpPr>
            <a:spLocks noGrp="1"/>
          </p:cNvSpPr>
          <p:nvPr>
            <p:ph idx="2" sz="half" type="body"/>
          </p:nvPr>
        </p:nvSpPr>
        <p:spPr/>
        <p:txBody>
          <a:bodyPr/>
          <a:lstStyle/>
          <a:p>
            <a:pPr lvl="0" indent="0" marL="0">
              <a:buNone/>
            </a:pPr>
            <a:r>
              <a:rPr b="1"/>
              <a:t>Kanban — GitHub Issues + Projects</a:t>
            </a:r>
          </a:p>
          <a:p>
            <a:pPr lvl="0"/>
            <a:r>
              <a:rPr b="1"/>
              <a:t>To Do</a:t>
            </a:r>
            <a:r>
              <a:rPr/>
              <a:t> → </a:t>
            </a:r>
            <a:r>
              <a:rPr b="1"/>
              <a:t>In Progress</a:t>
            </a:r>
            <a:r>
              <a:rPr/>
              <a:t> → </a:t>
            </a:r>
            <a:r>
              <a:rPr b="1"/>
              <a:t>Done</a:t>
            </a:r>
          </a:p>
          <a:p>
            <a:pPr lvl="0"/>
            <a:r>
              <a:rPr/>
              <a:t>WIP limité pour rester focalisé</a:t>
            </a:r>
          </a:p>
          <a:p>
            <a:pPr lvl="0"/>
            <a:r>
              <a:rPr/>
              <a:t>Livraison continue et incrémentale</a:t>
            </a:r>
          </a:p>
          <a:p>
            <a:pPr lvl="0" indent="0" marL="0">
              <a:buNone/>
            </a:pPr>
            <a:r>
              <a:rPr b="1"/>
              <a:t>Planning en 5 phases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320800"/>
                <a:gridCol w="1701800"/>
                <a:gridCol w="2082800"/>
              </a:tblGrid>
              <a:tr h="0">
                <a:tc>
                  <a:txBody>
                    <a:bodyPr/>
                    <a:lstStyle/>
                    <a:p>
                      <a:pPr lvl="0" indent="0" marL="0">
                        <a:buNone/>
                      </a:pPr>
                      <a:r>
                        <a:rPr/>
                        <a:t>Phase</a:t>
                      </a:r>
                    </a:p>
                  </a:txBody>
                  <a:tcPr/>
                </a:tc>
                <a:tc>
                  <a:txBody>
                    <a:bodyPr/>
                    <a:lstStyle/>
                    <a:p>
                      <a:pPr lvl="0" indent="0" marL="0">
                        <a:buNone/>
                      </a:pPr>
                      <a:r>
                        <a:rPr/>
                        <a:t>Contenu</a:t>
                      </a:r>
                    </a:p>
                  </a:txBody>
                  <a:tcPr/>
                </a:tc>
                <a:tc>
                  <a:txBody>
                    <a:bodyPr/>
                    <a:lstStyle/>
                    <a:p>
                      <a:pPr lvl="0" indent="0" marL="0">
                        <a:buNone/>
                      </a:pPr>
                      <a:r>
                        <a:rPr/>
                        <a:t>Livrables</a:t>
                      </a:r>
                    </a:p>
                  </a:txBody>
                  <a:tcPr/>
                </a:tc>
              </a:tr>
              <a:tr h="0">
                <a:tc>
                  <a:txBody>
                    <a:bodyPr/>
                    <a:lstStyle/>
                    <a:p>
                      <a:pPr lvl="0" indent="0" marL="0">
                        <a:buNone/>
                      </a:pPr>
                      <a:r>
                        <a:rPr b="1"/>
                        <a:t>1. Fondations</a:t>
                      </a:r>
                    </a:p>
                  </a:txBody>
                </a:tc>
                <a:tc>
                  <a:txBody>
                    <a:bodyPr/>
                    <a:lstStyle/>
                    <a:p>
                      <a:pPr lvl="0" indent="0" marL="0">
                        <a:buNone/>
                      </a:pPr>
                      <a:r>
                        <a:rPr/>
                        <a:t>Architecture hexagonale, Gradle, Docker, PostgreSQL, CI/CD</a:t>
                      </a:r>
                    </a:p>
                  </a:txBody>
                </a:tc>
                <a:tc>
                  <a:txBody>
                    <a:bodyPr/>
                    <a:lstStyle/>
                    <a:p>
                      <a:pPr lvl="0" indent="0" marL="0">
                        <a:buNone/>
                      </a:pPr>
                      <a:r>
                        <a:rPr/>
                        <a:t>Projet compilable, pipeline fonctionnel</a:t>
                      </a:r>
                    </a:p>
                  </a:txBody>
                </a:tc>
              </a:tr>
              <a:tr h="0">
                <a:tc>
                  <a:txBody>
                    <a:bodyPr/>
                    <a:lstStyle/>
                    <a:p>
                      <a:pPr lvl="0" indent="0" marL="0">
                        <a:buNone/>
                      </a:pPr>
                      <a:r>
                        <a:rPr b="1"/>
                        <a:t>2. Événements</a:t>
                      </a:r>
                    </a:p>
                  </a:txBody>
                </a:tc>
                <a:tc>
                  <a:txBody>
                    <a:bodyPr/>
                    <a:lstStyle/>
                    <a:p>
                      <a:pPr lvl="0" indent="0" marL="0">
                        <a:buNone/>
                      </a:pPr>
                      <a:r>
                        <a:rPr/>
                        <a:t>CRUD événements, authentification JWT Supabase</a:t>
                      </a:r>
                    </a:p>
                  </a:txBody>
                </a:tc>
                <a:tc>
                  <a:txBody>
                    <a:bodyPr/>
                    <a:lstStyle/>
                    <a:p>
                      <a:pPr lvl="0" indent="0" marL="0">
                        <a:buNone/>
                      </a:pPr>
                      <a:r>
                        <a:rPr/>
                        <a:t>Endpoints events, auth fonctionnelle</a:t>
                      </a:r>
                    </a:p>
                  </a:txBody>
                </a:tc>
              </a:tr>
              <a:tr h="0">
                <a:tc>
                  <a:txBody>
                    <a:bodyPr/>
                    <a:lstStyle/>
                    <a:p>
                      <a:pPr lvl="0" indent="0" marL="0">
                        <a:buNone/>
                      </a:pPr>
                      <a:r>
                        <a:rPr b="1"/>
                        <a:t>3. Participants</a:t>
                      </a:r>
                    </a:p>
                  </a:txBody>
                </a:tc>
                <a:tc>
                  <a:txBody>
                    <a:bodyPr/>
                    <a:lstStyle/>
                    <a:p>
                      <a:pPr lvl="0" indent="0" marL="0">
                        <a:buNone/>
                      </a:pPr>
                      <a:r>
                        <a:rPr/>
                        <a:t>Gestion participants, auto-ajout du créateur</a:t>
                      </a:r>
                    </a:p>
                  </a:txBody>
                </a:tc>
                <a:tc>
                  <a:txBody>
                    <a:bodyPr/>
                    <a:lstStyle/>
                    <a:p>
                      <a:pPr lvl="0" indent="0" marL="0">
                        <a:buNone/>
                      </a:pPr>
                      <a:r>
                        <a:rPr/>
                        <a:t>Endpoints participants</a:t>
                      </a:r>
                    </a:p>
                  </a:txBody>
                </a:tc>
              </a:tr>
              <a:tr h="0">
                <a:tc>
                  <a:txBody>
                    <a:bodyPr/>
                    <a:lstStyle/>
                    <a:p>
                      <a:pPr lvl="0" indent="0" marL="0">
                        <a:buNone/>
                      </a:pPr>
                      <a:r>
                        <a:rPr b="1"/>
                        <a:t>4. Ressources &amp; Contributions</a:t>
                      </a:r>
                    </a:p>
                  </a:txBody>
                </a:tc>
                <a:tc>
                  <a:txBody>
                    <a:bodyPr/>
                    <a:lstStyle/>
                    <a:p>
                      <a:pPr lvl="0" indent="0" marL="0">
                        <a:buNone/>
                      </a:pPr>
                      <a:r>
                        <a:rPr/>
                        <a:t>Contributions avec verrou optimiste</a:t>
                      </a:r>
                    </a:p>
                  </a:txBody>
                </a:tc>
                <a:tc>
                  <a:txBody>
                    <a:bodyPr/>
                    <a:lstStyle/>
                    <a:p>
                      <a:pPr lvl="0" indent="0" marL="0">
                        <a:buNone/>
                      </a:pPr>
                      <a:r>
                        <a:rPr/>
                        <a:t>Endpoints ressources + contributions</a:t>
                      </a:r>
                    </a:p>
                  </a:txBody>
                </a:tc>
              </a:tr>
              <a:tr h="0">
                <a:tc>
                  <a:txBody>
                    <a:bodyPr/>
                    <a:lstStyle/>
                    <a:p>
                      <a:pPr lvl="0" indent="0" marL="0">
                        <a:buNone/>
                      </a:pPr>
                      <a:r>
                        <a:rPr b="1"/>
                        <a:t>5. Qualité &amp; Déploiement</a:t>
                      </a:r>
                    </a:p>
                  </a:txBody>
                </a:tc>
                <a:tc>
                  <a:txBody>
                    <a:bodyPr/>
                    <a:lstStyle/>
                    <a:p>
                      <a:pPr lvl="0" indent="0" marL="0">
                        <a:buNone/>
                      </a:pPr>
                      <a:r>
                        <a:rPr/>
                        <a:t>Tests, analyse statique, déploiement Render/Vercel</a:t>
                      </a:r>
                    </a:p>
                  </a:txBody>
                </a:tc>
                <a:tc>
                  <a:txBody>
                    <a:bodyPr/>
                    <a:lstStyle/>
                    <a:p>
                      <a:pPr lvl="0" indent="0" marL="0">
                        <a:buNone/>
                      </a:pPr>
                      <a:r>
                        <a:rPr/>
                        <a:t>Application déployée et testée</a:t>
                      </a:r>
                    </a:p>
                  </a:txBody>
                </a:tc>
              </a:tr>
            </a:tbl>
          </a:graphicData>
        </a:graphic>
      </p:graphicFrame>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b="1">
                <a:solidFill>
                  <a:srgbClr val="3D5A6C"/>
                </a:solidFill>
              </a:rPr>
              <a:t>Suivi des tâches</a:t>
            </a:r>
          </a:p>
        </p:txBody>
      </p:sp>
      <p:sp>
        <p:nvSpPr>
          <p:cNvPr id="4" name="Text Placeholder 3"/>
          <p:cNvSpPr>
            <a:spLocks noGrp="1"/>
          </p:cNvSpPr>
          <p:nvPr>
            <p:ph idx="2" sz="half" type="body"/>
          </p:nvPr>
        </p:nvSpPr>
        <p:spPr/>
        <p:txBody>
          <a:bodyPr/>
          <a:lstStyle/>
          <a:p>
            <a:pPr lvl="0" indent="0" marL="0">
              <a:buNone/>
            </a:pPr>
            <a:r>
              <a:rPr b="1"/>
              <a:t>Outils de suivi</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Outil</a:t>
                      </a:r>
                    </a:p>
                  </a:txBody>
                  <a:tcPr/>
                </a:tc>
                <a:tc>
                  <a:txBody>
                    <a:bodyPr/>
                    <a:lstStyle/>
                    <a:p>
                      <a:pPr lvl="0" indent="0" marL="0">
                        <a:buNone/>
                      </a:pPr>
                      <a:r>
                        <a:rPr/>
                        <a:t>Usage</a:t>
                      </a:r>
                    </a:p>
                  </a:txBody>
                  <a:tcPr/>
                </a:tc>
              </a:tr>
              <a:tr h="0">
                <a:tc>
                  <a:txBody>
                    <a:bodyPr/>
                    <a:lstStyle/>
                    <a:p>
                      <a:pPr lvl="0" indent="0" marL="0">
                        <a:buNone/>
                      </a:pPr>
                      <a:r>
                        <a:rPr b="1"/>
                        <a:t>GitHub Issues</a:t>
                      </a:r>
                    </a:p>
                  </a:txBody>
                </a:tc>
                <a:tc>
                  <a:txBody>
                    <a:bodyPr/>
                    <a:lstStyle/>
                    <a:p>
                      <a:pPr lvl="0" indent="0" marL="0">
                        <a:buNone/>
                      </a:pPr>
                      <a:r>
                        <a:rPr/>
                        <a:t>Tickets par fonctionnalité, bug, amélioration</a:t>
                      </a:r>
                    </a:p>
                  </a:txBody>
                </a:tc>
              </a:tr>
              <a:tr h="0">
                <a:tc>
                  <a:txBody>
                    <a:bodyPr/>
                    <a:lstStyle/>
                    <a:p>
                      <a:pPr lvl="0" indent="0" marL="0">
                        <a:buNone/>
                      </a:pPr>
                      <a:r>
                        <a:rPr b="1"/>
                        <a:t>GitHub Projects</a:t>
                      </a:r>
                    </a:p>
                  </a:txBody>
                </a:tc>
                <a:tc>
                  <a:txBody>
                    <a:bodyPr/>
                    <a:lstStyle/>
                    <a:p>
                      <a:pPr lvl="0" indent="0" marL="0">
                        <a:buNone/>
                      </a:pPr>
                      <a:r>
                        <a:rPr/>
                        <a:t>Tableau Kanban — visualisation de l’avancement</a:t>
                      </a:r>
                    </a:p>
                  </a:txBody>
                </a:tc>
              </a:tr>
              <a:tr h="0">
                <a:tc>
                  <a:txBody>
                    <a:bodyPr/>
                    <a:lstStyle/>
                    <a:p>
                      <a:pPr lvl="0" indent="0" marL="0">
                        <a:buNone/>
                      </a:pPr>
                      <a:r>
                        <a:rPr b="1"/>
                        <a:t>Git</a:t>
                      </a:r>
                    </a:p>
                  </a:txBody>
                </a:tc>
                <a:tc>
                  <a:txBody>
                    <a:bodyPr/>
                    <a:lstStyle/>
                    <a:p>
                      <a:pPr lvl="0" indent="0" marL="0">
                        <a:buNone/>
                      </a:pPr>
                      <a:r>
                        <a:rPr/>
                        <a:t>Branches par fonctionnalité, merge via PR</a:t>
                      </a:r>
                    </a:p>
                  </a:txBody>
                </a:tc>
              </a:tr>
              <a:tr h="0">
                <a:tc>
                  <a:txBody>
                    <a:bodyPr/>
                    <a:lstStyle/>
                    <a:p>
                      <a:pPr lvl="0" indent="0" marL="0">
                        <a:buNone/>
                      </a:pPr>
                      <a:r>
                        <a:rPr b="1"/>
                        <a:t>GitHub Actions</a:t>
                      </a:r>
                    </a:p>
                  </a:txBody>
                </a:tc>
                <a:tc>
                  <a:txBody>
                    <a:bodyPr/>
                    <a:lstStyle/>
                    <a:p>
                      <a:pPr lvl="0" indent="0" marL="0">
                        <a:buNone/>
                      </a:pPr>
                      <a:r>
                        <a:rPr/>
                        <a:t>Feedback automatisé à chaque push</a:t>
                      </a:r>
                    </a:p>
                  </a:txBody>
                </a:tc>
              </a:tr>
            </a:tbl>
          </a:graphicData>
        </a:graphic>
      </p:graphicFrame>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Objectifs de qualité</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3048000"/>
                <a:gridCol w="2133600"/>
                <a:gridCol w="3048000"/>
              </a:tblGrid>
              <a:tr h="0">
                <a:tc>
                  <a:txBody>
                    <a:bodyPr/>
                    <a:lstStyle/>
                    <a:p>
                      <a:pPr lvl="0" indent="0" marL="0">
                        <a:buNone/>
                      </a:pPr>
                      <a:r>
                        <a:rPr/>
                        <a:t>Objectif</a:t>
                      </a:r>
                    </a:p>
                  </a:txBody>
                  <a:tcPr/>
                </a:tc>
                <a:tc>
                  <a:txBody>
                    <a:bodyPr/>
                    <a:lstStyle/>
                    <a:p>
                      <a:pPr lvl="0" indent="0" marL="0">
                        <a:buNone/>
                      </a:pPr>
                      <a:r>
                        <a:rPr/>
                        <a:t>Outil</a:t>
                      </a:r>
                    </a:p>
                  </a:txBody>
                  <a:tcPr/>
                </a:tc>
                <a:tc>
                  <a:txBody>
                    <a:bodyPr/>
                    <a:lstStyle/>
                    <a:p>
                      <a:pPr lvl="0" indent="0" marL="0">
                        <a:buNone/>
                      </a:pPr>
                      <a:r>
                        <a:rPr/>
                        <a:t>Résultat</a:t>
                      </a:r>
                    </a:p>
                  </a:txBody>
                  <a:tcPr/>
                </a:tc>
              </a:tr>
              <a:tr h="0">
                <a:tc>
                  <a:txBody>
                    <a:bodyPr/>
                    <a:lstStyle/>
                    <a:p>
                      <a:pPr lvl="0" indent="0" marL="0">
                        <a:buNone/>
                      </a:pPr>
                      <a:r>
                        <a:rPr/>
                        <a:t>Analyse statique</a:t>
                      </a:r>
                    </a:p>
                  </a:txBody>
                </a:tc>
                <a:tc>
                  <a:txBody>
                    <a:bodyPr/>
                    <a:lstStyle/>
                    <a:p>
                      <a:pPr lvl="0" indent="0" marL="0">
                        <a:buNone/>
                      </a:pPr>
                      <a:r>
                        <a:rPr b="1"/>
                        <a:t>Detekt</a:t>
                      </a:r>
                    </a:p>
                  </a:txBody>
                </a:tc>
                <a:tc>
                  <a:txBody>
                    <a:bodyPr/>
                    <a:lstStyle/>
                    <a:p>
                      <a:pPr lvl="0" indent="0" marL="0">
                        <a:buNone/>
                      </a:pPr>
                      <a:r>
                        <a:rPr/>
                        <a:t>Code smells, complexité, conventions</a:t>
                      </a:r>
                    </a:p>
                  </a:txBody>
                </a:tc>
              </a:tr>
              <a:tr h="0">
                <a:tc>
                  <a:txBody>
                    <a:bodyPr/>
                    <a:lstStyle/>
                    <a:p>
                      <a:pPr lvl="0" indent="0" marL="0">
                        <a:buNone/>
                      </a:pPr>
                      <a:r>
                        <a:rPr/>
                        <a:t>Formatage homogène</a:t>
                      </a:r>
                    </a:p>
                  </a:txBody>
                </a:tc>
                <a:tc>
                  <a:txBody>
                    <a:bodyPr/>
                    <a:lstStyle/>
                    <a:p>
                      <a:pPr lvl="0" indent="0" marL="0">
                        <a:buNone/>
                      </a:pPr>
                      <a:r>
                        <a:rPr b="1"/>
                        <a:t>Spotless</a:t>
                      </a:r>
                      <a:r>
                        <a:rPr/>
                        <a:t> + ktlint (back) / Prettier (front)</a:t>
                      </a:r>
                    </a:p>
                  </a:txBody>
                </a:tc>
                <a:tc>
                  <a:txBody>
                    <a:bodyPr/>
                    <a:lstStyle/>
                    <a:p>
                      <a:pPr lvl="0" indent="0" marL="0">
                        <a:buNone/>
                      </a:pPr>
                      <a:r>
                        <a:rPr/>
                        <a:t>Style uniforme</a:t>
                      </a:r>
                    </a:p>
                  </a:txBody>
                </a:tc>
              </a:tr>
              <a:tr h="0">
                <a:tc>
                  <a:txBody>
                    <a:bodyPr/>
                    <a:lstStyle/>
                    <a:p>
                      <a:pPr lvl="0" indent="0" marL="0">
                        <a:buNone/>
                      </a:pPr>
                      <a:r>
                        <a:rPr/>
                        <a:t>Tests automatisés</a:t>
                      </a:r>
                    </a:p>
                  </a:txBody>
                </a:tc>
                <a:tc>
                  <a:txBody>
                    <a:bodyPr/>
                    <a:lstStyle/>
                    <a:p>
                      <a:pPr lvl="0" indent="0" marL="0">
                        <a:buNone/>
                      </a:pPr>
                      <a:r>
                        <a:rPr b="1"/>
                        <a:t>Kotest</a:t>
                      </a:r>
                      <a:r>
                        <a:rPr/>
                        <a:t> + MockK / </a:t>
                      </a:r>
                      <a:r>
                        <a:rPr b="1"/>
                        <a:t>Vitest</a:t>
                      </a:r>
                      <a:r>
                        <a:rPr/>
                        <a:t> + Playwright</a:t>
                      </a:r>
                    </a:p>
                  </a:txBody>
                </a:tc>
                <a:tc>
                  <a:txBody>
                    <a:bodyPr/>
                    <a:lstStyle/>
                    <a:p>
                      <a:pPr lvl="0" indent="0" marL="0">
                        <a:buNone/>
                      </a:pPr>
                      <a:r>
                        <a:rPr/>
                        <a:t>Couverture fonctionnelle</a:t>
                      </a:r>
                    </a:p>
                  </a:txBody>
                </a:tc>
              </a:tr>
              <a:tr h="0">
                <a:tc>
                  <a:txBody>
                    <a:bodyPr/>
                    <a:lstStyle/>
                    <a:p>
                      <a:pPr lvl="0" indent="0" marL="0">
                        <a:buNone/>
                      </a:pPr>
                      <a:r>
                        <a:rPr/>
                        <a:t>Sécurité supply chain</a:t>
                      </a:r>
                    </a:p>
                  </a:txBody>
                </a:tc>
                <a:tc>
                  <a:txBody>
                    <a:bodyPr/>
                    <a:lstStyle/>
                    <a:p>
                      <a:pPr lvl="0" indent="0" marL="0">
                        <a:buNone/>
                      </a:pPr>
                      <a:r>
                        <a:rPr/>
                        <a:t>npm audit quotidien, lockfile-lint, Dependabot</a:t>
                      </a:r>
                    </a:p>
                  </a:txBody>
                </a:tc>
                <a:tc>
                  <a:txBody>
                    <a:bodyPr/>
                    <a:lstStyle/>
                    <a:p>
                      <a:pPr lvl="0" indent="0" marL="0">
                        <a:buNone/>
                      </a:pPr>
                      <a:r>
                        <a:rPr/>
                        <a:t>Alertes automatiques</a:t>
                      </a:r>
                    </a:p>
                  </a:txBody>
                </a:tc>
              </a:tr>
              <a:tr h="0">
                <a:tc>
                  <a:txBody>
                    <a:bodyPr/>
                    <a:lstStyle/>
                    <a:p>
                      <a:pPr lvl="0" indent="0" marL="0">
                        <a:buNone/>
                      </a:pPr>
                      <a:r>
                        <a:rPr/>
                        <a:t>Zéro régression</a:t>
                      </a:r>
                    </a:p>
                  </a:txBody>
                </a:tc>
                <a:tc>
                  <a:txBody>
                    <a:bodyPr/>
                    <a:lstStyle/>
                    <a:p>
                      <a:pPr lvl="0" indent="0" marL="0">
                        <a:buNone/>
                      </a:pPr>
                      <a:r>
                        <a:rPr/>
                        <a:t>Pipelines CI/CD bloquants</a:t>
                      </a:r>
                    </a:p>
                  </a:txBody>
                </a:tc>
                <a:tc>
                  <a:txBody>
                    <a:bodyPr/>
                    <a:lstStyle/>
                    <a:p>
                      <a:pPr lvl="0" indent="0" marL="0">
                        <a:buNone/>
                      </a:pPr>
                      <a:r>
                        <a:rPr/>
                        <a:t>Aucun déploiement si échec</a:t>
                      </a:r>
                    </a:p>
                  </a:txBody>
                </a:tc>
              </a:tr>
            </a:tbl>
          </a:graphicData>
        </a:graphic>
      </p:graphicFrame>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Architecture hexagonale : principes</a:t>
            </a:r>
          </a:p>
        </p:txBody>
      </p:sp>
      <p:pic>
        <p:nvPicPr>
          <p:cNvPr descr="mermaid-images/diagram_1.png" id="0" name="Picture 1"/>
          <p:cNvPicPr>
            <a:picLocks noGrp="1" noChangeAspect="1"/>
          </p:cNvPicPr>
          <p:nvPr/>
        </p:nvPicPr>
        <p:blipFill>
          <a:blip r:embed="rId3"/>
          <a:stretch>
            <a:fillRect/>
          </a:stretch>
        </p:blipFill>
        <p:spPr bwMode="auto">
          <a:xfrm>
            <a:off x="2108200" y="1193800"/>
            <a:ext cx="49276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Diagramme</a:t>
            </a:r>
          </a:p>
        </p:txBody>
      </p:sp>
      <p:sp>
        <p:nvSpPr>
          <p:cNvPr id="3" name="Content Placeholder 2"/>
          <p:cNvSpPr>
            <a:spLocks noGrp="1"/>
          </p:cNvSpPr>
          <p:nvPr>
            <p:ph idx="1"/>
          </p:nvPr>
        </p:nvSpPr>
        <p:spPr/>
        <p:txBody>
          <a:bodyPr/>
          <a:lstStyle/>
          <a:p>
            <a:pPr lvl="0" indent="0" marL="0">
              <a:buNone/>
            </a:pPr>
            <a:r>
              <a:rPr b="1"/>
              <a:t>Principe</a:t>
            </a:r>
            <a:r>
              <a:rPr/>
              <a:t> : le domaine ne dépend d’aucune bibliothèque technique. Il définit des </a:t>
            </a:r>
            <a:r>
              <a:rPr b="1"/>
              <a:t>ports</a:t>
            </a:r>
            <a:r>
              <a:rPr/>
              <a:t> (interfaces), l’infrastructure les implémente.</a:t>
            </a:r>
          </a:p>
          <a:p>
            <a:pPr lvl="0"/>
            <a:r>
              <a:rPr b="1"/>
              <a:t>Ports driving</a:t>
            </a:r>
            <a:r>
              <a:rPr/>
              <a:t> (entrants) : les endpoints appellent les use cases</a:t>
            </a:r>
          </a:p>
          <a:p>
            <a:pPr lvl="0"/>
            <a:r>
              <a:rPr b="1"/>
              <a:t>Ports driven</a:t>
            </a:r>
            <a:r>
              <a:rPr/>
              <a:t> (sortants) : les use cases définissent des interfaces de repository</a:t>
            </a:r>
          </a:p>
          <a:p>
            <a:pPr lvl="0"/>
            <a:r>
              <a:rPr b="1"/>
              <a:t>Inversion de dépendance</a:t>
            </a:r>
            <a:r>
              <a:rPr/>
              <a:t> : le domaine est au centre, l’infrastructure est périphérique</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Architecture hexagonale : modules Gradle</a:t>
            </a:r>
          </a:p>
        </p:txBody>
      </p:sp>
      <p:sp>
        <p:nvSpPr>
          <p:cNvPr id="3" name="Content Placeholder 2"/>
          <p:cNvSpPr>
            <a:spLocks noGrp="1"/>
          </p:cNvSpPr>
          <p:nvPr>
            <p:ph idx="1"/>
          </p:nvPr>
        </p:nvSpPr>
        <p:spPr/>
        <p:txBody>
          <a:bodyPr/>
          <a:lstStyle/>
          <a:p>
            <a:pPr lvl="0" indent="0" marL="0">
              <a:buNone/>
            </a:pPr>
            <a:r>
              <a:rPr b="1"/>
              <a:t>2 modules Gradle séparés</a:t>
            </a:r>
          </a:p>
          <a:p>
            <a:pPr lvl="0" indent="0">
              <a:buNone/>
            </a:pPr>
            <a:r>
              <a:rPr>
                <a:latin typeface="Courier"/>
              </a:rPr>
              <a:t>happyrow-core/
├── domain/                          ← Module métier pur
│   └── src/main/kotlin/
│       ├── event/
│       │   ├── create/              ← CreateEventUseCase + port EventRepository
│       │   ├── getByOrganizer/
│       │   └── common/model/        ← Event, Creator (value class)
│       ├── participant/
│       ├── resource/
│       └── contribution/
│
├── infrastructure/                  ← Module technique
│   └── src/main/kotlin/
│       ├── event/
│       │   ├── create/driving/      ← CreateEventEndpoint (REST)
│       │   └── common/driven/       ← SqlEventRepository (SQL)
│       ├── technical/
│       │   ├── auth/                ← JwtAuthPlugin, SupabaseJwtService
│       │   ├── database/            ← ExposedDatabase, HikariCP
│       │   └── di/                  ← Koin modules
│       └── ...</a:t>
            </a:r>
          </a:p>
          <a:p>
            <a:pPr lvl="0"/>
            <a:r>
              <a:rPr b="1">
                <a:latin typeface="Courier"/>
              </a:rPr>
              <a:t>domain/</a:t>
            </a:r>
            <a:r>
              <a:rPr/>
              <a:t> : zéro dépendance technique (pas de Ktor, Exposed, Jackson)</a:t>
            </a:r>
          </a:p>
          <a:p>
            <a:pPr lvl="0"/>
            <a:r>
              <a:rPr b="1">
                <a:latin typeface="Courier"/>
              </a:rPr>
              <a:t>infrastructure/</a:t>
            </a:r>
            <a:r>
              <a:rPr/>
              <a:t> : implémente les ports, dépend du domaine</a:t>
            </a:r>
          </a:p>
          <a:p>
            <a:pPr lvl="0"/>
            <a:r>
              <a:rPr b="1"/>
              <a:t>Injection de dépendances</a:t>
            </a:r>
            <a:r>
              <a:rPr/>
              <a:t> : Koin connecte les ports aux adapters</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Maquettes et enchaînement des écrans</a:t>
            </a:r>
          </a:p>
        </p:txBody>
      </p:sp>
      <p:pic>
        <p:nvPicPr>
          <p:cNvPr descr="mermaid-images/diagram_2.png" id="0" name="Picture 1"/>
          <p:cNvPicPr>
            <a:picLocks noGrp="1" noChangeAspect="1"/>
          </p:cNvPicPr>
          <p:nvPr/>
        </p:nvPicPr>
        <p:blipFill>
          <a:blip r:embed="rId3"/>
          <a:stretch>
            <a:fillRect/>
          </a:stretch>
        </p:blipFill>
        <p:spPr bwMode="auto">
          <a:xfrm>
            <a:off x="3835400" y="1193800"/>
            <a:ext cx="14605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Diagramme</a:t>
            </a:r>
          </a:p>
        </p:txBody>
      </p:sp>
      <p:sp>
        <p:nvSpPr>
          <p:cNvPr id="3" name="Content Placeholder 2"/>
          <p:cNvSpPr>
            <a:spLocks noGrp="1"/>
          </p:cNvSpPr>
          <p:nvPr>
            <p:ph idx="1"/>
          </p:nvPr>
        </p:nvSpPr>
        <p:spPr/>
        <p:txBody>
          <a:bodyPr/>
          <a:lstStyle/>
          <a:p>
            <a:pPr lvl="0"/>
            <a:r>
              <a:rPr b="1"/>
              <a:t>8 écrans/vues</a:t>
            </a:r>
            <a:r>
              <a:rPr/>
              <a:t> + </a:t>
            </a:r>
            <a:r>
              <a:rPr b="1"/>
              <a:t>6 modales</a:t>
            </a:r>
          </a:p>
          <a:p>
            <a:pPr lvl="0"/>
            <a:r>
              <a:rPr/>
              <a:t>Design Tokens CSS : teal </a:t>
            </a:r>
            <a:r>
              <a:rPr>
                <a:latin typeface="Courier"/>
              </a:rPr>
              <a:t>#5FBDB4</a:t>
            </a:r>
            <a:r>
              <a:rPr/>
              <a:t>, navy </a:t>
            </a:r>
            <a:r>
              <a:rPr>
                <a:latin typeface="Courier"/>
              </a:rPr>
              <a:t>#3D5A6C</a:t>
            </a:r>
            <a:r>
              <a:rPr/>
              <a:t>, coral </a:t>
            </a:r>
            <a:r>
              <a:rPr>
                <a:latin typeface="Courier"/>
              </a:rPr>
              <a:t>#E6A19A</a:t>
            </a:r>
          </a:p>
          <a:p>
            <a:pPr lvl="0"/>
            <a:r>
              <a:rPr/>
              <a:t>Police Comic Neue pour un ton convivial</a:t>
            </a:r>
          </a:p>
          <a:p>
            <a:pPr lvl="0"/>
            <a:r>
              <a:rPr/>
              <a:t>PWA installable avec mode offline (Service Worker Workbox)</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Modèle Conceptuel de Données</a:t>
            </a:r>
          </a:p>
        </p:txBody>
      </p:sp>
      <p:pic>
        <p:nvPicPr>
          <p:cNvPr descr="mermaid-images/diagram_3.png" id="0" name="Picture 1"/>
          <p:cNvPicPr>
            <a:picLocks noGrp="1" noChangeAspect="1"/>
          </p:cNvPicPr>
          <p:nvPr/>
        </p:nvPicPr>
        <p:blipFill>
          <a:blip r:embed="rId3"/>
          <a:stretch>
            <a:fillRect/>
          </a:stretch>
        </p:blipFill>
        <p:spPr bwMode="auto">
          <a:xfrm>
            <a:off x="3683000" y="1193800"/>
            <a:ext cx="17780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Diagramme</a:t>
            </a:r>
          </a:p>
        </p:txBody>
      </p:sp>
      <p:sp>
        <p:nvSpPr>
          <p:cNvPr id="3" name="Content Placeholder 2"/>
          <p:cNvSpPr>
            <a:spLocks noGrp="1"/>
          </p:cNvSpPr>
          <p:nvPr>
            <p:ph idx="1"/>
          </p:nvPr>
        </p:nvSpPr>
        <p:spPr/>
        <p:txBody>
          <a:bodyPr/>
          <a:lstStyle/>
          <a:p>
            <a:pPr lvl="0"/>
            <a:r>
              <a:rPr/>
              <a:t>4 entités, relations 1-N</a:t>
            </a:r>
          </a:p>
          <a:p>
            <a:pPr lvl="0"/>
            <a:r>
              <a:rPr>
                <a:latin typeface="Courier"/>
              </a:rPr>
              <a:t>version</a:t>
            </a:r>
            <a:r>
              <a:rPr/>
              <a:t> sur Resource pour le verrou optimiste</a:t>
            </a:r>
          </a:p>
          <a:p>
            <a:pPr lvl="0"/>
            <a:r>
              <a:rPr/>
              <a:t>Contraintes FK, CHECK, UNIQUE</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Modèle Physique et script SQL</a:t>
            </a:r>
          </a:p>
        </p:txBody>
      </p:sp>
      <p:sp>
        <p:nvSpPr>
          <p:cNvPr id="3" name="Content Placeholder 2"/>
          <p:cNvSpPr>
            <a:spLocks noGrp="1"/>
          </p:cNvSpPr>
          <p:nvPr>
            <p:ph idx="1"/>
          </p:nvPr>
        </p:nvSpPr>
        <p:spPr/>
        <p:txBody>
          <a:bodyPr/>
          <a:lstStyle/>
          <a:p>
            <a:pPr lvl="0" indent="0" marL="0">
              <a:buNone/>
            </a:pPr>
            <a:r>
              <a:rPr b="1"/>
              <a:t>Tables Exposed (ORM Kotlin)</a:t>
            </a:r>
          </a:p>
          <a:p>
            <a:pPr lvl="0" indent="0">
              <a:buNone/>
            </a:pPr>
            <a:r>
              <a:rPr b="1">
                <a:solidFill>
                  <a:srgbClr val="007020"/>
                </a:solidFill>
                <a:latin typeface="Courier"/>
              </a:rPr>
              <a:t>object</a:t>
            </a:r>
            <a:r>
              <a:rPr>
                <a:latin typeface="Courier"/>
              </a:rPr>
              <a:t> ResourceTable </a:t>
            </a:r>
            <a:r>
              <a:rPr>
                <a:solidFill>
                  <a:srgbClr val="666666"/>
                </a:solidFill>
                <a:latin typeface="Courier"/>
              </a:rPr>
              <a:t>:</a:t>
            </a:r>
            <a:r>
              <a:rPr>
                <a:latin typeface="Courier"/>
              </a:rPr>
              <a:t> </a:t>
            </a:r>
            <a:r>
              <a:rPr>
                <a:solidFill>
                  <a:srgbClr val="902000"/>
                </a:solidFill>
                <a:latin typeface="Courier"/>
              </a:rPr>
              <a:t>UUIDTable</a:t>
            </a:r>
            <a:r>
              <a:rPr>
                <a:solidFill>
                  <a:srgbClr val="666666"/>
                </a:solidFill>
                <a:latin typeface="Courier"/>
              </a:rPr>
              <a:t>(</a:t>
            </a:r>
            <a:r>
              <a:rPr>
                <a:latin typeface="Courier"/>
              </a:rPr>
              <a:t>"</a:t>
            </a:r>
            <a:r>
              <a:rPr>
                <a:solidFill>
                  <a:srgbClr val="19177C"/>
                </a:solidFill>
                <a:latin typeface="Courier"/>
              </a:rPr>
              <a:t>configuration</a:t>
            </a:r>
            <a:r>
              <a:rPr>
                <a:latin typeface="Courier"/>
              </a:rPr>
              <a:t>.</a:t>
            </a:r>
            <a:r>
              <a:rPr>
                <a:solidFill>
                  <a:srgbClr val="19177C"/>
                </a:solidFill>
                <a:latin typeface="Courier"/>
              </a:rPr>
              <a:t>resource</a:t>
            </a:r>
            <a:r>
              <a:rPr>
                <a:latin typeface="Courier"/>
              </a:rPr>
              <a:t>"</a:t>
            </a:r>
            <a:r>
              <a:rPr>
                <a:solidFill>
                  <a:srgbClr val="666666"/>
                </a:solidFill>
                <a:latin typeface="Courier"/>
              </a:rPr>
              <a:t>,</a:t>
            </a:r>
            <a:r>
              <a:rPr>
                <a:latin typeface="Courier"/>
              </a:rPr>
              <a:t> "</a:t>
            </a:r>
            <a:r>
              <a:rPr>
                <a:solidFill>
                  <a:srgbClr val="19177C"/>
                </a:solidFill>
                <a:latin typeface="Courier"/>
              </a:rPr>
              <a:t>id</a:t>
            </a:r>
            <a:r>
              <a:rPr>
                <a:latin typeface="Courier"/>
              </a:rPr>
              <a:t>"</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val</a:t>
            </a:r>
            <a:r>
              <a:rPr>
                <a:latin typeface="Courier"/>
              </a:rPr>
              <a:t> </a:t>
            </a:r>
            <a:r>
              <a:rPr>
                <a:solidFill>
                  <a:srgbClr val="19177C"/>
                </a:solidFill>
                <a:latin typeface="Courier"/>
              </a:rPr>
              <a:t>name</a:t>
            </a:r>
            <a:r>
              <a:rPr>
                <a:latin typeface="Courier"/>
              </a:rPr>
              <a:t> </a:t>
            </a:r>
            <a:r>
              <a:rPr>
                <a:solidFill>
                  <a:srgbClr val="666666"/>
                </a:solidFill>
                <a:latin typeface="Courier"/>
              </a:rPr>
              <a:t>=</a:t>
            </a:r>
            <a:r>
              <a:rPr>
                <a:latin typeface="Courier"/>
              </a:rPr>
              <a:t> varchar</a:t>
            </a:r>
            <a:r>
              <a:rPr>
                <a:solidFill>
                  <a:srgbClr val="666666"/>
                </a:solidFill>
                <a:latin typeface="Courier"/>
              </a:rPr>
              <a:t>(</a:t>
            </a:r>
            <a:r>
              <a:rPr>
                <a:solidFill>
                  <a:srgbClr val="4070A0"/>
                </a:solidFill>
                <a:latin typeface="Courier"/>
              </a:rPr>
              <a:t>"name"</a:t>
            </a:r>
            <a:r>
              <a:rPr>
                <a:solidFill>
                  <a:srgbClr val="666666"/>
                </a:solidFill>
                <a:latin typeface="Courier"/>
              </a:rPr>
              <a:t>,</a:t>
            </a:r>
            <a:r>
              <a:rPr>
                <a:latin typeface="Courier"/>
              </a:rPr>
              <a:t> </a:t>
            </a:r>
            <a:r>
              <a:rPr>
                <a:solidFill>
                  <a:srgbClr val="40A070"/>
                </a:solidFill>
                <a:latin typeface="Courier"/>
              </a:rPr>
              <a:t>255</a:t>
            </a:r>
            <a:r>
              <a:rPr>
                <a:solidFill>
                  <a:srgbClr val="666666"/>
                </a:solidFill>
                <a:latin typeface="Courier"/>
              </a:rPr>
              <a:t>)</a:t>
            </a:r>
            <a:br/>
            <a:r>
              <a:rPr>
                <a:latin typeface="Courier"/>
              </a:rPr>
              <a:t>    </a:t>
            </a:r>
            <a:r>
              <a:rPr b="1">
                <a:solidFill>
                  <a:srgbClr val="007020"/>
                </a:solidFill>
                <a:latin typeface="Courier"/>
              </a:rPr>
              <a:t>val</a:t>
            </a:r>
            <a:r>
              <a:rPr>
                <a:latin typeface="Courier"/>
              </a:rPr>
              <a:t> </a:t>
            </a:r>
            <a:r>
              <a:rPr>
                <a:solidFill>
                  <a:srgbClr val="19177C"/>
                </a:solidFill>
                <a:latin typeface="Courier"/>
              </a:rPr>
              <a:t>category</a:t>
            </a:r>
            <a:r>
              <a:rPr>
                <a:latin typeface="Courier"/>
              </a:rPr>
              <a:t> </a:t>
            </a:r>
            <a:r>
              <a:rPr>
                <a:solidFill>
                  <a:srgbClr val="666666"/>
                </a:solidFill>
                <a:latin typeface="Courier"/>
              </a:rPr>
              <a:t>=</a:t>
            </a:r>
            <a:r>
              <a:rPr>
                <a:latin typeface="Courier"/>
              </a:rPr>
              <a:t> enumerationByName</a:t>
            </a:r>
            <a:r>
              <a:rPr>
                <a:solidFill>
                  <a:srgbClr val="666666"/>
                </a:solidFill>
                <a:latin typeface="Courier"/>
              </a:rPr>
              <a:t>&lt;</a:t>
            </a:r>
            <a:r>
              <a:rPr>
                <a:latin typeface="Courier"/>
              </a:rPr>
              <a:t>ResourceCategory</a:t>
            </a:r>
            <a:r>
              <a:rPr>
                <a:solidFill>
                  <a:srgbClr val="666666"/>
                </a:solidFill>
                <a:latin typeface="Courier"/>
              </a:rPr>
              <a:t>&gt;(</a:t>
            </a:r>
            <a:r>
              <a:rPr>
                <a:solidFill>
                  <a:srgbClr val="4070A0"/>
                </a:solidFill>
                <a:latin typeface="Courier"/>
              </a:rPr>
              <a:t>"category"</a:t>
            </a:r>
            <a:r>
              <a:rPr>
                <a:solidFill>
                  <a:srgbClr val="666666"/>
                </a:solidFill>
                <a:latin typeface="Courier"/>
              </a:rPr>
              <a:t>,</a:t>
            </a:r>
            <a:r>
              <a:rPr>
                <a:latin typeface="Courier"/>
              </a:rPr>
              <a:t> </a:t>
            </a:r>
            <a:r>
              <a:rPr>
                <a:solidFill>
                  <a:srgbClr val="40A070"/>
                </a:solidFill>
                <a:latin typeface="Courier"/>
              </a:rPr>
              <a:t>50</a:t>
            </a:r>
            <a:r>
              <a:rPr>
                <a:solidFill>
                  <a:srgbClr val="666666"/>
                </a:solidFill>
                <a:latin typeface="Courier"/>
              </a:rPr>
              <a:t>)</a:t>
            </a:r>
            <a:br/>
            <a:r>
              <a:rPr>
                <a:latin typeface="Courier"/>
              </a:rPr>
              <a:t>    </a:t>
            </a:r>
            <a:r>
              <a:rPr b="1">
                <a:solidFill>
                  <a:srgbClr val="007020"/>
                </a:solidFill>
                <a:latin typeface="Courier"/>
              </a:rPr>
              <a:t>val</a:t>
            </a:r>
            <a:r>
              <a:rPr>
                <a:latin typeface="Courier"/>
              </a:rPr>
              <a:t> </a:t>
            </a:r>
            <a:r>
              <a:rPr>
                <a:solidFill>
                  <a:srgbClr val="19177C"/>
                </a:solidFill>
                <a:latin typeface="Courier"/>
              </a:rPr>
              <a:t>suggestedQuantity</a:t>
            </a:r>
            <a:r>
              <a:rPr>
                <a:latin typeface="Courier"/>
              </a:rPr>
              <a:t> </a:t>
            </a:r>
            <a:r>
              <a:rPr>
                <a:solidFill>
                  <a:srgbClr val="666666"/>
                </a:solidFill>
                <a:latin typeface="Courier"/>
              </a:rPr>
              <a:t>=</a:t>
            </a:r>
            <a:r>
              <a:rPr>
                <a:latin typeface="Courier"/>
              </a:rPr>
              <a:t> integer</a:t>
            </a:r>
            <a:r>
              <a:rPr>
                <a:solidFill>
                  <a:srgbClr val="666666"/>
                </a:solidFill>
                <a:latin typeface="Courier"/>
              </a:rPr>
              <a:t>(</a:t>
            </a:r>
            <a:r>
              <a:rPr>
                <a:solidFill>
                  <a:srgbClr val="4070A0"/>
                </a:solidFill>
                <a:latin typeface="Courier"/>
              </a:rPr>
              <a:t>"suggested_quantity"</a:t>
            </a:r>
            <a:r>
              <a:rPr>
                <a:solidFill>
                  <a:srgbClr val="666666"/>
                </a:solidFill>
                <a:latin typeface="Courier"/>
              </a:rPr>
              <a:t>)</a:t>
            </a:r>
            <a:br/>
            <a:r>
              <a:rPr>
                <a:latin typeface="Courier"/>
              </a:rPr>
              <a:t>    </a:t>
            </a:r>
            <a:r>
              <a:rPr b="1">
                <a:solidFill>
                  <a:srgbClr val="007020"/>
                </a:solidFill>
                <a:latin typeface="Courier"/>
              </a:rPr>
              <a:t>val</a:t>
            </a:r>
            <a:r>
              <a:rPr>
                <a:latin typeface="Courier"/>
              </a:rPr>
              <a:t> </a:t>
            </a:r>
            <a:r>
              <a:rPr>
                <a:solidFill>
                  <a:srgbClr val="19177C"/>
                </a:solidFill>
                <a:latin typeface="Courier"/>
              </a:rPr>
              <a:t>currentQuantity</a:t>
            </a:r>
            <a:r>
              <a:rPr>
                <a:latin typeface="Courier"/>
              </a:rPr>
              <a:t> </a:t>
            </a:r>
            <a:r>
              <a:rPr>
                <a:solidFill>
                  <a:srgbClr val="666666"/>
                </a:solidFill>
                <a:latin typeface="Courier"/>
              </a:rPr>
              <a:t>=</a:t>
            </a:r>
            <a:r>
              <a:rPr>
                <a:latin typeface="Courier"/>
              </a:rPr>
              <a:t> integer</a:t>
            </a:r>
            <a:r>
              <a:rPr>
                <a:solidFill>
                  <a:srgbClr val="666666"/>
                </a:solidFill>
                <a:latin typeface="Courier"/>
              </a:rPr>
              <a:t>(</a:t>
            </a:r>
            <a:r>
              <a:rPr>
                <a:solidFill>
                  <a:srgbClr val="4070A0"/>
                </a:solidFill>
                <a:latin typeface="Courier"/>
              </a:rPr>
              <a:t>"current_quantity"</a:t>
            </a:r>
            <a:r>
              <a:rPr>
                <a:solidFill>
                  <a:srgbClr val="666666"/>
                </a:solidFill>
                <a:latin typeface="Courier"/>
              </a:rPr>
              <a:t>)</a:t>
            </a:r>
            <a:br/>
            <a:r>
              <a:rPr>
                <a:latin typeface="Courier"/>
              </a:rPr>
              <a:t>    </a:t>
            </a:r>
            <a:r>
              <a:rPr b="1">
                <a:solidFill>
                  <a:srgbClr val="007020"/>
                </a:solidFill>
                <a:latin typeface="Courier"/>
              </a:rPr>
              <a:t>val</a:t>
            </a:r>
            <a:r>
              <a:rPr>
                <a:latin typeface="Courier"/>
              </a:rPr>
              <a:t> </a:t>
            </a:r>
            <a:r>
              <a:rPr>
                <a:solidFill>
                  <a:srgbClr val="19177C"/>
                </a:solidFill>
                <a:latin typeface="Courier"/>
              </a:rPr>
              <a:t>version</a:t>
            </a:r>
            <a:r>
              <a:rPr>
                <a:latin typeface="Courier"/>
              </a:rPr>
              <a:t> </a:t>
            </a:r>
            <a:r>
              <a:rPr>
                <a:solidFill>
                  <a:srgbClr val="666666"/>
                </a:solidFill>
                <a:latin typeface="Courier"/>
              </a:rPr>
              <a:t>=</a:t>
            </a:r>
            <a:r>
              <a:rPr>
                <a:latin typeface="Courier"/>
              </a:rPr>
              <a:t> integer</a:t>
            </a:r>
            <a:r>
              <a:rPr>
                <a:solidFill>
                  <a:srgbClr val="666666"/>
                </a:solidFill>
                <a:latin typeface="Courier"/>
              </a:rPr>
              <a:t>(</a:t>
            </a:r>
            <a:r>
              <a:rPr>
                <a:solidFill>
                  <a:srgbClr val="4070A0"/>
                </a:solidFill>
                <a:latin typeface="Courier"/>
              </a:rPr>
              <a:t>"version"</a:t>
            </a:r>
            <a:r>
              <a:rPr>
                <a:solidFill>
                  <a:srgbClr val="666666"/>
                </a:solidFill>
                <a:latin typeface="Courier"/>
              </a:rPr>
              <a:t>).</a:t>
            </a:r>
            <a:r>
              <a:rPr>
                <a:latin typeface="Courier"/>
              </a:rPr>
              <a:t>default</a:t>
            </a:r>
            <a:r>
              <a:rPr>
                <a:solidFill>
                  <a:srgbClr val="666666"/>
                </a:solidFill>
                <a:latin typeface="Courier"/>
              </a:rPr>
              <a:t>(</a:t>
            </a:r>
            <a:r>
              <a:rPr>
                <a:solidFill>
                  <a:srgbClr val="40A070"/>
                </a:solidFill>
                <a:latin typeface="Courier"/>
              </a:rPr>
              <a:t>0</a:t>
            </a:r>
            <a:r>
              <a:rPr>
                <a:solidFill>
                  <a:srgbClr val="666666"/>
                </a:solidFill>
                <a:latin typeface="Courier"/>
              </a:rPr>
              <a:t>)</a:t>
            </a:r>
            <a:br/>
            <a:r>
              <a:rPr>
                <a:latin typeface="Courier"/>
              </a:rPr>
              <a:t>    </a:t>
            </a:r>
            <a:r>
              <a:rPr b="1">
                <a:solidFill>
                  <a:srgbClr val="007020"/>
                </a:solidFill>
                <a:latin typeface="Courier"/>
              </a:rPr>
              <a:t>val</a:t>
            </a:r>
            <a:r>
              <a:rPr>
                <a:latin typeface="Courier"/>
              </a:rPr>
              <a:t> </a:t>
            </a:r>
            <a:r>
              <a:rPr>
                <a:solidFill>
                  <a:srgbClr val="19177C"/>
                </a:solidFill>
                <a:latin typeface="Courier"/>
              </a:rPr>
              <a:t>eventId</a:t>
            </a:r>
            <a:r>
              <a:rPr>
                <a:latin typeface="Courier"/>
              </a:rPr>
              <a:t> </a:t>
            </a:r>
            <a:r>
              <a:rPr>
                <a:solidFill>
                  <a:srgbClr val="666666"/>
                </a:solidFill>
                <a:latin typeface="Courier"/>
              </a:rPr>
              <a:t>=</a:t>
            </a:r>
            <a:r>
              <a:rPr>
                <a:latin typeface="Courier"/>
              </a:rPr>
              <a:t> uuid</a:t>
            </a:r>
            <a:r>
              <a:rPr>
                <a:solidFill>
                  <a:srgbClr val="666666"/>
                </a:solidFill>
                <a:latin typeface="Courier"/>
              </a:rPr>
              <a:t>(</a:t>
            </a:r>
            <a:r>
              <a:rPr>
                <a:solidFill>
                  <a:srgbClr val="4070A0"/>
                </a:solidFill>
                <a:latin typeface="Courier"/>
              </a:rPr>
              <a:t>"event_id"</a:t>
            </a:r>
            <a:r>
              <a:rPr>
                <a:solidFill>
                  <a:srgbClr val="666666"/>
                </a:solidFill>
                <a:latin typeface="Courier"/>
              </a:rPr>
              <a:t>).</a:t>
            </a:r>
            <a:r>
              <a:rPr>
                <a:latin typeface="Courier"/>
              </a:rPr>
              <a:t>references</a:t>
            </a:r>
            <a:r>
              <a:rPr>
                <a:solidFill>
                  <a:srgbClr val="666666"/>
                </a:solidFill>
                <a:latin typeface="Courier"/>
              </a:rPr>
              <a:t>(</a:t>
            </a:r>
            <a:r>
              <a:rPr>
                <a:latin typeface="Courier"/>
              </a:rPr>
              <a:t>EventTable</a:t>
            </a:r>
            <a:r>
              <a:rPr>
                <a:solidFill>
                  <a:srgbClr val="666666"/>
                </a:solidFill>
                <a:latin typeface="Courier"/>
              </a:rPr>
              <a:t>.</a:t>
            </a:r>
            <a:r>
              <a:rPr>
                <a:latin typeface="Courier"/>
              </a:rPr>
              <a:t>id</a:t>
            </a:r>
            <a:r>
              <a:rPr>
                <a:solidFill>
                  <a:srgbClr val="666666"/>
                </a:solidFill>
                <a:latin typeface="Courier"/>
              </a:rPr>
              <a:t>)</a:t>
            </a:r>
            <a:br/>
            <a:r>
              <a:rPr>
                <a:latin typeface="Courier"/>
              </a:rPr>
              <a:t>    </a:t>
            </a:r>
            <a:r>
              <a:rPr b="1">
                <a:solidFill>
                  <a:srgbClr val="007020"/>
                </a:solidFill>
                <a:latin typeface="Courier"/>
              </a:rPr>
              <a:t>val</a:t>
            </a:r>
            <a:r>
              <a:rPr>
                <a:latin typeface="Courier"/>
              </a:rPr>
              <a:t> </a:t>
            </a:r>
            <a:r>
              <a:rPr>
                <a:solidFill>
                  <a:srgbClr val="19177C"/>
                </a:solidFill>
                <a:latin typeface="Courier"/>
              </a:rPr>
              <a:t>createdAt</a:t>
            </a:r>
            <a:r>
              <a:rPr>
                <a:latin typeface="Courier"/>
              </a:rPr>
              <a:t> </a:t>
            </a:r>
            <a:r>
              <a:rPr>
                <a:solidFill>
                  <a:srgbClr val="666666"/>
                </a:solidFill>
                <a:latin typeface="Courier"/>
              </a:rPr>
              <a:t>=</a:t>
            </a:r>
            <a:r>
              <a:rPr>
                <a:latin typeface="Courier"/>
              </a:rPr>
              <a:t> timestamp</a:t>
            </a:r>
            <a:r>
              <a:rPr>
                <a:solidFill>
                  <a:srgbClr val="666666"/>
                </a:solidFill>
                <a:latin typeface="Courier"/>
              </a:rPr>
              <a:t>(</a:t>
            </a:r>
            <a:r>
              <a:rPr>
                <a:solidFill>
                  <a:srgbClr val="4070A0"/>
                </a:solidFill>
                <a:latin typeface="Courier"/>
              </a:rPr>
              <a:t>"created_at"</a:t>
            </a:r>
            <a:r>
              <a:rPr>
                <a:solidFill>
                  <a:srgbClr val="666666"/>
                </a:solidFill>
                <a:latin typeface="Courier"/>
              </a:rPr>
              <a:t>)</a:t>
            </a:r>
            <a:br/>
            <a:r>
              <a:rPr>
                <a:latin typeface="Courier"/>
              </a:rPr>
              <a:t>    </a:t>
            </a:r>
            <a:r>
              <a:rPr b="1">
                <a:solidFill>
                  <a:srgbClr val="007020"/>
                </a:solidFill>
                <a:latin typeface="Courier"/>
              </a:rPr>
              <a:t>val</a:t>
            </a:r>
            <a:r>
              <a:rPr>
                <a:latin typeface="Courier"/>
              </a:rPr>
              <a:t> </a:t>
            </a:r>
            <a:r>
              <a:rPr>
                <a:solidFill>
                  <a:srgbClr val="19177C"/>
                </a:solidFill>
                <a:latin typeface="Courier"/>
              </a:rPr>
              <a:t>updatedAt</a:t>
            </a:r>
            <a:r>
              <a:rPr>
                <a:latin typeface="Courier"/>
              </a:rPr>
              <a:t> </a:t>
            </a:r>
            <a:r>
              <a:rPr>
                <a:solidFill>
                  <a:srgbClr val="666666"/>
                </a:solidFill>
                <a:latin typeface="Courier"/>
              </a:rPr>
              <a:t>=</a:t>
            </a:r>
            <a:r>
              <a:rPr>
                <a:latin typeface="Courier"/>
              </a:rPr>
              <a:t> timestamp</a:t>
            </a:r>
            <a:r>
              <a:rPr>
                <a:solidFill>
                  <a:srgbClr val="666666"/>
                </a:solidFill>
                <a:latin typeface="Courier"/>
              </a:rPr>
              <a:t>(</a:t>
            </a:r>
            <a:r>
              <a:rPr>
                <a:solidFill>
                  <a:srgbClr val="4070A0"/>
                </a:solidFill>
                <a:latin typeface="Courier"/>
              </a:rPr>
              <a:t>"updated_at"</a:t>
            </a:r>
            <a:r>
              <a:rPr>
                <a:solidFill>
                  <a:srgbClr val="666666"/>
                </a:solidFill>
                <a:latin typeface="Courier"/>
              </a:rPr>
              <a:t>)</a:t>
            </a:r>
            <a:br/>
            <a:r>
              <a:rPr>
                <a:solidFill>
                  <a:srgbClr val="666666"/>
                </a:solidFill>
                <a:latin typeface="Courier"/>
              </a:rPr>
              <a:t>}</a:t>
            </a:r>
          </a:p>
          <a:p>
            <a:pPr lvl="0" indent="0" marL="0">
              <a:buNone/>
            </a:pPr>
            <a:r>
              <a:rPr b="1"/>
              <a:t>Script d’initialisation (init-db.sql)</a:t>
            </a:r>
          </a:p>
          <a:p>
            <a:pPr lvl="0" indent="0">
              <a:buNone/>
            </a:pPr>
            <a:r>
              <a:rPr b="1">
                <a:solidFill>
                  <a:srgbClr val="007020"/>
                </a:solidFill>
                <a:latin typeface="Courier"/>
              </a:rPr>
              <a:t>CREATE</a:t>
            </a:r>
            <a:r>
              <a:rPr>
                <a:latin typeface="Courier"/>
              </a:rPr>
              <a:t> </a:t>
            </a:r>
            <a:r>
              <a:rPr b="1">
                <a:solidFill>
                  <a:srgbClr val="007020"/>
                </a:solidFill>
                <a:latin typeface="Courier"/>
              </a:rPr>
              <a:t>SCHEMA</a:t>
            </a:r>
            <a:r>
              <a:rPr>
                <a:latin typeface="Courier"/>
              </a:rPr>
              <a:t> </a:t>
            </a:r>
            <a:r>
              <a:rPr b="1">
                <a:solidFill>
                  <a:srgbClr val="007020"/>
                </a:solidFill>
                <a:latin typeface="Courier"/>
              </a:rPr>
              <a:t>IF</a:t>
            </a:r>
            <a:r>
              <a:rPr>
                <a:latin typeface="Courier"/>
              </a:rPr>
              <a:t> </a:t>
            </a:r>
            <a:r>
              <a:rPr b="1">
                <a:solidFill>
                  <a:srgbClr val="007020"/>
                </a:solidFill>
                <a:latin typeface="Courier"/>
              </a:rPr>
              <a:t>NOT</a:t>
            </a:r>
            <a:r>
              <a:rPr>
                <a:latin typeface="Courier"/>
              </a:rPr>
              <a:t> </a:t>
            </a:r>
            <a:r>
              <a:rPr b="1">
                <a:solidFill>
                  <a:srgbClr val="007020"/>
                </a:solidFill>
                <a:latin typeface="Courier"/>
              </a:rPr>
              <a:t>EXISTS</a:t>
            </a:r>
            <a:r>
              <a:rPr>
                <a:latin typeface="Courier"/>
              </a:rPr>
              <a:t> configuration;</a:t>
            </a:r>
            <a:br/>
            <a:br/>
            <a:r>
              <a:rPr b="1">
                <a:solidFill>
                  <a:srgbClr val="007020"/>
                </a:solidFill>
                <a:latin typeface="Courier"/>
              </a:rPr>
              <a:t>CREATE</a:t>
            </a:r>
            <a:r>
              <a:rPr>
                <a:latin typeface="Courier"/>
              </a:rPr>
              <a:t> </a:t>
            </a:r>
            <a:r>
              <a:rPr b="1">
                <a:solidFill>
                  <a:srgbClr val="007020"/>
                </a:solidFill>
                <a:latin typeface="Courier"/>
              </a:rPr>
              <a:t>TABLE</a:t>
            </a:r>
            <a:r>
              <a:rPr>
                <a:latin typeface="Courier"/>
              </a:rPr>
              <a:t> configuration.</a:t>
            </a:r>
            <a:r>
              <a:rPr b="1">
                <a:solidFill>
                  <a:srgbClr val="007020"/>
                </a:solidFill>
                <a:latin typeface="Courier"/>
              </a:rPr>
              <a:t>resource</a:t>
            </a:r>
            <a:r>
              <a:rPr>
                <a:latin typeface="Courier"/>
              </a:rPr>
              <a:t> (</a:t>
            </a:r>
            <a:br/>
            <a:r>
              <a:rPr>
                <a:latin typeface="Courier"/>
              </a:rPr>
              <a:t>    </a:t>
            </a:r>
            <a:r>
              <a:rPr b="1">
                <a:solidFill>
                  <a:srgbClr val="007020"/>
                </a:solidFill>
                <a:latin typeface="Courier"/>
              </a:rPr>
              <a:t>id</a:t>
            </a:r>
            <a:r>
              <a:rPr>
                <a:latin typeface="Courier"/>
              </a:rPr>
              <a:t> UUID </a:t>
            </a:r>
            <a:r>
              <a:rPr b="1">
                <a:solidFill>
                  <a:srgbClr val="007020"/>
                </a:solidFill>
                <a:latin typeface="Courier"/>
              </a:rPr>
              <a:t>PRIMARY</a:t>
            </a:r>
            <a:r>
              <a:rPr>
                <a:latin typeface="Courier"/>
              </a:rPr>
              <a:t> </a:t>
            </a:r>
            <a:r>
              <a:rPr b="1">
                <a:solidFill>
                  <a:srgbClr val="007020"/>
                </a:solidFill>
                <a:latin typeface="Courier"/>
              </a:rPr>
              <a:t>KEY</a:t>
            </a:r>
            <a:r>
              <a:rPr>
                <a:latin typeface="Courier"/>
              </a:rPr>
              <a:t> </a:t>
            </a:r>
            <a:r>
              <a:rPr b="1">
                <a:solidFill>
                  <a:srgbClr val="007020"/>
                </a:solidFill>
                <a:latin typeface="Courier"/>
              </a:rPr>
              <a:t>DEFAULT</a:t>
            </a:r>
            <a:r>
              <a:rPr>
                <a:latin typeface="Courier"/>
              </a:rPr>
              <a:t> gen_random_uuid(),</a:t>
            </a:r>
            <a:br/>
            <a:r>
              <a:rPr>
                <a:latin typeface="Courier"/>
              </a:rPr>
              <a:t>    name </a:t>
            </a:r>
            <a:r>
              <a:rPr>
                <a:solidFill>
                  <a:srgbClr val="902000"/>
                </a:solidFill>
                <a:latin typeface="Courier"/>
              </a:rPr>
              <a:t>VARCHAR</a:t>
            </a:r>
            <a:r>
              <a:rPr>
                <a:latin typeface="Courier"/>
              </a:rPr>
              <a:t>(</a:t>
            </a:r>
            <a:r>
              <a:rPr>
                <a:solidFill>
                  <a:srgbClr val="40A070"/>
                </a:solidFill>
                <a:latin typeface="Courier"/>
              </a:rPr>
              <a:t>255</a:t>
            </a:r>
            <a:r>
              <a:rPr>
                <a:latin typeface="Courier"/>
              </a:rPr>
              <a:t>) </a:t>
            </a:r>
            <a:r>
              <a:rPr b="1">
                <a:solidFill>
                  <a:srgbClr val="007020"/>
                </a:solidFill>
                <a:latin typeface="Courier"/>
              </a:rPr>
              <a:t>NOT</a:t>
            </a:r>
            <a:r>
              <a:rPr>
                <a:latin typeface="Courier"/>
              </a:rPr>
              <a:t> </a:t>
            </a:r>
            <a:r>
              <a:rPr b="1">
                <a:solidFill>
                  <a:srgbClr val="007020"/>
                </a:solidFill>
                <a:latin typeface="Courier"/>
              </a:rPr>
              <a:t>NULL</a:t>
            </a:r>
            <a:r>
              <a:rPr>
                <a:latin typeface="Courier"/>
              </a:rPr>
              <a:t>,</a:t>
            </a:r>
            <a:br/>
            <a:r>
              <a:rPr>
                <a:latin typeface="Courier"/>
              </a:rPr>
              <a:t>    </a:t>
            </a:r>
            <a:r>
              <a:rPr b="1">
                <a:solidFill>
                  <a:srgbClr val="007020"/>
                </a:solidFill>
                <a:latin typeface="Courier"/>
              </a:rPr>
              <a:t>category</a:t>
            </a:r>
            <a:r>
              <a:rPr>
                <a:latin typeface="Courier"/>
              </a:rPr>
              <a:t> </a:t>
            </a:r>
            <a:r>
              <a:rPr>
                <a:solidFill>
                  <a:srgbClr val="902000"/>
                </a:solidFill>
                <a:latin typeface="Courier"/>
              </a:rPr>
              <a:t>VARCHAR</a:t>
            </a:r>
            <a:r>
              <a:rPr>
                <a:latin typeface="Courier"/>
              </a:rPr>
              <a:t>(</a:t>
            </a:r>
            <a:r>
              <a:rPr>
                <a:solidFill>
                  <a:srgbClr val="40A070"/>
                </a:solidFill>
                <a:latin typeface="Courier"/>
              </a:rPr>
              <a:t>50</a:t>
            </a:r>
            <a:r>
              <a:rPr>
                <a:latin typeface="Courier"/>
              </a:rPr>
              <a:t>) </a:t>
            </a:r>
            <a:r>
              <a:rPr b="1">
                <a:solidFill>
                  <a:srgbClr val="007020"/>
                </a:solidFill>
                <a:latin typeface="Courier"/>
              </a:rPr>
              <a:t>NOT</a:t>
            </a:r>
            <a:r>
              <a:rPr>
                <a:latin typeface="Courier"/>
              </a:rPr>
              <a:t> </a:t>
            </a:r>
            <a:r>
              <a:rPr b="1">
                <a:solidFill>
                  <a:srgbClr val="007020"/>
                </a:solidFill>
                <a:latin typeface="Courier"/>
              </a:rPr>
              <a:t>NULL</a:t>
            </a:r>
            <a:r>
              <a:rPr>
                <a:latin typeface="Courier"/>
              </a:rPr>
              <a:t>,</a:t>
            </a:r>
            <a:br/>
            <a:r>
              <a:rPr>
                <a:latin typeface="Courier"/>
              </a:rPr>
              <a:t>    suggested_quantity </a:t>
            </a:r>
            <a:r>
              <a:rPr>
                <a:solidFill>
                  <a:srgbClr val="902000"/>
                </a:solidFill>
                <a:latin typeface="Courier"/>
              </a:rPr>
              <a:t>INTEGER</a:t>
            </a:r>
            <a:r>
              <a:rPr>
                <a:latin typeface="Courier"/>
              </a:rPr>
              <a:t> </a:t>
            </a:r>
            <a:r>
              <a:rPr b="1">
                <a:solidFill>
                  <a:srgbClr val="007020"/>
                </a:solidFill>
                <a:latin typeface="Courier"/>
              </a:rPr>
              <a:t>NOT</a:t>
            </a:r>
            <a:r>
              <a:rPr>
                <a:latin typeface="Courier"/>
              </a:rPr>
              <a:t> </a:t>
            </a:r>
            <a:r>
              <a:rPr b="1">
                <a:solidFill>
                  <a:srgbClr val="007020"/>
                </a:solidFill>
                <a:latin typeface="Courier"/>
              </a:rPr>
              <a:t>NULL</a:t>
            </a:r>
            <a:r>
              <a:rPr>
                <a:latin typeface="Courier"/>
              </a:rPr>
              <a:t> </a:t>
            </a:r>
            <a:r>
              <a:rPr b="1">
                <a:solidFill>
                  <a:srgbClr val="007020"/>
                </a:solidFill>
                <a:latin typeface="Courier"/>
              </a:rPr>
              <a:t>CHECK</a:t>
            </a:r>
            <a:r>
              <a:rPr>
                <a:latin typeface="Courier"/>
              </a:rPr>
              <a:t> (suggested_quantity </a:t>
            </a:r>
            <a:r>
              <a:rPr>
                <a:solidFill>
                  <a:srgbClr val="666666"/>
                </a:solidFill>
                <a:latin typeface="Courier"/>
              </a:rPr>
              <a:t>&gt;</a:t>
            </a:r>
            <a:r>
              <a:rPr>
                <a:latin typeface="Courier"/>
              </a:rPr>
              <a:t> </a:t>
            </a:r>
            <a:r>
              <a:rPr>
                <a:solidFill>
                  <a:srgbClr val="40A070"/>
                </a:solidFill>
                <a:latin typeface="Courier"/>
              </a:rPr>
              <a:t>0</a:t>
            </a:r>
            <a:r>
              <a:rPr>
                <a:latin typeface="Courier"/>
              </a:rPr>
              <a:t>),</a:t>
            </a:r>
            <a:br/>
            <a:r>
              <a:rPr>
                <a:latin typeface="Courier"/>
              </a:rPr>
              <a:t>    current_quantity </a:t>
            </a:r>
            <a:r>
              <a:rPr>
                <a:solidFill>
                  <a:srgbClr val="902000"/>
                </a:solidFill>
                <a:latin typeface="Courier"/>
              </a:rPr>
              <a:t>INTEGER</a:t>
            </a:r>
            <a:r>
              <a:rPr>
                <a:latin typeface="Courier"/>
              </a:rPr>
              <a:t> </a:t>
            </a:r>
            <a:r>
              <a:rPr b="1">
                <a:solidFill>
                  <a:srgbClr val="007020"/>
                </a:solidFill>
                <a:latin typeface="Courier"/>
              </a:rPr>
              <a:t>NOT</a:t>
            </a:r>
            <a:r>
              <a:rPr>
                <a:latin typeface="Courier"/>
              </a:rPr>
              <a:t> </a:t>
            </a:r>
            <a:r>
              <a:rPr b="1">
                <a:solidFill>
                  <a:srgbClr val="007020"/>
                </a:solidFill>
                <a:latin typeface="Courier"/>
              </a:rPr>
              <a:t>NULL</a:t>
            </a:r>
            <a:r>
              <a:rPr>
                <a:latin typeface="Courier"/>
              </a:rPr>
              <a:t> </a:t>
            </a:r>
            <a:r>
              <a:rPr b="1">
                <a:solidFill>
                  <a:srgbClr val="007020"/>
                </a:solidFill>
                <a:latin typeface="Courier"/>
              </a:rPr>
              <a:t>DEFAULT</a:t>
            </a:r>
            <a:r>
              <a:rPr>
                <a:latin typeface="Courier"/>
              </a:rPr>
              <a:t> </a:t>
            </a:r>
            <a:r>
              <a:rPr>
                <a:solidFill>
                  <a:srgbClr val="40A070"/>
                </a:solidFill>
                <a:latin typeface="Courier"/>
              </a:rPr>
              <a:t>0</a:t>
            </a:r>
            <a:r>
              <a:rPr>
                <a:latin typeface="Courier"/>
              </a:rPr>
              <a:t>,</a:t>
            </a:r>
            <a:br/>
            <a:r>
              <a:rPr>
                <a:latin typeface="Courier"/>
              </a:rPr>
              <a:t>    version </a:t>
            </a:r>
            <a:r>
              <a:rPr>
                <a:solidFill>
                  <a:srgbClr val="902000"/>
                </a:solidFill>
                <a:latin typeface="Courier"/>
              </a:rPr>
              <a:t>INTEGER</a:t>
            </a:r>
            <a:r>
              <a:rPr>
                <a:latin typeface="Courier"/>
              </a:rPr>
              <a:t> </a:t>
            </a:r>
            <a:r>
              <a:rPr b="1">
                <a:solidFill>
                  <a:srgbClr val="007020"/>
                </a:solidFill>
                <a:latin typeface="Courier"/>
              </a:rPr>
              <a:t>NOT</a:t>
            </a:r>
            <a:r>
              <a:rPr>
                <a:latin typeface="Courier"/>
              </a:rPr>
              <a:t> </a:t>
            </a:r>
            <a:r>
              <a:rPr b="1">
                <a:solidFill>
                  <a:srgbClr val="007020"/>
                </a:solidFill>
                <a:latin typeface="Courier"/>
              </a:rPr>
              <a:t>NULL</a:t>
            </a:r>
            <a:r>
              <a:rPr>
                <a:latin typeface="Courier"/>
              </a:rPr>
              <a:t> </a:t>
            </a:r>
            <a:r>
              <a:rPr b="1">
                <a:solidFill>
                  <a:srgbClr val="007020"/>
                </a:solidFill>
                <a:latin typeface="Courier"/>
              </a:rPr>
              <a:t>DEFAULT</a:t>
            </a:r>
            <a:r>
              <a:rPr>
                <a:latin typeface="Courier"/>
              </a:rPr>
              <a:t> </a:t>
            </a:r>
            <a:r>
              <a:rPr>
                <a:solidFill>
                  <a:srgbClr val="40A070"/>
                </a:solidFill>
                <a:latin typeface="Courier"/>
              </a:rPr>
              <a:t>0</a:t>
            </a:r>
            <a:r>
              <a:rPr>
                <a:latin typeface="Courier"/>
              </a:rPr>
              <a:t>,</a:t>
            </a:r>
            <a:br/>
            <a:r>
              <a:rPr>
                <a:latin typeface="Courier"/>
              </a:rPr>
              <a:t>    event_id UUID </a:t>
            </a:r>
            <a:r>
              <a:rPr b="1">
                <a:solidFill>
                  <a:srgbClr val="007020"/>
                </a:solidFill>
                <a:latin typeface="Courier"/>
              </a:rPr>
              <a:t>NOT</a:t>
            </a:r>
            <a:r>
              <a:rPr>
                <a:latin typeface="Courier"/>
              </a:rPr>
              <a:t> </a:t>
            </a:r>
            <a:r>
              <a:rPr b="1">
                <a:solidFill>
                  <a:srgbClr val="007020"/>
                </a:solidFill>
                <a:latin typeface="Courier"/>
              </a:rPr>
              <a:t>NULL</a:t>
            </a:r>
            <a:r>
              <a:rPr>
                <a:latin typeface="Courier"/>
              </a:rPr>
              <a:t> </a:t>
            </a:r>
            <a:r>
              <a:rPr b="1">
                <a:solidFill>
                  <a:srgbClr val="007020"/>
                </a:solidFill>
                <a:latin typeface="Courier"/>
              </a:rPr>
              <a:t>REFERENCES</a:t>
            </a:r>
            <a:r>
              <a:rPr>
                <a:latin typeface="Courier"/>
              </a:rPr>
              <a:t> configuration.event(</a:t>
            </a:r>
            <a:r>
              <a:rPr b="1">
                <a:solidFill>
                  <a:srgbClr val="007020"/>
                </a:solidFill>
                <a:latin typeface="Courier"/>
              </a:rPr>
              <a:t>id</a:t>
            </a:r>
            <a:r>
              <a:rPr>
                <a:latin typeface="Courier"/>
              </a:rPr>
              <a:t>),</a:t>
            </a:r>
            <a:br/>
            <a:r>
              <a:rPr>
                <a:latin typeface="Courier"/>
              </a:rPr>
              <a:t>    created_at </a:t>
            </a:r>
            <a:r>
              <a:rPr>
                <a:solidFill>
                  <a:srgbClr val="902000"/>
                </a:solidFill>
                <a:latin typeface="Courier"/>
              </a:rPr>
              <a:t>TIMESTAMP</a:t>
            </a:r>
            <a:r>
              <a:rPr>
                <a:latin typeface="Courier"/>
              </a:rPr>
              <a:t> </a:t>
            </a:r>
            <a:r>
              <a:rPr b="1">
                <a:solidFill>
                  <a:srgbClr val="007020"/>
                </a:solidFill>
                <a:latin typeface="Courier"/>
              </a:rPr>
              <a:t>NOT</a:t>
            </a:r>
            <a:r>
              <a:rPr>
                <a:latin typeface="Courier"/>
              </a:rPr>
              <a:t> </a:t>
            </a:r>
            <a:r>
              <a:rPr b="1">
                <a:solidFill>
                  <a:srgbClr val="007020"/>
                </a:solidFill>
                <a:latin typeface="Courier"/>
              </a:rPr>
              <a:t>NULL</a:t>
            </a:r>
            <a:r>
              <a:rPr>
                <a:latin typeface="Courier"/>
              </a:rPr>
              <a:t> </a:t>
            </a:r>
            <a:r>
              <a:rPr b="1">
                <a:solidFill>
                  <a:srgbClr val="007020"/>
                </a:solidFill>
                <a:latin typeface="Courier"/>
              </a:rPr>
              <a:t>DEFAULT</a:t>
            </a:r>
            <a:r>
              <a:rPr>
                <a:latin typeface="Courier"/>
              </a:rPr>
              <a:t> NOW(),</a:t>
            </a:r>
            <a:br/>
            <a:r>
              <a:rPr>
                <a:latin typeface="Courier"/>
              </a:rPr>
              <a:t>    updated_at </a:t>
            </a:r>
            <a:r>
              <a:rPr>
                <a:solidFill>
                  <a:srgbClr val="902000"/>
                </a:solidFill>
                <a:latin typeface="Courier"/>
              </a:rPr>
              <a:t>TIMESTAMP</a:t>
            </a:r>
            <a:r>
              <a:rPr>
                <a:latin typeface="Courier"/>
              </a:rPr>
              <a:t> </a:t>
            </a:r>
            <a:r>
              <a:rPr b="1">
                <a:solidFill>
                  <a:srgbClr val="007020"/>
                </a:solidFill>
                <a:latin typeface="Courier"/>
              </a:rPr>
              <a:t>NOT</a:t>
            </a:r>
            <a:r>
              <a:rPr>
                <a:latin typeface="Courier"/>
              </a:rPr>
              <a:t> </a:t>
            </a:r>
            <a:r>
              <a:rPr b="1">
                <a:solidFill>
                  <a:srgbClr val="007020"/>
                </a:solidFill>
                <a:latin typeface="Courier"/>
              </a:rPr>
              <a:t>NULL</a:t>
            </a:r>
            <a:r>
              <a:rPr>
                <a:latin typeface="Courier"/>
              </a:rPr>
              <a:t> </a:t>
            </a:r>
            <a:r>
              <a:rPr b="1">
                <a:solidFill>
                  <a:srgbClr val="007020"/>
                </a:solidFill>
                <a:latin typeface="Courier"/>
              </a:rPr>
              <a:t>DEFAULT</a:t>
            </a:r>
            <a:r>
              <a:rPr>
                <a:latin typeface="Courier"/>
              </a:rPr>
              <a:t> NOW()</a:t>
            </a:r>
            <a:br/>
            <a:r>
              <a:rPr>
                <a:latin typeface="Courier"/>
              </a:rPr>
              <a:t>);</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Cas d’utilisation</a:t>
            </a:r>
          </a:p>
        </p:txBody>
      </p:sp>
      <p:pic>
        <p:nvPicPr>
          <p:cNvPr descr="mermaid-images/diagram_4.png" id="0" name="Picture 1"/>
          <p:cNvPicPr>
            <a:picLocks noGrp="1" noChangeAspect="1"/>
          </p:cNvPicPr>
          <p:nvPr/>
        </p:nvPicPr>
        <p:blipFill>
          <a:blip r:embed="rId3"/>
          <a:stretch>
            <a:fillRect/>
          </a:stretch>
        </p:blipFill>
        <p:spPr bwMode="auto">
          <a:xfrm>
            <a:off x="3187700" y="1193800"/>
            <a:ext cx="27686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Diagramme</a:t>
            </a:r>
          </a:p>
        </p:txBody>
      </p:sp>
      <p:sp>
        <p:nvSpPr>
          <p:cNvPr id="3" name="Content Placeholder 2"/>
          <p:cNvSpPr>
            <a:spLocks noGrp="1"/>
          </p:cNvSpPr>
          <p:nvPr>
            <p:ph idx="1"/>
          </p:nvPr>
        </p:nvSpPr>
        <p:spPr/>
        <p:txBody>
          <a:bodyPr/>
          <a:lstStyle/>
          <a:p>
            <a:pPr lvl="0"/>
            <a:r>
              <a:rPr b="1"/>
              <a:t>12 use cases</a:t>
            </a:r>
            <a:r>
              <a:rPr/>
              <a:t>, </a:t>
            </a:r>
            <a:r>
              <a:rPr b="1"/>
              <a:t>4 bounded contexts</a:t>
            </a:r>
          </a:p>
          <a:p>
            <a:pPr lvl="0"/>
            <a:r>
              <a:rPr/>
              <a:t>Règle métier : création événement inclut auto-ajout créateur (CONFIRMED)</a:t>
            </a:r>
          </a:p>
          <a:p>
            <a:pPr lvl="0"/>
            <a:r>
              <a:rPr/>
              <a:t>Suppression événement → cascade contributions → ressources → participants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Séquence : création d’événement</a:t>
            </a:r>
          </a:p>
        </p:txBody>
      </p:sp>
      <p:pic>
        <p:nvPicPr>
          <p:cNvPr descr="mermaid-images/diagram_5.png" id="0" name="Picture 1"/>
          <p:cNvPicPr>
            <a:picLocks noGrp="1" noChangeAspect="1"/>
          </p:cNvPicPr>
          <p:nvPr/>
        </p:nvPicPr>
        <p:blipFill>
          <a:blip r:embed="rId3"/>
          <a:stretch>
            <a:fillRect/>
          </a:stretch>
        </p:blipFill>
        <p:spPr bwMode="auto">
          <a:xfrm>
            <a:off x="1511300" y="1193800"/>
            <a:ext cx="61214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Diagramme</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Séquence : contribution avec verrou optimiste</a:t>
            </a:r>
          </a:p>
        </p:txBody>
      </p:sp>
      <p:pic>
        <p:nvPicPr>
          <p:cNvPr descr="mermaid-images/diagram_6.png" id="0" name="Picture 1"/>
          <p:cNvPicPr>
            <a:picLocks noGrp="1" noChangeAspect="1"/>
          </p:cNvPicPr>
          <p:nvPr/>
        </p:nvPicPr>
        <p:blipFill>
          <a:blip r:embed="rId3"/>
          <a:stretch>
            <a:fillRect/>
          </a:stretch>
        </p:blipFill>
        <p:spPr bwMode="auto">
          <a:xfrm>
            <a:off x="1193800" y="1193800"/>
            <a:ext cx="67437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Diagramme</a:t>
            </a:r>
          </a:p>
        </p:txBody>
      </p:sp>
      <p:sp>
        <p:nvSpPr>
          <p:cNvPr id="3" name="Content Placeholder 2"/>
          <p:cNvSpPr>
            <a:spLocks noGrp="1"/>
          </p:cNvSpPr>
          <p:nvPr>
            <p:ph idx="1"/>
          </p:nvPr>
        </p:nvSpPr>
        <p:spPr/>
        <p:txBody>
          <a:bodyPr/>
          <a:lstStyle/>
          <a:p>
            <a:pPr lvl="0" indent="0" marL="0">
              <a:buNone/>
            </a:pPr>
            <a:r>
              <a:rPr/>
              <a:t>Le verrou optimiste évite les verrous SQL (</a:t>
            </a:r>
            <a:r>
              <a:rPr>
                <a:latin typeface="Courier"/>
              </a:rPr>
              <a:t>SELECT FOR UPDATE</a:t>
            </a:r>
            <a:r>
              <a:rPr/>
              <a:t>) tout en garantissant la cohérence.</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b="1">
                <a:solidFill>
                  <a:srgbClr val="3D5A6C"/>
                </a:solidFill>
              </a:rPr>
              <a:t>Stack technique complète</a:t>
            </a:r>
          </a:p>
        </p:txBody>
      </p:sp>
      <p:sp>
        <p:nvSpPr>
          <p:cNvPr id="4" name="Text Placeholder 3"/>
          <p:cNvSpPr>
            <a:spLocks noGrp="1"/>
          </p:cNvSpPr>
          <p:nvPr>
            <p:ph idx="2" sz="half" type="body"/>
          </p:nvPr>
        </p:nvSpPr>
        <p:spPr/>
        <p:txBody>
          <a:bodyPr/>
          <a:lstStyle/>
          <a:p>
            <a:pPr lvl="0" indent="0" marL="0">
              <a:buNone/>
            </a:pPr>
            <a:r>
              <a:rPr b="1"/>
              <a:t>Back-end</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Couche</a:t>
                      </a:r>
                    </a:p>
                  </a:txBody>
                  <a:tcPr/>
                </a:tc>
                <a:tc>
                  <a:txBody>
                    <a:bodyPr/>
                    <a:lstStyle/>
                    <a:p>
                      <a:pPr lvl="0" indent="0" marL="0">
                        <a:buNone/>
                      </a:pPr>
                      <a:r>
                        <a:rPr/>
                        <a:t>Technologie</a:t>
                      </a:r>
                    </a:p>
                  </a:txBody>
                  <a:tcPr/>
                </a:tc>
                <a:tc>
                  <a:txBody>
                    <a:bodyPr/>
                    <a:lstStyle/>
                    <a:p>
                      <a:pPr lvl="0" indent="0" marL="0">
                        <a:buNone/>
                      </a:pPr>
                      <a:r>
                        <a:rPr/>
                        <a:t>Version</a:t>
                      </a:r>
                    </a:p>
                  </a:txBody>
                  <a:tcPr/>
                </a:tc>
              </a:tr>
              <a:tr h="0">
                <a:tc>
                  <a:txBody>
                    <a:bodyPr/>
                    <a:lstStyle/>
                    <a:p>
                      <a:pPr lvl="0" indent="0" marL="0">
                        <a:buNone/>
                      </a:pPr>
                      <a:r>
                        <a:rPr/>
                        <a:t>Langage</a:t>
                      </a:r>
                    </a:p>
                  </a:txBody>
                </a:tc>
                <a:tc>
                  <a:txBody>
                    <a:bodyPr/>
                    <a:lstStyle/>
                    <a:p>
                      <a:pPr lvl="0" indent="0" marL="0">
                        <a:buNone/>
                      </a:pPr>
                      <a:r>
                        <a:rPr/>
                        <a:t>Kotlin</a:t>
                      </a:r>
                    </a:p>
                  </a:txBody>
                </a:tc>
                <a:tc>
                  <a:txBody>
                    <a:bodyPr/>
                    <a:lstStyle/>
                    <a:p>
                      <a:pPr lvl="0" indent="0" marL="0">
                        <a:buNone/>
                      </a:pPr>
                      <a:r>
                        <a:rPr/>
                        <a:t>2.2.0 / JVM 21</a:t>
                      </a:r>
                    </a:p>
                  </a:txBody>
                </a:tc>
              </a:tr>
              <a:tr h="0">
                <a:tc>
                  <a:txBody>
                    <a:bodyPr/>
                    <a:lstStyle/>
                    <a:p>
                      <a:pPr lvl="0" indent="0" marL="0">
                        <a:buNone/>
                      </a:pPr>
                      <a:r>
                        <a:rPr/>
                        <a:t>Framework web</a:t>
                      </a:r>
                    </a:p>
                  </a:txBody>
                </a:tc>
                <a:tc>
                  <a:txBody>
                    <a:bodyPr/>
                    <a:lstStyle/>
                    <a:p>
                      <a:pPr lvl="0" indent="0" marL="0">
                        <a:buNone/>
                      </a:pPr>
                      <a:r>
                        <a:rPr/>
                        <a:t>Ktor</a:t>
                      </a:r>
                    </a:p>
                  </a:txBody>
                </a:tc>
                <a:tc>
                  <a:txBody>
                    <a:bodyPr/>
                    <a:lstStyle/>
                    <a:p>
                      <a:pPr lvl="0" indent="0" marL="0">
                        <a:buNone/>
                      </a:pPr>
                      <a:r>
                        <a:rPr/>
                        <a:t>3.2.2</a:t>
                      </a:r>
                    </a:p>
                  </a:txBody>
                </a:tc>
              </a:tr>
              <a:tr h="0">
                <a:tc>
                  <a:txBody>
                    <a:bodyPr/>
                    <a:lstStyle/>
                    <a:p>
                      <a:pPr lvl="0" indent="0" marL="0">
                        <a:buNone/>
                      </a:pPr>
                      <a:r>
                        <a:rPr/>
                        <a:t>ORM</a:t>
                      </a:r>
                    </a:p>
                  </a:txBody>
                </a:tc>
                <a:tc>
                  <a:txBody>
                    <a:bodyPr/>
                    <a:lstStyle/>
                    <a:p>
                      <a:pPr lvl="0" indent="0" marL="0">
                        <a:buNone/>
                      </a:pPr>
                      <a:r>
                        <a:rPr/>
                        <a:t>Exposed</a:t>
                      </a:r>
                    </a:p>
                  </a:txBody>
                </a:tc>
                <a:tc>
                  <a:txBody>
                    <a:bodyPr/>
                    <a:lstStyle/>
                    <a:p>
                      <a:pPr lvl="0" indent="0" marL="0">
                        <a:buNone/>
                      </a:pPr>
                      <a:r>
                        <a:rPr/>
                        <a:t>0.61.0</a:t>
                      </a:r>
                    </a:p>
                  </a:txBody>
                </a:tc>
              </a:tr>
              <a:tr h="0">
                <a:tc>
                  <a:txBody>
                    <a:bodyPr/>
                    <a:lstStyle/>
                    <a:p>
                      <a:pPr lvl="0" indent="0" marL="0">
                        <a:buNone/>
                      </a:pPr>
                      <a:r>
                        <a:rPr/>
                        <a:t>Base de données</a:t>
                      </a:r>
                    </a:p>
                  </a:txBody>
                </a:tc>
                <a:tc>
                  <a:txBody>
                    <a:bodyPr/>
                    <a:lstStyle/>
                    <a:p>
                      <a:pPr lvl="0" indent="0" marL="0">
                        <a:buNone/>
                      </a:pPr>
                      <a:r>
                        <a:rPr/>
                        <a:t>PostgreSQL</a:t>
                      </a:r>
                    </a:p>
                  </a:txBody>
                </a:tc>
                <a:tc>
                  <a:txBody>
                    <a:bodyPr/>
                    <a:lstStyle/>
                    <a:p>
                      <a:pPr lvl="0" indent="0" marL="0">
                        <a:buNone/>
                      </a:pPr>
                      <a:r>
                        <a:rPr/>
                        <a:t>—</a:t>
                      </a:r>
                    </a:p>
                  </a:txBody>
                </a:tc>
              </a:tr>
              <a:tr h="0">
                <a:tc>
                  <a:txBody>
                    <a:bodyPr/>
                    <a:lstStyle/>
                    <a:p>
                      <a:pPr lvl="0" indent="0" marL="0">
                        <a:buNone/>
                      </a:pPr>
                      <a:r>
                        <a:rPr/>
                        <a:t>Pool connexions</a:t>
                      </a:r>
                    </a:p>
                  </a:txBody>
                </a:tc>
                <a:tc>
                  <a:txBody>
                    <a:bodyPr/>
                    <a:lstStyle/>
                    <a:p>
                      <a:pPr lvl="0" indent="0" marL="0">
                        <a:buNone/>
                      </a:pPr>
                      <a:r>
                        <a:rPr/>
                        <a:t>HikariCP</a:t>
                      </a:r>
                    </a:p>
                  </a:txBody>
                </a:tc>
                <a:tc>
                  <a:txBody>
                    <a:bodyPr/>
                    <a:lstStyle/>
                    <a:p>
                      <a:pPr lvl="0" indent="0" marL="0">
                        <a:buNone/>
                      </a:pPr>
                      <a:r>
                        <a:rPr/>
                        <a:t>6.3.1</a:t>
                      </a:r>
                    </a:p>
                  </a:txBody>
                </a:tc>
              </a:tr>
              <a:tr h="0">
                <a:tc>
                  <a:txBody>
                    <a:bodyPr/>
                    <a:lstStyle/>
                    <a:p>
                      <a:pPr lvl="0" indent="0" marL="0">
                        <a:buNone/>
                      </a:pPr>
                      <a:r>
                        <a:rPr/>
                        <a:t>DI</a:t>
                      </a:r>
                    </a:p>
                  </a:txBody>
                </a:tc>
                <a:tc>
                  <a:txBody>
                    <a:bodyPr/>
                    <a:lstStyle/>
                    <a:p>
                      <a:pPr lvl="0" indent="0" marL="0">
                        <a:buNone/>
                      </a:pPr>
                      <a:r>
                        <a:rPr/>
                        <a:t>Koin</a:t>
                      </a:r>
                    </a:p>
                  </a:txBody>
                </a:tc>
                <a:tc>
                  <a:txBody>
                    <a:bodyPr/>
                    <a:lstStyle/>
                    <a:p>
                      <a:pPr lvl="0" indent="0" marL="0">
                        <a:buNone/>
                      </a:pPr>
                      <a:r>
                        <a:rPr/>
                        <a:t>4.1.0</a:t>
                      </a:r>
                    </a:p>
                  </a:txBody>
                </a:tc>
              </a:tr>
              <a:tr h="0">
                <a:tc>
                  <a:txBody>
                    <a:bodyPr/>
                    <a:lstStyle/>
                    <a:p>
                      <a:pPr lvl="0" indent="0" marL="0">
                        <a:buNone/>
                      </a:pPr>
                      <a:r>
                        <a:rPr/>
                        <a:t>Erreurs fonctionnelles</a:t>
                      </a:r>
                    </a:p>
                  </a:txBody>
                </a:tc>
                <a:tc>
                  <a:txBody>
                    <a:bodyPr/>
                    <a:lstStyle/>
                    <a:p>
                      <a:pPr lvl="0" indent="0" marL="0">
                        <a:buNone/>
                      </a:pPr>
                      <a:r>
                        <a:rPr/>
                        <a:t>Arrow</a:t>
                      </a:r>
                    </a:p>
                  </a:txBody>
                </a:tc>
                <a:tc>
                  <a:txBody>
                    <a:bodyPr/>
                    <a:lstStyle/>
                    <a:p>
                      <a:pPr lvl="0" indent="0" marL="0">
                        <a:buNone/>
                      </a:pPr>
                      <a:r>
                        <a:rPr/>
                        <a:t>2.1.2</a:t>
                      </a:r>
                    </a:p>
                  </a:txBody>
                </a:tc>
              </a:tr>
              <a:tr h="0">
                <a:tc>
                  <a:txBody>
                    <a:bodyPr/>
                    <a:lstStyle/>
                    <a:p>
                      <a:pPr lvl="0" indent="0" marL="0">
                        <a:buNone/>
                      </a:pPr>
                      <a:r>
                        <a:rPr/>
                        <a:t>Sérialisation</a:t>
                      </a:r>
                    </a:p>
                  </a:txBody>
                </a:tc>
                <a:tc>
                  <a:txBody>
                    <a:bodyPr/>
                    <a:lstStyle/>
                    <a:p>
                      <a:pPr lvl="0" indent="0" marL="0">
                        <a:buNone/>
                      </a:pPr>
                      <a:r>
                        <a:rPr/>
                        <a:t>Jackson</a:t>
                      </a:r>
                    </a:p>
                  </a:txBody>
                </a:tc>
                <a:tc>
                  <a:txBody>
                    <a:bodyPr/>
                    <a:lstStyle/>
                    <a:p>
                      <a:pPr lvl="0" indent="0" marL="0">
                        <a:buNone/>
                      </a:pPr>
                      <a:r>
                        <a:rPr/>
                        <a:t>Kotlin + JavaTime</a:t>
                      </a:r>
                    </a:p>
                  </a:txBody>
                </a:tc>
              </a:tr>
              <a:tr h="0">
                <a:tc>
                  <a:txBody>
                    <a:bodyPr/>
                    <a:lstStyle/>
                    <a:p>
                      <a:pPr lvl="0" indent="0" marL="0">
                        <a:buNone/>
                      </a:pPr>
                      <a:r>
                        <a:rPr/>
                        <a:t>Auth</a:t>
                      </a:r>
                    </a:p>
                  </a:txBody>
                </a:tc>
                <a:tc>
                  <a:txBody>
                    <a:bodyPr/>
                    <a:lstStyle/>
                    <a:p>
                      <a:pPr lvl="0" indent="0" marL="0">
                        <a:buNone/>
                      </a:pPr>
                      <a:r>
                        <a:rPr/>
                        <a:t>Auth0 JWT + Supabase</a:t>
                      </a:r>
                    </a:p>
                  </a:txBody>
                </a:tc>
                <a:tc>
                  <a:txBody>
                    <a:bodyPr/>
                    <a:lstStyle/>
                    <a:p>
                      <a:pPr lvl="0" indent="0" marL="0">
                        <a:buNone/>
                      </a:pPr>
                      <a:r>
                        <a:rPr/>
                        <a:t>4.4.0</a:t>
                      </a:r>
                    </a:p>
                  </a:txBody>
                </a:tc>
              </a:tr>
            </a:tbl>
          </a:graphicData>
        </a:graphic>
      </p:graphicFrame>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Captures d’écran : Dashboard / HomePage</a:t>
            </a:r>
          </a:p>
        </p:txBody>
      </p:sp>
      <p:sp>
        <p:nvSpPr>
          <p:cNvPr id="3" name="Content Placeholder 2"/>
          <p:cNvSpPr>
            <a:spLocks noGrp="1"/>
          </p:cNvSpPr>
          <p:nvPr>
            <p:ph idx="1"/>
          </p:nvPr>
        </p:nvSpPr>
        <p:spPr/>
        <p:txBody>
          <a:bodyPr/>
          <a:lstStyle/>
          <a:p>
            <a:pPr lvl="0"/>
            <a:r>
              <a:rPr/>
              <a:t>Le dashboard affiche les événements sous forme de cartes (</a:t>
            </a:r>
            <a:r>
              <a:rPr>
                <a:latin typeface="Courier"/>
              </a:rPr>
              <a:t>EventCard</a:t>
            </a:r>
            <a:r>
              <a:rPr/>
              <a:t>)</a:t>
            </a:r>
          </a:p>
          <a:p>
            <a:pPr lvl="0"/>
            <a:r>
              <a:rPr/>
              <a:t>Chaque carte montre : date, nom, nombre de participants, localisation</a:t>
            </a:r>
          </a:p>
          <a:p>
            <a:pPr lvl="0"/>
            <a:r>
              <a:rPr/>
              <a:t>Barre de navigation : profil, créer un événement (+), accueil</a:t>
            </a:r>
          </a:p>
          <a:p>
            <a:pPr lvl="0"/>
            <a:r>
              <a:rPr b="1"/>
              <a:t>3 dépendances de production</a:t>
            </a:r>
            <a:r>
              <a:rPr/>
              <a:t> seulement (React, React Router, Supabase)</a:t>
            </a:r>
          </a:p>
          <a:p>
            <a:pPr lvl="0"/>
            <a:r>
              <a:rPr/>
              <a:t>PWA installable avec mode offline (Service Worker Workbox)</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Captures d’écran : EventDetailsView</a:t>
            </a:r>
          </a:p>
        </p:txBody>
      </p:sp>
      <p:sp>
        <p:nvSpPr>
          <p:cNvPr id="3" name="Content Placeholder 2"/>
          <p:cNvSpPr>
            <a:spLocks noGrp="1"/>
          </p:cNvSpPr>
          <p:nvPr>
            <p:ph idx="1"/>
          </p:nvPr>
        </p:nvSpPr>
        <p:spPr/>
        <p:txBody>
          <a:bodyPr/>
          <a:lstStyle/>
          <a:p>
            <a:pPr lvl="0"/>
            <a:r>
              <a:rPr/>
              <a:t>Vue détail d’un événement avec ressources organisées par catégorie (Food, Drinks…)</a:t>
            </a:r>
          </a:p>
          <a:p>
            <a:pPr lvl="0"/>
            <a:r>
              <a:rPr/>
              <a:t>Chaque ressource affiche : quantité courante / suggérée</a:t>
            </a:r>
          </a:p>
          <a:p>
            <a:pPr lvl="0"/>
            <a:r>
              <a:rPr/>
              <a:t>Contrôles de contribution : boutons </a:t>
            </a:r>
            <a:r>
              <a:rPr b="1"/>
              <a:t>+/−</a:t>
            </a:r>
            <a:r>
              <a:rPr/>
              <a:t> pour sélectionner un delta</a:t>
            </a:r>
          </a:p>
          <a:p>
            <a:pPr lvl="0"/>
            <a:r>
              <a:rPr/>
              <a:t>Bouton </a:t>
            </a:r>
            <a:r>
              <a:rPr b="1"/>
              <a:t>Validate</a:t>
            </a:r>
            <a:r>
              <a:rPr/>
              <a:t> visible uniquement quand un delta est sélectionné</a:t>
            </a:r>
          </a:p>
          <a:p>
            <a:pPr lvl="0"/>
            <a:r>
              <a:rPr/>
              <a:t>Design Tokens CSS : teal </a:t>
            </a:r>
            <a:r>
              <a:rPr>
                <a:latin typeface="Courier"/>
              </a:rPr>
              <a:t>#5FBDB4</a:t>
            </a:r>
            <a:r>
              <a:rPr/>
              <a:t>, navy </a:t>
            </a:r>
            <a:r>
              <a:rPr>
                <a:latin typeface="Courier"/>
              </a:rPr>
              <a:t>#3D5A6C</a:t>
            </a:r>
            <a:r>
              <a:rPr/>
              <a:t>, coral </a:t>
            </a:r>
            <a:r>
              <a:rPr>
                <a:latin typeface="Courier"/>
              </a:rPr>
              <a:t>#E6A19A</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Code React : ResourceItem</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src/features/resources/components/ResourceItem.tsx</a:t>
            </a:r>
            <a:br/>
            <a:r>
              <a:rPr b="1">
                <a:solidFill>
                  <a:srgbClr val="008000"/>
                </a:solidFill>
                <a:latin typeface="Courier"/>
              </a:rPr>
              <a:t>export</a:t>
            </a:r>
            <a:r>
              <a:rPr>
                <a:latin typeface="Courier"/>
              </a:rPr>
              <a:t> </a:t>
            </a:r>
            <a:r>
              <a:rPr b="1">
                <a:solidFill>
                  <a:srgbClr val="007020"/>
                </a:solidFill>
                <a:latin typeface="Courier"/>
              </a:rPr>
              <a:t>const</a:t>
            </a:r>
            <a:r>
              <a:rPr>
                <a:latin typeface="Courier"/>
              </a:rPr>
              <a:t> ResourceItem</a:t>
            </a:r>
            <a:r>
              <a:rPr>
                <a:solidFill>
                  <a:srgbClr val="666666"/>
                </a:solidFill>
                <a:latin typeface="Courier"/>
              </a:rPr>
              <a:t>:</a:t>
            </a:r>
            <a:r>
              <a:rPr>
                <a:latin typeface="Courier"/>
              </a:rPr>
              <a:t> React</a:t>
            </a:r>
            <a:r>
              <a:rPr>
                <a:solidFill>
                  <a:srgbClr val="666666"/>
                </a:solidFill>
                <a:latin typeface="Courier"/>
              </a:rPr>
              <a:t>.</a:t>
            </a:r>
            <a:r>
              <a:rPr>
                <a:solidFill>
                  <a:srgbClr val="7D9029"/>
                </a:solidFill>
                <a:latin typeface="Courier"/>
              </a:rPr>
              <a:t>FC</a:t>
            </a:r>
            <a:r>
              <a:rPr>
                <a:solidFill>
                  <a:srgbClr val="666666"/>
                </a:solidFill>
                <a:latin typeface="Courier"/>
              </a:rPr>
              <a:t>&lt;</a:t>
            </a:r>
            <a:r>
              <a:rPr>
                <a:latin typeface="Courier"/>
              </a:rPr>
              <a:t>ResourceItemProps</a:t>
            </a:r>
            <a:r>
              <a:rPr>
                <a:solidFill>
                  <a:srgbClr val="666666"/>
                </a:solidFill>
                <a:latin typeface="Courier"/>
              </a:rPr>
              <a:t>&gt;</a:t>
            </a:r>
            <a:r>
              <a:rPr>
                <a:latin typeface="Courier"/>
              </a:rPr>
              <a:t> </a:t>
            </a:r>
            <a:r>
              <a:rPr>
                <a:solidFill>
                  <a:srgbClr val="666666"/>
                </a:solidFill>
                <a:latin typeface="Courier"/>
              </a:rPr>
              <a:t>=</a:t>
            </a:r>
            <a:r>
              <a:rPr>
                <a:latin typeface="Courier"/>
              </a:rPr>
              <a:t> ({</a:t>
            </a:r>
            <a:br/>
            <a:r>
              <a:rPr>
                <a:latin typeface="Courier"/>
              </a:rPr>
              <a:t>  resource</a:t>
            </a:r>
            <a:r>
              <a:rPr>
                <a:solidFill>
                  <a:srgbClr val="666666"/>
                </a:solidFill>
                <a:latin typeface="Courier"/>
              </a:rPr>
              <a:t>,</a:t>
            </a:r>
            <a:r>
              <a:rPr>
                <a:latin typeface="Courier"/>
              </a:rPr>
              <a:t> currentUserId</a:t>
            </a:r>
            <a:r>
              <a:rPr>
                <a:solidFill>
                  <a:srgbClr val="666666"/>
                </a:solidFill>
                <a:latin typeface="Courier"/>
              </a:rPr>
              <a:t>,</a:t>
            </a:r>
            <a:br/>
            <a:r>
              <a:rPr>
                <a:latin typeface="Courier"/>
              </a:rPr>
              <a:t>  onAddContribution</a:t>
            </a:r>
            <a:r>
              <a:rPr>
                <a:solidFill>
                  <a:srgbClr val="666666"/>
                </a:solidFill>
                <a:latin typeface="Courier"/>
              </a:rPr>
              <a:t>,</a:t>
            </a:r>
            <a:r>
              <a:rPr>
                <a:latin typeface="Courier"/>
              </a:rPr>
              <a:t> onUpdateContribution</a:t>
            </a:r>
            <a:r>
              <a:rPr>
                <a:solidFill>
                  <a:srgbClr val="666666"/>
                </a:solidFill>
                <a:latin typeface="Courier"/>
              </a:rPr>
              <a:t>,</a:t>
            </a:r>
            <a:r>
              <a:rPr>
                <a:latin typeface="Courier"/>
              </a:rPr>
              <a:t> onDeleteContribution</a:t>
            </a:r>
            <a:r>
              <a:rPr>
                <a:solidFill>
                  <a:srgbClr val="666666"/>
                </a:solidFill>
                <a:latin typeface="Courier"/>
              </a:rPr>
              <a:t>,</a:t>
            </a:r>
            <a:br/>
            <a:r>
              <a:rPr>
                <a:latin typeface="Courier"/>
              </a:rPr>
              <a:t>}) </a:t>
            </a:r>
            <a:r>
              <a:rPr b="1">
                <a:solidFill>
                  <a:srgbClr val="007020"/>
                </a:solidFill>
                <a:latin typeface="Courier"/>
              </a:rPr>
              <a:t>=&gt;</a:t>
            </a:r>
            <a:r>
              <a:rPr>
                <a:latin typeface="Courier"/>
              </a:rPr>
              <a:t> {</a:t>
            </a:r>
            <a:br/>
            <a:r>
              <a:rPr>
                <a:latin typeface="Courier"/>
              </a:rPr>
              <a:t>  </a:t>
            </a:r>
            <a:r>
              <a:rPr b="1">
                <a:solidFill>
                  <a:srgbClr val="007020"/>
                </a:solidFill>
                <a:latin typeface="Courier"/>
              </a:rPr>
              <a:t>const</a:t>
            </a:r>
            <a:r>
              <a:rPr>
                <a:latin typeface="Courier"/>
              </a:rPr>
              <a:t> [selectedQuantity</a:t>
            </a:r>
            <a:r>
              <a:rPr>
                <a:solidFill>
                  <a:srgbClr val="666666"/>
                </a:solidFill>
                <a:latin typeface="Courier"/>
              </a:rPr>
              <a:t>,</a:t>
            </a:r>
            <a:r>
              <a:rPr>
                <a:latin typeface="Courier"/>
              </a:rPr>
              <a:t> setSelectedQuantity] </a:t>
            </a:r>
            <a:r>
              <a:rPr>
                <a:solidFill>
                  <a:srgbClr val="666666"/>
                </a:solidFill>
                <a:latin typeface="Courier"/>
              </a:rPr>
              <a:t>=</a:t>
            </a:r>
            <a:r>
              <a:rPr>
                <a:latin typeface="Courier"/>
              </a:rPr>
              <a:t> </a:t>
            </a:r>
            <a:r>
              <a:rPr>
                <a:solidFill>
                  <a:srgbClr val="06287E"/>
                </a:solidFill>
                <a:latin typeface="Courier"/>
              </a:rPr>
              <a:t>useState</a:t>
            </a:r>
            <a:r>
              <a:rPr>
                <a:latin typeface="Courier"/>
              </a:rPr>
              <a:t>(</a:t>
            </a:r>
            <a:r>
              <a:rPr>
                <a:solidFill>
                  <a:srgbClr val="40A070"/>
                </a:solidFill>
                <a:latin typeface="Courier"/>
              </a:rPr>
              <a:t>0</a:t>
            </a:r>
            <a:r>
              <a:rPr>
                <a:latin typeface="Courier"/>
              </a:rPr>
              <a:t>)</a:t>
            </a:r>
            <a:r>
              <a:rPr>
                <a:solidFill>
                  <a:srgbClr val="666666"/>
                </a:solidFill>
                <a:latin typeface="Courier"/>
              </a:rPr>
              <a:t>;</a:t>
            </a:r>
            <a:br/>
            <a:r>
              <a:rPr>
                <a:latin typeface="Courier"/>
              </a:rPr>
              <a:t>  </a:t>
            </a:r>
            <a:r>
              <a:rPr b="1">
                <a:solidFill>
                  <a:srgbClr val="007020"/>
                </a:solidFill>
                <a:latin typeface="Courier"/>
              </a:rPr>
              <a:t>const</a:t>
            </a:r>
            <a:r>
              <a:rPr>
                <a:latin typeface="Courier"/>
              </a:rPr>
              <a:t> [isSaving</a:t>
            </a:r>
            <a:r>
              <a:rPr>
                <a:solidFill>
                  <a:srgbClr val="666666"/>
                </a:solidFill>
                <a:latin typeface="Courier"/>
              </a:rPr>
              <a:t>,</a:t>
            </a:r>
            <a:r>
              <a:rPr>
                <a:latin typeface="Courier"/>
              </a:rPr>
              <a:t> setIsSaving] </a:t>
            </a:r>
            <a:r>
              <a:rPr>
                <a:solidFill>
                  <a:srgbClr val="666666"/>
                </a:solidFill>
                <a:latin typeface="Courier"/>
              </a:rPr>
              <a:t>=</a:t>
            </a:r>
            <a:r>
              <a:rPr>
                <a:latin typeface="Courier"/>
              </a:rPr>
              <a:t> </a:t>
            </a:r>
            <a:r>
              <a:rPr>
                <a:solidFill>
                  <a:srgbClr val="06287E"/>
                </a:solidFill>
                <a:latin typeface="Courier"/>
              </a:rPr>
              <a:t>useState</a:t>
            </a:r>
            <a:r>
              <a:rPr>
                <a:latin typeface="Courier"/>
              </a:rPr>
              <a:t>(</a:t>
            </a:r>
            <a:r>
              <a:rPr b="1">
                <a:solidFill>
                  <a:srgbClr val="007020"/>
                </a:solidFill>
                <a:latin typeface="Courier"/>
              </a:rPr>
              <a:t>false</a:t>
            </a:r>
            <a:r>
              <a:rPr>
                <a:latin typeface="Courier"/>
              </a:rPr>
              <a:t>)</a:t>
            </a:r>
            <a:r>
              <a:rPr>
                <a:solidFill>
                  <a:srgbClr val="666666"/>
                </a:solidFill>
                <a:latin typeface="Courier"/>
              </a:rPr>
              <a:t>;</a:t>
            </a:r>
            <a:br/>
            <a:br/>
            <a:r>
              <a:rPr>
                <a:latin typeface="Courier"/>
              </a:rPr>
              <a:t>  </a:t>
            </a:r>
            <a:r>
              <a:rPr b="1">
                <a:solidFill>
                  <a:srgbClr val="007020"/>
                </a:solidFill>
                <a:latin typeface="Courier"/>
              </a:rPr>
              <a:t>const</a:t>
            </a:r>
            <a:r>
              <a:rPr>
                <a:latin typeface="Courier"/>
              </a:rPr>
              <a:t> userContribution </a:t>
            </a:r>
            <a:r>
              <a:rPr>
                <a:solidFill>
                  <a:srgbClr val="666666"/>
                </a:solidFill>
                <a:latin typeface="Courier"/>
              </a:rPr>
              <a:t>=</a:t>
            </a:r>
            <a:r>
              <a:rPr>
                <a:latin typeface="Courier"/>
              </a:rPr>
              <a:t> resource</a:t>
            </a:r>
            <a:r>
              <a:rPr>
                <a:solidFill>
                  <a:srgbClr val="666666"/>
                </a:solidFill>
                <a:latin typeface="Courier"/>
              </a:rPr>
              <a:t>.</a:t>
            </a:r>
            <a:r>
              <a:rPr>
                <a:solidFill>
                  <a:srgbClr val="7D9029"/>
                </a:solidFill>
                <a:latin typeface="Courier"/>
              </a:rPr>
              <a:t>contributors</a:t>
            </a:r>
            <a:r>
              <a:rPr>
                <a:solidFill>
                  <a:srgbClr val="666666"/>
                </a:solidFill>
                <a:latin typeface="Courier"/>
              </a:rPr>
              <a:t>.</a:t>
            </a:r>
            <a:r>
              <a:rPr>
                <a:solidFill>
                  <a:srgbClr val="06287E"/>
                </a:solidFill>
                <a:latin typeface="Courier"/>
              </a:rPr>
              <a:t>find</a:t>
            </a:r>
            <a:r>
              <a:rPr>
                <a:latin typeface="Courier"/>
              </a:rPr>
              <a:t>(</a:t>
            </a:r>
            <a:br/>
            <a:r>
              <a:rPr>
                <a:latin typeface="Courier"/>
              </a:rPr>
              <a:t>    c </a:t>
            </a:r>
            <a:r>
              <a:rPr b="1">
                <a:solidFill>
                  <a:srgbClr val="007020"/>
                </a:solidFill>
                <a:latin typeface="Courier"/>
              </a:rPr>
              <a:t>=&gt;</a:t>
            </a:r>
            <a:r>
              <a:rPr>
                <a:latin typeface="Courier"/>
              </a:rPr>
              <a:t> c</a:t>
            </a:r>
            <a:r>
              <a:rPr>
                <a:solidFill>
                  <a:srgbClr val="666666"/>
                </a:solidFill>
                <a:latin typeface="Courier"/>
              </a:rPr>
              <a:t>.</a:t>
            </a:r>
            <a:r>
              <a:rPr>
                <a:solidFill>
                  <a:srgbClr val="7D9029"/>
                </a:solidFill>
                <a:latin typeface="Courier"/>
              </a:rPr>
              <a:t>userId</a:t>
            </a:r>
            <a:r>
              <a:rPr>
                <a:latin typeface="Courier"/>
              </a:rPr>
              <a:t> </a:t>
            </a:r>
            <a:r>
              <a:rPr>
                <a:solidFill>
                  <a:srgbClr val="666666"/>
                </a:solidFill>
                <a:latin typeface="Courier"/>
              </a:rPr>
              <a:t>===</a:t>
            </a:r>
            <a:r>
              <a:rPr>
                <a:latin typeface="Courier"/>
              </a:rPr>
              <a:t> currentUserId</a:t>
            </a:r>
            <a:br/>
            <a:r>
              <a:rPr>
                <a:latin typeface="Courier"/>
              </a:rPr>
              <a:t>  )</a:t>
            </a:r>
            <a:r>
              <a:rPr>
                <a:solidFill>
                  <a:srgbClr val="666666"/>
                </a:solidFill>
                <a:latin typeface="Courier"/>
              </a:rPr>
              <a:t>;</a:t>
            </a:r>
            <a:br/>
            <a:r>
              <a:rPr>
                <a:latin typeface="Courier"/>
              </a:rPr>
              <a:t>  </a:t>
            </a:r>
            <a:r>
              <a:rPr b="1">
                <a:solidFill>
                  <a:srgbClr val="007020"/>
                </a:solidFill>
                <a:latin typeface="Courier"/>
              </a:rPr>
              <a:t>const</a:t>
            </a:r>
            <a:r>
              <a:rPr>
                <a:latin typeface="Courier"/>
              </a:rPr>
              <a:t> userQuantity </a:t>
            </a:r>
            <a:r>
              <a:rPr>
                <a:solidFill>
                  <a:srgbClr val="666666"/>
                </a:solidFill>
                <a:latin typeface="Courier"/>
              </a:rPr>
              <a:t>=</a:t>
            </a:r>
            <a:r>
              <a:rPr>
                <a:latin typeface="Courier"/>
              </a:rPr>
              <a:t> userContribution</a:t>
            </a:r>
            <a:r>
              <a:rPr>
                <a:solidFill>
                  <a:srgbClr val="666666"/>
                </a:solidFill>
                <a:latin typeface="Courier"/>
              </a:rPr>
              <a:t>?.</a:t>
            </a:r>
            <a:r>
              <a:rPr>
                <a:solidFill>
                  <a:srgbClr val="7D9029"/>
                </a:solidFill>
                <a:latin typeface="Courier"/>
              </a:rPr>
              <a:t>quantity</a:t>
            </a:r>
            <a:r>
              <a:rPr>
                <a:latin typeface="Courier"/>
              </a:rPr>
              <a:t> </a:t>
            </a:r>
            <a:r>
              <a:rPr>
                <a:solidFill>
                  <a:srgbClr val="666666"/>
                </a:solidFill>
                <a:latin typeface="Courier"/>
              </a:rPr>
              <a:t>||</a:t>
            </a:r>
            <a:r>
              <a:rPr>
                <a:latin typeface="Courier"/>
              </a:rPr>
              <a:t> </a:t>
            </a:r>
            <a:r>
              <a:rPr>
                <a:solidFill>
                  <a:srgbClr val="40A070"/>
                </a:solidFill>
                <a:latin typeface="Courier"/>
              </a:rPr>
              <a:t>0</a:t>
            </a:r>
            <a:r>
              <a:rPr>
                <a:solidFill>
                  <a:srgbClr val="666666"/>
                </a:solidFill>
                <a:latin typeface="Courier"/>
              </a:rPr>
              <a:t>;</a:t>
            </a:r>
            <a:br/>
            <a:br/>
            <a:r>
              <a:rPr>
                <a:latin typeface="Courier"/>
              </a:rPr>
              <a:t>  </a:t>
            </a:r>
            <a:r>
              <a:rPr b="1">
                <a:solidFill>
                  <a:srgbClr val="007020"/>
                </a:solidFill>
                <a:latin typeface="Courier"/>
              </a:rPr>
              <a:t>const</a:t>
            </a:r>
            <a:r>
              <a:rPr>
                <a:latin typeface="Courier"/>
              </a:rPr>
              <a:t> handleValidate </a:t>
            </a:r>
            <a:r>
              <a:rPr>
                <a:solidFill>
                  <a:srgbClr val="666666"/>
                </a:solidFill>
                <a:latin typeface="Courier"/>
              </a:rPr>
              <a:t>=</a:t>
            </a:r>
            <a:r>
              <a:rPr>
                <a:latin typeface="Courier"/>
              </a:rPr>
              <a:t> </a:t>
            </a:r>
            <a:r>
              <a:rPr b="1">
                <a:solidFill>
                  <a:srgbClr val="007020"/>
                </a:solidFill>
                <a:latin typeface="Courier"/>
              </a:rPr>
              <a:t>async</a:t>
            </a:r>
            <a:r>
              <a:rPr>
                <a:latin typeface="Courier"/>
              </a:rPr>
              <a:t> () </a:t>
            </a:r>
            <a:r>
              <a:rPr b="1">
                <a:solidFill>
                  <a:srgbClr val="007020"/>
                </a:solidFill>
                <a:latin typeface="Courier"/>
              </a:rPr>
              <a:t>=&gt;</a:t>
            </a:r>
            <a:r>
              <a:rPr>
                <a:latin typeface="Courier"/>
              </a:rPr>
              <a:t> {</a:t>
            </a:r>
            <a:br/>
            <a:r>
              <a:rPr>
                <a:latin typeface="Courier"/>
              </a:rPr>
              <a:t>    </a:t>
            </a:r>
            <a:r>
              <a:rPr b="1">
                <a:solidFill>
                  <a:srgbClr val="007020"/>
                </a:solidFill>
                <a:latin typeface="Courier"/>
              </a:rPr>
              <a:t>try</a:t>
            </a:r>
            <a:r>
              <a:rPr>
                <a:latin typeface="Courier"/>
              </a:rPr>
              <a:t> {</a:t>
            </a:r>
            <a:br/>
            <a:r>
              <a:rPr>
                <a:latin typeface="Courier"/>
              </a:rPr>
              <a:t>      </a:t>
            </a:r>
            <a:r>
              <a:rPr>
                <a:solidFill>
                  <a:srgbClr val="06287E"/>
                </a:solidFill>
                <a:latin typeface="Courier"/>
              </a:rPr>
              <a:t>setIsSaving</a:t>
            </a:r>
            <a:r>
              <a:rPr>
                <a:latin typeface="Courier"/>
              </a:rPr>
              <a:t>(</a:t>
            </a:r>
            <a:r>
              <a:rPr b="1">
                <a:solidFill>
                  <a:srgbClr val="007020"/>
                </a:solidFill>
                <a:latin typeface="Courier"/>
              </a:rPr>
              <a:t>true</a:t>
            </a:r>
            <a:r>
              <a:rPr>
                <a:latin typeface="Courier"/>
              </a:rPr>
              <a:t>)</a:t>
            </a:r>
            <a:r>
              <a:rPr>
                <a:solidFill>
                  <a:srgbClr val="666666"/>
                </a:solidFill>
                <a:latin typeface="Courier"/>
              </a:rPr>
              <a:t>;</a:t>
            </a:r>
            <a:br/>
            <a:r>
              <a:rPr>
                <a:latin typeface="Courier"/>
              </a:rPr>
              <a:t>      </a:t>
            </a:r>
            <a:r>
              <a:rPr b="1">
                <a:solidFill>
                  <a:srgbClr val="007020"/>
                </a:solidFill>
                <a:latin typeface="Courier"/>
              </a:rPr>
              <a:t>const</a:t>
            </a:r>
            <a:r>
              <a:rPr>
                <a:latin typeface="Courier"/>
              </a:rPr>
              <a:t> newQuantity </a:t>
            </a:r>
            <a:r>
              <a:rPr>
                <a:solidFill>
                  <a:srgbClr val="666666"/>
                </a:solidFill>
                <a:latin typeface="Courier"/>
              </a:rPr>
              <a:t>=</a:t>
            </a:r>
            <a:r>
              <a:rPr>
                <a:latin typeface="Courier"/>
              </a:rPr>
              <a:t> userQuantity </a:t>
            </a:r>
            <a:r>
              <a:rPr>
                <a:solidFill>
                  <a:srgbClr val="666666"/>
                </a:solidFill>
                <a:latin typeface="Courier"/>
              </a:rPr>
              <a:t>+</a:t>
            </a:r>
            <a:r>
              <a:rPr>
                <a:latin typeface="Courier"/>
              </a:rPr>
              <a:t> selectedQuantity</a:t>
            </a:r>
            <a:r>
              <a:rPr>
                <a:solidFill>
                  <a:srgbClr val="666666"/>
                </a:solidFill>
                <a:latin typeface="Courier"/>
              </a:rPr>
              <a:t>;</a:t>
            </a:r>
            <a:br/>
            <a:r>
              <a:rPr>
                <a:latin typeface="Courier"/>
              </a:rPr>
              <a:t>      </a:t>
            </a:r>
            <a:r>
              <a:rPr b="1">
                <a:solidFill>
                  <a:srgbClr val="007020"/>
                </a:solidFill>
                <a:latin typeface="Courier"/>
              </a:rPr>
              <a:t>if</a:t>
            </a:r>
            <a:r>
              <a:rPr>
                <a:latin typeface="Courier"/>
              </a:rPr>
              <a:t> (newQuantity </a:t>
            </a:r>
            <a:r>
              <a:rPr>
                <a:solidFill>
                  <a:srgbClr val="666666"/>
                </a:solidFill>
                <a:latin typeface="Courier"/>
              </a:rPr>
              <a:t>&lt;=</a:t>
            </a:r>
            <a:r>
              <a:rPr>
                <a:latin typeface="Courier"/>
              </a:rPr>
              <a:t> </a:t>
            </a:r>
            <a:r>
              <a:rPr>
                <a:solidFill>
                  <a:srgbClr val="40A070"/>
                </a:solidFill>
                <a:latin typeface="Courier"/>
              </a:rPr>
              <a:t>0</a:t>
            </a:r>
            <a:r>
              <a:rPr>
                <a:latin typeface="Courier"/>
              </a:rPr>
              <a:t>) </a:t>
            </a:r>
            <a:r>
              <a:rPr b="1">
                <a:solidFill>
                  <a:srgbClr val="007020"/>
                </a:solidFill>
                <a:latin typeface="Courier"/>
              </a:rPr>
              <a:t>await</a:t>
            </a:r>
            <a:r>
              <a:rPr>
                <a:latin typeface="Courier"/>
              </a:rPr>
              <a:t> </a:t>
            </a:r>
            <a:r>
              <a:rPr>
                <a:solidFill>
                  <a:srgbClr val="06287E"/>
                </a:solidFill>
                <a:latin typeface="Courier"/>
              </a:rPr>
              <a:t>onDeleteContribution</a:t>
            </a:r>
            <a:r>
              <a:rPr>
                <a:latin typeface="Courier"/>
              </a:rPr>
              <a:t>(resource</a:t>
            </a:r>
            <a:r>
              <a:rPr>
                <a:solidFill>
                  <a:srgbClr val="666666"/>
                </a:solidFill>
                <a:latin typeface="Courier"/>
              </a:rPr>
              <a:t>.</a:t>
            </a:r>
            <a:r>
              <a:rPr>
                <a:solidFill>
                  <a:srgbClr val="7D9029"/>
                </a:solidFill>
                <a:latin typeface="Courier"/>
              </a:rPr>
              <a:t>id</a:t>
            </a:r>
            <a:r>
              <a:rPr>
                <a:latin typeface="Courier"/>
              </a:rPr>
              <a:t>)</a:t>
            </a:r>
            <a:r>
              <a:rPr>
                <a:solidFill>
                  <a:srgbClr val="666666"/>
                </a:solidFill>
                <a:latin typeface="Courier"/>
              </a:rPr>
              <a:t>;</a:t>
            </a:r>
            <a:br/>
            <a:r>
              <a:rPr i="1">
                <a:solidFill>
                  <a:srgbClr val="60A0B0"/>
                </a:solidFill>
                <a:latin typeface="Courier"/>
              </a:rPr>
              <a:t>// ...</a:t>
            </a:r>
          </a:p>
          <a:p>
            <a:pPr lvl="0"/>
            <a:r>
              <a:rPr/>
              <a:t>Logique </a:t>
            </a:r>
            <a:r>
              <a:rPr b="1"/>
              <a:t>add/update/delete</a:t>
            </a:r>
            <a:r>
              <a:rPr/>
              <a:t> déterminée par l’état de la contribution existante</a:t>
            </a:r>
          </a:p>
          <a:p>
            <a:pPr lvl="0"/>
            <a:r>
              <a:rPr>
                <a:latin typeface="Courier"/>
              </a:rPr>
              <a:t>selectedQuantity</a:t>
            </a:r>
            <a:r>
              <a:rPr/>
              <a:t> = delta par rapport à la contribution actuelle</a:t>
            </a:r>
          </a:p>
          <a:p>
            <a:pPr lvl="0"/>
            <a:r>
              <a:rPr/>
              <a:t>Bouton Validate visible uniquement quand un delta est sélectionné</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Architecture front-end Clean Architecture</a:t>
            </a:r>
          </a:p>
        </p:txBody>
      </p:sp>
      <p:sp>
        <p:nvSpPr>
          <p:cNvPr id="3" name="Content Placeholder 2"/>
          <p:cNvSpPr>
            <a:spLocks noGrp="1"/>
          </p:cNvSpPr>
          <p:nvPr>
            <p:ph idx="1"/>
          </p:nvPr>
        </p:nvSpPr>
        <p:spPr/>
        <p:txBody>
          <a:bodyPr/>
          <a:lstStyle/>
          <a:p>
            <a:pPr lvl="0" indent="0" marL="0">
              <a:buNone/>
            </a:pPr>
            <a:r>
              <a:rPr b="1"/>
              <a:t>Inversion de dépendance côté front-end</a:t>
            </a:r>
          </a:p>
          <a:p>
            <a:pPr lvl="0" indent="0">
              <a:buNone/>
            </a:pPr>
            <a:r>
              <a:rPr>
                <a:latin typeface="Courier"/>
              </a:rPr>
              <a:t>[Composants React] → [Context/Provider] → [Use Cases] → [Repository (interface)] → [HttpRepository (fetch)]</a:t>
            </a:r>
          </a:p>
          <a:p>
            <a:pPr lvl="0" indent="0" marL="0">
              <a:buNone/>
            </a:pPr>
            <a:r>
              <a:rPr b="1"/>
              <a:t>Organisation par features</a:t>
            </a:r>
          </a:p>
          <a:p>
            <a:pPr lvl="0" indent="0">
              <a:buNone/>
            </a:pPr>
            <a:r>
              <a:rPr>
                <a:latin typeface="Courier"/>
              </a:rPr>
              <a:t>src/features/
├── auth/           → AuthProvider, AuthRepository, LoginModal
├── events/         → EventProvider, EventCard, CreateEventForm
├── participants/   → ParticipantProvider, ParticipantList
├── resources/      → ResourceProvider, ResourceItem
└── contributions/  → ContributionProvider, HttpContributionRepository</a:t>
            </a:r>
          </a:p>
          <a:p>
            <a:pPr lvl="0" indent="0" marL="0">
              <a:buNone/>
            </a:pPr>
            <a:r>
              <a:rPr b="1"/>
              <a:t>Injection du token JWT</a:t>
            </a:r>
          </a:p>
          <a:p>
            <a:pPr lvl="0" indent="0">
              <a:buNone/>
            </a:pPr>
            <a:r>
              <a:rPr i="1">
                <a:solidFill>
                  <a:srgbClr val="60A0B0"/>
                </a:solidFill>
                <a:latin typeface="Courier"/>
              </a:rPr>
              <a:t>// Le token est injecté via callback getToken dans les providers</a:t>
            </a:r>
            <a:br/>
            <a:r>
              <a:rPr b="1">
                <a:solidFill>
                  <a:srgbClr val="007020"/>
                </a:solidFill>
                <a:latin typeface="Courier"/>
              </a:rPr>
              <a:t>async</a:t>
            </a:r>
            <a:r>
              <a:rPr>
                <a:latin typeface="Courier"/>
              </a:rPr>
              <a:t> </a:t>
            </a:r>
            <a:r>
              <a:rPr>
                <a:solidFill>
                  <a:srgbClr val="06287E"/>
                </a:solidFill>
                <a:latin typeface="Courier"/>
              </a:rPr>
              <a:t>createContribution</a:t>
            </a:r>
            <a:r>
              <a:rPr>
                <a:latin typeface="Courier"/>
              </a:rPr>
              <a:t>(data</a:t>
            </a:r>
            <a:r>
              <a:rPr>
                <a:solidFill>
                  <a:srgbClr val="666666"/>
                </a:solidFill>
                <a:latin typeface="Courier"/>
              </a:rPr>
              <a:t>:</a:t>
            </a:r>
            <a:r>
              <a:rPr>
                <a:latin typeface="Courier"/>
              </a:rPr>
              <a:t> ContributionCreationRequest)</a:t>
            </a:r>
            <a:r>
              <a:rPr>
                <a:solidFill>
                  <a:srgbClr val="666666"/>
                </a:solidFill>
                <a:latin typeface="Courier"/>
              </a:rPr>
              <a:t>:</a:t>
            </a:r>
            <a:r>
              <a:rPr>
                <a:latin typeface="Courier"/>
              </a:rPr>
              <a:t> </a:t>
            </a:r>
            <a:r>
              <a:rPr>
                <a:solidFill>
                  <a:srgbClr val="008000"/>
                </a:solidFill>
                <a:latin typeface="Courier"/>
              </a:rPr>
              <a:t>Promise</a:t>
            </a:r>
            <a:r>
              <a:rPr>
                <a:solidFill>
                  <a:srgbClr val="666666"/>
                </a:solidFill>
                <a:latin typeface="Courier"/>
              </a:rPr>
              <a:t>&lt;</a:t>
            </a:r>
            <a:r>
              <a:rPr>
                <a:latin typeface="Courier"/>
              </a:rPr>
              <a:t>Contribution</a:t>
            </a:r>
            <a:r>
              <a:rPr>
                <a:solidFill>
                  <a:srgbClr val="666666"/>
                </a:solidFill>
                <a:latin typeface="Courier"/>
              </a:rPr>
              <a:t>&gt;</a:t>
            </a:r>
            <a:r>
              <a:rPr>
                <a:latin typeface="Courier"/>
              </a:rPr>
              <a:t> {</a:t>
            </a:r>
            <a:br/>
            <a:r>
              <a:rPr>
                <a:latin typeface="Courier"/>
              </a:rPr>
              <a:t>  </a:t>
            </a:r>
            <a:r>
              <a:rPr b="1">
                <a:solidFill>
                  <a:srgbClr val="007020"/>
                </a:solidFill>
                <a:latin typeface="Courier"/>
              </a:rPr>
              <a:t>const</a:t>
            </a:r>
            <a:r>
              <a:rPr>
                <a:latin typeface="Courier"/>
              </a:rPr>
              <a:t> token </a:t>
            </a:r>
            <a:r>
              <a:rPr>
                <a:solidFill>
                  <a:srgbClr val="666666"/>
                </a:solidFill>
                <a:latin typeface="Courier"/>
              </a:rPr>
              <a:t>=</a:t>
            </a: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getToken</a:t>
            </a:r>
            <a:r>
              <a:rPr>
                <a:latin typeface="Courier"/>
              </a:rPr>
              <a:t>()</a:t>
            </a:r>
            <a:r>
              <a:rPr>
                <a:solidFill>
                  <a:srgbClr val="666666"/>
                </a:solidFill>
                <a:latin typeface="Courier"/>
              </a:rPr>
              <a:t>;</a:t>
            </a: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token) </a:t>
            </a:r>
            <a:r>
              <a:rPr b="1">
                <a:solidFill>
                  <a:srgbClr val="007020"/>
                </a:solidFill>
                <a:latin typeface="Courier"/>
              </a:rPr>
              <a:t>throw</a:t>
            </a:r>
            <a:r>
              <a:rPr>
                <a:latin typeface="Courier"/>
              </a:rPr>
              <a:t> </a:t>
            </a:r>
            <a:r>
              <a:rPr b="1">
                <a:solidFill>
                  <a:srgbClr val="007020"/>
                </a:solidFill>
                <a:latin typeface="Courier"/>
              </a:rPr>
              <a:t>new</a:t>
            </a:r>
            <a:r>
              <a:rPr>
                <a:latin typeface="Courier"/>
              </a:rPr>
              <a:t> </a:t>
            </a:r>
            <a:r>
              <a:rPr>
                <a:solidFill>
                  <a:srgbClr val="008000"/>
                </a:solidFill>
                <a:latin typeface="Courier"/>
              </a:rPr>
              <a:t>Error</a:t>
            </a:r>
            <a:r>
              <a:rPr>
                <a:latin typeface="Courier"/>
              </a:rPr>
              <a:t>(</a:t>
            </a:r>
            <a:r>
              <a:rPr>
                <a:solidFill>
                  <a:srgbClr val="4070A0"/>
                </a:solidFill>
                <a:latin typeface="Courier"/>
              </a:rPr>
              <a:t>'Authentication required'</a:t>
            </a:r>
            <a:r>
              <a:rPr>
                <a:latin typeface="Courier"/>
              </a:rPr>
              <a:t>)</a:t>
            </a:r>
            <a:r>
              <a:rPr>
                <a:solidFill>
                  <a:srgbClr val="666666"/>
                </a:solidFill>
                <a:latin typeface="Courier"/>
              </a:rPr>
              <a:t>;</a:t>
            </a:r>
            <a:br/>
            <a:r>
              <a:rPr>
                <a:latin typeface="Courier"/>
              </a:rPr>
              <a:t>  </a:t>
            </a:r>
            <a:r>
              <a:rPr b="1">
                <a:solidFill>
                  <a:srgbClr val="007020"/>
                </a:solidFill>
                <a:latin typeface="Courier"/>
              </a:rPr>
              <a:t>const</a:t>
            </a:r>
            <a:r>
              <a:rPr>
                <a:latin typeface="Courier"/>
              </a:rPr>
              <a:t> response </a:t>
            </a:r>
            <a:r>
              <a:rPr>
                <a:solidFill>
                  <a:srgbClr val="666666"/>
                </a:solidFill>
                <a:latin typeface="Courier"/>
              </a:rPr>
              <a:t>=</a:t>
            </a:r>
            <a:r>
              <a:rPr>
                <a:latin typeface="Courier"/>
              </a:rPr>
              <a:t> </a:t>
            </a:r>
            <a:r>
              <a:rPr b="1">
                <a:solidFill>
                  <a:srgbClr val="007020"/>
                </a:solidFill>
                <a:latin typeface="Courier"/>
              </a:rPr>
              <a:t>await</a:t>
            </a:r>
            <a:r>
              <a:rPr>
                <a:latin typeface="Courier"/>
              </a:rPr>
              <a:t> </a:t>
            </a:r>
            <a:r>
              <a:rPr>
                <a:solidFill>
                  <a:srgbClr val="06287E"/>
                </a:solidFill>
                <a:latin typeface="Courier"/>
              </a:rPr>
              <a:t>fetch</a:t>
            </a:r>
            <a:r>
              <a:rPr>
                <a:latin typeface="Courier"/>
              </a:rPr>
              <a:t>(</a:t>
            </a:r>
            <a:r>
              <a:rPr>
                <a:solidFill>
                  <a:srgbClr val="4070A0"/>
                </a:solidFill>
                <a:latin typeface="Courier"/>
              </a:rPr>
              <a:t>`${</a:t>
            </a:r>
            <a:r>
              <a:rPr b="1">
                <a:solidFill>
                  <a:srgbClr val="007020"/>
                </a:solidFill>
                <a:latin typeface="Courier"/>
              </a:rPr>
              <a:t>this</a:t>
            </a:r>
            <a:r>
              <a:rPr>
                <a:solidFill>
                  <a:srgbClr val="666666"/>
                </a:solidFill>
                <a:latin typeface="Courier"/>
              </a:rPr>
              <a:t>.</a:t>
            </a:r>
            <a:r>
              <a:rPr>
                <a:solidFill>
                  <a:srgbClr val="7D9029"/>
                </a:solidFill>
                <a:latin typeface="Courier"/>
              </a:rPr>
              <a:t>baseUrl</a:t>
            </a:r>
            <a:r>
              <a:rPr>
                <a:solidFill>
                  <a:srgbClr val="4070A0"/>
                </a:solidFill>
                <a:latin typeface="Courier"/>
              </a:rPr>
              <a:t>}/...`</a:t>
            </a:r>
            <a:r>
              <a:rPr>
                <a:solidFill>
                  <a:srgbClr val="666666"/>
                </a:solidFill>
                <a:latin typeface="Courier"/>
              </a:rPr>
              <a:t>,</a:t>
            </a:r>
            <a:r>
              <a:rPr>
                <a:latin typeface="Courier"/>
              </a:rPr>
              <a:t> {</a:t>
            </a:r>
            <a:br/>
            <a:r>
              <a:rPr>
                <a:latin typeface="Courier"/>
              </a:rPr>
              <a:t>    method</a:t>
            </a:r>
            <a:r>
              <a:rPr>
                <a:solidFill>
                  <a:srgbClr val="666666"/>
                </a:solidFill>
                <a:latin typeface="Courier"/>
              </a:rPr>
              <a:t>:</a:t>
            </a:r>
            <a:r>
              <a:rPr>
                <a:latin typeface="Courier"/>
              </a:rPr>
              <a:t> </a:t>
            </a:r>
            <a:r>
              <a:rPr>
                <a:solidFill>
                  <a:srgbClr val="4070A0"/>
                </a:solidFill>
                <a:latin typeface="Courier"/>
              </a:rPr>
              <a:t>'POST'</a:t>
            </a:r>
            <a:r>
              <a:rPr>
                <a:solidFill>
                  <a:srgbClr val="666666"/>
                </a:solidFill>
                <a:latin typeface="Courier"/>
              </a:rPr>
              <a:t>,</a:t>
            </a:r>
            <a:br/>
            <a:r>
              <a:rPr>
                <a:latin typeface="Courier"/>
              </a:rPr>
              <a:t>    headers</a:t>
            </a:r>
            <a:r>
              <a:rPr>
                <a:solidFill>
                  <a:srgbClr val="666666"/>
                </a:solidFill>
                <a:latin typeface="Courier"/>
              </a:rPr>
              <a:t>:</a:t>
            </a:r>
            <a:r>
              <a:rPr>
                <a:latin typeface="Courier"/>
              </a:rPr>
              <a:t> {</a:t>
            </a:r>
            <a:br/>
            <a:r>
              <a:rPr>
                <a:latin typeface="Courier"/>
              </a:rPr>
              <a:t>      </a:t>
            </a:r>
            <a:r>
              <a:rPr>
                <a:solidFill>
                  <a:srgbClr val="4070A0"/>
                </a:solidFill>
                <a:latin typeface="Courier"/>
              </a:rPr>
              <a:t>'Content-Type'</a:t>
            </a:r>
            <a:r>
              <a:rPr>
                <a:solidFill>
                  <a:srgbClr val="666666"/>
                </a:solidFill>
                <a:latin typeface="Courier"/>
              </a:rPr>
              <a:t>:</a:t>
            </a:r>
            <a:r>
              <a:rPr>
                <a:latin typeface="Courier"/>
              </a:rPr>
              <a:t> </a:t>
            </a:r>
            <a:r>
              <a:rPr>
                <a:solidFill>
                  <a:srgbClr val="4070A0"/>
                </a:solidFill>
                <a:latin typeface="Courier"/>
              </a:rPr>
              <a:t>'application/json'</a:t>
            </a:r>
            <a:r>
              <a:rPr>
                <a:solidFill>
                  <a:srgbClr val="666666"/>
                </a:solidFill>
                <a:latin typeface="Courier"/>
              </a:rPr>
              <a:t>,</a:t>
            </a:r>
            <a:br/>
            <a:r>
              <a:rPr>
                <a:latin typeface="Courier"/>
              </a:rPr>
              <a:t>      Authorization</a:t>
            </a:r>
            <a:r>
              <a:rPr>
                <a:solidFill>
                  <a:srgbClr val="666666"/>
                </a:solidFill>
                <a:latin typeface="Courier"/>
              </a:rPr>
              <a:t>:</a:t>
            </a:r>
            <a:r>
              <a:rPr>
                <a:latin typeface="Courier"/>
              </a:rPr>
              <a:t> </a:t>
            </a:r>
            <a:r>
              <a:rPr>
                <a:solidFill>
                  <a:srgbClr val="4070A0"/>
                </a:solidFill>
                <a:latin typeface="Courier"/>
              </a:rPr>
              <a:t>`Bearer ${</a:t>
            </a:r>
            <a:r>
              <a:rPr>
                <a:latin typeface="Courier"/>
              </a:rPr>
              <a:t>token</a:t>
            </a:r>
            <a:r>
              <a:rPr>
                <a:solidFill>
                  <a:srgbClr val="4070A0"/>
                </a:solidFill>
                <a:latin typeface="Courier"/>
              </a:rPr>
              <a:t>}`</a:t>
            </a:r>
            <a:r>
              <a:rPr>
                <a:solidFill>
                  <a:srgbClr val="666666"/>
                </a:solidFill>
                <a:latin typeface="Courier"/>
              </a:rPr>
              <a:t>,</a:t>
            </a:r>
            <a:br/>
            <a:r>
              <a:rPr>
                <a:latin typeface="Courier"/>
              </a:rPr>
              <a:t>    }</a:t>
            </a:r>
            <a:r>
              <a:rPr>
                <a:solidFill>
                  <a:srgbClr val="666666"/>
                </a:solidFill>
                <a:latin typeface="Courier"/>
              </a:rPr>
              <a:t>,</a:t>
            </a:r>
            <a:br/>
            <a:r>
              <a:rPr>
                <a:latin typeface="Courier"/>
              </a:rPr>
              <a:t>    body</a:t>
            </a:r>
            <a:r>
              <a:rPr>
                <a:solidFill>
                  <a:srgbClr val="666666"/>
                </a:solidFill>
                <a:latin typeface="Courier"/>
              </a:rPr>
              <a:t>:</a:t>
            </a:r>
            <a:r>
              <a:rPr>
                <a:latin typeface="Courier"/>
              </a:rPr>
              <a:t> </a:t>
            </a:r>
            <a:r>
              <a:rPr>
                <a:solidFill>
                  <a:srgbClr val="008000"/>
                </a:solidFill>
                <a:latin typeface="Courier"/>
              </a:rPr>
              <a:t>JSON</a:t>
            </a:r>
            <a:r>
              <a:rPr>
                <a:solidFill>
                  <a:srgbClr val="666666"/>
                </a:solidFill>
                <a:latin typeface="Courier"/>
              </a:rPr>
              <a:t>.</a:t>
            </a:r>
            <a:r>
              <a:rPr>
                <a:solidFill>
                  <a:srgbClr val="06287E"/>
                </a:solidFill>
                <a:latin typeface="Courier"/>
              </a:rPr>
              <a:t>stringify</a:t>
            </a:r>
            <a:r>
              <a:rPr>
                <a:latin typeface="Courier"/>
              </a:rPr>
              <a:t>({ quantity</a:t>
            </a:r>
            <a:r>
              <a:rPr>
                <a:solidFill>
                  <a:srgbClr val="666666"/>
                </a:solidFill>
                <a:latin typeface="Courier"/>
              </a:rPr>
              <a:t>:</a:t>
            </a:r>
            <a:r>
              <a:rPr>
                <a:latin typeface="Courier"/>
              </a:rPr>
              <a:t> data</a:t>
            </a:r>
            <a:r>
              <a:rPr>
                <a:solidFill>
                  <a:srgbClr val="666666"/>
                </a:solidFill>
                <a:latin typeface="Courier"/>
              </a:rPr>
              <a:t>.</a:t>
            </a:r>
            <a:r>
              <a:rPr>
                <a:solidFill>
                  <a:srgbClr val="7D9029"/>
                </a:solidFill>
                <a:latin typeface="Courier"/>
              </a:rPr>
              <a:t>quantity</a:t>
            </a:r>
            <a:r>
              <a:rPr>
                <a:latin typeface="Courier"/>
              </a:rPr>
              <a:t> })</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i="1">
                <a:solidFill>
                  <a:srgbClr val="60A0B0"/>
                </a:solidFill>
                <a:latin typeface="Courier"/>
              </a:rPr>
              <a:t>// ...</a:t>
            </a:r>
            <a:br/>
            <a:r>
              <a:rPr>
                <a:latin typeface="Courier"/>
              </a:rPr>
              <a:t>}</a:t>
            </a:r>
          </a:p>
          <a:p>
            <a:pPr lvl="0"/>
            <a:r>
              <a:rPr/>
              <a:t>Même principe d’architecture que le back-end : cohérence architecturale</a:t>
            </a:r>
          </a:p>
          <a:p>
            <a:pPr lvl="0"/>
            <a:r>
              <a:rPr/>
              <a:t>Chaque module isolé dans </a:t>
            </a:r>
            <a:r>
              <a:rPr>
                <a:latin typeface="Courier"/>
              </a:rPr>
              <a:t>src/features/</a:t>
            </a:r>
            <a:r>
              <a:rPr/>
              <a:t> avec composants, hooks, services, types</a:t>
            </a:r>
          </a:p>
          <a:p>
            <a:pPr lvl="0"/>
            <a:r>
              <a:rPr/>
              <a:t>API native </a:t>
            </a:r>
            <a:r>
              <a:rPr>
                <a:latin typeface="Courier"/>
              </a:rPr>
              <a:t>fetch</a:t>
            </a:r>
            <a:r>
              <a:rPr/>
              <a:t> — pas d’Axios, pas de dépendance tierce</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Use Case : CreateEventUseCase</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domain/event/create/CreateEventUseCase.kt</a:t>
            </a:r>
            <a:br/>
            <a:br/>
            <a:r>
              <a:rPr b="1">
                <a:solidFill>
                  <a:srgbClr val="007020"/>
                </a:solidFill>
                <a:latin typeface="Courier"/>
              </a:rPr>
              <a:t>class</a:t>
            </a:r>
            <a:r>
              <a:rPr>
                <a:latin typeface="Courier"/>
              </a:rPr>
              <a:t> CreateEventUseCase</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b="1">
                <a:solidFill>
                  <a:srgbClr val="007020"/>
                </a:solidFill>
                <a:latin typeface="Courier"/>
              </a:rPr>
              <a:t>val</a:t>
            </a:r>
            <a:r>
              <a:rPr>
                <a:latin typeface="Courier"/>
              </a:rPr>
              <a:t> </a:t>
            </a:r>
            <a:r>
              <a:rPr>
                <a:solidFill>
                  <a:srgbClr val="19177C"/>
                </a:solidFill>
                <a:latin typeface="Courier"/>
              </a:rPr>
              <a:t>eventRepository</a:t>
            </a:r>
            <a:r>
              <a:rPr>
                <a:solidFill>
                  <a:srgbClr val="666666"/>
                </a:solidFill>
                <a:latin typeface="Courier"/>
              </a:rPr>
              <a:t>:</a:t>
            </a:r>
            <a:r>
              <a:rPr>
                <a:latin typeface="Courier"/>
              </a:rPr>
              <a:t> </a:t>
            </a:r>
            <a:r>
              <a:rPr>
                <a:solidFill>
                  <a:srgbClr val="902000"/>
                </a:solidFill>
                <a:latin typeface="Courier"/>
              </a:rPr>
              <a:t>EventRepository</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b="1">
                <a:solidFill>
                  <a:srgbClr val="007020"/>
                </a:solidFill>
                <a:latin typeface="Courier"/>
              </a:rPr>
              <a:t>val</a:t>
            </a:r>
            <a:r>
              <a:rPr>
                <a:latin typeface="Courier"/>
              </a:rPr>
              <a:t> </a:t>
            </a:r>
            <a:r>
              <a:rPr>
                <a:solidFill>
                  <a:srgbClr val="19177C"/>
                </a:solidFill>
                <a:latin typeface="Courier"/>
              </a:rPr>
              <a:t>participantRepository</a:t>
            </a:r>
            <a:r>
              <a:rPr>
                <a:solidFill>
                  <a:srgbClr val="666666"/>
                </a:solidFill>
                <a:latin typeface="Courier"/>
              </a:rPr>
              <a:t>:</a:t>
            </a:r>
            <a:r>
              <a:rPr>
                <a:latin typeface="Courier"/>
              </a:rPr>
              <a:t> </a:t>
            </a:r>
            <a:r>
              <a:rPr>
                <a:solidFill>
                  <a:srgbClr val="902000"/>
                </a:solidFill>
                <a:latin typeface="Courier"/>
              </a:rPr>
              <a:t>ParticipantRepository</a:t>
            </a:r>
            <a:r>
              <a:rPr>
                <a:solidFill>
                  <a:srgbClr val="666666"/>
                </a:solidFill>
                <a:latin typeface="Courier"/>
              </a:rPr>
              <a:t>,</a:t>
            </a:r>
            <a:b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fun</a:t>
            </a:r>
            <a:r>
              <a:rPr>
                <a:latin typeface="Courier"/>
              </a:rPr>
              <a:t> </a:t>
            </a:r>
            <a:r>
              <a:rPr>
                <a:solidFill>
                  <a:srgbClr val="06287E"/>
                </a:solidFill>
                <a:latin typeface="Courier"/>
              </a:rPr>
              <a:t>create</a:t>
            </a:r>
            <a:r>
              <a:rPr>
                <a:solidFill>
                  <a:srgbClr val="666666"/>
                </a:solidFill>
                <a:latin typeface="Courier"/>
              </a:rPr>
              <a:t>(</a:t>
            </a:r>
            <a:r>
              <a:rPr>
                <a:solidFill>
                  <a:srgbClr val="19177C"/>
                </a:solidFill>
                <a:latin typeface="Courier"/>
              </a:rPr>
              <a:t>request</a:t>
            </a:r>
            <a:r>
              <a:rPr>
                <a:solidFill>
                  <a:srgbClr val="666666"/>
                </a:solidFill>
                <a:latin typeface="Courier"/>
              </a:rPr>
              <a:t>:</a:t>
            </a:r>
            <a:r>
              <a:rPr>
                <a:latin typeface="Courier"/>
              </a:rPr>
              <a:t> </a:t>
            </a:r>
            <a:r>
              <a:rPr>
                <a:solidFill>
                  <a:srgbClr val="902000"/>
                </a:solidFill>
                <a:latin typeface="Courier"/>
              </a:rPr>
              <a:t>CreateEventRequest</a:t>
            </a:r>
            <a:r>
              <a:rPr>
                <a:solidFill>
                  <a:srgbClr val="666666"/>
                </a:solidFill>
                <a:latin typeface="Courier"/>
              </a:rPr>
              <a:t>):</a:t>
            </a:r>
            <a:r>
              <a:rPr>
                <a:latin typeface="Courier"/>
              </a:rPr>
              <a:t> </a:t>
            </a:r>
            <a:r>
              <a:rPr>
                <a:solidFill>
                  <a:srgbClr val="902000"/>
                </a:solidFill>
                <a:latin typeface="Courier"/>
              </a:rPr>
              <a:t>Either</a:t>
            </a:r>
            <a:r>
              <a:rPr>
                <a:solidFill>
                  <a:srgbClr val="666666"/>
                </a:solidFill>
                <a:latin typeface="Courier"/>
              </a:rPr>
              <a:t>&lt;</a:t>
            </a:r>
            <a:r>
              <a:rPr>
                <a:solidFill>
                  <a:srgbClr val="902000"/>
                </a:solidFill>
                <a:latin typeface="Courier"/>
              </a:rPr>
              <a:t>CreateEventException</a:t>
            </a:r>
            <a:r>
              <a:rPr>
                <a:latin typeface="Courier"/>
              </a:rPr>
              <a:t>, </a:t>
            </a:r>
            <a:r>
              <a:rPr>
                <a:solidFill>
                  <a:srgbClr val="902000"/>
                </a:solidFill>
                <a:latin typeface="Courier"/>
              </a:rPr>
              <a:t>Event</a:t>
            </a:r>
            <a:r>
              <a:rPr>
                <a:solidFill>
                  <a:srgbClr val="666666"/>
                </a:solidFill>
                <a:latin typeface="Courier"/>
              </a:rPr>
              <a:t>&gt;</a:t>
            </a:r>
            <a:r>
              <a:rPr>
                <a:latin typeface="Courier"/>
              </a:rPr>
              <a:t> </a:t>
            </a:r>
            <a:r>
              <a:rPr>
                <a:solidFill>
                  <a:srgbClr val="666666"/>
                </a:solidFill>
                <a:latin typeface="Courier"/>
              </a:rPr>
              <a:t>=</a:t>
            </a:r>
            <a:br/>
            <a:r>
              <a:rPr>
                <a:latin typeface="Courier"/>
              </a:rPr>
              <a:t>    eventRepository</a:t>
            </a:r>
            <a:r>
              <a:rPr>
                <a:solidFill>
                  <a:srgbClr val="666666"/>
                </a:solidFill>
                <a:latin typeface="Courier"/>
              </a:rPr>
              <a:t>.</a:t>
            </a:r>
            <a:r>
              <a:rPr>
                <a:latin typeface="Courier"/>
              </a:rPr>
              <a:t>create</a:t>
            </a:r>
            <a:r>
              <a:rPr>
                <a:solidFill>
                  <a:srgbClr val="666666"/>
                </a:solidFill>
                <a:latin typeface="Courier"/>
              </a:rPr>
              <a:t>(</a:t>
            </a:r>
            <a:r>
              <a:rPr>
                <a:latin typeface="Courier"/>
              </a:rPr>
              <a:t>request</a:t>
            </a:r>
            <a:r>
              <a:rPr>
                <a:solidFill>
                  <a:srgbClr val="666666"/>
                </a:solidFill>
                <a:latin typeface="Courier"/>
              </a:rPr>
              <a:t>)</a:t>
            </a:r>
            <a:br/>
            <a:r>
              <a:rPr>
                <a:latin typeface="Courier"/>
              </a:rPr>
              <a:t>      </a:t>
            </a:r>
            <a:r>
              <a:rPr>
                <a:solidFill>
                  <a:srgbClr val="666666"/>
                </a:solidFill>
                <a:latin typeface="Courier"/>
              </a:rPr>
              <a:t>.</a:t>
            </a:r>
            <a:r>
              <a:rPr>
                <a:latin typeface="Courier"/>
              </a:rPr>
              <a:t>mapLeft </a:t>
            </a:r>
            <a:r>
              <a:rPr>
                <a:solidFill>
                  <a:srgbClr val="666666"/>
                </a:solidFill>
                <a:latin typeface="Courier"/>
              </a:rPr>
              <a:t>{</a:t>
            </a:r>
            <a:r>
              <a:rPr>
                <a:latin typeface="Courier"/>
              </a:rPr>
              <a:t> CreateEventException</a:t>
            </a:r>
            <a:r>
              <a:rPr>
                <a:solidFill>
                  <a:srgbClr val="666666"/>
                </a:solidFill>
                <a:latin typeface="Courier"/>
              </a:rPr>
              <a:t>(</a:t>
            </a:r>
            <a:r>
              <a:rPr>
                <a:latin typeface="Courier"/>
              </a:rPr>
              <a:t>request</a:t>
            </a:r>
            <a:r>
              <a:rPr>
                <a:solidFill>
                  <a:srgbClr val="666666"/>
                </a:solidFill>
                <a:latin typeface="Courier"/>
              </a:rPr>
              <a:t>,</a:t>
            </a:r>
            <a:r>
              <a:rPr>
                <a:latin typeface="Courier"/>
              </a:rPr>
              <a:t> it</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666666"/>
                </a:solidFill>
                <a:latin typeface="Courier"/>
              </a:rPr>
              <a:t>.</a:t>
            </a:r>
            <a:r>
              <a:rPr>
                <a:latin typeface="Courier"/>
              </a:rPr>
              <a:t>flatMap </a:t>
            </a:r>
            <a:r>
              <a:rPr>
                <a:solidFill>
                  <a:srgbClr val="666666"/>
                </a:solidFill>
                <a:latin typeface="Courier"/>
              </a:rPr>
              <a:t>{</a:t>
            </a:r>
            <a:r>
              <a:rPr>
                <a:latin typeface="Courier"/>
              </a:rPr>
              <a:t> event </a:t>
            </a:r>
            <a:r>
              <a:rPr>
                <a:solidFill>
                  <a:srgbClr val="666666"/>
                </a:solidFill>
                <a:latin typeface="Courier"/>
              </a:rPr>
              <a:t>-&gt;</a:t>
            </a:r>
            <a:br/>
            <a:r>
              <a:rPr>
                <a:latin typeface="Courier"/>
              </a:rPr>
              <a:t>        participantRepository</a:t>
            </a:r>
            <a:r>
              <a:rPr>
                <a:solidFill>
                  <a:srgbClr val="666666"/>
                </a:solidFill>
                <a:latin typeface="Courier"/>
              </a:rPr>
              <a:t>.</a:t>
            </a:r>
            <a:r>
              <a:rPr>
                <a:latin typeface="Courier"/>
              </a:rPr>
              <a:t>create</a:t>
            </a:r>
            <a:r>
              <a:rPr>
                <a:solidFill>
                  <a:srgbClr val="666666"/>
                </a:solidFill>
                <a:latin typeface="Courier"/>
              </a:rPr>
              <a:t>(</a:t>
            </a:r>
            <a:br/>
            <a:r>
              <a:rPr>
                <a:latin typeface="Courier"/>
              </a:rPr>
              <a:t>          CreateParticipantRequest</a:t>
            </a:r>
            <a:r>
              <a:rPr>
                <a:solidFill>
                  <a:srgbClr val="666666"/>
                </a:solidFill>
                <a:latin typeface="Courier"/>
              </a:rPr>
              <a:t>(</a:t>
            </a:r>
            <a:br/>
            <a:r>
              <a:rPr>
                <a:latin typeface="Courier"/>
              </a:rPr>
              <a:t>            userEmail </a:t>
            </a:r>
            <a:r>
              <a:rPr>
                <a:solidFill>
                  <a:srgbClr val="666666"/>
                </a:solidFill>
                <a:latin typeface="Courier"/>
              </a:rPr>
              <a:t>=</a:t>
            </a:r>
            <a:r>
              <a:rPr>
                <a:latin typeface="Courier"/>
              </a:rPr>
              <a:t> request</a:t>
            </a:r>
            <a:r>
              <a:rPr>
                <a:solidFill>
                  <a:srgbClr val="666666"/>
                </a:solidFill>
                <a:latin typeface="Courier"/>
              </a:rPr>
              <a:t>.</a:t>
            </a:r>
            <a:r>
              <a:rPr>
                <a:latin typeface="Courier"/>
              </a:rPr>
              <a:t>creator</a:t>
            </a:r>
            <a:r>
              <a:rPr>
                <a:solidFill>
                  <a:srgbClr val="666666"/>
                </a:solidFill>
                <a:latin typeface="Courier"/>
              </a:rPr>
              <a:t>.</a:t>
            </a:r>
            <a:r>
              <a:rPr>
                <a:latin typeface="Courier"/>
              </a:rPr>
              <a:t>toString</a:t>
            </a:r>
            <a:r>
              <a:rPr>
                <a:solidFill>
                  <a:srgbClr val="666666"/>
                </a:solidFill>
                <a:latin typeface="Courier"/>
              </a:rPr>
              <a:t>(),</a:t>
            </a:r>
            <a:br/>
            <a:r>
              <a:rPr>
                <a:latin typeface="Courier"/>
              </a:rPr>
              <a:t>            eventId </a:t>
            </a:r>
            <a:r>
              <a:rPr>
                <a:solidFill>
                  <a:srgbClr val="666666"/>
                </a:solidFill>
                <a:latin typeface="Courier"/>
              </a:rPr>
              <a:t>=</a:t>
            </a:r>
            <a:r>
              <a:rPr>
                <a:latin typeface="Courier"/>
              </a:rPr>
              <a:t> event</a:t>
            </a:r>
            <a:r>
              <a:rPr>
                <a:solidFill>
                  <a:srgbClr val="666666"/>
                </a:solidFill>
                <a:latin typeface="Courier"/>
              </a:rPr>
              <a:t>.</a:t>
            </a:r>
            <a:r>
              <a:rPr>
                <a:latin typeface="Courier"/>
              </a:rPr>
              <a:t>identifier</a:t>
            </a:r>
            <a:r>
              <a:rPr>
                <a:solidFill>
                  <a:srgbClr val="666666"/>
                </a:solidFill>
                <a:latin typeface="Courier"/>
              </a:rPr>
              <a:t>,</a:t>
            </a:r>
            <a:br/>
            <a:r>
              <a:rPr>
                <a:latin typeface="Courier"/>
              </a:rPr>
              <a:t>            status </a:t>
            </a:r>
            <a:r>
              <a:rPr>
                <a:solidFill>
                  <a:srgbClr val="666666"/>
                </a:solidFill>
                <a:latin typeface="Courier"/>
              </a:rPr>
              <a:t>=</a:t>
            </a:r>
            <a:r>
              <a:rPr>
                <a:latin typeface="Courier"/>
              </a:rPr>
              <a:t> ParticipantStatus</a:t>
            </a:r>
            <a:r>
              <a:rPr>
                <a:solidFill>
                  <a:srgbClr val="666666"/>
                </a:solidFill>
                <a:latin typeface="Courier"/>
              </a:rPr>
              <a:t>.</a:t>
            </a:r>
            <a:r>
              <a:rPr>
                <a:latin typeface="Courier"/>
              </a:rPr>
              <a:t>CONFIRMED</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666666"/>
                </a:solidFill>
                <a:latin typeface="Courier"/>
              </a:rPr>
              <a:t>.</a:t>
            </a:r>
            <a:r>
              <a:rPr>
                <a:latin typeface="Courier"/>
              </a:rPr>
              <a:t>map </a:t>
            </a:r>
            <a:r>
              <a:rPr>
                <a:solidFill>
                  <a:srgbClr val="666666"/>
                </a:solidFill>
                <a:latin typeface="Courier"/>
              </a:rPr>
              <a:t>{</a:t>
            </a:r>
            <a:r>
              <a:rPr>
                <a:latin typeface="Courier"/>
              </a:rPr>
              <a:t> event </a:t>
            </a:r>
            <a:r>
              <a:rPr>
                <a:solidFill>
                  <a:srgbClr val="666666"/>
                </a:solidFill>
                <a:latin typeface="Courier"/>
              </a:rPr>
              <a:t>}</a:t>
            </a:r>
            <a:br/>
            <a:r>
              <a:rPr i="1">
                <a:solidFill>
                  <a:srgbClr val="60A0B0"/>
                </a:solidFill>
                <a:latin typeface="Courier"/>
              </a:rPr>
              <a:t>// ...</a:t>
            </a:r>
          </a:p>
          <a:p>
            <a:pPr lvl="0"/>
            <a:r>
              <a:rPr/>
              <a:t>Dépendance sur les </a:t>
            </a:r>
            <a:r>
              <a:rPr b="1"/>
              <a:t>ports</a:t>
            </a:r>
            <a:r>
              <a:rPr/>
              <a:t> (interfaces), jamais sur les implémentations SQL</a:t>
            </a:r>
          </a:p>
          <a:p>
            <a:pPr lvl="0"/>
            <a:r>
              <a:rPr>
                <a:latin typeface="Courier"/>
              </a:rPr>
              <a:t>flatMap</a:t>
            </a:r>
            <a:r>
              <a:rPr/>
              <a:t> : le participant n’est créé que si l’événement a réussi</a:t>
            </a:r>
          </a:p>
          <a:p>
            <a:pPr lvl="0"/>
            <a:r>
              <a:rPr b="1"/>
              <a:t>Règle métier encapsulée</a:t>
            </a:r>
            <a:r>
              <a:rPr/>
              <a:t> : “le créateur est automatiquement participant confirmé”</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Use Case : AddContributionUseCase</a:t>
            </a:r>
          </a:p>
        </p:txBody>
      </p:sp>
      <p:sp>
        <p:nvSpPr>
          <p:cNvPr id="3" name="Content Placeholder 2"/>
          <p:cNvSpPr>
            <a:spLocks noGrp="1"/>
          </p:cNvSpPr>
          <p:nvPr>
            <p:ph idx="1"/>
          </p:nvPr>
        </p:nvSpPr>
        <p:spPr/>
        <p:txBody>
          <a:bodyPr/>
          <a:lstStyle/>
          <a:p>
            <a:pPr lvl="0" indent="0" marL="0">
              <a:buNone/>
            </a:pPr>
            <a:r>
              <a:rPr b="1"/>
              <a:t>Chaîne fonctionnelle complète</a:t>
            </a:r>
          </a:p>
          <a:p>
            <a:pPr lvl="0" indent="0">
              <a:buNone/>
            </a:pPr>
            <a:r>
              <a:rPr i="1">
                <a:solidFill>
                  <a:srgbClr val="60A0B0"/>
                </a:solidFill>
                <a:latin typeface="Courier"/>
              </a:rPr>
              <a:t>// domain/contribution/add/AddContributionUseCase.kt</a:t>
            </a:r>
            <a:br/>
            <a:br/>
            <a:r>
              <a:rPr b="1">
                <a:solidFill>
                  <a:srgbClr val="007020"/>
                </a:solidFill>
                <a:latin typeface="Courier"/>
              </a:rPr>
              <a:t>class</a:t>
            </a:r>
            <a:r>
              <a:rPr>
                <a:latin typeface="Courier"/>
              </a:rPr>
              <a:t> AddContributionUseCase</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b="1">
                <a:solidFill>
                  <a:srgbClr val="007020"/>
                </a:solidFill>
                <a:latin typeface="Courier"/>
              </a:rPr>
              <a:t>val</a:t>
            </a:r>
            <a:r>
              <a:rPr>
                <a:latin typeface="Courier"/>
              </a:rPr>
              <a:t> </a:t>
            </a:r>
            <a:r>
              <a:rPr>
                <a:solidFill>
                  <a:srgbClr val="19177C"/>
                </a:solidFill>
                <a:latin typeface="Courier"/>
              </a:rPr>
              <a:t>contributionRepository</a:t>
            </a:r>
            <a:r>
              <a:rPr>
                <a:solidFill>
                  <a:srgbClr val="666666"/>
                </a:solidFill>
                <a:latin typeface="Courier"/>
              </a:rPr>
              <a:t>:</a:t>
            </a:r>
            <a:r>
              <a:rPr>
                <a:latin typeface="Courier"/>
              </a:rPr>
              <a:t> </a:t>
            </a:r>
            <a:r>
              <a:rPr>
                <a:solidFill>
                  <a:srgbClr val="902000"/>
                </a:solidFill>
                <a:latin typeface="Courier"/>
              </a:rPr>
              <a:t>ContributionRepository</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b="1">
                <a:solidFill>
                  <a:srgbClr val="007020"/>
                </a:solidFill>
                <a:latin typeface="Courier"/>
              </a:rPr>
              <a:t>val</a:t>
            </a:r>
            <a:r>
              <a:rPr>
                <a:latin typeface="Courier"/>
              </a:rPr>
              <a:t> </a:t>
            </a:r>
            <a:r>
              <a:rPr>
                <a:solidFill>
                  <a:srgbClr val="19177C"/>
                </a:solidFill>
                <a:latin typeface="Courier"/>
              </a:rPr>
              <a:t>participantRepository</a:t>
            </a:r>
            <a:r>
              <a:rPr>
                <a:solidFill>
                  <a:srgbClr val="666666"/>
                </a:solidFill>
                <a:latin typeface="Courier"/>
              </a:rPr>
              <a:t>:</a:t>
            </a:r>
            <a:r>
              <a:rPr>
                <a:latin typeface="Courier"/>
              </a:rPr>
              <a:t> </a:t>
            </a:r>
            <a:r>
              <a:rPr>
                <a:solidFill>
                  <a:srgbClr val="902000"/>
                </a:solidFill>
                <a:latin typeface="Courier"/>
              </a:rPr>
              <a:t>ParticipantRepository</a:t>
            </a:r>
            <a:r>
              <a:rPr>
                <a:solidFill>
                  <a:srgbClr val="666666"/>
                </a:solidFill>
                <a:latin typeface="Courier"/>
              </a:rPr>
              <a:t>,</a:t>
            </a:r>
            <a:b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fun</a:t>
            </a:r>
            <a:r>
              <a:rPr>
                <a:latin typeface="Courier"/>
              </a:rPr>
              <a:t> </a:t>
            </a:r>
            <a:r>
              <a:rPr>
                <a:solidFill>
                  <a:srgbClr val="06287E"/>
                </a:solidFill>
                <a:latin typeface="Courier"/>
              </a:rPr>
              <a:t>execute</a:t>
            </a:r>
            <a:r>
              <a:rPr>
                <a:solidFill>
                  <a:srgbClr val="666666"/>
                </a:solidFill>
                <a:latin typeface="Courier"/>
              </a:rPr>
              <a:t>(</a:t>
            </a:r>
            <a:r>
              <a:rPr>
                <a:solidFill>
                  <a:srgbClr val="19177C"/>
                </a:solidFill>
                <a:latin typeface="Courier"/>
              </a:rPr>
              <a:t>request</a:t>
            </a:r>
            <a:r>
              <a:rPr>
                <a:solidFill>
                  <a:srgbClr val="666666"/>
                </a:solidFill>
                <a:latin typeface="Courier"/>
              </a:rPr>
              <a:t>:</a:t>
            </a:r>
            <a:r>
              <a:rPr>
                <a:latin typeface="Courier"/>
              </a:rPr>
              <a:t> </a:t>
            </a:r>
            <a:r>
              <a:rPr>
                <a:solidFill>
                  <a:srgbClr val="902000"/>
                </a:solidFill>
                <a:latin typeface="Courier"/>
              </a:rPr>
              <a:t>AddContributionRequest</a:t>
            </a:r>
            <a:r>
              <a:rPr>
                <a:solidFill>
                  <a:srgbClr val="666666"/>
                </a:solidFill>
                <a:latin typeface="Courier"/>
              </a:rPr>
              <a:t>):</a:t>
            </a:r>
            <a:r>
              <a:rPr>
                <a:latin typeface="Courier"/>
              </a:rPr>
              <a:t> </a:t>
            </a:r>
            <a:r>
              <a:rPr>
                <a:solidFill>
                  <a:srgbClr val="902000"/>
                </a:solidFill>
                <a:latin typeface="Courier"/>
              </a:rPr>
              <a:t>Either</a:t>
            </a:r>
            <a:r>
              <a:rPr>
                <a:solidFill>
                  <a:srgbClr val="666666"/>
                </a:solidFill>
                <a:latin typeface="Courier"/>
              </a:rPr>
              <a:t>&lt;</a:t>
            </a:r>
            <a:r>
              <a:rPr>
                <a:solidFill>
                  <a:srgbClr val="902000"/>
                </a:solidFill>
                <a:latin typeface="Courier"/>
              </a:rPr>
              <a:t>AddContributionException</a:t>
            </a:r>
            <a:r>
              <a:rPr>
                <a:latin typeface="Courier"/>
              </a:rPr>
              <a:t>, </a:t>
            </a:r>
            <a:r>
              <a:rPr>
                <a:solidFill>
                  <a:srgbClr val="902000"/>
                </a:solidFill>
                <a:latin typeface="Courier"/>
              </a:rPr>
              <a:t>Contribution</a:t>
            </a:r>
            <a:r>
              <a:rPr>
                <a:solidFill>
                  <a:srgbClr val="666666"/>
                </a:solidFill>
                <a:latin typeface="Courier"/>
              </a:rPr>
              <a:t>&gt;</a:t>
            </a:r>
            <a:r>
              <a:rPr>
                <a:latin typeface="Courier"/>
              </a:rPr>
              <a:t> </a:t>
            </a:r>
            <a:r>
              <a:rPr>
                <a:solidFill>
                  <a:srgbClr val="666666"/>
                </a:solidFill>
                <a:latin typeface="Courier"/>
              </a:rPr>
              <a:t>=</a:t>
            </a:r>
            <a:br/>
            <a:r>
              <a:rPr>
                <a:latin typeface="Courier"/>
              </a:rPr>
              <a:t>    participantRepository</a:t>
            </a:r>
            <a:r>
              <a:rPr>
                <a:solidFill>
                  <a:srgbClr val="666666"/>
                </a:solidFill>
                <a:latin typeface="Courier"/>
              </a:rPr>
              <a:t>.</a:t>
            </a:r>
            <a:r>
              <a:rPr>
                <a:latin typeface="Courier"/>
              </a:rPr>
              <a:t>findOrCreate</a:t>
            </a:r>
            <a:r>
              <a:rPr>
                <a:solidFill>
                  <a:srgbClr val="666666"/>
                </a:solidFill>
                <a:latin typeface="Courier"/>
              </a:rPr>
              <a:t>(</a:t>
            </a:r>
            <a:r>
              <a:rPr>
                <a:latin typeface="Courier"/>
              </a:rPr>
              <a:t>request</a:t>
            </a:r>
            <a:r>
              <a:rPr>
                <a:solidFill>
                  <a:srgbClr val="666666"/>
                </a:solidFill>
                <a:latin typeface="Courier"/>
              </a:rPr>
              <a:t>.</a:t>
            </a:r>
            <a:r>
              <a:rPr>
                <a:latin typeface="Courier"/>
              </a:rPr>
              <a:t>userEmail</a:t>
            </a:r>
            <a:r>
              <a:rPr>
                <a:solidFill>
                  <a:srgbClr val="666666"/>
                </a:solidFill>
                <a:latin typeface="Courier"/>
              </a:rPr>
              <a:t>,</a:t>
            </a:r>
            <a:r>
              <a:rPr>
                <a:latin typeface="Courier"/>
              </a:rPr>
              <a:t> request</a:t>
            </a:r>
            <a:r>
              <a:rPr>
                <a:solidFill>
                  <a:srgbClr val="666666"/>
                </a:solidFill>
                <a:latin typeface="Courier"/>
              </a:rPr>
              <a:t>.</a:t>
            </a:r>
            <a:r>
              <a:rPr>
                <a:latin typeface="Courier"/>
              </a:rPr>
              <a:t>eventId</a:t>
            </a:r>
            <a:r>
              <a:rPr>
                <a:solidFill>
                  <a:srgbClr val="666666"/>
                </a:solidFill>
                <a:latin typeface="Courier"/>
              </a:rPr>
              <a:t>)</a:t>
            </a:r>
            <a:br/>
            <a:r>
              <a:rPr>
                <a:latin typeface="Courier"/>
              </a:rPr>
              <a:t>      </a:t>
            </a:r>
            <a:r>
              <a:rPr>
                <a:solidFill>
                  <a:srgbClr val="666666"/>
                </a:solidFill>
                <a:latin typeface="Courier"/>
              </a:rPr>
              <a:t>.</a:t>
            </a:r>
            <a:r>
              <a:rPr>
                <a:latin typeface="Courier"/>
              </a:rPr>
              <a:t>mapLeft </a:t>
            </a:r>
            <a:r>
              <a:rPr>
                <a:solidFill>
                  <a:srgbClr val="666666"/>
                </a:solidFill>
                <a:latin typeface="Courier"/>
              </a:rPr>
              <a:t>{</a:t>
            </a:r>
            <a:r>
              <a:rPr>
                <a:latin typeface="Courier"/>
              </a:rPr>
              <a:t> AddContributionException</a:t>
            </a:r>
            <a:r>
              <a:rPr>
                <a:solidFill>
                  <a:srgbClr val="666666"/>
                </a:solidFill>
                <a:latin typeface="Courier"/>
              </a:rPr>
              <a:t>(</a:t>
            </a:r>
            <a:r>
              <a:rPr>
                <a:latin typeface="Courier"/>
              </a:rPr>
              <a:t>request</a:t>
            </a:r>
            <a:r>
              <a:rPr>
                <a:solidFill>
                  <a:srgbClr val="666666"/>
                </a:solidFill>
                <a:latin typeface="Courier"/>
              </a:rPr>
              <a:t>,</a:t>
            </a:r>
            <a:r>
              <a:rPr>
                <a:latin typeface="Courier"/>
              </a:rPr>
              <a:t> it</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666666"/>
                </a:solidFill>
                <a:latin typeface="Courier"/>
              </a:rPr>
              <a:t>.</a:t>
            </a:r>
            <a:r>
              <a:rPr>
                <a:latin typeface="Courier"/>
              </a:rPr>
              <a:t>flatMap </a:t>
            </a:r>
            <a:r>
              <a:rPr>
                <a:solidFill>
                  <a:srgbClr val="666666"/>
                </a:solidFill>
                <a:latin typeface="Courier"/>
              </a:rPr>
              <a:t>{</a:t>
            </a:r>
            <a:r>
              <a:rPr>
                <a:latin typeface="Courier"/>
              </a:rPr>
              <a:t> participant </a:t>
            </a:r>
            <a:r>
              <a:rPr>
                <a:solidFill>
                  <a:srgbClr val="666666"/>
                </a:solidFill>
                <a:latin typeface="Courier"/>
              </a:rPr>
              <a:t>-&gt;</a:t>
            </a:r>
            <a:br/>
            <a:r>
              <a:rPr>
                <a:latin typeface="Courier"/>
              </a:rPr>
              <a:t>        contributionRepository</a:t>
            </a:r>
            <a:r>
              <a:rPr>
                <a:solidFill>
                  <a:srgbClr val="666666"/>
                </a:solidFill>
                <a:latin typeface="Courier"/>
              </a:rPr>
              <a:t>.</a:t>
            </a:r>
            <a:r>
              <a:rPr>
                <a:latin typeface="Courier"/>
              </a:rPr>
              <a:t>addOrUpdate</a:t>
            </a:r>
            <a:r>
              <a:rPr>
                <a:solidFill>
                  <a:srgbClr val="666666"/>
                </a:solidFill>
                <a:latin typeface="Courier"/>
              </a:rPr>
              <a:t>(</a:t>
            </a:r>
            <a:br/>
            <a:r>
              <a:rPr>
                <a:latin typeface="Courier"/>
              </a:rPr>
              <a:t>          participant </a:t>
            </a:r>
            <a:r>
              <a:rPr>
                <a:solidFill>
                  <a:srgbClr val="666666"/>
                </a:solidFill>
                <a:latin typeface="Courier"/>
              </a:rPr>
              <a:t>=</a:t>
            </a:r>
            <a:r>
              <a:rPr>
                <a:latin typeface="Courier"/>
              </a:rPr>
              <a:t> participant</a:t>
            </a:r>
            <a:r>
              <a:rPr>
                <a:solidFill>
                  <a:srgbClr val="666666"/>
                </a:solidFill>
                <a:latin typeface="Courier"/>
              </a:rPr>
              <a:t>,</a:t>
            </a:r>
            <a:br/>
            <a:r>
              <a:rPr>
                <a:latin typeface="Courier"/>
              </a:rPr>
              <a:t>          request </a:t>
            </a:r>
            <a:r>
              <a:rPr>
                <a:solidFill>
                  <a:srgbClr val="666666"/>
                </a:solidFill>
                <a:latin typeface="Courier"/>
              </a:rPr>
              <a:t>=</a:t>
            </a:r>
            <a:r>
              <a:rPr>
                <a:latin typeface="Courier"/>
              </a:rPr>
              <a:t> request</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666666"/>
                </a:solidFill>
                <a:latin typeface="Courier"/>
              </a:rPr>
              <a:t>.</a:t>
            </a:r>
            <a:r>
              <a:rPr>
                <a:latin typeface="Courier"/>
              </a:rPr>
              <a:t>mapLeft </a:t>
            </a:r>
            <a:r>
              <a:rPr>
                <a:solidFill>
                  <a:srgbClr val="666666"/>
                </a:solidFill>
                <a:latin typeface="Courier"/>
              </a:rPr>
              <a:t>{</a:t>
            </a:r>
            <a:r>
              <a:rPr>
                <a:latin typeface="Courier"/>
              </a:rPr>
              <a:t> AddContributionException</a:t>
            </a:r>
            <a:r>
              <a:rPr>
                <a:solidFill>
                  <a:srgbClr val="666666"/>
                </a:solidFill>
                <a:latin typeface="Courier"/>
              </a:rPr>
              <a:t>(</a:t>
            </a:r>
            <a:r>
              <a:rPr>
                <a:latin typeface="Courier"/>
              </a:rPr>
              <a:t>request</a:t>
            </a:r>
            <a:r>
              <a:rPr>
                <a:solidFill>
                  <a:srgbClr val="666666"/>
                </a:solidFill>
                <a:latin typeface="Courier"/>
              </a:rPr>
              <a:t>,</a:t>
            </a:r>
            <a:r>
              <a:rPr>
                <a:latin typeface="Courier"/>
              </a:rPr>
              <a:t> it</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p>
          <a:p>
            <a:pPr lvl="0"/>
            <a:r>
              <a:rPr b="1"/>
              <a:t>findOrCreate</a:t>
            </a:r>
            <a:r>
              <a:rPr/>
              <a:t> : si le participant n’existe pas, il est créé automatiquement</a:t>
            </a:r>
          </a:p>
          <a:p>
            <a:pPr lvl="0"/>
            <a:r>
              <a:rPr/>
              <a:t>Le use case orchestre 2 repositories sans connaître leur implémentation</a:t>
            </a:r>
          </a:p>
          <a:p>
            <a:pPr lvl="0"/>
            <a:r>
              <a:rPr/>
              <a:t>L’</a:t>
            </a:r>
            <a:r>
              <a:rPr>
                <a:latin typeface="Courier"/>
              </a:rPr>
              <a:t>addOrUpdate</a:t>
            </a:r>
            <a:r>
              <a:rPr/>
              <a:t> inclut le verrou optimiste (dans le repository SQL)</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Modèles domaine</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domain/event/common/model/event/Event.kt</a:t>
            </a:r>
            <a:br/>
            <a:r>
              <a:rPr b="1">
                <a:solidFill>
                  <a:srgbClr val="007020"/>
                </a:solidFill>
                <a:latin typeface="Courier"/>
              </a:rPr>
              <a:t>data</a:t>
            </a:r>
            <a:r>
              <a:rPr>
                <a:latin typeface="Courier"/>
              </a:rPr>
              <a:t> </a:t>
            </a:r>
            <a:r>
              <a:rPr b="1">
                <a:solidFill>
                  <a:srgbClr val="007020"/>
                </a:solidFill>
                <a:latin typeface="Courier"/>
              </a:rPr>
              <a:t>class</a:t>
            </a:r>
            <a:r>
              <a:rPr>
                <a:latin typeface="Courier"/>
              </a:rPr>
              <a:t> Event</a:t>
            </a:r>
            <a:r>
              <a:rPr>
                <a:solidFill>
                  <a:srgbClr val="666666"/>
                </a:solidFill>
                <a:latin typeface="Courier"/>
              </a:rPr>
              <a:t>(</a:t>
            </a:r>
            <a:br/>
            <a:r>
              <a:rPr>
                <a:latin typeface="Courier"/>
              </a:rPr>
              <a:t>  </a:t>
            </a:r>
            <a:r>
              <a:rPr b="1">
                <a:solidFill>
                  <a:srgbClr val="007020"/>
                </a:solidFill>
                <a:latin typeface="Courier"/>
              </a:rPr>
              <a:t>val</a:t>
            </a:r>
            <a:r>
              <a:rPr>
                <a:latin typeface="Courier"/>
              </a:rPr>
              <a:t> </a:t>
            </a:r>
            <a:r>
              <a:rPr>
                <a:solidFill>
                  <a:srgbClr val="19177C"/>
                </a:solidFill>
                <a:latin typeface="Courier"/>
              </a:rPr>
              <a:t>identifier</a:t>
            </a:r>
            <a:r>
              <a:rPr>
                <a:solidFill>
                  <a:srgbClr val="666666"/>
                </a:solidFill>
                <a:latin typeface="Courier"/>
              </a:rPr>
              <a:t>:</a:t>
            </a:r>
            <a:r>
              <a:rPr>
                <a:latin typeface="Courier"/>
              </a:rPr>
              <a:t> </a:t>
            </a:r>
            <a:r>
              <a:rPr>
                <a:solidFill>
                  <a:srgbClr val="902000"/>
                </a:solidFill>
                <a:latin typeface="Courier"/>
              </a:rPr>
              <a:t>UUID</a:t>
            </a:r>
            <a:r>
              <a:rPr>
                <a:solidFill>
                  <a:srgbClr val="666666"/>
                </a:solidFill>
                <a:latin typeface="Courier"/>
              </a:rPr>
              <a:t>,</a:t>
            </a:r>
            <a:r>
              <a:rPr>
                <a:latin typeface="Courier"/>
              </a:rPr>
              <a:t> </a:t>
            </a:r>
            <a:r>
              <a:rPr b="1">
                <a:solidFill>
                  <a:srgbClr val="007020"/>
                </a:solidFill>
                <a:latin typeface="Courier"/>
              </a:rPr>
              <a:t>val</a:t>
            </a:r>
            <a:r>
              <a:rPr>
                <a:latin typeface="Courier"/>
              </a:rPr>
              <a:t> </a:t>
            </a:r>
            <a:r>
              <a:rPr>
                <a:solidFill>
                  <a:srgbClr val="19177C"/>
                </a:solidFill>
                <a:latin typeface="Courier"/>
              </a:rPr>
              <a:t>name</a:t>
            </a:r>
            <a:r>
              <a:rPr>
                <a:solidFill>
                  <a:srgbClr val="666666"/>
                </a:solidFill>
                <a:latin typeface="Courier"/>
              </a:rPr>
              <a:t>:</a:t>
            </a:r>
            <a:r>
              <a:rPr>
                <a:latin typeface="Courier"/>
              </a:rPr>
              <a:t> </a:t>
            </a:r>
            <a:r>
              <a:rPr>
                <a:solidFill>
                  <a:srgbClr val="902000"/>
                </a:solidFill>
                <a:latin typeface="Courier"/>
              </a:rPr>
              <a:t>String</a:t>
            </a:r>
            <a:r>
              <a:rPr>
                <a:solidFill>
                  <a:srgbClr val="666666"/>
                </a:solidFill>
                <a:latin typeface="Courier"/>
              </a:rPr>
              <a:t>,</a:t>
            </a:r>
            <a:r>
              <a:rPr>
                <a:latin typeface="Courier"/>
              </a:rPr>
              <a:t> </a:t>
            </a:r>
            <a:r>
              <a:rPr b="1">
                <a:solidFill>
                  <a:srgbClr val="007020"/>
                </a:solidFill>
                <a:latin typeface="Courier"/>
              </a:rPr>
              <a:t>val</a:t>
            </a:r>
            <a:r>
              <a:rPr>
                <a:latin typeface="Courier"/>
              </a:rPr>
              <a:t> </a:t>
            </a:r>
            <a:r>
              <a:rPr>
                <a:solidFill>
                  <a:srgbClr val="19177C"/>
                </a:solidFill>
                <a:latin typeface="Courier"/>
              </a:rPr>
              <a:t>description</a:t>
            </a:r>
            <a:r>
              <a:rPr>
                <a:solidFill>
                  <a:srgbClr val="666666"/>
                </a:solidFill>
                <a:latin typeface="Courier"/>
              </a:rPr>
              <a:t>:</a:t>
            </a:r>
            <a:r>
              <a:rPr>
                <a:latin typeface="Courier"/>
              </a:rPr>
              <a:t> </a:t>
            </a:r>
            <a:r>
              <a:rPr>
                <a:solidFill>
                  <a:srgbClr val="902000"/>
                </a:solidFill>
                <a:latin typeface="Courier"/>
              </a:rPr>
              <a:t>String</a:t>
            </a:r>
            <a:r>
              <a:rPr>
                <a:solidFill>
                  <a:srgbClr val="666666"/>
                </a:solidFill>
                <a:latin typeface="Courier"/>
              </a:rPr>
              <a:t>,</a:t>
            </a:r>
            <a:br/>
            <a:r>
              <a:rPr>
                <a:latin typeface="Courier"/>
              </a:rPr>
              <a:t>  </a:t>
            </a:r>
            <a:r>
              <a:rPr b="1">
                <a:solidFill>
                  <a:srgbClr val="007020"/>
                </a:solidFill>
                <a:latin typeface="Courier"/>
              </a:rPr>
              <a:t>val</a:t>
            </a:r>
            <a:r>
              <a:rPr>
                <a:latin typeface="Courier"/>
              </a:rPr>
              <a:t> </a:t>
            </a:r>
            <a:r>
              <a:rPr>
                <a:solidFill>
                  <a:srgbClr val="19177C"/>
                </a:solidFill>
                <a:latin typeface="Courier"/>
              </a:rPr>
              <a:t>eventDate</a:t>
            </a:r>
            <a:r>
              <a:rPr>
                <a:solidFill>
                  <a:srgbClr val="666666"/>
                </a:solidFill>
                <a:latin typeface="Courier"/>
              </a:rPr>
              <a:t>:</a:t>
            </a:r>
            <a:r>
              <a:rPr>
                <a:latin typeface="Courier"/>
              </a:rPr>
              <a:t> </a:t>
            </a:r>
            <a:r>
              <a:rPr>
                <a:solidFill>
                  <a:srgbClr val="902000"/>
                </a:solidFill>
                <a:latin typeface="Courier"/>
              </a:rPr>
              <a:t>Instant</a:t>
            </a:r>
            <a:r>
              <a:rPr>
                <a:solidFill>
                  <a:srgbClr val="666666"/>
                </a:solidFill>
                <a:latin typeface="Courier"/>
              </a:rPr>
              <a:t>,</a:t>
            </a:r>
            <a:r>
              <a:rPr>
                <a:latin typeface="Courier"/>
              </a:rPr>
              <a:t> </a:t>
            </a:r>
            <a:r>
              <a:rPr b="1">
                <a:solidFill>
                  <a:srgbClr val="007020"/>
                </a:solidFill>
                <a:latin typeface="Courier"/>
              </a:rPr>
              <a:t>val</a:t>
            </a:r>
            <a:r>
              <a:rPr>
                <a:latin typeface="Courier"/>
              </a:rPr>
              <a:t> </a:t>
            </a:r>
            <a:r>
              <a:rPr>
                <a:solidFill>
                  <a:srgbClr val="19177C"/>
                </a:solidFill>
                <a:latin typeface="Courier"/>
              </a:rPr>
              <a:t>creator</a:t>
            </a:r>
            <a:r>
              <a:rPr>
                <a:solidFill>
                  <a:srgbClr val="666666"/>
                </a:solidFill>
                <a:latin typeface="Courier"/>
              </a:rPr>
              <a:t>:</a:t>
            </a:r>
            <a:r>
              <a:rPr>
                <a:latin typeface="Courier"/>
              </a:rPr>
              <a:t> </a:t>
            </a:r>
            <a:r>
              <a:rPr>
                <a:solidFill>
                  <a:srgbClr val="902000"/>
                </a:solidFill>
                <a:latin typeface="Courier"/>
              </a:rPr>
              <a:t>Creator</a:t>
            </a:r>
            <a:r>
              <a:rPr>
                <a:solidFill>
                  <a:srgbClr val="666666"/>
                </a:solidFill>
                <a:latin typeface="Courier"/>
              </a:rPr>
              <a:t>,</a:t>
            </a:r>
            <a:r>
              <a:rPr>
                <a:latin typeface="Courier"/>
              </a:rPr>
              <a:t> </a:t>
            </a:r>
            <a:r>
              <a:rPr b="1">
                <a:solidFill>
                  <a:srgbClr val="007020"/>
                </a:solidFill>
                <a:latin typeface="Courier"/>
              </a:rPr>
              <a:t>val</a:t>
            </a:r>
            <a:r>
              <a:rPr>
                <a:latin typeface="Courier"/>
              </a:rPr>
              <a:t> </a:t>
            </a:r>
            <a:r>
              <a:rPr>
                <a:solidFill>
                  <a:srgbClr val="19177C"/>
                </a:solidFill>
                <a:latin typeface="Courier"/>
              </a:rPr>
              <a:t>location</a:t>
            </a:r>
            <a:r>
              <a:rPr>
                <a:solidFill>
                  <a:srgbClr val="666666"/>
                </a:solidFill>
                <a:latin typeface="Courier"/>
              </a:rPr>
              <a:t>:</a:t>
            </a:r>
            <a:r>
              <a:rPr>
                <a:latin typeface="Courier"/>
              </a:rPr>
              <a:t> </a:t>
            </a:r>
            <a:r>
              <a:rPr>
                <a:solidFill>
                  <a:srgbClr val="902000"/>
                </a:solidFill>
                <a:latin typeface="Courier"/>
              </a:rPr>
              <a:t>String</a:t>
            </a:r>
            <a:r>
              <a:rPr>
                <a:solidFill>
                  <a:srgbClr val="666666"/>
                </a:solidFill>
                <a:latin typeface="Courier"/>
              </a:rPr>
              <a:t>,</a:t>
            </a:r>
            <a:br/>
            <a:r>
              <a:rPr>
                <a:latin typeface="Courier"/>
              </a:rPr>
              <a:t>  </a:t>
            </a:r>
            <a:r>
              <a:rPr b="1">
                <a:solidFill>
                  <a:srgbClr val="007020"/>
                </a:solidFill>
                <a:latin typeface="Courier"/>
              </a:rPr>
              <a:t>val</a:t>
            </a:r>
            <a:r>
              <a:rPr>
                <a:latin typeface="Courier"/>
              </a:rPr>
              <a:t> </a:t>
            </a:r>
            <a:r>
              <a:rPr>
                <a:solidFill>
                  <a:srgbClr val="19177C"/>
                </a:solidFill>
                <a:latin typeface="Courier"/>
              </a:rPr>
              <a:t>type</a:t>
            </a:r>
            <a:r>
              <a:rPr>
                <a:solidFill>
                  <a:srgbClr val="666666"/>
                </a:solidFill>
                <a:latin typeface="Courier"/>
              </a:rPr>
              <a:t>:</a:t>
            </a:r>
            <a:r>
              <a:rPr>
                <a:latin typeface="Courier"/>
              </a:rPr>
              <a:t> </a:t>
            </a:r>
            <a:r>
              <a:rPr>
                <a:solidFill>
                  <a:srgbClr val="902000"/>
                </a:solidFill>
                <a:latin typeface="Courier"/>
              </a:rPr>
              <a:t>EventType</a:t>
            </a:r>
            <a:r>
              <a:rPr>
                <a:solidFill>
                  <a:srgbClr val="666666"/>
                </a:solidFill>
                <a:latin typeface="Courier"/>
              </a:rPr>
              <a:t>,</a:t>
            </a:r>
            <a:r>
              <a:rPr>
                <a:latin typeface="Courier"/>
              </a:rPr>
              <a:t> </a:t>
            </a:r>
            <a:r>
              <a:rPr b="1">
                <a:solidFill>
                  <a:srgbClr val="007020"/>
                </a:solidFill>
                <a:latin typeface="Courier"/>
              </a:rPr>
              <a:t>val</a:t>
            </a:r>
            <a:r>
              <a:rPr>
                <a:latin typeface="Courier"/>
              </a:rPr>
              <a:t> </a:t>
            </a:r>
            <a:r>
              <a:rPr>
                <a:solidFill>
                  <a:srgbClr val="19177C"/>
                </a:solidFill>
                <a:latin typeface="Courier"/>
              </a:rPr>
              <a:t>members</a:t>
            </a:r>
            <a:r>
              <a:rPr>
                <a:solidFill>
                  <a:srgbClr val="666666"/>
                </a:solidFill>
                <a:latin typeface="Courier"/>
              </a:rPr>
              <a:t>:</a:t>
            </a:r>
            <a:r>
              <a:rPr>
                <a:latin typeface="Courier"/>
              </a:rPr>
              <a:t> </a:t>
            </a:r>
            <a:r>
              <a:rPr>
                <a:solidFill>
                  <a:srgbClr val="902000"/>
                </a:solidFill>
                <a:latin typeface="Courier"/>
              </a:rPr>
              <a:t>List</a:t>
            </a:r>
            <a:r>
              <a:rPr>
                <a:latin typeface="Courier"/>
              </a:rPr>
              <a:t>&lt;</a:t>
            </a:r>
            <a:r>
              <a:rPr>
                <a:solidFill>
                  <a:srgbClr val="19177C"/>
                </a:solidFill>
                <a:latin typeface="Courier"/>
              </a:rPr>
              <a:t>Creator</a:t>
            </a:r>
            <a:r>
              <a:rPr>
                <a:latin typeface="Courier"/>
              </a:rPr>
              <a:t>&gt; </a:t>
            </a:r>
            <a:r>
              <a:rPr>
                <a:solidFill>
                  <a:srgbClr val="666666"/>
                </a:solidFill>
                <a:latin typeface="Courier"/>
              </a:rPr>
              <a:t>=</a:t>
            </a:r>
            <a:r>
              <a:rPr>
                <a:latin typeface="Courier"/>
              </a:rPr>
              <a:t> listOf</a:t>
            </a:r>
            <a:r>
              <a:rPr>
                <a:solidFill>
                  <a:srgbClr val="666666"/>
                </a:solidFill>
                <a:latin typeface="Courier"/>
              </a:rPr>
              <a:t>(),</a:t>
            </a:r>
            <a:br/>
            <a:r>
              <a:rPr>
                <a:solidFill>
                  <a:srgbClr val="666666"/>
                </a:solidFill>
                <a:latin typeface="Courier"/>
              </a:rPr>
              <a:t>)</a:t>
            </a:r>
            <a:br/>
            <a:br/>
            <a:r>
              <a:rPr i="1">
                <a:solidFill>
                  <a:srgbClr val="60A0B0"/>
                </a:solidFill>
                <a:latin typeface="Courier"/>
              </a:rPr>
              <a:t>// domain/resource/common/model/Resource.kt</a:t>
            </a:r>
            <a:br/>
            <a:r>
              <a:rPr b="1">
                <a:solidFill>
                  <a:srgbClr val="007020"/>
                </a:solidFill>
                <a:latin typeface="Courier"/>
              </a:rPr>
              <a:t>data</a:t>
            </a:r>
            <a:r>
              <a:rPr>
                <a:latin typeface="Courier"/>
              </a:rPr>
              <a:t> </a:t>
            </a:r>
            <a:r>
              <a:rPr b="1">
                <a:solidFill>
                  <a:srgbClr val="007020"/>
                </a:solidFill>
                <a:latin typeface="Courier"/>
              </a:rPr>
              <a:t>class</a:t>
            </a:r>
            <a:r>
              <a:rPr>
                <a:latin typeface="Courier"/>
              </a:rPr>
              <a:t> Resource</a:t>
            </a:r>
            <a:r>
              <a:rPr>
                <a:solidFill>
                  <a:srgbClr val="666666"/>
                </a:solidFill>
                <a:latin typeface="Courier"/>
              </a:rPr>
              <a:t>(</a:t>
            </a:r>
            <a:br/>
            <a:r>
              <a:rPr>
                <a:latin typeface="Courier"/>
              </a:rPr>
              <a:t>  </a:t>
            </a:r>
            <a:r>
              <a:rPr b="1">
                <a:solidFill>
                  <a:srgbClr val="007020"/>
                </a:solidFill>
                <a:latin typeface="Courier"/>
              </a:rPr>
              <a:t>val</a:t>
            </a:r>
            <a:r>
              <a:rPr>
                <a:latin typeface="Courier"/>
              </a:rPr>
              <a:t> </a:t>
            </a:r>
            <a:r>
              <a:rPr>
                <a:solidFill>
                  <a:srgbClr val="19177C"/>
                </a:solidFill>
                <a:latin typeface="Courier"/>
              </a:rPr>
              <a:t>identifier</a:t>
            </a:r>
            <a:r>
              <a:rPr>
                <a:solidFill>
                  <a:srgbClr val="666666"/>
                </a:solidFill>
                <a:latin typeface="Courier"/>
              </a:rPr>
              <a:t>:</a:t>
            </a:r>
            <a:r>
              <a:rPr>
                <a:latin typeface="Courier"/>
              </a:rPr>
              <a:t> </a:t>
            </a:r>
            <a:r>
              <a:rPr>
                <a:solidFill>
                  <a:srgbClr val="902000"/>
                </a:solidFill>
                <a:latin typeface="Courier"/>
              </a:rPr>
              <a:t>UUID</a:t>
            </a:r>
            <a:r>
              <a:rPr>
                <a:solidFill>
                  <a:srgbClr val="666666"/>
                </a:solidFill>
                <a:latin typeface="Courier"/>
              </a:rPr>
              <a:t>,</a:t>
            </a:r>
            <a:r>
              <a:rPr>
                <a:latin typeface="Courier"/>
              </a:rPr>
              <a:t> </a:t>
            </a:r>
            <a:r>
              <a:rPr b="1">
                <a:solidFill>
                  <a:srgbClr val="007020"/>
                </a:solidFill>
                <a:latin typeface="Courier"/>
              </a:rPr>
              <a:t>val</a:t>
            </a:r>
            <a:r>
              <a:rPr>
                <a:latin typeface="Courier"/>
              </a:rPr>
              <a:t> </a:t>
            </a:r>
            <a:r>
              <a:rPr>
                <a:solidFill>
                  <a:srgbClr val="19177C"/>
                </a:solidFill>
                <a:latin typeface="Courier"/>
              </a:rPr>
              <a:t>name</a:t>
            </a:r>
            <a:r>
              <a:rPr>
                <a:solidFill>
                  <a:srgbClr val="666666"/>
                </a:solidFill>
                <a:latin typeface="Courier"/>
              </a:rPr>
              <a:t>:</a:t>
            </a:r>
            <a:r>
              <a:rPr>
                <a:latin typeface="Courier"/>
              </a:rPr>
              <a:t> </a:t>
            </a:r>
            <a:r>
              <a:rPr>
                <a:solidFill>
                  <a:srgbClr val="902000"/>
                </a:solidFill>
                <a:latin typeface="Courier"/>
              </a:rPr>
              <a:t>String</a:t>
            </a:r>
            <a:r>
              <a:rPr>
                <a:solidFill>
                  <a:srgbClr val="666666"/>
                </a:solidFill>
                <a:latin typeface="Courier"/>
              </a:rPr>
              <a:t>,</a:t>
            </a:r>
            <a:r>
              <a:rPr>
                <a:latin typeface="Courier"/>
              </a:rPr>
              <a:t> </a:t>
            </a:r>
            <a:r>
              <a:rPr b="1">
                <a:solidFill>
                  <a:srgbClr val="007020"/>
                </a:solidFill>
                <a:latin typeface="Courier"/>
              </a:rPr>
              <a:t>val</a:t>
            </a:r>
            <a:r>
              <a:rPr>
                <a:latin typeface="Courier"/>
              </a:rPr>
              <a:t> </a:t>
            </a:r>
            <a:r>
              <a:rPr>
                <a:solidFill>
                  <a:srgbClr val="19177C"/>
                </a:solidFill>
                <a:latin typeface="Courier"/>
              </a:rPr>
              <a:t>category</a:t>
            </a:r>
            <a:r>
              <a:rPr>
                <a:solidFill>
                  <a:srgbClr val="666666"/>
                </a:solidFill>
                <a:latin typeface="Courier"/>
              </a:rPr>
              <a:t>:</a:t>
            </a:r>
            <a:r>
              <a:rPr>
                <a:latin typeface="Courier"/>
              </a:rPr>
              <a:t> </a:t>
            </a:r>
            <a:r>
              <a:rPr>
                <a:solidFill>
                  <a:srgbClr val="902000"/>
                </a:solidFill>
                <a:latin typeface="Courier"/>
              </a:rPr>
              <a:t>ResourceCategory</a:t>
            </a:r>
            <a:r>
              <a:rPr>
                <a:solidFill>
                  <a:srgbClr val="666666"/>
                </a:solidFill>
                <a:latin typeface="Courier"/>
              </a:rPr>
              <a:t>,</a:t>
            </a:r>
            <a:br/>
            <a:r>
              <a:rPr>
                <a:latin typeface="Courier"/>
              </a:rPr>
              <a:t>  </a:t>
            </a:r>
            <a:r>
              <a:rPr b="1">
                <a:solidFill>
                  <a:srgbClr val="007020"/>
                </a:solidFill>
                <a:latin typeface="Courier"/>
              </a:rPr>
              <a:t>val</a:t>
            </a:r>
            <a:r>
              <a:rPr>
                <a:latin typeface="Courier"/>
              </a:rPr>
              <a:t> </a:t>
            </a:r>
            <a:r>
              <a:rPr>
                <a:solidFill>
                  <a:srgbClr val="19177C"/>
                </a:solidFill>
                <a:latin typeface="Courier"/>
              </a:rPr>
              <a:t>suggestedQuantity</a:t>
            </a:r>
            <a:r>
              <a:rPr>
                <a:solidFill>
                  <a:srgbClr val="666666"/>
                </a:solidFill>
                <a:latin typeface="Courier"/>
              </a:rPr>
              <a:t>:</a:t>
            </a:r>
            <a:r>
              <a:rPr>
                <a:latin typeface="Courier"/>
              </a:rPr>
              <a:t> </a:t>
            </a:r>
            <a:r>
              <a:rPr>
                <a:solidFill>
                  <a:srgbClr val="902000"/>
                </a:solidFill>
                <a:latin typeface="Courier"/>
              </a:rPr>
              <a:t>Int</a:t>
            </a:r>
            <a:r>
              <a:rPr>
                <a:solidFill>
                  <a:srgbClr val="666666"/>
                </a:solidFill>
                <a:latin typeface="Courier"/>
              </a:rPr>
              <a:t>,</a:t>
            </a:r>
            <a:r>
              <a:rPr>
                <a:latin typeface="Courier"/>
              </a:rPr>
              <a:t> </a:t>
            </a:r>
            <a:r>
              <a:rPr b="1">
                <a:solidFill>
                  <a:srgbClr val="007020"/>
                </a:solidFill>
                <a:latin typeface="Courier"/>
              </a:rPr>
              <a:t>val</a:t>
            </a:r>
            <a:r>
              <a:rPr>
                <a:latin typeface="Courier"/>
              </a:rPr>
              <a:t> </a:t>
            </a:r>
            <a:r>
              <a:rPr>
                <a:solidFill>
                  <a:srgbClr val="19177C"/>
                </a:solidFill>
                <a:latin typeface="Courier"/>
              </a:rPr>
              <a:t>currentQuantity</a:t>
            </a:r>
            <a:r>
              <a:rPr>
                <a:solidFill>
                  <a:srgbClr val="666666"/>
                </a:solidFill>
                <a:latin typeface="Courier"/>
              </a:rPr>
              <a:t>:</a:t>
            </a:r>
            <a:r>
              <a:rPr>
                <a:latin typeface="Courier"/>
              </a:rPr>
              <a:t> </a:t>
            </a:r>
            <a:r>
              <a:rPr>
                <a:solidFill>
                  <a:srgbClr val="902000"/>
                </a:solidFill>
                <a:latin typeface="Courier"/>
              </a:rPr>
              <a:t>Int</a:t>
            </a:r>
            <a:r>
              <a:rPr>
                <a:solidFill>
                  <a:srgbClr val="666666"/>
                </a:solidFill>
                <a:latin typeface="Courier"/>
              </a:rPr>
              <a:t>,</a:t>
            </a:r>
            <a:br/>
            <a:r>
              <a:rPr>
                <a:latin typeface="Courier"/>
              </a:rPr>
              <a:t>  </a:t>
            </a:r>
            <a:r>
              <a:rPr b="1">
                <a:solidFill>
                  <a:srgbClr val="007020"/>
                </a:solidFill>
                <a:latin typeface="Courier"/>
              </a:rPr>
              <a:t>val</a:t>
            </a:r>
            <a:r>
              <a:rPr>
                <a:latin typeface="Courier"/>
              </a:rPr>
              <a:t> </a:t>
            </a:r>
            <a:r>
              <a:rPr>
                <a:solidFill>
                  <a:srgbClr val="19177C"/>
                </a:solidFill>
                <a:latin typeface="Courier"/>
              </a:rPr>
              <a:t>eventId</a:t>
            </a:r>
            <a:r>
              <a:rPr>
                <a:solidFill>
                  <a:srgbClr val="666666"/>
                </a:solidFill>
                <a:latin typeface="Courier"/>
              </a:rPr>
              <a:t>:</a:t>
            </a:r>
            <a:r>
              <a:rPr>
                <a:latin typeface="Courier"/>
              </a:rPr>
              <a:t> </a:t>
            </a:r>
            <a:r>
              <a:rPr>
                <a:solidFill>
                  <a:srgbClr val="902000"/>
                </a:solidFill>
                <a:latin typeface="Courier"/>
              </a:rPr>
              <a:t>UUID</a:t>
            </a:r>
            <a:r>
              <a:rPr>
                <a:solidFill>
                  <a:srgbClr val="666666"/>
                </a:solidFill>
                <a:latin typeface="Courier"/>
              </a:rPr>
              <a:t>,</a:t>
            </a:r>
            <a:r>
              <a:rPr>
                <a:latin typeface="Courier"/>
              </a:rPr>
              <a:t> </a:t>
            </a:r>
            <a:r>
              <a:rPr b="1">
                <a:solidFill>
                  <a:srgbClr val="007020"/>
                </a:solidFill>
                <a:latin typeface="Courier"/>
              </a:rPr>
              <a:t>val</a:t>
            </a:r>
            <a:r>
              <a:rPr>
                <a:latin typeface="Courier"/>
              </a:rPr>
              <a:t> </a:t>
            </a:r>
            <a:r>
              <a:rPr>
                <a:solidFill>
                  <a:srgbClr val="19177C"/>
                </a:solidFill>
                <a:latin typeface="Courier"/>
              </a:rPr>
              <a:t>version</a:t>
            </a:r>
            <a:r>
              <a:rPr>
                <a:solidFill>
                  <a:srgbClr val="666666"/>
                </a:solidFill>
                <a:latin typeface="Courier"/>
              </a:rPr>
              <a:t>:</a:t>
            </a:r>
            <a:r>
              <a:rPr>
                <a:latin typeface="Courier"/>
              </a:rPr>
              <a:t> </a:t>
            </a:r>
            <a:r>
              <a:rPr>
                <a:solidFill>
                  <a:srgbClr val="902000"/>
                </a:solidFill>
                <a:latin typeface="Courier"/>
              </a:rPr>
              <a:t>Int</a:t>
            </a:r>
            <a:r>
              <a:rPr>
                <a:solidFill>
                  <a:srgbClr val="666666"/>
                </a:solidFill>
                <a:latin typeface="Courier"/>
              </a:rPr>
              <a:t>,</a:t>
            </a:r>
            <a:r>
              <a:rPr>
                <a:latin typeface="Courier"/>
              </a:rPr>
              <a:t>  </a:t>
            </a:r>
            <a:r>
              <a:rPr i="1">
                <a:solidFill>
                  <a:srgbClr val="60A0B0"/>
                </a:solidFill>
                <a:latin typeface="Courier"/>
              </a:rPr>
              <a:t>// verrou optimiste</a:t>
            </a:r>
            <a:br/>
            <a:r>
              <a:rPr>
                <a:solidFill>
                  <a:srgbClr val="666666"/>
                </a:solidFill>
                <a:latin typeface="Courier"/>
              </a:rPr>
              <a:t>)</a:t>
            </a:r>
            <a:br/>
            <a:br/>
            <a:r>
              <a:rPr i="1">
                <a:solidFill>
                  <a:srgbClr val="60A0B0"/>
                </a:solidFill>
                <a:latin typeface="Courier"/>
              </a:rPr>
              <a:t>// domain/event/common/model/creator/Creator.kt</a:t>
            </a:r>
            <a:br/>
            <a:r>
              <a:rPr>
                <a:latin typeface="Courier"/>
              </a:rPr>
              <a:t>@JvmInline value </a:t>
            </a:r>
            <a:r>
              <a:rPr b="1">
                <a:solidFill>
                  <a:srgbClr val="007020"/>
                </a:solidFill>
                <a:latin typeface="Courier"/>
              </a:rPr>
              <a:t>class</a:t>
            </a:r>
            <a:r>
              <a:rPr>
                <a:latin typeface="Courier"/>
              </a:rPr>
              <a:t> Creator</a:t>
            </a:r>
            <a:r>
              <a:rPr>
                <a:solidFill>
                  <a:srgbClr val="666666"/>
                </a:solidFill>
                <a:latin typeface="Courier"/>
              </a:rPr>
              <a:t>(</a:t>
            </a:r>
            <a:r>
              <a:rPr b="1">
                <a:solidFill>
                  <a:srgbClr val="007020"/>
                </a:solidFill>
                <a:latin typeface="Courier"/>
              </a:rPr>
              <a:t>val</a:t>
            </a:r>
            <a:r>
              <a:rPr>
                <a:latin typeface="Courier"/>
              </a:rPr>
              <a:t> </a:t>
            </a:r>
            <a:r>
              <a:rPr>
                <a:solidFill>
                  <a:srgbClr val="19177C"/>
                </a:solidFill>
                <a:latin typeface="Courier"/>
              </a:rPr>
              <a:t>value</a:t>
            </a:r>
            <a:r>
              <a:rPr>
                <a:solidFill>
                  <a:srgbClr val="666666"/>
                </a:solidFill>
                <a:latin typeface="Courier"/>
              </a:rPr>
              <a:t>:</a:t>
            </a:r>
            <a:r>
              <a:rPr>
                <a:latin typeface="Courier"/>
              </a:rPr>
              <a:t> </a:t>
            </a:r>
            <a:r>
              <a:rPr>
                <a:solidFill>
                  <a:srgbClr val="902000"/>
                </a:solidFill>
                <a:latin typeface="Courier"/>
              </a:rPr>
              <a:t>String</a:t>
            </a:r>
            <a:r>
              <a:rPr>
                <a:solidFill>
                  <a:srgbClr val="666666"/>
                </a:solidFill>
                <a:latin typeface="Courier"/>
              </a:rPr>
              <a:t>)</a:t>
            </a:r>
          </a:p>
          <a:p>
            <a:pPr lvl="0"/>
            <a:r>
              <a:rPr b="1">
                <a:latin typeface="Courier"/>
              </a:rPr>
              <a:t>data class</a:t>
            </a:r>
            <a:r>
              <a:rPr/>
              <a:t> : immutabilité, </a:t>
            </a:r>
            <a:r>
              <a:rPr>
                <a:latin typeface="Courier"/>
              </a:rPr>
              <a:t>equals</a:t>
            </a:r>
            <a:r>
              <a:rPr/>
              <a:t>/</a:t>
            </a:r>
            <a:r>
              <a:rPr>
                <a:latin typeface="Courier"/>
              </a:rPr>
              <a:t>hashCode</a:t>
            </a:r>
            <a:r>
              <a:rPr/>
              <a:t> automatiques, </a:t>
            </a:r>
            <a:r>
              <a:rPr>
                <a:latin typeface="Courier"/>
              </a:rPr>
              <a:t>copy</a:t>
            </a:r>
          </a:p>
          <a:p>
            <a:pPr lvl="0"/>
            <a:r>
              <a:rPr b="1"/>
              <a:t>Aucune annotation framework</a:t>
            </a:r>
            <a:r>
              <a:rPr/>
              <a:t> : pas de </a:t>
            </a:r>
            <a:r>
              <a:rPr>
                <a:latin typeface="Courier"/>
              </a:rPr>
              <a:t>@Entity</a:t>
            </a:r>
            <a:r>
              <a:rPr/>
              <a:t>, </a:t>
            </a:r>
            <a:r>
              <a:rPr>
                <a:latin typeface="Courier"/>
              </a:rPr>
              <a:t>@Column</a:t>
            </a:r>
            <a:r>
              <a:rPr/>
              <a:t> — domaine pur</a:t>
            </a:r>
          </a:p>
          <a:p>
            <a:pPr lvl="0"/>
            <a:r>
              <a:rPr b="1">
                <a:latin typeface="Courier"/>
              </a:rPr>
              <a:t>Creator</a:t>
            </a:r>
            <a:r>
              <a:rPr/>
              <a:t> = </a:t>
            </a:r>
            <a:r>
              <a:rPr>
                <a:latin typeface="Courier"/>
              </a:rPr>
              <a:t>@JvmInline value class</a:t>
            </a:r>
            <a:r>
              <a:rPr/>
              <a:t> : typage fort, zéro coût mémoire à l’exécution</a:t>
            </a:r>
          </a:p>
          <a:p>
            <a:pPr lvl="0"/>
            <a:r>
              <a:rPr b="1">
                <a:latin typeface="Courier"/>
              </a:rPr>
              <a:t>version</a:t>
            </a:r>
            <a:r>
              <a:rPr/>
              <a:t> : sémantique du verrou optimiste au niveau du modèle</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b="1">
                <a:solidFill>
                  <a:srgbClr val="3D5A6C"/>
                </a:solidFill>
              </a:rPr>
              <a:t>Gestion d’erreurs : Arrow Either</a:t>
            </a:r>
          </a:p>
        </p:txBody>
      </p:sp>
      <p:sp>
        <p:nvSpPr>
          <p:cNvPr id="4" name="Text Placeholder 3"/>
          <p:cNvSpPr>
            <a:spLocks noGrp="1"/>
          </p:cNvSpPr>
          <p:nvPr>
            <p:ph idx="2" sz="half" type="body"/>
          </p:nvPr>
        </p:nvSpPr>
        <p:spPr/>
        <p:txBody>
          <a:bodyPr/>
          <a:lstStyle/>
          <a:p>
            <a:pPr lvl="0" indent="0" marL="0">
              <a:buNone/>
            </a:pPr>
            <a:r>
              <a:rPr b="1"/>
              <a:t>Flux fonctionnel sans exceptions</a:t>
            </a:r>
          </a:p>
          <a:p>
            <a:pPr lvl="0" indent="0">
              <a:buNone/>
            </a:pPr>
            <a:r>
              <a:rPr i="1">
                <a:solidFill>
                  <a:srgbClr val="60A0B0"/>
                </a:solidFill>
                <a:latin typeface="Courier"/>
              </a:rPr>
              <a:t>// Chaque opération retourne Either&lt;Error, Success&gt;</a:t>
            </a:r>
            <a:br/>
            <a:r>
              <a:rPr b="1">
                <a:solidFill>
                  <a:srgbClr val="007020"/>
                </a:solidFill>
                <a:latin typeface="Courier"/>
              </a:rPr>
              <a:t>fun</a:t>
            </a:r>
            <a:r>
              <a:rPr>
                <a:latin typeface="Courier"/>
              </a:rPr>
              <a:t> </a:t>
            </a:r>
            <a:r>
              <a:rPr>
                <a:solidFill>
                  <a:srgbClr val="06287E"/>
                </a:solidFill>
                <a:latin typeface="Courier"/>
              </a:rPr>
              <a:t>create</a:t>
            </a:r>
            <a:r>
              <a:rPr>
                <a:solidFill>
                  <a:srgbClr val="666666"/>
                </a:solidFill>
                <a:latin typeface="Courier"/>
              </a:rPr>
              <a:t>(</a:t>
            </a:r>
            <a:r>
              <a:rPr>
                <a:solidFill>
                  <a:srgbClr val="19177C"/>
                </a:solidFill>
                <a:latin typeface="Courier"/>
              </a:rPr>
              <a:t>request</a:t>
            </a:r>
            <a:r>
              <a:rPr>
                <a:solidFill>
                  <a:srgbClr val="666666"/>
                </a:solidFill>
                <a:latin typeface="Courier"/>
              </a:rPr>
              <a:t>:</a:t>
            </a:r>
            <a:r>
              <a:rPr>
                <a:latin typeface="Courier"/>
              </a:rPr>
              <a:t> </a:t>
            </a:r>
            <a:r>
              <a:rPr>
                <a:solidFill>
                  <a:srgbClr val="902000"/>
                </a:solidFill>
                <a:latin typeface="Courier"/>
              </a:rPr>
              <a:t>CreateEventRequest</a:t>
            </a:r>
            <a:r>
              <a:rPr>
                <a:solidFill>
                  <a:srgbClr val="666666"/>
                </a:solidFill>
                <a:latin typeface="Courier"/>
              </a:rPr>
              <a:t>):</a:t>
            </a:r>
            <a:r>
              <a:rPr>
                <a:latin typeface="Courier"/>
              </a:rPr>
              <a:t> </a:t>
            </a:r>
            <a:r>
              <a:rPr>
                <a:solidFill>
                  <a:srgbClr val="902000"/>
                </a:solidFill>
                <a:latin typeface="Courier"/>
              </a:rPr>
              <a:t>Either</a:t>
            </a:r>
            <a:r>
              <a:rPr>
                <a:solidFill>
                  <a:srgbClr val="666666"/>
                </a:solidFill>
                <a:latin typeface="Courier"/>
              </a:rPr>
              <a:t>&lt;</a:t>
            </a:r>
            <a:r>
              <a:rPr>
                <a:solidFill>
                  <a:srgbClr val="902000"/>
                </a:solidFill>
                <a:latin typeface="Courier"/>
              </a:rPr>
              <a:t>CreateEventException</a:t>
            </a:r>
            <a:r>
              <a:rPr>
                <a:latin typeface="Courier"/>
              </a:rPr>
              <a:t>, </a:t>
            </a:r>
            <a:r>
              <a:rPr>
                <a:solidFill>
                  <a:srgbClr val="902000"/>
                </a:solidFill>
                <a:latin typeface="Courier"/>
              </a:rPr>
              <a:t>Event</a:t>
            </a:r>
            <a:r>
              <a:rPr>
                <a:solidFill>
                  <a:srgbClr val="666666"/>
                </a:solidFill>
                <a:latin typeface="Courier"/>
              </a:rPr>
              <a:t>&gt;</a:t>
            </a:r>
            <a:br/>
            <a:br/>
            <a:r>
              <a:rPr i="1">
                <a:solidFill>
                  <a:srgbClr val="60A0B0"/>
                </a:solidFill>
                <a:latin typeface="Courier"/>
              </a:rPr>
              <a:t>// Composition via flatMap / mapLeft</a:t>
            </a:r>
            <a:br/>
            <a:r>
              <a:rPr>
                <a:solidFill>
                  <a:srgbClr val="06287E"/>
                </a:solidFill>
                <a:latin typeface="Courier"/>
              </a:rPr>
              <a:t>eventRepository</a:t>
            </a:r>
            <a:r>
              <a:rPr>
                <a:solidFill>
                  <a:srgbClr val="666666"/>
                </a:solidFill>
                <a:latin typeface="Courier"/>
              </a:rPr>
              <a:t>.</a:t>
            </a:r>
            <a:r>
              <a:rPr>
                <a:solidFill>
                  <a:srgbClr val="06287E"/>
                </a:solidFill>
                <a:latin typeface="Courier"/>
              </a:rPr>
              <a:t>create</a:t>
            </a:r>
            <a:r>
              <a:rPr>
                <a:solidFill>
                  <a:srgbClr val="666666"/>
                </a:solidFill>
                <a:latin typeface="Courier"/>
              </a:rPr>
              <a:t>(</a:t>
            </a:r>
            <a:r>
              <a:rPr>
                <a:solidFill>
                  <a:srgbClr val="19177C"/>
                </a:solidFill>
                <a:latin typeface="Courier"/>
              </a:rPr>
              <a:t>request</a:t>
            </a:r>
            <a:r>
              <a:rPr>
                <a:solidFill>
                  <a:srgbClr val="666666"/>
                </a:solidFill>
                <a:latin typeface="Courier"/>
              </a:rPr>
              <a:t>)</a:t>
            </a:r>
            <a:r>
              <a:rPr>
                <a:latin typeface="Courier"/>
              </a:rPr>
              <a:t>          </a:t>
            </a:r>
            <a:r>
              <a:rPr i="1">
                <a:solidFill>
                  <a:srgbClr val="60A0B0"/>
                </a:solidFill>
                <a:latin typeface="Courier"/>
              </a:rPr>
              <a:t>// Either&lt;RepoError, Event&gt;</a:t>
            </a:r>
            <a:br/>
            <a:r>
              <a:rPr>
                <a:latin typeface="Courier"/>
              </a:rPr>
              <a:t>  </a:t>
            </a:r>
            <a:r>
              <a:rPr>
                <a:solidFill>
                  <a:srgbClr val="666666"/>
                </a:solidFill>
                <a:latin typeface="Courier"/>
              </a:rPr>
              <a:t>.</a:t>
            </a:r>
            <a:r>
              <a:rPr>
                <a:solidFill>
                  <a:srgbClr val="06287E"/>
                </a:solidFill>
                <a:latin typeface="Courier"/>
              </a:rPr>
              <a:t>mapLeft</a:t>
            </a:r>
            <a:r>
              <a:rPr>
                <a:latin typeface="Courier"/>
              </a:rPr>
              <a:t> </a:t>
            </a:r>
            <a:r>
              <a:rPr>
                <a:solidFill>
                  <a:srgbClr val="666666"/>
                </a:solidFill>
                <a:latin typeface="Courier"/>
              </a:rPr>
              <a:t>{</a:t>
            </a:r>
            <a:r>
              <a:rPr>
                <a:latin typeface="Courier"/>
              </a:rPr>
              <a:t> CreateEventException</a:t>
            </a:r>
            <a:r>
              <a:rPr>
                <a:solidFill>
                  <a:srgbClr val="666666"/>
                </a:solidFill>
                <a:latin typeface="Courier"/>
              </a:rPr>
              <a:t>(</a:t>
            </a:r>
            <a:r>
              <a:rPr>
                <a:latin typeface="Courier"/>
              </a:rPr>
              <a:t>it</a:t>
            </a:r>
            <a:r>
              <a:rPr>
                <a:solidFill>
                  <a:srgbClr val="666666"/>
                </a:solidFill>
                <a:latin typeface="Courier"/>
              </a:rPr>
              <a:t>)</a:t>
            </a:r>
            <a:r>
              <a:rPr>
                <a:latin typeface="Courier"/>
              </a:rPr>
              <a:t> </a:t>
            </a:r>
            <a:r>
              <a:rPr>
                <a:solidFill>
                  <a:srgbClr val="666666"/>
                </a:solidFill>
                <a:latin typeface="Courier"/>
              </a:rPr>
              <a:t>}</a:t>
            </a:r>
            <a:r>
              <a:rPr>
                <a:latin typeface="Courier"/>
              </a:rPr>
              <a:t>  </a:t>
            </a:r>
            <a:r>
              <a:rPr i="1">
                <a:solidFill>
                  <a:srgbClr val="60A0B0"/>
                </a:solidFill>
                <a:latin typeface="Courier"/>
              </a:rPr>
              <a:t>// Enveloppe l'erreur avec contexte</a:t>
            </a:r>
            <a:br/>
            <a:r>
              <a:rPr>
                <a:latin typeface="Courier"/>
              </a:rPr>
              <a:t>  </a:t>
            </a:r>
            <a:r>
              <a:rPr>
                <a:solidFill>
                  <a:srgbClr val="666666"/>
                </a:solidFill>
                <a:latin typeface="Courier"/>
              </a:rPr>
              <a:t>.</a:t>
            </a:r>
            <a:r>
              <a:rPr>
                <a:latin typeface="Courier"/>
              </a:rPr>
              <a:t>flatMap </a:t>
            </a:r>
            <a:r>
              <a:rPr>
                <a:solidFill>
                  <a:srgbClr val="666666"/>
                </a:solidFill>
                <a:latin typeface="Courier"/>
              </a:rPr>
              <a:t>{</a:t>
            </a:r>
            <a:r>
              <a:rPr>
                <a:latin typeface="Courier"/>
              </a:rPr>
              <a:t> event </a:t>
            </a:r>
            <a:r>
              <a:rPr>
                <a:solidFill>
                  <a:srgbClr val="666666"/>
                </a:solidFill>
                <a:latin typeface="Courier"/>
              </a:rPr>
              <a:t>-&gt;</a:t>
            </a:r>
            <a:r>
              <a:rPr>
                <a:latin typeface="Courier"/>
              </a:rPr>
              <a:t>                    </a:t>
            </a:r>
            <a:r>
              <a:rPr i="1">
                <a:solidFill>
                  <a:srgbClr val="60A0B0"/>
                </a:solidFill>
                <a:latin typeface="Courier"/>
              </a:rPr>
              <a:t>// Chaîne uniquement si Right (succès)</a:t>
            </a:r>
            <a:br/>
            <a:r>
              <a:rPr>
                <a:latin typeface="Courier"/>
              </a:rPr>
              <a:t>    participantRepository</a:t>
            </a:r>
            <a:r>
              <a:rPr>
                <a:solidFill>
                  <a:srgbClr val="666666"/>
                </a:solidFill>
                <a:latin typeface="Courier"/>
              </a:rPr>
              <a:t>.</a:t>
            </a:r>
            <a:r>
              <a:rPr>
                <a:latin typeface="Courier"/>
              </a:rPr>
              <a:t>create</a:t>
            </a:r>
            <a:r>
              <a:rPr>
                <a:solidFill>
                  <a:srgbClr val="666666"/>
                </a:solidFill>
                <a:latin typeface="Courier"/>
              </a:rPr>
              <a:t>(...)</a:t>
            </a:r>
            <a:br/>
            <a:r>
              <a:rPr>
                <a:latin typeface="Courier"/>
              </a:rPr>
              <a:t>      </a:t>
            </a:r>
            <a:r>
              <a:rPr>
                <a:solidFill>
                  <a:srgbClr val="666666"/>
                </a:solidFill>
                <a:latin typeface="Courier"/>
              </a:rPr>
              <a:t>.</a:t>
            </a:r>
            <a:r>
              <a:rPr>
                <a:latin typeface="Courier"/>
              </a:rPr>
              <a:t>map </a:t>
            </a:r>
            <a:r>
              <a:rPr>
                <a:solidFill>
                  <a:srgbClr val="666666"/>
                </a:solidFill>
                <a:latin typeface="Courier"/>
              </a:rPr>
              <a:t>{</a:t>
            </a:r>
            <a:r>
              <a:rPr>
                <a:latin typeface="Courier"/>
              </a:rPr>
              <a:t> event </a:t>
            </a:r>
            <a:r>
              <a:rPr>
                <a:solidFill>
                  <a:srgbClr val="666666"/>
                </a:solidFill>
                <a:latin typeface="Courier"/>
              </a:rPr>
              <a:t>}</a:t>
            </a:r>
            <a:r>
              <a:rPr>
                <a:latin typeface="Courier"/>
              </a:rPr>
              <a:t>                     </a:t>
            </a:r>
            <a:r>
              <a:rPr i="1">
                <a:solidFill>
                  <a:srgbClr val="60A0B0"/>
                </a:solidFill>
                <a:latin typeface="Courier"/>
              </a:rPr>
              <a:t>// Garde l'événement comme résultat</a:t>
            </a:r>
            <a:br/>
            <a:r>
              <a:rPr>
                <a:latin typeface="Courier"/>
              </a:rPr>
              <a:t>  </a:t>
            </a:r>
            <a:r>
              <a:rPr>
                <a:solidFill>
                  <a:srgbClr val="666666"/>
                </a:solidFill>
                <a:latin typeface="Courier"/>
              </a:rPr>
              <a:t>}</a:t>
            </a:r>
            <a:br/>
            <a:br/>
            <a:r>
              <a:rPr i="1">
                <a:solidFill>
                  <a:srgbClr val="60A0B0"/>
                </a:solidFill>
                <a:latin typeface="Courier"/>
              </a:rPr>
              <a:t>// Résolution finale via fold</a:t>
            </a:r>
            <a:br/>
            <a:r>
              <a:rPr>
                <a:latin typeface="Courier"/>
              </a:rPr>
              <a:t>result</a:t>
            </a:r>
            <a:r>
              <a:rPr>
                <a:solidFill>
                  <a:srgbClr val="666666"/>
                </a:solidFill>
                <a:latin typeface="Courier"/>
              </a:rPr>
              <a:t>.</a:t>
            </a:r>
            <a:r>
              <a:rPr>
                <a:latin typeface="Courier"/>
              </a:rPr>
              <a:t>fold</a:t>
            </a:r>
            <a:r>
              <a:rPr>
                <a:solidFill>
                  <a:srgbClr val="666666"/>
                </a:solidFill>
                <a:latin typeface="Courier"/>
              </a:rPr>
              <a:t>(</a:t>
            </a:r>
            <a:br/>
            <a:r>
              <a:rPr>
                <a:latin typeface="Courier"/>
              </a:rPr>
              <a:t>  ifLeft  </a:t>
            </a:r>
            <a:r>
              <a:rPr>
                <a:solidFill>
                  <a:srgbClr val="666666"/>
                </a:solidFill>
                <a:latin typeface="Courier"/>
              </a:rPr>
              <a:t>=</a:t>
            </a:r>
            <a:r>
              <a:rPr>
                <a:latin typeface="Courier"/>
              </a:rPr>
              <a:t> </a:t>
            </a:r>
            <a:r>
              <a:rPr>
                <a:solidFill>
                  <a:srgbClr val="666666"/>
                </a:solidFill>
                <a:latin typeface="Courier"/>
              </a:rPr>
              <a:t>{</a:t>
            </a:r>
            <a:r>
              <a:rPr>
                <a:latin typeface="Courier"/>
              </a:rPr>
              <a:t> error </a:t>
            </a:r>
            <a:r>
              <a:rPr>
                <a:solidFill>
                  <a:srgbClr val="666666"/>
                </a:solidFill>
                <a:latin typeface="Courier"/>
              </a:rPr>
              <a:t>-&gt;</a:t>
            </a:r>
            <a:r>
              <a:rPr>
                <a:latin typeface="Courier"/>
              </a:rPr>
              <a:t> call</a:t>
            </a:r>
            <a:r>
              <a:rPr>
                <a:solidFill>
                  <a:srgbClr val="666666"/>
                </a:solidFill>
                <a:latin typeface="Courier"/>
              </a:rPr>
              <a:t>.</a:t>
            </a:r>
            <a:r>
              <a:rPr>
                <a:latin typeface="Courier"/>
              </a:rPr>
              <a:t>respond</a:t>
            </a:r>
            <a:r>
              <a:rPr>
                <a:solidFill>
                  <a:srgbClr val="666666"/>
                </a:solidFill>
                <a:latin typeface="Courier"/>
              </a:rPr>
              <a:t>(</a:t>
            </a:r>
            <a:r>
              <a:rPr>
                <a:latin typeface="Courier"/>
              </a:rPr>
              <a:t>error</a:t>
            </a:r>
            <a:r>
              <a:rPr>
                <a:solidFill>
                  <a:srgbClr val="666666"/>
                </a:solidFill>
                <a:latin typeface="Courier"/>
              </a:rPr>
              <a:t>.</a:t>
            </a:r>
            <a:r>
              <a:rPr>
                <a:latin typeface="Courier"/>
              </a:rPr>
              <a:t>toHttpStatus</a:t>
            </a:r>
            <a:r>
              <a:rPr>
                <a:solidFill>
                  <a:srgbClr val="666666"/>
                </a:solidFill>
                <a:latin typeface="Courier"/>
              </a:rPr>
              <a:t>(),</a:t>
            </a:r>
            <a:r>
              <a:rPr>
                <a:latin typeface="Courier"/>
              </a:rPr>
              <a:t> error</a:t>
            </a:r>
            <a:r>
              <a:rPr>
                <a:solidFill>
                  <a:srgbClr val="666666"/>
                </a:solidFill>
                <a:latin typeface="Courier"/>
              </a:rPr>
              <a:t>.</a:t>
            </a:r>
            <a:r>
              <a:rPr>
                <a:latin typeface="Courier"/>
              </a:rPr>
              <a:t>toDto</a:t>
            </a:r>
            <a:r>
              <a:rPr>
                <a:solidFill>
                  <a:srgbClr val="666666"/>
                </a:solidFill>
                <a:latin typeface="Courier"/>
              </a:rPr>
              <a:t>())</a:t>
            </a:r>
            <a:r>
              <a:rPr>
                <a:latin typeface="Courier"/>
              </a:rPr>
              <a:t> </a:t>
            </a:r>
            <a:r>
              <a:rPr>
                <a:solidFill>
                  <a:srgbClr val="666666"/>
                </a:solidFill>
                <a:latin typeface="Courier"/>
              </a:rPr>
              <a:t>},</a:t>
            </a:r>
            <a:br/>
            <a:r>
              <a:rPr>
                <a:latin typeface="Courier"/>
              </a:rPr>
              <a:t>  ifRight </a:t>
            </a:r>
            <a:r>
              <a:rPr>
                <a:solidFill>
                  <a:srgbClr val="666666"/>
                </a:solidFill>
                <a:latin typeface="Courier"/>
              </a:rPr>
              <a:t>=</a:t>
            </a:r>
            <a:r>
              <a:rPr>
                <a:latin typeface="Courier"/>
              </a:rPr>
              <a:t> </a:t>
            </a:r>
            <a:r>
              <a:rPr>
                <a:solidFill>
                  <a:srgbClr val="666666"/>
                </a:solidFill>
                <a:latin typeface="Courier"/>
              </a:rPr>
              <a:t>{</a:t>
            </a:r>
            <a:r>
              <a:rPr>
                <a:latin typeface="Courier"/>
              </a:rPr>
              <a:t> event </a:t>
            </a:r>
            <a:r>
              <a:rPr>
                <a:solidFill>
                  <a:srgbClr val="666666"/>
                </a:solidFill>
                <a:latin typeface="Courier"/>
              </a:rPr>
              <a:t>-&gt;</a:t>
            </a:r>
            <a:r>
              <a:rPr>
                <a:latin typeface="Courier"/>
              </a:rPr>
              <a:t> call</a:t>
            </a:r>
            <a:r>
              <a:rPr>
                <a:solidFill>
                  <a:srgbClr val="666666"/>
                </a:solidFill>
                <a:latin typeface="Courier"/>
              </a:rPr>
              <a:t>.</a:t>
            </a:r>
            <a:r>
              <a:rPr>
                <a:latin typeface="Courier"/>
              </a:rPr>
              <a:t>respond</a:t>
            </a:r>
            <a:r>
              <a:rPr>
                <a:solidFill>
                  <a:srgbClr val="666666"/>
                </a:solidFill>
                <a:latin typeface="Courier"/>
              </a:rPr>
              <a:t>(</a:t>
            </a:r>
            <a:r>
              <a:rPr>
                <a:latin typeface="Courier"/>
              </a:rPr>
              <a:t>HttpStatusCode</a:t>
            </a:r>
            <a:r>
              <a:rPr>
                <a:solidFill>
                  <a:srgbClr val="666666"/>
                </a:solidFill>
                <a:latin typeface="Courier"/>
              </a:rPr>
              <a:t>.</a:t>
            </a:r>
            <a:r>
              <a:rPr>
                <a:latin typeface="Courier"/>
              </a:rPr>
              <a:t>Created</a:t>
            </a:r>
            <a:r>
              <a:rPr>
                <a:solidFill>
                  <a:srgbClr val="666666"/>
                </a:solidFill>
                <a:latin typeface="Courier"/>
              </a:rPr>
              <a:t>,</a:t>
            </a:r>
            <a:r>
              <a:rPr>
                <a:latin typeface="Courier"/>
              </a:rPr>
              <a:t> event</a:t>
            </a:r>
            <a:r>
              <a:rPr>
                <a:solidFill>
                  <a:srgbClr val="666666"/>
                </a:solidFill>
                <a:latin typeface="Courier"/>
              </a:rPr>
              <a:t>.</a:t>
            </a:r>
            <a:r>
              <a:rPr>
                <a:latin typeface="Courier"/>
              </a:rPr>
              <a:t>toDto</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p>
          <a:p>
            <a:pPr lvl="0" indent="0" marL="0">
              <a:buNone/>
            </a:pPr>
            <a:r>
              <a:rPr b="1"/>
              <a:t>Avantages vs exceptions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Either</a:t>
                      </a:r>
                    </a:p>
                  </a:txBody>
                  <a:tcPr/>
                </a:tc>
                <a:tc>
                  <a:txBody>
                    <a:bodyPr/>
                    <a:lstStyle/>
                    <a:p>
                      <a:pPr lvl="0" indent="0" marL="0">
                        <a:buNone/>
                      </a:pPr>
                      <a:r>
                        <a:rPr/>
                        <a:t>Exceptions</a:t>
                      </a:r>
                    </a:p>
                  </a:txBody>
                  <a:tcPr/>
                </a:tc>
              </a:tr>
              <a:tr h="0">
                <a:tc>
                  <a:txBody>
                    <a:bodyPr/>
                    <a:lstStyle/>
                    <a:p>
                      <a:pPr lvl="0" indent="0" marL="0">
                        <a:buNone/>
                      </a:pPr>
                      <a:r>
                        <a:rPr/>
                        <a:t>Type de retour explicite</a:t>
                      </a:r>
                    </a:p>
                  </a:txBody>
                </a:tc>
                <a:tc>
                  <a:txBody>
                    <a:bodyPr/>
                    <a:lstStyle/>
                    <a:p>
                      <a:pPr lvl="0" indent="0" marL="0">
                        <a:buNone/>
                      </a:pPr>
                      <a:r>
                        <a:rPr/>
                        <a:t>Invisible dans la signature</a:t>
                      </a:r>
                    </a:p>
                  </a:txBody>
                </a:tc>
              </a:tr>
              <a:tr h="0">
                <a:tc>
                  <a:txBody>
                    <a:bodyPr/>
                    <a:lstStyle/>
                    <a:p>
                      <a:pPr lvl="0" indent="0" marL="0">
                        <a:buNone/>
                      </a:pPr>
                      <a:r>
                        <a:rPr/>
                        <a:t>Composable (flatMap, map)</a:t>
                      </a:r>
                    </a:p>
                  </a:txBody>
                </a:tc>
                <a:tc>
                  <a:txBody>
                    <a:bodyPr/>
                    <a:lstStyle/>
                    <a:p>
                      <a:pPr lvl="0" indent="0" marL="0">
                        <a:buNone/>
                      </a:pPr>
                      <a:r>
                        <a:rPr/>
                        <a:t>try/catch imbriqués</a:t>
                      </a:r>
                    </a:p>
                  </a:txBody>
                </a:tc>
              </a:tr>
              <a:tr h="0">
                <a:tc>
                  <a:txBody>
                    <a:bodyPr/>
                    <a:lstStyle/>
                    <a:p>
                      <a:pPr lvl="0" indent="0" marL="0">
                        <a:buNone/>
                      </a:pPr>
                      <a:r>
                        <a:rPr/>
                        <a:t>Pas de coût de stack trace</a:t>
                      </a:r>
                    </a:p>
                  </a:txBody>
                </a:tc>
                <a:tc>
                  <a:txBody>
                    <a:bodyPr/>
                    <a:lstStyle/>
                    <a:p>
                      <a:pPr lvl="0" indent="0" marL="0">
                        <a:buNone/>
                      </a:pPr>
                      <a:r>
                        <a:rPr/>
                        <a:t>Stack trace coûteuse</a:t>
                      </a:r>
                    </a:p>
                  </a:txBody>
                </a:tc>
              </a:tr>
              <a:tr h="0">
                <a:tc>
                  <a:txBody>
                    <a:bodyPr/>
                    <a:lstStyle/>
                    <a:p>
                      <a:pPr lvl="0" indent="0" marL="0">
                        <a:buNone/>
                      </a:pPr>
                      <a:r>
                        <a:rPr/>
                        <a:t>Traçabilité (mapLeft enveloppe)</a:t>
                      </a:r>
                    </a:p>
                  </a:txBody>
                </a:tc>
                <a:tc>
                  <a:txBody>
                    <a:bodyPr/>
                    <a:lstStyle/>
                    <a:p>
                      <a:pPr lvl="0" indent="0" marL="0">
                        <a:buNone/>
                      </a:pPr>
                      <a:r>
                        <a:rPr/>
                        <a:t>Perte de contexte</a:t>
                      </a:r>
                    </a:p>
                  </a:txBody>
                </a:tc>
              </a:tr>
            </a:tbl>
          </a:graphicData>
        </a:graphic>
      </p:graphicFrame>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Verrou optimiste : SqlResourceRepository</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infrastructure/resource/common/driven/SqlResourceRepository.kt</a:t>
            </a:r>
            <a:br/>
            <a:br/>
            <a:r>
              <a:rPr b="1">
                <a:solidFill>
                  <a:srgbClr val="007020"/>
                </a:solidFill>
                <a:latin typeface="Courier"/>
              </a:rPr>
              <a:t>override</a:t>
            </a:r>
            <a:r>
              <a:rPr>
                <a:latin typeface="Courier"/>
              </a:rPr>
              <a:t> </a:t>
            </a:r>
            <a:r>
              <a:rPr b="1">
                <a:solidFill>
                  <a:srgbClr val="007020"/>
                </a:solidFill>
                <a:latin typeface="Courier"/>
              </a:rPr>
              <a:t>fun</a:t>
            </a:r>
            <a:r>
              <a:rPr>
                <a:latin typeface="Courier"/>
              </a:rPr>
              <a:t> </a:t>
            </a:r>
            <a:r>
              <a:rPr>
                <a:solidFill>
                  <a:srgbClr val="06287E"/>
                </a:solidFill>
                <a:latin typeface="Courier"/>
              </a:rPr>
              <a:t>updateQuantity</a:t>
            </a:r>
            <a:r>
              <a:rPr>
                <a:solidFill>
                  <a:srgbClr val="666666"/>
                </a:solidFill>
                <a:latin typeface="Courier"/>
              </a:rPr>
              <a:t>(</a:t>
            </a:r>
            <a:br/>
            <a:r>
              <a:rPr>
                <a:latin typeface="Courier"/>
              </a:rPr>
              <a:t>  </a:t>
            </a:r>
            <a:r>
              <a:rPr>
                <a:solidFill>
                  <a:srgbClr val="19177C"/>
                </a:solidFill>
                <a:latin typeface="Courier"/>
              </a:rPr>
              <a:t>resourceId</a:t>
            </a:r>
            <a:r>
              <a:rPr>
                <a:solidFill>
                  <a:srgbClr val="666666"/>
                </a:solidFill>
                <a:latin typeface="Courier"/>
              </a:rPr>
              <a:t>:</a:t>
            </a:r>
            <a:r>
              <a:rPr>
                <a:latin typeface="Courier"/>
              </a:rPr>
              <a:t> </a:t>
            </a:r>
            <a:r>
              <a:rPr>
                <a:solidFill>
                  <a:srgbClr val="902000"/>
                </a:solidFill>
                <a:latin typeface="Courier"/>
              </a:rPr>
              <a:t>UUID</a:t>
            </a:r>
            <a:r>
              <a:rPr>
                <a:solidFill>
                  <a:srgbClr val="666666"/>
                </a:solidFill>
                <a:latin typeface="Courier"/>
              </a:rPr>
              <a:t>,</a:t>
            </a:r>
            <a:r>
              <a:rPr>
                <a:latin typeface="Courier"/>
              </a:rPr>
              <a:t> </a:t>
            </a:r>
            <a:r>
              <a:rPr>
                <a:solidFill>
                  <a:srgbClr val="19177C"/>
                </a:solidFill>
                <a:latin typeface="Courier"/>
              </a:rPr>
              <a:t>quantityDelta</a:t>
            </a:r>
            <a:r>
              <a:rPr>
                <a:solidFill>
                  <a:srgbClr val="666666"/>
                </a:solidFill>
                <a:latin typeface="Courier"/>
              </a:rPr>
              <a:t>:</a:t>
            </a:r>
            <a:r>
              <a:rPr>
                <a:latin typeface="Courier"/>
              </a:rPr>
              <a:t> </a:t>
            </a:r>
            <a:r>
              <a:rPr>
                <a:solidFill>
                  <a:srgbClr val="902000"/>
                </a:solidFill>
                <a:latin typeface="Courier"/>
              </a:rPr>
              <a:t>Int</a:t>
            </a:r>
            <a:r>
              <a:rPr>
                <a:solidFill>
                  <a:srgbClr val="666666"/>
                </a:solidFill>
                <a:latin typeface="Courier"/>
              </a:rPr>
              <a:t>,</a:t>
            </a:r>
            <a:r>
              <a:rPr>
                <a:latin typeface="Courier"/>
              </a:rPr>
              <a:t> </a:t>
            </a:r>
            <a:r>
              <a:rPr>
                <a:solidFill>
                  <a:srgbClr val="19177C"/>
                </a:solidFill>
                <a:latin typeface="Courier"/>
              </a:rPr>
              <a:t>expectedVersion</a:t>
            </a:r>
            <a:r>
              <a:rPr>
                <a:solidFill>
                  <a:srgbClr val="666666"/>
                </a:solidFill>
                <a:latin typeface="Courier"/>
              </a:rPr>
              <a:t>:</a:t>
            </a:r>
            <a:r>
              <a:rPr>
                <a:latin typeface="Courier"/>
              </a:rPr>
              <a:t> </a:t>
            </a:r>
            <a:r>
              <a:rPr>
                <a:solidFill>
                  <a:srgbClr val="902000"/>
                </a:solidFill>
                <a:latin typeface="Courier"/>
              </a:rPr>
              <a:t>Int</a:t>
            </a:r>
            <a:r>
              <a:rPr>
                <a:solidFill>
                  <a:srgbClr val="666666"/>
                </a:solidFill>
                <a:latin typeface="Courier"/>
              </a:rPr>
              <a:t>,</a:t>
            </a:r>
            <a:br/>
            <a:r>
              <a:rPr>
                <a:solidFill>
                  <a:srgbClr val="666666"/>
                </a:solidFill>
                <a:latin typeface="Courier"/>
              </a:rPr>
              <a:t>):</a:t>
            </a:r>
            <a:r>
              <a:rPr>
                <a:latin typeface="Courier"/>
              </a:rPr>
              <a:t> </a:t>
            </a:r>
            <a:r>
              <a:rPr>
                <a:solidFill>
                  <a:srgbClr val="902000"/>
                </a:solidFill>
                <a:latin typeface="Courier"/>
              </a:rPr>
              <a:t>Either</a:t>
            </a:r>
            <a:r>
              <a:rPr>
                <a:solidFill>
                  <a:srgbClr val="666666"/>
                </a:solidFill>
                <a:latin typeface="Courier"/>
              </a:rPr>
              <a:t>&lt;</a:t>
            </a:r>
            <a:r>
              <a:rPr>
                <a:solidFill>
                  <a:srgbClr val="902000"/>
                </a:solidFill>
                <a:latin typeface="Courier"/>
              </a:rPr>
              <a:t>GetResourceRepositoryException</a:t>
            </a:r>
            <a:r>
              <a:rPr>
                <a:latin typeface="Courier"/>
              </a:rPr>
              <a:t>, </a:t>
            </a:r>
            <a:r>
              <a:rPr>
                <a:solidFill>
                  <a:srgbClr val="902000"/>
                </a:solidFill>
                <a:latin typeface="Courier"/>
              </a:rPr>
              <a:t>Resource</a:t>
            </a:r>
            <a:r>
              <a:rPr>
                <a:solidFill>
                  <a:srgbClr val="666666"/>
                </a:solidFill>
                <a:latin typeface="Courier"/>
              </a:rPr>
              <a:t>&gt;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Either</a:t>
            </a:r>
            <a:r>
              <a:rPr>
                <a:solidFill>
                  <a:srgbClr val="666666"/>
                </a:solidFill>
                <a:latin typeface="Courier"/>
              </a:rPr>
              <a:t>.</a:t>
            </a:r>
            <a:r>
              <a:rPr b="1">
                <a:solidFill>
                  <a:srgbClr val="007020"/>
                </a:solidFill>
                <a:latin typeface="Courier"/>
              </a:rPr>
              <a:t>catch</a:t>
            </a:r>
            <a:r>
              <a:rPr>
                <a:latin typeface="Courier"/>
              </a:rPr>
              <a:t> </a:t>
            </a:r>
            <a:r>
              <a:rPr>
                <a:solidFill>
                  <a:srgbClr val="666666"/>
                </a:solidFill>
                <a:latin typeface="Courier"/>
              </a:rPr>
              <a:t>{</a:t>
            </a:r>
            <a:br/>
            <a:r>
              <a:rPr>
                <a:latin typeface="Courier"/>
              </a:rPr>
              <a:t>    transaction</a:t>
            </a:r>
            <a:r>
              <a:rPr>
                <a:solidFill>
                  <a:srgbClr val="666666"/>
                </a:solidFill>
                <a:latin typeface="Courier"/>
              </a:rPr>
              <a:t>(</a:t>
            </a:r>
            <a:r>
              <a:rPr>
                <a:latin typeface="Courier"/>
              </a:rPr>
              <a:t>exposedDatabase</a:t>
            </a:r>
            <a:r>
              <a:rPr>
                <a:solidFill>
                  <a:srgbClr val="666666"/>
                </a:solidFill>
                <a:latin typeface="Courier"/>
              </a:rPr>
              <a:t>.</a:t>
            </a:r>
            <a:r>
              <a:rPr>
                <a:latin typeface="Courier"/>
              </a:rPr>
              <a:t>database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val</a:t>
            </a:r>
            <a:r>
              <a:rPr>
                <a:latin typeface="Courier"/>
              </a:rPr>
              <a:t> </a:t>
            </a:r>
            <a:r>
              <a:rPr>
                <a:solidFill>
                  <a:srgbClr val="19177C"/>
                </a:solidFill>
                <a:latin typeface="Courier"/>
              </a:rPr>
              <a:t>currentResource</a:t>
            </a:r>
            <a:r>
              <a:rPr>
                <a:latin typeface="Courier"/>
              </a:rPr>
              <a:t> </a:t>
            </a:r>
            <a:r>
              <a:rPr>
                <a:solidFill>
                  <a:srgbClr val="666666"/>
                </a:solidFill>
                <a:latin typeface="Courier"/>
              </a:rPr>
              <a:t>=</a:t>
            </a:r>
            <a:r>
              <a:rPr>
                <a:latin typeface="Courier"/>
              </a:rPr>
              <a:t> ResourceTable</a:t>
            </a:r>
            <a:br/>
            <a:r>
              <a:rPr>
                <a:latin typeface="Courier"/>
              </a:rPr>
              <a:t>        </a:t>
            </a:r>
            <a:r>
              <a:rPr>
                <a:solidFill>
                  <a:srgbClr val="666666"/>
                </a:solidFill>
                <a:latin typeface="Courier"/>
              </a:rPr>
              <a:t>.</a:t>
            </a:r>
            <a:r>
              <a:rPr>
                <a:latin typeface="Courier"/>
              </a:rPr>
              <a:t>selectAll</a:t>
            </a:r>
            <a:r>
              <a:rPr>
                <a:solidFill>
                  <a:srgbClr val="666666"/>
                </a:solidFill>
                <a:latin typeface="Courier"/>
              </a:rPr>
              <a:t>().</a:t>
            </a:r>
            <a:r>
              <a:rPr b="1">
                <a:solidFill>
                  <a:srgbClr val="007020"/>
                </a:solidFill>
                <a:latin typeface="Courier"/>
              </a:rPr>
              <a:t>where</a:t>
            </a:r>
            <a:r>
              <a:rPr>
                <a:latin typeface="Courier"/>
              </a:rPr>
              <a:t> </a:t>
            </a:r>
            <a:r>
              <a:rPr>
                <a:solidFill>
                  <a:srgbClr val="666666"/>
                </a:solidFill>
                <a:latin typeface="Courier"/>
              </a:rPr>
              <a:t>{</a:t>
            </a:r>
            <a:br/>
            <a:r>
              <a:rPr>
                <a:latin typeface="Courier"/>
              </a:rPr>
              <a:t>          </a:t>
            </a:r>
            <a:r>
              <a:rPr>
                <a:solidFill>
                  <a:srgbClr val="666666"/>
                </a:solidFill>
                <a:latin typeface="Courier"/>
              </a:rPr>
              <a:t>(</a:t>
            </a:r>
            <a:r>
              <a:rPr>
                <a:latin typeface="Courier"/>
              </a:rPr>
              <a:t>ResourceTable</a:t>
            </a:r>
            <a:r>
              <a:rPr>
                <a:solidFill>
                  <a:srgbClr val="666666"/>
                </a:solidFill>
                <a:latin typeface="Courier"/>
              </a:rPr>
              <a:t>.</a:t>
            </a:r>
            <a:r>
              <a:rPr>
                <a:latin typeface="Courier"/>
              </a:rPr>
              <a:t>id eq resourceId</a:t>
            </a:r>
            <a:r>
              <a:rPr>
                <a:solidFill>
                  <a:srgbClr val="666666"/>
                </a:solidFill>
                <a:latin typeface="Courier"/>
              </a:rPr>
              <a:t>)</a:t>
            </a:r>
            <a:r>
              <a:rPr>
                <a:latin typeface="Courier"/>
              </a:rPr>
              <a:t> and</a:t>
            </a:r>
            <a:br/>
            <a:r>
              <a:rPr>
                <a:latin typeface="Courier"/>
              </a:rPr>
              <a:t>            </a:t>
            </a:r>
            <a:r>
              <a:rPr>
                <a:solidFill>
                  <a:srgbClr val="666666"/>
                </a:solidFill>
                <a:latin typeface="Courier"/>
              </a:rPr>
              <a:t>(</a:t>
            </a:r>
            <a:r>
              <a:rPr>
                <a:latin typeface="Courier"/>
              </a:rPr>
              <a:t>ResourceTable</a:t>
            </a:r>
            <a:r>
              <a:rPr>
                <a:solidFill>
                  <a:srgbClr val="666666"/>
                </a:solidFill>
                <a:latin typeface="Courier"/>
              </a:rPr>
              <a:t>.</a:t>
            </a:r>
            <a:r>
              <a:rPr>
                <a:latin typeface="Courier"/>
              </a:rPr>
              <a:t>version eq expectedVersion</a:t>
            </a:r>
            <a:r>
              <a:rPr>
                <a:solidFill>
                  <a:srgbClr val="666666"/>
                </a:solidFill>
                <a:latin typeface="Courier"/>
              </a:rPr>
              <a:t>)</a:t>
            </a:r>
            <a:br/>
            <a:r>
              <a:rPr>
                <a:latin typeface="Courier"/>
              </a:rPr>
              <a:t>        </a:t>
            </a:r>
            <a:r>
              <a:rPr>
                <a:solidFill>
                  <a:srgbClr val="666666"/>
                </a:solidFill>
                <a:latin typeface="Courier"/>
              </a:rPr>
              <a:t>}.</a:t>
            </a:r>
            <a:r>
              <a:rPr>
                <a:latin typeface="Courier"/>
              </a:rPr>
              <a:t>singleOrNull</a:t>
            </a:r>
            <a:r>
              <a:rPr>
                <a:solidFill>
                  <a:srgbClr val="666666"/>
                </a:solidFill>
                <a:latin typeface="Courier"/>
              </a:rPr>
              <a:t>()</a:t>
            </a:r>
            <a:b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currentResource </a:t>
            </a:r>
            <a:r>
              <a:rPr>
                <a:solidFill>
                  <a:srgbClr val="666666"/>
                </a:solidFill>
                <a:latin typeface="Courier"/>
              </a:rPr>
              <a:t>==</a:t>
            </a:r>
            <a:r>
              <a:rPr>
                <a:latin typeface="Courier"/>
              </a:rPr>
              <a:t> </a:t>
            </a:r>
            <a:r>
              <a:rPr b="1">
                <a:solidFill>
                  <a:srgbClr val="007020"/>
                </a:solidFill>
                <a:latin typeface="Courier"/>
              </a:rPr>
              <a:t>null</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val</a:t>
            </a:r>
            <a:r>
              <a:rPr>
                <a:latin typeface="Courier"/>
              </a:rPr>
              <a:t> </a:t>
            </a:r>
            <a:r>
              <a:rPr>
                <a:solidFill>
                  <a:srgbClr val="19177C"/>
                </a:solidFill>
                <a:latin typeface="Courier"/>
              </a:rPr>
              <a:t>exists</a:t>
            </a:r>
            <a:r>
              <a:rPr>
                <a:latin typeface="Courier"/>
              </a:rPr>
              <a:t> </a:t>
            </a:r>
            <a:r>
              <a:rPr>
                <a:solidFill>
                  <a:srgbClr val="666666"/>
                </a:solidFill>
                <a:latin typeface="Courier"/>
              </a:rPr>
              <a:t>=</a:t>
            </a:r>
            <a:r>
              <a:rPr>
                <a:latin typeface="Courier"/>
              </a:rPr>
              <a:t> ResourceTable</a:t>
            </a:r>
            <a:r>
              <a:rPr>
                <a:solidFill>
                  <a:srgbClr val="666666"/>
                </a:solidFill>
                <a:latin typeface="Courier"/>
              </a:rPr>
              <a:t>.</a:t>
            </a:r>
            <a:r>
              <a:rPr>
                <a:latin typeface="Courier"/>
              </a:rPr>
              <a:t>selectAll</a:t>
            </a:r>
            <a:r>
              <a:rPr>
                <a:solidFill>
                  <a:srgbClr val="666666"/>
                </a:solidFill>
                <a:latin typeface="Courier"/>
              </a:rPr>
              <a:t>()</a:t>
            </a:r>
            <a:br/>
            <a:r>
              <a:rPr>
                <a:latin typeface="Courier"/>
              </a:rPr>
              <a:t>          </a:t>
            </a:r>
            <a:r>
              <a:rPr>
                <a:solidFill>
                  <a:srgbClr val="666666"/>
                </a:solidFill>
                <a:latin typeface="Courier"/>
              </a:rPr>
              <a:t>.</a:t>
            </a:r>
            <a:r>
              <a:rPr b="1">
                <a:solidFill>
                  <a:srgbClr val="007020"/>
                </a:solidFill>
                <a:latin typeface="Courier"/>
              </a:rPr>
              <a:t>where</a:t>
            </a:r>
            <a:r>
              <a:rPr>
                <a:latin typeface="Courier"/>
              </a:rPr>
              <a:t> </a:t>
            </a:r>
            <a:r>
              <a:rPr>
                <a:solidFill>
                  <a:srgbClr val="666666"/>
                </a:solidFill>
                <a:latin typeface="Courier"/>
              </a:rPr>
              <a:t>{</a:t>
            </a:r>
            <a:r>
              <a:rPr>
                <a:latin typeface="Courier"/>
              </a:rPr>
              <a:t> ResourceTable</a:t>
            </a:r>
            <a:r>
              <a:rPr>
                <a:solidFill>
                  <a:srgbClr val="666666"/>
                </a:solidFill>
                <a:latin typeface="Courier"/>
              </a:rPr>
              <a:t>.</a:t>
            </a:r>
            <a:r>
              <a:rPr>
                <a:latin typeface="Courier"/>
              </a:rPr>
              <a:t>id eq resourceId </a:t>
            </a:r>
            <a:r>
              <a:rPr>
                <a:solidFill>
                  <a:srgbClr val="666666"/>
                </a:solidFill>
                <a:latin typeface="Courier"/>
              </a:rPr>
              <a:t>}.</a:t>
            </a:r>
            <a:r>
              <a:rPr>
                <a:latin typeface="Courier"/>
              </a:rPr>
              <a:t>singleOrNull</a:t>
            </a:r>
            <a:r>
              <a:rPr>
                <a:solidFill>
                  <a:srgbClr val="666666"/>
                </a:solidFill>
                <a:latin typeface="Courier"/>
              </a:rPr>
              <a:t>()</a:t>
            </a: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exists </a:t>
            </a:r>
            <a:r>
              <a:rPr>
                <a:solidFill>
                  <a:srgbClr val="666666"/>
                </a:solidFill>
                <a:latin typeface="Courier"/>
              </a:rPr>
              <a:t>==</a:t>
            </a:r>
            <a:r>
              <a:rPr>
                <a:latin typeface="Courier"/>
              </a:rPr>
              <a:t> </a:t>
            </a:r>
            <a:r>
              <a:rPr b="1">
                <a:solidFill>
                  <a:srgbClr val="007020"/>
                </a:solidFill>
                <a:latin typeface="Courier"/>
              </a:rPr>
              <a:t>null</a:t>
            </a:r>
            <a:r>
              <a:rPr>
                <a:solidFill>
                  <a:srgbClr val="666666"/>
                </a:solidFill>
                <a:latin typeface="Courier"/>
              </a:rPr>
              <a:t>)</a:t>
            </a:r>
            <a:r>
              <a:rPr>
                <a:latin typeface="Courier"/>
              </a:rPr>
              <a:t> </a:t>
            </a:r>
            <a:r>
              <a:rPr b="1">
                <a:solidFill>
                  <a:srgbClr val="007020"/>
                </a:solidFill>
                <a:latin typeface="Courier"/>
              </a:rPr>
              <a:t>throw</a:t>
            </a:r>
            <a:r>
              <a:rPr>
                <a:latin typeface="Courier"/>
              </a:rPr>
              <a:t> ResourceNotFoundException</a:t>
            </a:r>
            <a:r>
              <a:rPr>
                <a:solidFill>
                  <a:srgbClr val="666666"/>
                </a:solidFill>
                <a:latin typeface="Courier"/>
              </a:rPr>
              <a:t>(</a:t>
            </a:r>
            <a:r>
              <a:rPr>
                <a:latin typeface="Courier"/>
              </a:rPr>
              <a:t>resourceId</a:t>
            </a:r>
            <a:r>
              <a:rPr>
                <a:solidFill>
                  <a:srgbClr val="666666"/>
                </a:solidFill>
                <a:latin typeface="Courier"/>
              </a:rPr>
              <a:t>)</a:t>
            </a:r>
            <a:br/>
            <a:r>
              <a:rPr>
                <a:latin typeface="Courier"/>
              </a:rPr>
              <a:t>        </a:t>
            </a:r>
            <a:r>
              <a:rPr b="1">
                <a:solidFill>
                  <a:srgbClr val="007020"/>
                </a:solidFill>
                <a:latin typeface="Courier"/>
              </a:rPr>
              <a:t>else</a:t>
            </a:r>
            <a:r>
              <a:rPr>
                <a:latin typeface="Courier"/>
              </a:rPr>
              <a:t> </a:t>
            </a:r>
            <a:r>
              <a:rPr b="1">
                <a:solidFill>
                  <a:srgbClr val="007020"/>
                </a:solidFill>
                <a:latin typeface="Courier"/>
              </a:rPr>
              <a:t>throw</a:t>
            </a:r>
            <a:r>
              <a:rPr>
                <a:latin typeface="Courier"/>
              </a:rPr>
              <a:t> OptimisticLockException</a:t>
            </a:r>
            <a:r>
              <a:rPr>
                <a:solidFill>
                  <a:srgbClr val="666666"/>
                </a:solidFill>
                <a:latin typeface="Courier"/>
              </a:rPr>
              <a:t>(</a:t>
            </a:r>
            <a:r>
              <a:rPr>
                <a:latin typeface="Courier"/>
              </a:rPr>
              <a:t>resourceId</a:t>
            </a:r>
            <a:r>
              <a:rPr>
                <a:solidFill>
                  <a:srgbClr val="666666"/>
                </a:solidFill>
                <a:latin typeface="Courier"/>
              </a:rPr>
              <a:t>,</a:t>
            </a:r>
            <a:r>
              <a:rPr>
                <a:latin typeface="Courier"/>
              </a:rPr>
              <a:t> expectedVersion</a:t>
            </a:r>
            <a:r>
              <a:rPr>
                <a:solidFill>
                  <a:srgbClr val="666666"/>
                </a:solidFill>
                <a:latin typeface="Courier"/>
              </a:rPr>
              <a:t>)</a:t>
            </a:r>
            <a:br/>
            <a:r>
              <a:rPr i="1">
                <a:solidFill>
                  <a:srgbClr val="60A0B0"/>
                </a:solidFill>
                <a:latin typeface="Courier"/>
              </a:rPr>
              <a:t>// ...</a:t>
            </a:r>
          </a:p>
          <a:p>
            <a:pPr lvl="0"/>
            <a:r>
              <a:rPr b="1"/>
              <a:t>Double vérification</a:t>
            </a:r>
            <a:r>
              <a:rPr/>
              <a:t> : version check à la lecture ET à l’écriture</a:t>
            </a:r>
          </a:p>
          <a:p>
            <a:pPr lvl="0"/>
            <a:r>
              <a:rPr b="1"/>
              <a:t>Pas de verrou SQL</a:t>
            </a:r>
            <a:r>
              <a:rPr/>
              <a:t> (</a:t>
            </a:r>
            <a:r>
              <a:rPr>
                <a:latin typeface="Courier"/>
              </a:rPr>
              <a:t>SELECT FOR UPDATE</a:t>
            </a:r>
            <a:r>
              <a:rPr/>
              <a:t>) : meilleure performance</a:t>
            </a:r>
          </a:p>
          <a:p>
            <a:pPr lvl="0"/>
            <a:r>
              <a:rPr b="1">
                <a:latin typeface="Courier"/>
              </a:rPr>
              <a:t>OptimisticLockException</a:t>
            </a:r>
            <a:r>
              <a:rPr/>
              <a:t> → 409 Conflict côté client</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Table Exposed : ContributionTable</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infrastructure/contribution/common/driven/ContributionTable.kt</a:t>
            </a:r>
            <a:br/>
            <a:br/>
            <a:r>
              <a:rPr b="1">
                <a:solidFill>
                  <a:srgbClr val="007020"/>
                </a:solidFill>
                <a:latin typeface="Courier"/>
              </a:rPr>
              <a:t>object</a:t>
            </a:r>
            <a:r>
              <a:rPr>
                <a:latin typeface="Courier"/>
              </a:rPr>
              <a:t> ContributionTable </a:t>
            </a:r>
            <a:r>
              <a:rPr>
                <a:solidFill>
                  <a:srgbClr val="666666"/>
                </a:solidFill>
                <a:latin typeface="Courier"/>
              </a:rPr>
              <a:t>:</a:t>
            </a:r>
            <a:r>
              <a:rPr>
                <a:latin typeface="Courier"/>
              </a:rPr>
              <a:t> </a:t>
            </a:r>
            <a:r>
              <a:rPr>
                <a:solidFill>
                  <a:srgbClr val="902000"/>
                </a:solidFill>
                <a:latin typeface="Courier"/>
              </a:rPr>
              <a:t>UUIDTable</a:t>
            </a:r>
            <a:r>
              <a:rPr>
                <a:solidFill>
                  <a:srgbClr val="666666"/>
                </a:solidFill>
                <a:latin typeface="Courier"/>
              </a:rPr>
              <a:t>(</a:t>
            </a:r>
            <a:r>
              <a:rPr>
                <a:latin typeface="Courier"/>
              </a:rPr>
              <a:t>"</a:t>
            </a:r>
            <a:r>
              <a:rPr>
                <a:solidFill>
                  <a:srgbClr val="19177C"/>
                </a:solidFill>
                <a:latin typeface="Courier"/>
              </a:rPr>
              <a:t>configuration</a:t>
            </a:r>
            <a:r>
              <a:rPr>
                <a:latin typeface="Courier"/>
              </a:rPr>
              <a:t>.</a:t>
            </a:r>
            <a:r>
              <a:rPr>
                <a:solidFill>
                  <a:srgbClr val="19177C"/>
                </a:solidFill>
                <a:latin typeface="Courier"/>
              </a:rPr>
              <a:t>contribution</a:t>
            </a:r>
            <a:r>
              <a:rPr>
                <a:latin typeface="Courier"/>
              </a:rPr>
              <a:t>"</a:t>
            </a:r>
            <a:r>
              <a:rPr>
                <a:solidFill>
                  <a:srgbClr val="666666"/>
                </a:solidFill>
                <a:latin typeface="Courier"/>
              </a:rPr>
              <a:t>,</a:t>
            </a:r>
            <a:r>
              <a:rPr>
                <a:latin typeface="Courier"/>
              </a:rPr>
              <a:t> "</a:t>
            </a:r>
            <a:r>
              <a:rPr>
                <a:solidFill>
                  <a:srgbClr val="19177C"/>
                </a:solidFill>
                <a:latin typeface="Courier"/>
              </a:rPr>
              <a:t>id</a:t>
            </a:r>
            <a:r>
              <a:rPr>
                <a:latin typeface="Courier"/>
              </a:rPr>
              <a:t>"</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val</a:t>
            </a:r>
            <a:r>
              <a:rPr>
                <a:latin typeface="Courier"/>
              </a:rPr>
              <a:t> </a:t>
            </a:r>
            <a:r>
              <a:rPr>
                <a:solidFill>
                  <a:srgbClr val="19177C"/>
                </a:solidFill>
                <a:latin typeface="Courier"/>
              </a:rPr>
              <a:t>participantId</a:t>
            </a:r>
            <a:r>
              <a:rPr>
                <a:latin typeface="Courier"/>
              </a:rPr>
              <a:t> </a:t>
            </a:r>
            <a:r>
              <a:rPr>
                <a:solidFill>
                  <a:srgbClr val="666666"/>
                </a:solidFill>
                <a:latin typeface="Courier"/>
              </a:rPr>
              <a:t>=</a:t>
            </a:r>
            <a:r>
              <a:rPr>
                <a:latin typeface="Courier"/>
              </a:rPr>
              <a:t> uuid</a:t>
            </a:r>
            <a:r>
              <a:rPr>
                <a:solidFill>
                  <a:srgbClr val="666666"/>
                </a:solidFill>
                <a:latin typeface="Courier"/>
              </a:rPr>
              <a:t>(</a:t>
            </a:r>
            <a:r>
              <a:rPr>
                <a:solidFill>
                  <a:srgbClr val="4070A0"/>
                </a:solidFill>
                <a:latin typeface="Courier"/>
              </a:rPr>
              <a:t>"participant_id"</a:t>
            </a:r>
            <a:r>
              <a:rPr>
                <a:solidFill>
                  <a:srgbClr val="666666"/>
                </a:solidFill>
                <a:latin typeface="Courier"/>
              </a:rPr>
              <a:t>).</a:t>
            </a:r>
            <a:r>
              <a:rPr>
                <a:latin typeface="Courier"/>
              </a:rPr>
              <a:t>references</a:t>
            </a:r>
            <a:r>
              <a:rPr>
                <a:solidFill>
                  <a:srgbClr val="666666"/>
                </a:solidFill>
                <a:latin typeface="Courier"/>
              </a:rPr>
              <a:t>(</a:t>
            </a:r>
            <a:r>
              <a:rPr>
                <a:latin typeface="Courier"/>
              </a:rPr>
              <a:t>ParticipantTable</a:t>
            </a:r>
            <a:r>
              <a:rPr>
                <a:solidFill>
                  <a:srgbClr val="666666"/>
                </a:solidFill>
                <a:latin typeface="Courier"/>
              </a:rPr>
              <a:t>.</a:t>
            </a:r>
            <a:r>
              <a:rPr>
                <a:latin typeface="Courier"/>
              </a:rPr>
              <a:t>id</a:t>
            </a:r>
            <a:r>
              <a:rPr>
                <a:solidFill>
                  <a:srgbClr val="666666"/>
                </a:solidFill>
                <a:latin typeface="Courier"/>
              </a:rPr>
              <a:t>)</a:t>
            </a:r>
            <a:br/>
            <a:r>
              <a:rPr>
                <a:latin typeface="Courier"/>
              </a:rPr>
              <a:t>  </a:t>
            </a:r>
            <a:r>
              <a:rPr b="1">
                <a:solidFill>
                  <a:srgbClr val="007020"/>
                </a:solidFill>
                <a:latin typeface="Courier"/>
              </a:rPr>
              <a:t>val</a:t>
            </a:r>
            <a:r>
              <a:rPr>
                <a:latin typeface="Courier"/>
              </a:rPr>
              <a:t> </a:t>
            </a:r>
            <a:r>
              <a:rPr>
                <a:solidFill>
                  <a:srgbClr val="19177C"/>
                </a:solidFill>
                <a:latin typeface="Courier"/>
              </a:rPr>
              <a:t>resourceId</a:t>
            </a:r>
            <a:r>
              <a:rPr>
                <a:latin typeface="Courier"/>
              </a:rPr>
              <a:t> </a:t>
            </a:r>
            <a:r>
              <a:rPr>
                <a:solidFill>
                  <a:srgbClr val="666666"/>
                </a:solidFill>
                <a:latin typeface="Courier"/>
              </a:rPr>
              <a:t>=</a:t>
            </a:r>
            <a:r>
              <a:rPr>
                <a:latin typeface="Courier"/>
              </a:rPr>
              <a:t> uuid</a:t>
            </a:r>
            <a:r>
              <a:rPr>
                <a:solidFill>
                  <a:srgbClr val="666666"/>
                </a:solidFill>
                <a:latin typeface="Courier"/>
              </a:rPr>
              <a:t>(</a:t>
            </a:r>
            <a:r>
              <a:rPr>
                <a:solidFill>
                  <a:srgbClr val="4070A0"/>
                </a:solidFill>
                <a:latin typeface="Courier"/>
              </a:rPr>
              <a:t>"resource_id"</a:t>
            </a:r>
            <a:r>
              <a:rPr>
                <a:solidFill>
                  <a:srgbClr val="666666"/>
                </a:solidFill>
                <a:latin typeface="Courier"/>
              </a:rPr>
              <a:t>).</a:t>
            </a:r>
            <a:r>
              <a:rPr>
                <a:latin typeface="Courier"/>
              </a:rPr>
              <a:t>references</a:t>
            </a:r>
            <a:r>
              <a:rPr>
                <a:solidFill>
                  <a:srgbClr val="666666"/>
                </a:solidFill>
                <a:latin typeface="Courier"/>
              </a:rPr>
              <a:t>(</a:t>
            </a:r>
            <a:r>
              <a:rPr>
                <a:latin typeface="Courier"/>
              </a:rPr>
              <a:t>ResourceTable</a:t>
            </a:r>
            <a:r>
              <a:rPr>
                <a:solidFill>
                  <a:srgbClr val="666666"/>
                </a:solidFill>
                <a:latin typeface="Courier"/>
              </a:rPr>
              <a:t>.</a:t>
            </a:r>
            <a:r>
              <a:rPr>
                <a:latin typeface="Courier"/>
              </a:rPr>
              <a:t>id</a:t>
            </a:r>
            <a:r>
              <a:rPr>
                <a:solidFill>
                  <a:srgbClr val="666666"/>
                </a:solidFill>
                <a:latin typeface="Courier"/>
              </a:rPr>
              <a:t>)</a:t>
            </a:r>
            <a:br/>
            <a:r>
              <a:rPr>
                <a:latin typeface="Courier"/>
              </a:rPr>
              <a:t>  </a:t>
            </a:r>
            <a:r>
              <a:rPr b="1">
                <a:solidFill>
                  <a:srgbClr val="007020"/>
                </a:solidFill>
                <a:latin typeface="Courier"/>
              </a:rPr>
              <a:t>val</a:t>
            </a:r>
            <a:r>
              <a:rPr>
                <a:latin typeface="Courier"/>
              </a:rPr>
              <a:t> </a:t>
            </a:r>
            <a:r>
              <a:rPr>
                <a:solidFill>
                  <a:srgbClr val="19177C"/>
                </a:solidFill>
                <a:latin typeface="Courier"/>
              </a:rPr>
              <a:t>quantity</a:t>
            </a:r>
            <a:r>
              <a:rPr>
                <a:latin typeface="Courier"/>
              </a:rPr>
              <a:t> </a:t>
            </a:r>
            <a:r>
              <a:rPr>
                <a:solidFill>
                  <a:srgbClr val="666666"/>
                </a:solidFill>
                <a:latin typeface="Courier"/>
              </a:rPr>
              <a:t>=</a:t>
            </a:r>
            <a:r>
              <a:rPr>
                <a:latin typeface="Courier"/>
              </a:rPr>
              <a:t> integer</a:t>
            </a:r>
            <a:r>
              <a:rPr>
                <a:solidFill>
                  <a:srgbClr val="666666"/>
                </a:solidFill>
                <a:latin typeface="Courier"/>
              </a:rPr>
              <a:t>(</a:t>
            </a:r>
            <a:r>
              <a:rPr>
                <a:solidFill>
                  <a:srgbClr val="4070A0"/>
                </a:solidFill>
                <a:latin typeface="Courier"/>
              </a:rPr>
              <a:t>"quantity"</a:t>
            </a:r>
            <a:r>
              <a:rPr>
                <a:solidFill>
                  <a:srgbClr val="666666"/>
                </a:solidFill>
                <a:latin typeface="Courier"/>
              </a:rPr>
              <a:t>)</a:t>
            </a:r>
            <a:br/>
            <a:r>
              <a:rPr>
                <a:latin typeface="Courier"/>
              </a:rPr>
              <a:t>  </a:t>
            </a:r>
            <a:r>
              <a:rPr b="1">
                <a:solidFill>
                  <a:srgbClr val="007020"/>
                </a:solidFill>
                <a:latin typeface="Courier"/>
              </a:rPr>
              <a:t>val</a:t>
            </a:r>
            <a:r>
              <a:rPr>
                <a:latin typeface="Courier"/>
              </a:rPr>
              <a:t> </a:t>
            </a:r>
            <a:r>
              <a:rPr>
                <a:solidFill>
                  <a:srgbClr val="19177C"/>
                </a:solidFill>
                <a:latin typeface="Courier"/>
              </a:rPr>
              <a:t>createdAt</a:t>
            </a:r>
            <a:r>
              <a:rPr>
                <a:latin typeface="Courier"/>
              </a:rPr>
              <a:t> </a:t>
            </a:r>
            <a:r>
              <a:rPr>
                <a:solidFill>
                  <a:srgbClr val="666666"/>
                </a:solidFill>
                <a:latin typeface="Courier"/>
              </a:rPr>
              <a:t>=</a:t>
            </a:r>
            <a:r>
              <a:rPr>
                <a:latin typeface="Courier"/>
              </a:rPr>
              <a:t> timestamp</a:t>
            </a:r>
            <a:r>
              <a:rPr>
                <a:solidFill>
                  <a:srgbClr val="666666"/>
                </a:solidFill>
                <a:latin typeface="Courier"/>
              </a:rPr>
              <a:t>(</a:t>
            </a:r>
            <a:r>
              <a:rPr>
                <a:solidFill>
                  <a:srgbClr val="4070A0"/>
                </a:solidFill>
                <a:latin typeface="Courier"/>
              </a:rPr>
              <a:t>"created_at"</a:t>
            </a:r>
            <a:r>
              <a:rPr>
                <a:solidFill>
                  <a:srgbClr val="666666"/>
                </a:solidFill>
                <a:latin typeface="Courier"/>
              </a:rPr>
              <a:t>)</a:t>
            </a:r>
            <a:br/>
            <a:r>
              <a:rPr>
                <a:latin typeface="Courier"/>
              </a:rPr>
              <a:t>  </a:t>
            </a:r>
            <a:r>
              <a:rPr b="1">
                <a:solidFill>
                  <a:srgbClr val="007020"/>
                </a:solidFill>
                <a:latin typeface="Courier"/>
              </a:rPr>
              <a:t>val</a:t>
            </a:r>
            <a:r>
              <a:rPr>
                <a:latin typeface="Courier"/>
              </a:rPr>
              <a:t> </a:t>
            </a:r>
            <a:r>
              <a:rPr>
                <a:solidFill>
                  <a:srgbClr val="19177C"/>
                </a:solidFill>
                <a:latin typeface="Courier"/>
              </a:rPr>
              <a:t>updatedAt</a:t>
            </a:r>
            <a:r>
              <a:rPr>
                <a:latin typeface="Courier"/>
              </a:rPr>
              <a:t> </a:t>
            </a:r>
            <a:r>
              <a:rPr>
                <a:solidFill>
                  <a:srgbClr val="666666"/>
                </a:solidFill>
                <a:latin typeface="Courier"/>
              </a:rPr>
              <a:t>=</a:t>
            </a:r>
            <a:r>
              <a:rPr>
                <a:latin typeface="Courier"/>
              </a:rPr>
              <a:t> timestamp</a:t>
            </a:r>
            <a:r>
              <a:rPr>
                <a:solidFill>
                  <a:srgbClr val="666666"/>
                </a:solidFill>
                <a:latin typeface="Courier"/>
              </a:rPr>
              <a:t>(</a:t>
            </a:r>
            <a:r>
              <a:rPr>
                <a:solidFill>
                  <a:srgbClr val="4070A0"/>
                </a:solidFill>
                <a:latin typeface="Courier"/>
              </a:rPr>
              <a:t>"updated_at"</a:t>
            </a:r>
            <a:r>
              <a:rPr>
                <a:solidFill>
                  <a:srgbClr val="666666"/>
                </a:solidFill>
                <a:latin typeface="Courier"/>
              </a:rPr>
              <a:t>)</a:t>
            </a:r>
            <a:br/>
            <a:br/>
            <a:r>
              <a:rPr>
                <a:latin typeface="Courier"/>
              </a:rPr>
              <a:t>  init </a:t>
            </a:r>
            <a:r>
              <a:rPr>
                <a:solidFill>
                  <a:srgbClr val="666666"/>
                </a:solidFill>
                <a:latin typeface="Courier"/>
              </a:rPr>
              <a:t>{</a:t>
            </a:r>
            <a:br/>
            <a:r>
              <a:rPr>
                <a:latin typeface="Courier"/>
              </a:rPr>
              <a:t>    uniqueIndex</a:t>
            </a:r>
            <a:r>
              <a:rPr>
                <a:solidFill>
                  <a:srgbClr val="666666"/>
                </a:solidFill>
                <a:latin typeface="Courier"/>
              </a:rPr>
              <a:t>(</a:t>
            </a:r>
            <a:r>
              <a:rPr>
                <a:solidFill>
                  <a:srgbClr val="4070A0"/>
                </a:solidFill>
                <a:latin typeface="Courier"/>
              </a:rPr>
              <a:t>"uq_contribution_participant_resource"</a:t>
            </a:r>
            <a:r>
              <a:rPr>
                <a:solidFill>
                  <a:srgbClr val="666666"/>
                </a:solidFill>
                <a:latin typeface="Courier"/>
              </a:rPr>
              <a:t>,</a:t>
            </a:r>
            <a:r>
              <a:rPr>
                <a:latin typeface="Courier"/>
              </a:rPr>
              <a:t> participantId</a:t>
            </a:r>
            <a:r>
              <a:rPr>
                <a:solidFill>
                  <a:srgbClr val="666666"/>
                </a:solidFill>
                <a:latin typeface="Courier"/>
              </a:rPr>
              <a:t>,</a:t>
            </a:r>
            <a:r>
              <a:rPr>
                <a:latin typeface="Courier"/>
              </a:rPr>
              <a:t> resourceId</a:t>
            </a:r>
            <a:r>
              <a:rPr>
                <a:solidFill>
                  <a:srgbClr val="666666"/>
                </a:solidFill>
                <a:latin typeface="Courier"/>
              </a:rPr>
              <a:t>)</a:t>
            </a:r>
            <a:br/>
            <a:r>
              <a:rPr>
                <a:latin typeface="Courier"/>
              </a:rPr>
              <a:t>    index</a:t>
            </a:r>
            <a:r>
              <a:rPr>
                <a:solidFill>
                  <a:srgbClr val="666666"/>
                </a:solidFill>
                <a:latin typeface="Courier"/>
              </a:rPr>
              <a:t>(</a:t>
            </a:r>
            <a:r>
              <a:rPr>
                <a:solidFill>
                  <a:srgbClr val="4070A0"/>
                </a:solidFill>
                <a:latin typeface="Courier"/>
              </a:rPr>
              <a:t>"idx_contribution_participant"</a:t>
            </a:r>
            <a:r>
              <a:rPr>
                <a:solidFill>
                  <a:srgbClr val="666666"/>
                </a:solidFill>
                <a:latin typeface="Courier"/>
              </a:rPr>
              <a:t>,</a:t>
            </a:r>
            <a:r>
              <a:rPr>
                <a:latin typeface="Courier"/>
              </a:rPr>
              <a:t> </a:t>
            </a:r>
            <a:r>
              <a:rPr b="1">
                <a:solidFill>
                  <a:srgbClr val="007020"/>
                </a:solidFill>
                <a:latin typeface="Courier"/>
              </a:rPr>
              <a:t>false</a:t>
            </a:r>
            <a:r>
              <a:rPr>
                <a:solidFill>
                  <a:srgbClr val="666666"/>
                </a:solidFill>
                <a:latin typeface="Courier"/>
              </a:rPr>
              <a:t>,</a:t>
            </a:r>
            <a:r>
              <a:rPr>
                <a:latin typeface="Courier"/>
              </a:rPr>
              <a:t> participantId</a:t>
            </a:r>
            <a:r>
              <a:rPr>
                <a:solidFill>
                  <a:srgbClr val="666666"/>
                </a:solidFill>
                <a:latin typeface="Courier"/>
              </a:rPr>
              <a:t>)</a:t>
            </a:r>
            <a:br/>
            <a:r>
              <a:rPr>
                <a:latin typeface="Courier"/>
              </a:rPr>
              <a:t>    index</a:t>
            </a:r>
            <a:r>
              <a:rPr>
                <a:solidFill>
                  <a:srgbClr val="666666"/>
                </a:solidFill>
                <a:latin typeface="Courier"/>
              </a:rPr>
              <a:t>(</a:t>
            </a:r>
            <a:r>
              <a:rPr>
                <a:solidFill>
                  <a:srgbClr val="4070A0"/>
                </a:solidFill>
                <a:latin typeface="Courier"/>
              </a:rPr>
              <a:t>"idx_contribution_resource"</a:t>
            </a:r>
            <a:r>
              <a:rPr>
                <a:solidFill>
                  <a:srgbClr val="666666"/>
                </a:solidFill>
                <a:latin typeface="Courier"/>
              </a:rPr>
              <a:t>,</a:t>
            </a:r>
            <a:r>
              <a:rPr>
                <a:latin typeface="Courier"/>
              </a:rPr>
              <a:t> </a:t>
            </a:r>
            <a:r>
              <a:rPr b="1">
                <a:solidFill>
                  <a:srgbClr val="007020"/>
                </a:solidFill>
                <a:latin typeface="Courier"/>
              </a:rPr>
              <a:t>false</a:t>
            </a:r>
            <a:r>
              <a:rPr>
                <a:solidFill>
                  <a:srgbClr val="666666"/>
                </a:solidFill>
                <a:latin typeface="Courier"/>
              </a:rPr>
              <a:t>,</a:t>
            </a:r>
            <a:r>
              <a:rPr>
                <a:latin typeface="Courier"/>
              </a:rPr>
              <a:t> resourceId</a:t>
            </a:r>
            <a:r>
              <a:rPr>
                <a:solidFill>
                  <a:srgbClr val="666666"/>
                </a:solidFill>
                <a:latin typeface="Courier"/>
              </a:rPr>
              <a:t>)</a:t>
            </a:r>
            <a:br/>
            <a:r>
              <a:rPr>
                <a:latin typeface="Courier"/>
              </a:rPr>
              <a:t>    check</a:t>
            </a:r>
            <a:r>
              <a:rPr>
                <a:solidFill>
                  <a:srgbClr val="666666"/>
                </a:solidFill>
                <a:latin typeface="Courier"/>
              </a:rPr>
              <a:t>(</a:t>
            </a:r>
            <a:r>
              <a:rPr>
                <a:solidFill>
                  <a:srgbClr val="4070A0"/>
                </a:solidFill>
                <a:latin typeface="Courier"/>
              </a:rPr>
              <a:t>"chk_quantity_positive"</a:t>
            </a:r>
            <a:r>
              <a:rPr>
                <a:solidFill>
                  <a:srgbClr val="666666"/>
                </a:solidFill>
                <a:latin typeface="Courier"/>
              </a:rPr>
              <a:t>)</a:t>
            </a:r>
            <a:r>
              <a:rPr>
                <a:latin typeface="Courier"/>
              </a:rPr>
              <a:t> </a:t>
            </a:r>
            <a:r>
              <a:rPr>
                <a:solidFill>
                  <a:srgbClr val="666666"/>
                </a:solidFill>
                <a:latin typeface="Courier"/>
              </a:rPr>
              <a:t>{</a:t>
            </a:r>
            <a:r>
              <a:rPr>
                <a:latin typeface="Courier"/>
              </a:rPr>
              <a:t> quantity greater </a:t>
            </a:r>
            <a:r>
              <a:rPr>
                <a:solidFill>
                  <a:srgbClr val="40A070"/>
                </a:solidFill>
                <a:latin typeface="Courier"/>
              </a:rPr>
              <a:t>0</a:t>
            </a:r>
            <a:r>
              <a:rPr>
                <a:latin typeface="Courier"/>
              </a:rPr>
              <a:t> </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a:p>
            <a:pPr lvl="0"/>
            <a:r>
              <a:rPr b="1">
                <a:latin typeface="Courier"/>
              </a:rPr>
              <a:t>uniqueIndex</a:t>
            </a:r>
            <a:r>
              <a:rPr b="1"/>
              <a:t> composite</a:t>
            </a:r>
            <a:r>
              <a:rPr/>
              <a:t> : un participant ne contribue qu’une fois par ressource</a:t>
            </a:r>
          </a:p>
          <a:p>
            <a:pPr lvl="0"/>
            <a:r>
              <a:rPr b="1">
                <a:latin typeface="Courier"/>
              </a:rPr>
              <a:t>check</a:t>
            </a:r>
            <a:r>
              <a:rPr b="1"/>
              <a:t> constraint</a:t>
            </a:r>
            <a:r>
              <a:rPr/>
              <a:t> : quantités strictement positives</a:t>
            </a:r>
          </a:p>
          <a:p>
            <a:pPr lvl="0"/>
            <a:r>
              <a:rPr b="1"/>
              <a:t>FK + index</a:t>
            </a:r>
            <a:r>
              <a:rPr/>
              <a:t> : intégrité référentielle + performance des requêtes</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Repository : SqlContributionRepository</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infrastructure/contribution/common/driven/SqlContributionRepository.kt</a:t>
            </a:r>
            <a:br/>
            <a:br/>
            <a:r>
              <a:rPr b="1">
                <a:solidFill>
                  <a:srgbClr val="007020"/>
                </a:solidFill>
                <a:latin typeface="Courier"/>
              </a:rPr>
              <a:t>override</a:t>
            </a:r>
            <a:r>
              <a:rPr>
                <a:latin typeface="Courier"/>
              </a:rPr>
              <a:t> </a:t>
            </a:r>
            <a:r>
              <a:rPr b="1">
                <a:solidFill>
                  <a:srgbClr val="007020"/>
                </a:solidFill>
                <a:latin typeface="Courier"/>
              </a:rPr>
              <a:t>fun</a:t>
            </a:r>
            <a:r>
              <a:rPr>
                <a:latin typeface="Courier"/>
              </a:rPr>
              <a:t> </a:t>
            </a:r>
            <a:r>
              <a:rPr>
                <a:solidFill>
                  <a:srgbClr val="06287E"/>
                </a:solidFill>
                <a:latin typeface="Courier"/>
              </a:rPr>
              <a:t>addOrUpdate</a:t>
            </a:r>
            <a:r>
              <a:rPr>
                <a:solidFill>
                  <a:srgbClr val="666666"/>
                </a:solidFill>
                <a:latin typeface="Courier"/>
              </a:rPr>
              <a:t>(</a:t>
            </a:r>
            <a:br/>
            <a:r>
              <a:rPr>
                <a:latin typeface="Courier"/>
              </a:rPr>
              <a:t>  </a:t>
            </a:r>
            <a:r>
              <a:rPr>
                <a:solidFill>
                  <a:srgbClr val="19177C"/>
                </a:solidFill>
                <a:latin typeface="Courier"/>
              </a:rPr>
              <a:t>participant</a:t>
            </a:r>
            <a:r>
              <a:rPr>
                <a:solidFill>
                  <a:srgbClr val="666666"/>
                </a:solidFill>
                <a:latin typeface="Courier"/>
              </a:rPr>
              <a:t>:</a:t>
            </a:r>
            <a:r>
              <a:rPr>
                <a:latin typeface="Courier"/>
              </a:rPr>
              <a:t> </a:t>
            </a:r>
            <a:r>
              <a:rPr>
                <a:solidFill>
                  <a:srgbClr val="902000"/>
                </a:solidFill>
                <a:latin typeface="Courier"/>
              </a:rPr>
              <a:t>Participant</a:t>
            </a:r>
            <a:r>
              <a:rPr>
                <a:solidFill>
                  <a:srgbClr val="666666"/>
                </a:solidFill>
                <a:latin typeface="Courier"/>
              </a:rPr>
              <a:t>,</a:t>
            </a:r>
            <a:r>
              <a:rPr>
                <a:latin typeface="Courier"/>
              </a:rPr>
              <a:t> </a:t>
            </a:r>
            <a:r>
              <a:rPr>
                <a:solidFill>
                  <a:srgbClr val="19177C"/>
                </a:solidFill>
                <a:latin typeface="Courier"/>
              </a:rPr>
              <a:t>request</a:t>
            </a:r>
            <a:r>
              <a:rPr>
                <a:solidFill>
                  <a:srgbClr val="666666"/>
                </a:solidFill>
                <a:latin typeface="Courier"/>
              </a:rPr>
              <a:t>:</a:t>
            </a:r>
            <a:r>
              <a:rPr>
                <a:latin typeface="Courier"/>
              </a:rPr>
              <a:t> </a:t>
            </a:r>
            <a:r>
              <a:rPr>
                <a:solidFill>
                  <a:srgbClr val="902000"/>
                </a:solidFill>
                <a:latin typeface="Courier"/>
              </a:rPr>
              <a:t>AddContributionRequest</a:t>
            </a:r>
            <a:r>
              <a:rPr>
                <a:solidFill>
                  <a:srgbClr val="666666"/>
                </a:solidFill>
                <a:latin typeface="Courier"/>
              </a:rPr>
              <a:t>,</a:t>
            </a:r>
            <a:br/>
            <a:r>
              <a:rPr>
                <a:solidFill>
                  <a:srgbClr val="666666"/>
                </a:solidFill>
                <a:latin typeface="Courier"/>
              </a:rPr>
              <a:t>):</a:t>
            </a:r>
            <a:r>
              <a:rPr>
                <a:latin typeface="Courier"/>
              </a:rPr>
              <a:t> </a:t>
            </a:r>
            <a:r>
              <a:rPr>
                <a:solidFill>
                  <a:srgbClr val="902000"/>
                </a:solidFill>
                <a:latin typeface="Courier"/>
              </a:rPr>
              <a:t>Either</a:t>
            </a:r>
            <a:r>
              <a:rPr>
                <a:solidFill>
                  <a:srgbClr val="666666"/>
                </a:solidFill>
                <a:latin typeface="Courier"/>
              </a:rPr>
              <a:t>&lt;</a:t>
            </a:r>
            <a:r>
              <a:rPr>
                <a:solidFill>
                  <a:srgbClr val="902000"/>
                </a:solidFill>
                <a:latin typeface="Courier"/>
              </a:rPr>
              <a:t>AddContributionException</a:t>
            </a:r>
            <a:r>
              <a:rPr>
                <a:latin typeface="Courier"/>
              </a:rPr>
              <a:t>, </a:t>
            </a:r>
            <a:r>
              <a:rPr>
                <a:solidFill>
                  <a:srgbClr val="902000"/>
                </a:solidFill>
                <a:latin typeface="Courier"/>
              </a:rPr>
              <a:t>Contribution</a:t>
            </a:r>
            <a:r>
              <a:rPr>
                <a:solidFill>
                  <a:srgbClr val="666666"/>
                </a:solidFill>
                <a:latin typeface="Courier"/>
              </a:rPr>
              <a:t>&gt;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Either</a:t>
            </a:r>
            <a:r>
              <a:rPr>
                <a:solidFill>
                  <a:srgbClr val="666666"/>
                </a:solidFill>
                <a:latin typeface="Courier"/>
              </a:rPr>
              <a:t>.</a:t>
            </a:r>
            <a:r>
              <a:rPr b="1">
                <a:solidFill>
                  <a:srgbClr val="007020"/>
                </a:solidFill>
                <a:latin typeface="Courier"/>
              </a:rPr>
              <a:t>catch</a:t>
            </a:r>
            <a:r>
              <a:rPr>
                <a:latin typeface="Courier"/>
              </a:rPr>
              <a:t> </a:t>
            </a:r>
            <a:r>
              <a:rPr>
                <a:solidFill>
                  <a:srgbClr val="666666"/>
                </a:solidFill>
                <a:latin typeface="Courier"/>
              </a:rPr>
              <a:t>{</a:t>
            </a:r>
            <a:br/>
            <a:r>
              <a:rPr>
                <a:latin typeface="Courier"/>
              </a:rPr>
              <a:t>    transaction</a:t>
            </a:r>
            <a:r>
              <a:rPr>
                <a:solidFill>
                  <a:srgbClr val="666666"/>
                </a:solidFill>
                <a:latin typeface="Courier"/>
              </a:rPr>
              <a:t>(</a:t>
            </a:r>
            <a:r>
              <a:rPr>
                <a:latin typeface="Courier"/>
              </a:rPr>
              <a:t>exposedDatabase</a:t>
            </a:r>
            <a:r>
              <a:rPr>
                <a:solidFill>
                  <a:srgbClr val="666666"/>
                </a:solidFill>
                <a:latin typeface="Courier"/>
              </a:rPr>
              <a:t>.</a:t>
            </a:r>
            <a:r>
              <a:rPr>
                <a:latin typeface="Courier"/>
              </a:rPr>
              <a:t>database</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Rechercher une contribution existante</a:t>
            </a:r>
            <a:br/>
            <a:r>
              <a:rPr>
                <a:latin typeface="Courier"/>
              </a:rPr>
              <a:t>      </a:t>
            </a:r>
            <a:r>
              <a:rPr b="1">
                <a:solidFill>
                  <a:srgbClr val="007020"/>
                </a:solidFill>
                <a:latin typeface="Courier"/>
              </a:rPr>
              <a:t>val</a:t>
            </a:r>
            <a:r>
              <a:rPr>
                <a:latin typeface="Courier"/>
              </a:rPr>
              <a:t> </a:t>
            </a:r>
            <a:r>
              <a:rPr>
                <a:solidFill>
                  <a:srgbClr val="19177C"/>
                </a:solidFill>
                <a:latin typeface="Courier"/>
              </a:rPr>
              <a:t>existing</a:t>
            </a:r>
            <a:r>
              <a:rPr>
                <a:latin typeface="Courier"/>
              </a:rPr>
              <a:t> </a:t>
            </a:r>
            <a:r>
              <a:rPr>
                <a:solidFill>
                  <a:srgbClr val="666666"/>
                </a:solidFill>
                <a:latin typeface="Courier"/>
              </a:rPr>
              <a:t>=</a:t>
            </a:r>
            <a:r>
              <a:rPr>
                <a:latin typeface="Courier"/>
              </a:rPr>
              <a:t> ContributionTable</a:t>
            </a:r>
            <a:r>
              <a:rPr>
                <a:solidFill>
                  <a:srgbClr val="666666"/>
                </a:solidFill>
                <a:latin typeface="Courier"/>
              </a:rPr>
              <a:t>.</a:t>
            </a:r>
            <a:r>
              <a:rPr>
                <a:latin typeface="Courier"/>
              </a:rPr>
              <a:t>selectAll</a:t>
            </a:r>
            <a:r>
              <a:rPr>
                <a:solidFill>
                  <a:srgbClr val="666666"/>
                </a:solidFill>
                <a:latin typeface="Courier"/>
              </a:rPr>
              <a:t>().</a:t>
            </a:r>
            <a:r>
              <a:rPr b="1">
                <a:solidFill>
                  <a:srgbClr val="007020"/>
                </a:solidFill>
                <a:latin typeface="Courier"/>
              </a:rPr>
              <a:t>where</a:t>
            </a:r>
            <a:r>
              <a:rPr>
                <a:latin typeface="Courier"/>
              </a:rPr>
              <a:t> </a:t>
            </a:r>
            <a:r>
              <a:rPr>
                <a:solidFill>
                  <a:srgbClr val="666666"/>
                </a:solidFill>
                <a:latin typeface="Courier"/>
              </a:rPr>
              <a:t>{</a:t>
            </a:r>
            <a:br/>
            <a:r>
              <a:rPr>
                <a:latin typeface="Courier"/>
              </a:rPr>
              <a:t>        </a:t>
            </a:r>
            <a:r>
              <a:rPr>
                <a:solidFill>
                  <a:srgbClr val="666666"/>
                </a:solidFill>
                <a:latin typeface="Courier"/>
              </a:rPr>
              <a:t>(</a:t>
            </a:r>
            <a:r>
              <a:rPr>
                <a:latin typeface="Courier"/>
              </a:rPr>
              <a:t>ContributionTable</a:t>
            </a:r>
            <a:r>
              <a:rPr>
                <a:solidFill>
                  <a:srgbClr val="666666"/>
                </a:solidFill>
                <a:latin typeface="Courier"/>
              </a:rPr>
              <a:t>.</a:t>
            </a:r>
            <a:r>
              <a:rPr>
                <a:latin typeface="Courier"/>
              </a:rPr>
              <a:t>participantId eq participant</a:t>
            </a:r>
            <a:r>
              <a:rPr>
                <a:solidFill>
                  <a:srgbClr val="666666"/>
                </a:solidFill>
                <a:latin typeface="Courier"/>
              </a:rPr>
              <a:t>.</a:t>
            </a:r>
            <a:r>
              <a:rPr>
                <a:latin typeface="Courier"/>
              </a:rPr>
              <a:t>identifier</a:t>
            </a:r>
            <a:r>
              <a:rPr>
                <a:solidFill>
                  <a:srgbClr val="666666"/>
                </a:solidFill>
                <a:latin typeface="Courier"/>
              </a:rPr>
              <a:t>)</a:t>
            </a:r>
            <a:r>
              <a:rPr>
                <a:latin typeface="Courier"/>
              </a:rPr>
              <a:t> and</a:t>
            </a:r>
            <a:br/>
            <a:r>
              <a:rPr>
                <a:latin typeface="Courier"/>
              </a:rPr>
              <a:t>          </a:t>
            </a:r>
            <a:r>
              <a:rPr>
                <a:solidFill>
                  <a:srgbClr val="666666"/>
                </a:solidFill>
                <a:latin typeface="Courier"/>
              </a:rPr>
              <a:t>(</a:t>
            </a:r>
            <a:r>
              <a:rPr>
                <a:latin typeface="Courier"/>
              </a:rPr>
              <a:t>ContributionTable</a:t>
            </a:r>
            <a:r>
              <a:rPr>
                <a:solidFill>
                  <a:srgbClr val="666666"/>
                </a:solidFill>
                <a:latin typeface="Courier"/>
              </a:rPr>
              <a:t>.</a:t>
            </a:r>
            <a:r>
              <a:rPr>
                <a:latin typeface="Courier"/>
              </a:rPr>
              <a:t>resourceId eq request</a:t>
            </a:r>
            <a:r>
              <a:rPr>
                <a:solidFill>
                  <a:srgbClr val="666666"/>
                </a:solidFill>
                <a:latin typeface="Courier"/>
              </a:rPr>
              <a:t>.</a:t>
            </a:r>
            <a:r>
              <a:rPr>
                <a:latin typeface="Courier"/>
              </a:rPr>
              <a:t>resourceId</a:t>
            </a:r>
            <a:r>
              <a:rPr>
                <a:solidFill>
                  <a:srgbClr val="666666"/>
                </a:solidFill>
                <a:latin typeface="Courier"/>
              </a:rPr>
              <a:t>)</a:t>
            </a:r>
            <a:br/>
            <a:r>
              <a:rPr>
                <a:latin typeface="Courier"/>
              </a:rPr>
              <a:t>      </a:t>
            </a:r>
            <a:r>
              <a:rPr>
                <a:solidFill>
                  <a:srgbClr val="666666"/>
                </a:solidFill>
                <a:latin typeface="Courier"/>
              </a:rPr>
              <a:t>}.</a:t>
            </a:r>
            <a:r>
              <a:rPr>
                <a:latin typeface="Courier"/>
              </a:rPr>
              <a:t>singleOrNull</a:t>
            </a:r>
            <a:r>
              <a:rPr>
                <a:solidFill>
                  <a:srgbClr val="666666"/>
                </a:solidFill>
                <a:latin typeface="Courier"/>
              </a:rPr>
              <a:t>()</a:t>
            </a:r>
            <a:b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existing </a:t>
            </a:r>
            <a:r>
              <a:rPr>
                <a:solidFill>
                  <a:srgbClr val="666666"/>
                </a:solidFill>
                <a:latin typeface="Courier"/>
              </a:rPr>
              <a:t>!=</a:t>
            </a:r>
            <a:r>
              <a:rPr>
                <a:latin typeface="Courier"/>
              </a:rPr>
              <a:t> </a:t>
            </a:r>
            <a:r>
              <a:rPr b="1">
                <a:solidFill>
                  <a:srgbClr val="007020"/>
                </a:solidFill>
                <a:latin typeface="Courier"/>
              </a:rPr>
              <a:t>null</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Mise à jour de la quantité</a:t>
            </a:r>
            <a:br/>
            <a:r>
              <a:rPr>
                <a:latin typeface="Courier"/>
              </a:rPr>
              <a:t>        ContributionTable</a:t>
            </a:r>
            <a:r>
              <a:rPr>
                <a:solidFill>
                  <a:srgbClr val="666666"/>
                </a:solidFill>
                <a:latin typeface="Courier"/>
              </a:rPr>
              <a:t>.</a:t>
            </a:r>
            <a:r>
              <a:rPr>
                <a:latin typeface="Courier"/>
              </a:rPr>
              <a:t>update</a:t>
            </a:r>
            <a:r>
              <a:rPr>
                <a:solidFill>
                  <a:srgbClr val="666666"/>
                </a:solidFill>
                <a:latin typeface="Courier"/>
              </a:rPr>
              <a:t>({</a:t>
            </a:r>
            <a:br/>
            <a:r>
              <a:rPr>
                <a:latin typeface="Courier"/>
              </a:rPr>
              <a:t>          ContributionTable</a:t>
            </a:r>
            <a:r>
              <a:rPr>
                <a:solidFill>
                  <a:srgbClr val="666666"/>
                </a:solidFill>
                <a:latin typeface="Courier"/>
              </a:rPr>
              <a:t>.</a:t>
            </a:r>
            <a:r>
              <a:rPr>
                <a:latin typeface="Courier"/>
              </a:rPr>
              <a:t>id eq existing</a:t>
            </a:r>
            <a:r>
              <a:rPr>
                <a:solidFill>
                  <a:srgbClr val="666666"/>
                </a:solidFill>
                <a:latin typeface="Courier"/>
              </a:rPr>
              <a:t>[</a:t>
            </a:r>
            <a:r>
              <a:rPr>
                <a:latin typeface="Courier"/>
              </a:rPr>
              <a:t>ContributionTable</a:t>
            </a:r>
            <a:r>
              <a:rPr>
                <a:solidFill>
                  <a:srgbClr val="666666"/>
                </a:solidFill>
                <a:latin typeface="Courier"/>
              </a:rPr>
              <a:t>.</a:t>
            </a:r>
            <a:r>
              <a:rPr>
                <a:latin typeface="Courier"/>
              </a:rPr>
              <a:t>id</a:t>
            </a:r>
            <a:r>
              <a:rPr>
                <a:solidFill>
                  <a:srgbClr val="666666"/>
                </a:solidFill>
                <a:latin typeface="Courier"/>
              </a:rPr>
              <a:t>]</a:t>
            </a:r>
            <a:br/>
            <a:r>
              <a:rPr>
                <a:latin typeface="Courier"/>
              </a:rPr>
              <a:t>        </a:t>
            </a:r>
            <a:r>
              <a:rPr>
                <a:solidFill>
                  <a:srgbClr val="666666"/>
                </a:solidFill>
                <a:latin typeface="Courier"/>
              </a:rPr>
              <a:t>})</a:t>
            </a:r>
            <a:r>
              <a:rPr>
                <a:latin typeface="Courier"/>
              </a:rPr>
              <a:t> </a:t>
            </a:r>
            <a:r>
              <a:rPr>
                <a:solidFill>
                  <a:srgbClr val="666666"/>
                </a:solidFill>
                <a:latin typeface="Courier"/>
              </a:rPr>
              <a:t>{</a:t>
            </a:r>
            <a:br/>
            <a:r>
              <a:rPr i="1">
                <a:solidFill>
                  <a:srgbClr val="60A0B0"/>
                </a:solidFill>
                <a:latin typeface="Courier"/>
              </a:rPr>
              <a:t>// ...</a:t>
            </a:r>
          </a:p>
          <a:p>
            <a:pPr lvl="0"/>
            <a:r>
              <a:rPr/>
              <a:t>Pattern </a:t>
            </a:r>
            <a:r>
              <a:rPr b="1"/>
              <a:t>Repository</a:t>
            </a:r>
            <a:r>
              <a:rPr/>
              <a:t> : interface dans le domaine, implémentation SQL ici</a:t>
            </a:r>
          </a:p>
          <a:p>
            <a:pPr lvl="0"/>
            <a:r>
              <a:rPr/>
              <a:t>Chaque opération dans une </a:t>
            </a:r>
            <a:r>
              <a:rPr b="1"/>
              <a:t>transaction</a:t>
            </a:r>
            <a:r>
              <a:rPr/>
              <a:t> Exposed</a:t>
            </a:r>
          </a:p>
          <a:p>
            <a:pPr lvl="0"/>
            <a:r>
              <a:rPr/>
              <a:t>Requêtes </a:t>
            </a:r>
            <a:r>
              <a:rPr b="1"/>
              <a:t>paramétrées</a:t>
            </a:r>
            <a:r>
              <a:rPr/>
              <a:t> automatiquement (protection injection SQL)</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b="1">
                <a:solidFill>
                  <a:srgbClr val="3D5A6C"/>
                </a:solidFill>
              </a:rPr>
              <a:t>Transactions et intégrité des données</a:t>
            </a:r>
          </a:p>
        </p:txBody>
      </p:sp>
      <p:sp>
        <p:nvSpPr>
          <p:cNvPr id="4" name="Text Placeholder 3"/>
          <p:cNvSpPr>
            <a:spLocks noGrp="1"/>
          </p:cNvSpPr>
          <p:nvPr>
            <p:ph idx="2" sz="half" type="body"/>
          </p:nvPr>
        </p:nvSpPr>
        <p:spPr/>
        <p:txBody>
          <a:bodyPr/>
          <a:lstStyle/>
          <a:p>
            <a:pPr lvl="0" indent="0" marL="0">
              <a:buNone/>
            </a:pPr>
            <a:r>
              <a:rPr b="1"/>
              <a:t>Défense en profondeur</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Mécanisme</a:t>
                      </a:r>
                    </a:p>
                  </a:txBody>
                  <a:tcPr/>
                </a:tc>
                <a:tc>
                  <a:txBody>
                    <a:bodyPr/>
                    <a:lstStyle/>
                    <a:p>
                      <a:pPr lvl="0" indent="0" marL="0">
                        <a:buNone/>
                      </a:pPr>
                      <a:r>
                        <a:rPr/>
                        <a:t>Protection</a:t>
                      </a:r>
                    </a:p>
                  </a:txBody>
                  <a:tcPr/>
                </a:tc>
              </a:tr>
              <a:tr h="0">
                <a:tc>
                  <a:txBody>
                    <a:bodyPr/>
                    <a:lstStyle/>
                    <a:p>
                      <a:pPr lvl="0" indent="0" marL="0">
                        <a:buNone/>
                      </a:pPr>
                      <a:r>
                        <a:rPr b="1"/>
                        <a:t>Verrou optimiste</a:t>
                      </a:r>
                    </a:p>
                  </a:txBody>
                </a:tc>
                <a:tc>
                  <a:txBody>
                    <a:bodyPr/>
                    <a:lstStyle/>
                    <a:p>
                      <a:pPr lvl="0" indent="0" marL="0">
                        <a:buNone/>
                      </a:pPr>
                      <a:r>
                        <a:rPr/>
                        <a:t>Empêche les mises à jour concurrentes silencieuses</a:t>
                      </a:r>
                    </a:p>
                  </a:txBody>
                </a:tc>
              </a:tr>
              <a:tr h="0">
                <a:tc>
                  <a:txBody>
                    <a:bodyPr/>
                    <a:lstStyle/>
                    <a:p>
                      <a:pPr lvl="0" indent="0" marL="0">
                        <a:buNone/>
                      </a:pPr>
                      <a:r>
                        <a:rPr b="1"/>
                        <a:t>FK CASCADE</a:t>
                      </a:r>
                    </a:p>
                  </a:txBody>
                </a:tc>
                <a:tc>
                  <a:txBody>
                    <a:bodyPr/>
                    <a:lstStyle/>
                    <a:p>
                      <a:pPr lvl="0" indent="0" marL="0">
                        <a:buNone/>
                      </a:pPr>
                      <a:r>
                        <a:rPr/>
                        <a:t>Suppression événement → cascade contributions → ressources → participants</a:t>
                      </a:r>
                    </a:p>
                  </a:txBody>
                </a:tc>
              </a:tr>
              <a:tr h="0">
                <a:tc>
                  <a:txBody>
                    <a:bodyPr/>
                    <a:lstStyle/>
                    <a:p>
                      <a:pPr lvl="0" indent="0" marL="0">
                        <a:buNone/>
                      </a:pPr>
                      <a:r>
                        <a:rPr b="1"/>
                        <a:t>UNIQUE composite</a:t>
                      </a:r>
                    </a:p>
                  </a:txBody>
                </a:tc>
                <a:tc>
                  <a:txBody>
                    <a:bodyPr/>
                    <a:lstStyle/>
                    <a:p>
                      <a:pPr lvl="0" indent="0" marL="0">
                        <a:buNone/>
                      </a:pPr>
                      <a:r>
                        <a:rPr/>
                        <a:t>Un participant ne contribue qu’une fois par ressource</a:t>
                      </a:r>
                    </a:p>
                  </a:txBody>
                </a:tc>
              </a:tr>
              <a:tr h="0">
                <a:tc>
                  <a:txBody>
                    <a:bodyPr/>
                    <a:lstStyle/>
                    <a:p>
                      <a:pPr lvl="0" indent="0" marL="0">
                        <a:buNone/>
                      </a:pPr>
                      <a:r>
                        <a:rPr b="1"/>
                        <a:t>CHECK constraint</a:t>
                      </a:r>
                    </a:p>
                  </a:txBody>
                </a:tc>
                <a:tc>
                  <a:txBody>
                    <a:bodyPr/>
                    <a:lstStyle/>
                    <a:p>
                      <a:pPr lvl="0" indent="0" marL="0">
                        <a:buNone/>
                      </a:pPr>
                      <a:r>
                        <a:rPr/>
                        <a:t>Quantités strictement positives (</a:t>
                      </a:r>
                      <a:r>
                        <a:rPr>
                          <a:latin typeface="Courier"/>
                        </a:rPr>
                        <a:t>quantity &gt; 0</a:t>
                      </a:r>
                      <a:r>
                        <a:rPr/>
                        <a:t>)</a:t>
                      </a:r>
                    </a:p>
                  </a:txBody>
                </a:tc>
              </a:tr>
              <a:tr h="0">
                <a:tc>
                  <a:txBody>
                    <a:bodyPr/>
                    <a:lstStyle/>
                    <a:p>
                      <a:pPr lvl="0" indent="0" marL="0">
                        <a:buNone/>
                      </a:pPr>
                      <a:r>
                        <a:rPr b="1"/>
                        <a:t>Transactions</a:t>
                      </a:r>
                    </a:p>
                  </a:txBody>
                </a:tc>
                <a:tc>
                  <a:txBody>
                    <a:bodyPr/>
                    <a:lstStyle/>
                    <a:p>
                      <a:pPr lvl="0" indent="0" marL="0">
                        <a:buNone/>
                      </a:pPr>
                      <a:r>
                        <a:rPr/>
                        <a:t>Chaque opération encapsulée dans </a:t>
                      </a:r>
                      <a:r>
                        <a:rPr>
                          <a:latin typeface="Courier"/>
                        </a:rPr>
                        <a:t>transaction { }</a:t>
                      </a:r>
                    </a:p>
                  </a:txBody>
                </a:tc>
              </a:tr>
            </a:tbl>
          </a:graphicData>
        </a:graphic>
      </p:graphicFrame>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Authentification JWT : Plugin Ktor</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infrastructure/technical/auth/JwtAuthenticationPlugin.kt</a:t>
            </a:r>
            <a:br/>
            <a:br/>
            <a:r>
              <a:rPr b="1">
                <a:solidFill>
                  <a:srgbClr val="007020"/>
                </a:solidFill>
                <a:latin typeface="Courier"/>
              </a:rPr>
              <a:t>val</a:t>
            </a:r>
            <a:r>
              <a:rPr>
                <a:latin typeface="Courier"/>
              </a:rPr>
              <a:t> </a:t>
            </a:r>
            <a:r>
              <a:rPr>
                <a:solidFill>
                  <a:srgbClr val="19177C"/>
                </a:solidFill>
                <a:latin typeface="Courier"/>
              </a:rPr>
              <a:t>JwtAuthenticationPlugin</a:t>
            </a:r>
            <a:r>
              <a:rPr>
                <a:latin typeface="Courier"/>
              </a:rPr>
              <a:t> </a:t>
            </a:r>
            <a:r>
              <a:rPr>
                <a:solidFill>
                  <a:srgbClr val="666666"/>
                </a:solidFill>
                <a:latin typeface="Courier"/>
              </a:rPr>
              <a:t>=</a:t>
            </a:r>
            <a:r>
              <a:rPr>
                <a:latin typeface="Courier"/>
              </a:rPr>
              <a:t> createApplicationPlugin</a:t>
            </a:r>
            <a:r>
              <a:rPr>
                <a:solidFill>
                  <a:srgbClr val="666666"/>
                </a:solidFill>
                <a:latin typeface="Courier"/>
              </a:rPr>
              <a:t>(</a:t>
            </a:r>
            <a:br/>
            <a:r>
              <a:rPr>
                <a:latin typeface="Courier"/>
              </a:rPr>
              <a:t>  name </a:t>
            </a:r>
            <a:r>
              <a:rPr>
                <a:solidFill>
                  <a:srgbClr val="666666"/>
                </a:solidFill>
                <a:latin typeface="Courier"/>
              </a:rPr>
              <a:t>=</a:t>
            </a:r>
            <a:r>
              <a:rPr>
                <a:latin typeface="Courier"/>
              </a:rPr>
              <a:t> </a:t>
            </a:r>
            <a:r>
              <a:rPr>
                <a:solidFill>
                  <a:srgbClr val="4070A0"/>
                </a:solidFill>
                <a:latin typeface="Courier"/>
              </a:rPr>
              <a:t>"JwtAuthenticationPlugin"</a:t>
            </a:r>
            <a:r>
              <a:rPr>
                <a:solidFill>
                  <a:srgbClr val="666666"/>
                </a:solidFill>
                <a:latin typeface="Courier"/>
              </a:rPr>
              <a:t>,</a:t>
            </a:r>
            <a:br/>
            <a:r>
              <a:rPr>
                <a:latin typeface="Courier"/>
              </a:rPr>
              <a:t>  createConfiguration </a:t>
            </a:r>
            <a:r>
              <a:rPr>
                <a:solidFill>
                  <a:srgbClr val="666666"/>
                </a:solidFill>
                <a:latin typeface="Courier"/>
              </a:rPr>
              <a:t>=</a:t>
            </a:r>
            <a:r>
              <a:rPr>
                <a:latin typeface="Courier"/>
              </a:rPr>
              <a:t> </a:t>
            </a:r>
            <a:r>
              <a:rPr>
                <a:solidFill>
                  <a:srgbClr val="666666"/>
                </a:solidFill>
                <a:latin typeface="Courier"/>
              </a:rPr>
              <a:t>::</a:t>
            </a:r>
            <a:r>
              <a:rPr>
                <a:latin typeface="Courier"/>
              </a:rPr>
              <a:t>JwtAuthConfig</a:t>
            </a:r>
            <a:r>
              <a:rPr>
                <a:solidFill>
                  <a:srgbClr val="666666"/>
                </a:solidFill>
                <a:latin typeface="Courier"/>
              </a:rPr>
              <a:t>,</a:t>
            </a:r>
            <a:b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val</a:t>
            </a:r>
            <a:r>
              <a:rPr>
                <a:latin typeface="Courier"/>
              </a:rPr>
              <a:t> </a:t>
            </a:r>
            <a:r>
              <a:rPr>
                <a:solidFill>
                  <a:srgbClr val="19177C"/>
                </a:solidFill>
                <a:latin typeface="Courier"/>
              </a:rPr>
              <a:t>jwtService</a:t>
            </a:r>
            <a:r>
              <a:rPr>
                <a:latin typeface="Courier"/>
              </a:rPr>
              <a:t> </a:t>
            </a:r>
            <a:r>
              <a:rPr>
                <a:solidFill>
                  <a:srgbClr val="666666"/>
                </a:solidFill>
                <a:latin typeface="Courier"/>
              </a:rPr>
              <a:t>=</a:t>
            </a:r>
            <a:r>
              <a:rPr>
                <a:latin typeface="Courier"/>
              </a:rPr>
              <a:t> pluginConfig</a:t>
            </a:r>
            <a:r>
              <a:rPr>
                <a:solidFill>
                  <a:srgbClr val="666666"/>
                </a:solidFill>
                <a:latin typeface="Courier"/>
              </a:rPr>
              <a:t>.</a:t>
            </a:r>
            <a:r>
              <a:rPr>
                <a:latin typeface="Courier"/>
              </a:rPr>
              <a:t>jwtService</a:t>
            </a:r>
            <a:br/>
            <a:r>
              <a:rPr>
                <a:latin typeface="Courier"/>
              </a:rPr>
              <a:t>  onCall </a:t>
            </a:r>
            <a:r>
              <a:rPr>
                <a:solidFill>
                  <a:srgbClr val="666666"/>
                </a:solidFill>
                <a:latin typeface="Courier"/>
              </a:rPr>
              <a:t>{</a:t>
            </a:r>
            <a:r>
              <a:rPr>
                <a:latin typeface="Courier"/>
              </a:rPr>
              <a:t> call </a:t>
            </a:r>
            <a:r>
              <a:rPr>
                <a:solidFill>
                  <a:srgbClr val="666666"/>
                </a:solidFill>
                <a:latin typeface="Courier"/>
              </a:rPr>
              <a:t>-&gt;</a:t>
            </a: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call</a:t>
            </a:r>
            <a:r>
              <a:rPr>
                <a:solidFill>
                  <a:srgbClr val="666666"/>
                </a:solidFill>
                <a:latin typeface="Courier"/>
              </a:rPr>
              <a:t>.</a:t>
            </a:r>
            <a:r>
              <a:rPr>
                <a:latin typeface="Courier"/>
              </a:rPr>
              <a:t>request</a:t>
            </a:r>
            <a:r>
              <a:rPr>
                <a:solidFill>
                  <a:srgbClr val="666666"/>
                </a:solidFill>
                <a:latin typeface="Courier"/>
              </a:rPr>
              <a:t>.</a:t>
            </a:r>
            <a:r>
              <a:rPr>
                <a:latin typeface="Courier"/>
              </a:rPr>
              <a:t>local</a:t>
            </a:r>
            <a:r>
              <a:rPr>
                <a:solidFill>
                  <a:srgbClr val="666666"/>
                </a:solidFill>
                <a:latin typeface="Courier"/>
              </a:rPr>
              <a:t>.</a:t>
            </a:r>
            <a:r>
              <a:rPr>
                <a:latin typeface="Courier"/>
              </a:rPr>
              <a:t>method </a:t>
            </a:r>
            <a:r>
              <a:rPr>
                <a:solidFill>
                  <a:srgbClr val="666666"/>
                </a:solidFill>
                <a:latin typeface="Courier"/>
              </a:rPr>
              <a:t>==</a:t>
            </a:r>
            <a:r>
              <a:rPr>
                <a:latin typeface="Courier"/>
              </a:rPr>
              <a:t> HttpMethod</a:t>
            </a:r>
            <a:r>
              <a:rPr>
                <a:solidFill>
                  <a:srgbClr val="666666"/>
                </a:solidFill>
                <a:latin typeface="Courier"/>
              </a:rPr>
              <a:t>.</a:t>
            </a:r>
            <a:r>
              <a:rPr>
                <a:latin typeface="Courier"/>
              </a:rPr>
              <a:t>Options </a:t>
            </a:r>
            <a:r>
              <a:rPr>
                <a:solidFill>
                  <a:srgbClr val="666666"/>
                </a:solidFill>
                <a:latin typeface="Courier"/>
              </a:rPr>
              <a:t>||</a:t>
            </a:r>
            <a:br/>
            <a:r>
              <a:rPr>
                <a:latin typeface="Courier"/>
              </a:rPr>
              <a:t>        call</a:t>
            </a:r>
            <a:r>
              <a:rPr>
                <a:solidFill>
                  <a:srgbClr val="666666"/>
                </a:solidFill>
                <a:latin typeface="Courier"/>
              </a:rPr>
              <a:t>.</a:t>
            </a:r>
            <a:r>
              <a:rPr>
                <a:latin typeface="Courier"/>
              </a:rPr>
              <a:t>request</a:t>
            </a:r>
            <a:r>
              <a:rPr>
                <a:solidFill>
                  <a:srgbClr val="666666"/>
                </a:solidFill>
                <a:latin typeface="Courier"/>
              </a:rPr>
              <a:t>.</a:t>
            </a:r>
            <a:r>
              <a:rPr>
                <a:latin typeface="Courier"/>
              </a:rPr>
              <a:t>local</a:t>
            </a:r>
            <a:r>
              <a:rPr>
                <a:solidFill>
                  <a:srgbClr val="666666"/>
                </a:solidFill>
                <a:latin typeface="Courier"/>
              </a:rPr>
              <a:t>.</a:t>
            </a:r>
            <a:r>
              <a:rPr>
                <a:latin typeface="Courier"/>
              </a:rPr>
              <a:t>uri </a:t>
            </a:r>
            <a:r>
              <a:rPr b="1">
                <a:solidFill>
                  <a:srgbClr val="007020"/>
                </a:solidFill>
                <a:latin typeface="Courier"/>
              </a:rPr>
              <a:t>in</a:t>
            </a:r>
            <a:r>
              <a:rPr>
                <a:latin typeface="Courier"/>
              </a:rPr>
              <a:t> PUBLIC_PATHS</a:t>
            </a:r>
            <a:r>
              <a:rPr>
                <a:solidFill>
                  <a:srgbClr val="666666"/>
                </a:solidFill>
                <a:latin typeface="Courier"/>
              </a:rPr>
              <a:t>)</a:t>
            </a:r>
            <a:r>
              <a:rPr>
                <a:latin typeface="Courier"/>
              </a:rPr>
              <a:t> return</a:t>
            </a:r>
            <a:r>
              <a:rPr>
                <a:solidFill>
                  <a:srgbClr val="7D9029"/>
                </a:solidFill>
                <a:latin typeface="Courier"/>
              </a:rPr>
              <a:t>@onCall</a:t>
            </a:r>
            <a:br/>
            <a:br/>
            <a:r>
              <a:rPr>
                <a:latin typeface="Courier"/>
              </a:rPr>
              <a:t>    </a:t>
            </a:r>
            <a:r>
              <a:rPr b="1">
                <a:solidFill>
                  <a:srgbClr val="007020"/>
                </a:solidFill>
                <a:latin typeface="Courier"/>
              </a:rPr>
              <a:t>val</a:t>
            </a:r>
            <a:r>
              <a:rPr>
                <a:latin typeface="Courier"/>
              </a:rPr>
              <a:t> </a:t>
            </a:r>
            <a:r>
              <a:rPr>
                <a:solidFill>
                  <a:srgbClr val="19177C"/>
                </a:solidFill>
                <a:latin typeface="Courier"/>
              </a:rPr>
              <a:t>token</a:t>
            </a:r>
            <a:r>
              <a:rPr>
                <a:latin typeface="Courier"/>
              </a:rPr>
              <a:t> </a:t>
            </a:r>
            <a:r>
              <a:rPr>
                <a:solidFill>
                  <a:srgbClr val="666666"/>
                </a:solidFill>
                <a:latin typeface="Courier"/>
              </a:rPr>
              <a:t>=</a:t>
            </a:r>
            <a:r>
              <a:rPr>
                <a:latin typeface="Courier"/>
              </a:rPr>
              <a:t> extractBearerToken</a:t>
            </a:r>
            <a:r>
              <a:rPr>
                <a:solidFill>
                  <a:srgbClr val="666666"/>
                </a:solidFill>
                <a:latin typeface="Courier"/>
              </a:rPr>
              <a:t>(</a:t>
            </a:r>
            <a:r>
              <a:rPr>
                <a:latin typeface="Courier"/>
              </a:rPr>
              <a:t>call</a:t>
            </a:r>
            <a:r>
              <a:rPr>
                <a:solidFill>
                  <a:srgbClr val="666666"/>
                </a:solidFill>
                <a:latin typeface="Courier"/>
              </a:rPr>
              <a:t>)</a:t>
            </a: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token </a:t>
            </a:r>
            <a:r>
              <a:rPr>
                <a:solidFill>
                  <a:srgbClr val="666666"/>
                </a:solidFill>
                <a:latin typeface="Courier"/>
              </a:rPr>
              <a:t>==</a:t>
            </a:r>
            <a:r>
              <a:rPr>
                <a:latin typeface="Courier"/>
              </a:rPr>
              <a:t> </a:t>
            </a:r>
            <a:r>
              <a:rPr b="1">
                <a:solidFill>
                  <a:srgbClr val="007020"/>
                </a:solidFill>
                <a:latin typeface="Courier"/>
              </a:rPr>
              <a:t>null</a:t>
            </a:r>
            <a:r>
              <a:rPr>
                <a:solidFill>
                  <a:srgbClr val="666666"/>
                </a:solidFill>
                <a:latin typeface="Courier"/>
              </a:rPr>
              <a:t>)</a:t>
            </a:r>
            <a:r>
              <a:rPr>
                <a:latin typeface="Courier"/>
              </a:rPr>
              <a:t> </a:t>
            </a:r>
            <a:r>
              <a:rPr>
                <a:solidFill>
                  <a:srgbClr val="666666"/>
                </a:solidFill>
                <a:latin typeface="Courier"/>
              </a:rPr>
              <a:t>{</a:t>
            </a:r>
            <a:br/>
            <a:r>
              <a:rPr>
                <a:latin typeface="Courier"/>
              </a:rPr>
              <a:t>      call</a:t>
            </a:r>
            <a:r>
              <a:rPr>
                <a:solidFill>
                  <a:srgbClr val="666666"/>
                </a:solidFill>
                <a:latin typeface="Courier"/>
              </a:rPr>
              <a:t>.</a:t>
            </a:r>
            <a:r>
              <a:rPr>
                <a:latin typeface="Courier"/>
              </a:rPr>
              <a:t>respond</a:t>
            </a:r>
            <a:r>
              <a:rPr>
                <a:solidFill>
                  <a:srgbClr val="666666"/>
                </a:solidFill>
                <a:latin typeface="Courier"/>
              </a:rPr>
              <a:t>(</a:t>
            </a:r>
            <a:r>
              <a:rPr>
                <a:latin typeface="Courier"/>
              </a:rPr>
              <a:t>HttpStatusCode</a:t>
            </a:r>
            <a:r>
              <a:rPr>
                <a:solidFill>
                  <a:srgbClr val="666666"/>
                </a:solidFill>
                <a:latin typeface="Courier"/>
              </a:rPr>
              <a:t>.</a:t>
            </a:r>
            <a:r>
              <a:rPr>
                <a:latin typeface="Courier"/>
              </a:rPr>
              <a:t>Unauthorized</a:t>
            </a:r>
            <a:r>
              <a:rPr>
                <a:solidFill>
                  <a:srgbClr val="666666"/>
                </a:solidFill>
                <a:latin typeface="Courier"/>
              </a:rPr>
              <a:t>,</a:t>
            </a:r>
            <a:br/>
            <a:r>
              <a:rPr>
                <a:latin typeface="Courier"/>
              </a:rPr>
              <a:t>        mapOf</a:t>
            </a:r>
            <a:r>
              <a:rPr>
                <a:solidFill>
                  <a:srgbClr val="666666"/>
                </a:solidFill>
                <a:latin typeface="Courier"/>
              </a:rPr>
              <a:t>(</a:t>
            </a:r>
            <a:r>
              <a:rPr>
                <a:solidFill>
                  <a:srgbClr val="4070A0"/>
                </a:solidFill>
                <a:latin typeface="Courier"/>
              </a:rPr>
              <a:t>"type"</a:t>
            </a:r>
            <a:r>
              <a:rPr>
                <a:latin typeface="Courier"/>
              </a:rPr>
              <a:t> to </a:t>
            </a:r>
            <a:r>
              <a:rPr>
                <a:solidFill>
                  <a:srgbClr val="4070A0"/>
                </a:solidFill>
                <a:latin typeface="Courier"/>
              </a:rPr>
              <a:t>"MISSING_TOKEN"</a:t>
            </a:r>
            <a:r>
              <a:rPr>
                <a:solidFill>
                  <a:srgbClr val="666666"/>
                </a:solidFill>
                <a:latin typeface="Courier"/>
              </a:rPr>
              <a:t>,</a:t>
            </a:r>
            <a:r>
              <a:rPr>
                <a:latin typeface="Courier"/>
              </a:rPr>
              <a:t> </a:t>
            </a:r>
            <a:r>
              <a:rPr>
                <a:solidFill>
                  <a:srgbClr val="4070A0"/>
                </a:solidFill>
                <a:latin typeface="Courier"/>
              </a:rPr>
              <a:t>"message"</a:t>
            </a:r>
            <a:r>
              <a:rPr>
                <a:latin typeface="Courier"/>
              </a:rPr>
              <a:t> to </a:t>
            </a:r>
            <a:r>
              <a:rPr>
                <a:solidFill>
                  <a:srgbClr val="4070A0"/>
                </a:solidFill>
                <a:latin typeface="Courier"/>
              </a:rPr>
              <a:t>"..."</a:t>
            </a:r>
            <a:r>
              <a:rPr>
                <a:solidFill>
                  <a:srgbClr val="666666"/>
                </a:solidFill>
                <a:latin typeface="Courier"/>
              </a:rPr>
              <a:t>))</a:t>
            </a:r>
            <a:br/>
            <a:r>
              <a:rPr>
                <a:latin typeface="Courier"/>
              </a:rPr>
              <a:t>      return</a:t>
            </a:r>
            <a:r>
              <a:rPr>
                <a:solidFill>
                  <a:srgbClr val="7D9029"/>
                </a:solidFill>
                <a:latin typeface="Courier"/>
              </a:rPr>
              <a:t>@onCall</a:t>
            </a:r>
            <a:br/>
            <a:r>
              <a:rPr>
                <a:latin typeface="Courier"/>
              </a:rPr>
              <a:t>    </a:t>
            </a:r>
            <a:r>
              <a:rPr>
                <a:solidFill>
                  <a:srgbClr val="666666"/>
                </a:solidFill>
                <a:latin typeface="Courier"/>
              </a:rPr>
              <a:t>}</a:t>
            </a:r>
            <a:br/>
            <a:r>
              <a:rPr>
                <a:latin typeface="Courier"/>
              </a:rPr>
              <a:t>    jwtService</a:t>
            </a:r>
            <a:r>
              <a:rPr>
                <a:solidFill>
                  <a:srgbClr val="666666"/>
                </a:solidFill>
                <a:latin typeface="Courier"/>
              </a:rPr>
              <a:t>.</a:t>
            </a:r>
            <a:r>
              <a:rPr>
                <a:latin typeface="Courier"/>
              </a:rPr>
              <a:t>validateToken</a:t>
            </a:r>
            <a:r>
              <a:rPr>
                <a:solidFill>
                  <a:srgbClr val="666666"/>
                </a:solidFill>
                <a:latin typeface="Courier"/>
              </a:rPr>
              <a:t>(</a:t>
            </a:r>
            <a:r>
              <a:rPr>
                <a:latin typeface="Courier"/>
              </a:rPr>
              <a:t>token</a:t>
            </a:r>
            <a:r>
              <a:rPr>
                <a:solidFill>
                  <a:srgbClr val="666666"/>
                </a:solidFill>
                <a:latin typeface="Courier"/>
              </a:rPr>
              <a:t>).</a:t>
            </a:r>
            <a:r>
              <a:rPr>
                <a:latin typeface="Courier"/>
              </a:rPr>
              <a:t>fold</a:t>
            </a:r>
            <a:r>
              <a:rPr>
                <a:solidFill>
                  <a:srgbClr val="666666"/>
                </a:solidFill>
                <a:latin typeface="Courier"/>
              </a:rPr>
              <a:t>(</a:t>
            </a:r>
            <a:br/>
            <a:r>
              <a:rPr i="1">
                <a:solidFill>
                  <a:srgbClr val="60A0B0"/>
                </a:solidFill>
                <a:latin typeface="Courier"/>
              </a:rPr>
              <a:t>// ...</a:t>
            </a:r>
          </a:p>
          <a:p>
            <a:pPr lvl="0" indent="0">
              <a:buNone/>
            </a:pPr>
            <a:r>
              <a:rPr i="1">
                <a:solidFill>
                  <a:srgbClr val="60A0B0"/>
                </a:solidFill>
                <a:latin typeface="Courier"/>
              </a:rPr>
              <a:t>// infrastructure/technical/auth/SupabaseJwtService.kt</a:t>
            </a:r>
            <a:br/>
            <a:r>
              <a:rPr b="1">
                <a:solidFill>
                  <a:srgbClr val="007020"/>
                </a:solidFill>
                <a:latin typeface="Courier"/>
              </a:rPr>
              <a:t>class</a:t>
            </a:r>
            <a:r>
              <a:rPr>
                <a:latin typeface="Courier"/>
              </a:rPr>
              <a:t> SupabaseJwtService</a:t>
            </a:r>
            <a:r>
              <a:rPr>
                <a:solidFill>
                  <a:srgbClr val="666666"/>
                </a:solidFill>
                <a:latin typeface="Courier"/>
              </a:rPr>
              <a:t>(</a:t>
            </a:r>
            <a:r>
              <a:rPr b="1">
                <a:solidFill>
                  <a:srgbClr val="007020"/>
                </a:solidFill>
                <a:latin typeface="Courier"/>
              </a:rPr>
              <a:t>private</a:t>
            </a:r>
            <a:r>
              <a:rPr>
                <a:latin typeface="Courier"/>
              </a:rPr>
              <a:t> </a:t>
            </a:r>
            <a:r>
              <a:rPr b="1">
                <a:solidFill>
                  <a:srgbClr val="007020"/>
                </a:solidFill>
                <a:latin typeface="Courier"/>
              </a:rPr>
              <a:t>val</a:t>
            </a:r>
            <a:r>
              <a:rPr>
                <a:latin typeface="Courier"/>
              </a:rPr>
              <a:t> </a:t>
            </a:r>
            <a:r>
              <a:rPr>
                <a:solidFill>
                  <a:srgbClr val="19177C"/>
                </a:solidFill>
                <a:latin typeface="Courier"/>
              </a:rPr>
              <a:t>config</a:t>
            </a:r>
            <a:r>
              <a:rPr>
                <a:solidFill>
                  <a:srgbClr val="666666"/>
                </a:solidFill>
                <a:latin typeface="Courier"/>
              </a:rPr>
              <a:t>:</a:t>
            </a:r>
            <a:r>
              <a:rPr>
                <a:latin typeface="Courier"/>
              </a:rPr>
              <a:t> </a:t>
            </a:r>
            <a:r>
              <a:rPr>
                <a:solidFill>
                  <a:srgbClr val="902000"/>
                </a:solidFill>
                <a:latin typeface="Courier"/>
              </a:rPr>
              <a:t>SupabaseJwtConfig</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b="1">
                <a:solidFill>
                  <a:srgbClr val="007020"/>
                </a:solidFill>
                <a:latin typeface="Courier"/>
              </a:rPr>
              <a:t>val</a:t>
            </a:r>
            <a:r>
              <a:rPr>
                <a:latin typeface="Courier"/>
              </a:rPr>
              <a:t> </a:t>
            </a:r>
            <a:r>
              <a:rPr>
                <a:solidFill>
                  <a:srgbClr val="19177C"/>
                </a:solidFill>
                <a:latin typeface="Courier"/>
              </a:rPr>
              <a:t>algorithm</a:t>
            </a:r>
            <a:r>
              <a:rPr>
                <a:latin typeface="Courier"/>
              </a:rPr>
              <a:t> </a:t>
            </a:r>
            <a:r>
              <a:rPr>
                <a:solidFill>
                  <a:srgbClr val="666666"/>
                </a:solidFill>
                <a:latin typeface="Courier"/>
              </a:rPr>
              <a:t>=</a:t>
            </a:r>
            <a:r>
              <a:rPr>
                <a:latin typeface="Courier"/>
              </a:rPr>
              <a:t> Algorithm</a:t>
            </a:r>
            <a:r>
              <a:rPr>
                <a:solidFill>
                  <a:srgbClr val="666666"/>
                </a:solidFill>
                <a:latin typeface="Courier"/>
              </a:rPr>
              <a:t>.</a:t>
            </a:r>
            <a:r>
              <a:rPr>
                <a:latin typeface="Courier"/>
              </a:rPr>
              <a:t>HMAC256</a:t>
            </a:r>
            <a:r>
              <a:rPr>
                <a:solidFill>
                  <a:srgbClr val="666666"/>
                </a:solidFill>
                <a:latin typeface="Courier"/>
              </a:rPr>
              <a:t>(</a:t>
            </a:r>
            <a:r>
              <a:rPr>
                <a:latin typeface="Courier"/>
              </a:rPr>
              <a:t>config</a:t>
            </a:r>
            <a:r>
              <a:rPr>
                <a:solidFill>
                  <a:srgbClr val="666666"/>
                </a:solidFill>
                <a:latin typeface="Courier"/>
              </a:rPr>
              <a:t>.</a:t>
            </a:r>
            <a:r>
              <a:rPr>
                <a:latin typeface="Courier"/>
              </a:rPr>
              <a:t>jwtSecret</a:t>
            </a:r>
            <a:r>
              <a:rPr>
                <a:solidFill>
                  <a:srgbClr val="666666"/>
                </a:solidFill>
                <a:latin typeface="Courier"/>
              </a:rPr>
              <a:t>)</a:t>
            </a:r>
            <a:br/>
            <a:r>
              <a:rPr>
                <a:latin typeface="Courier"/>
              </a:rPr>
              <a:t>  </a:t>
            </a:r>
            <a:r>
              <a:rPr b="1">
                <a:solidFill>
                  <a:srgbClr val="007020"/>
                </a:solidFill>
                <a:latin typeface="Courier"/>
              </a:rPr>
              <a:t>fun</a:t>
            </a:r>
            <a:r>
              <a:rPr>
                <a:latin typeface="Courier"/>
              </a:rPr>
              <a:t> </a:t>
            </a:r>
            <a:r>
              <a:rPr>
                <a:solidFill>
                  <a:srgbClr val="06287E"/>
                </a:solidFill>
                <a:latin typeface="Courier"/>
              </a:rPr>
              <a:t>validateToken</a:t>
            </a:r>
            <a:r>
              <a:rPr>
                <a:solidFill>
                  <a:srgbClr val="666666"/>
                </a:solidFill>
                <a:latin typeface="Courier"/>
              </a:rPr>
              <a:t>(</a:t>
            </a:r>
            <a:r>
              <a:rPr>
                <a:solidFill>
                  <a:srgbClr val="19177C"/>
                </a:solidFill>
                <a:latin typeface="Courier"/>
              </a:rPr>
              <a:t>token</a:t>
            </a:r>
            <a:r>
              <a:rPr>
                <a:solidFill>
                  <a:srgbClr val="666666"/>
                </a:solidFill>
                <a:latin typeface="Courier"/>
              </a:rPr>
              <a:t>:</a:t>
            </a:r>
            <a:r>
              <a:rPr>
                <a:latin typeface="Courier"/>
              </a:rPr>
              <a:t> </a:t>
            </a:r>
            <a:r>
              <a:rPr>
                <a:solidFill>
                  <a:srgbClr val="902000"/>
                </a:solidFill>
                <a:latin typeface="Courier"/>
              </a:rPr>
              <a:t>String</a:t>
            </a:r>
            <a:r>
              <a:rPr>
                <a:solidFill>
                  <a:srgbClr val="666666"/>
                </a:solidFill>
                <a:latin typeface="Courier"/>
              </a:rPr>
              <a:t>):</a:t>
            </a:r>
            <a:r>
              <a:rPr>
                <a:latin typeface="Courier"/>
              </a:rPr>
              <a:t> </a:t>
            </a:r>
            <a:r>
              <a:rPr>
                <a:solidFill>
                  <a:srgbClr val="902000"/>
                </a:solidFill>
                <a:latin typeface="Courier"/>
              </a:rPr>
              <a:t>Either</a:t>
            </a:r>
            <a:r>
              <a:rPr>
                <a:solidFill>
                  <a:srgbClr val="666666"/>
                </a:solidFill>
                <a:latin typeface="Courier"/>
              </a:rPr>
              <a:t>&lt;</a:t>
            </a:r>
            <a:r>
              <a:rPr>
                <a:solidFill>
                  <a:srgbClr val="902000"/>
                </a:solidFill>
                <a:latin typeface="Courier"/>
              </a:rPr>
              <a:t>Throwable</a:t>
            </a:r>
            <a:r>
              <a:rPr>
                <a:latin typeface="Courier"/>
              </a:rPr>
              <a:t>, </a:t>
            </a:r>
            <a:r>
              <a:rPr>
                <a:solidFill>
                  <a:srgbClr val="902000"/>
                </a:solidFill>
                <a:latin typeface="Courier"/>
              </a:rPr>
              <a:t>AuthenticatedUser</a:t>
            </a:r>
            <a:r>
              <a:rPr>
                <a:solidFill>
                  <a:srgbClr val="666666"/>
                </a:solidFill>
                <a:latin typeface="Courier"/>
              </a:rPr>
              <a:t>&gt;</a:t>
            </a:r>
            <a:r>
              <a:rPr>
                <a:latin typeface="Courier"/>
              </a:rPr>
              <a:t> </a:t>
            </a:r>
            <a:r>
              <a:rPr>
                <a:solidFill>
                  <a:srgbClr val="666666"/>
                </a:solidFill>
                <a:latin typeface="Courier"/>
              </a:rPr>
              <a:t>=</a:t>
            </a:r>
            <a:br/>
            <a:r>
              <a:rPr>
                <a:latin typeface="Courier"/>
              </a:rPr>
              <a:t>    Either</a:t>
            </a:r>
            <a:r>
              <a:rPr>
                <a:solidFill>
                  <a:srgbClr val="666666"/>
                </a:solidFill>
                <a:latin typeface="Courier"/>
              </a:rPr>
              <a:t>.</a:t>
            </a:r>
            <a:r>
              <a:rPr b="1">
                <a:solidFill>
                  <a:srgbClr val="007020"/>
                </a:solidFill>
                <a:latin typeface="Courier"/>
              </a:rPr>
              <a:t>catch</a:t>
            </a:r>
            <a:r>
              <a:rPr>
                <a:latin typeface="Courier"/>
              </a:rPr>
              <a:t> </a:t>
            </a:r>
            <a:r>
              <a:rPr>
                <a:solidFill>
                  <a:srgbClr val="666666"/>
                </a:solidFill>
                <a:latin typeface="Courier"/>
              </a:rPr>
              <a:t>{</a:t>
            </a:r>
            <a:br/>
            <a:r>
              <a:rPr>
                <a:latin typeface="Courier"/>
              </a:rPr>
              <a:t>      </a:t>
            </a:r>
            <a:r>
              <a:rPr b="1">
                <a:solidFill>
                  <a:srgbClr val="007020"/>
                </a:solidFill>
                <a:latin typeface="Courier"/>
              </a:rPr>
              <a:t>val</a:t>
            </a:r>
            <a:r>
              <a:rPr>
                <a:latin typeface="Courier"/>
              </a:rPr>
              <a:t> </a:t>
            </a:r>
            <a:r>
              <a:rPr>
                <a:solidFill>
                  <a:srgbClr val="19177C"/>
                </a:solidFill>
                <a:latin typeface="Courier"/>
              </a:rPr>
              <a:t>verifier</a:t>
            </a:r>
            <a:r>
              <a:rPr>
                <a:latin typeface="Courier"/>
              </a:rPr>
              <a:t> </a:t>
            </a:r>
            <a:r>
              <a:rPr>
                <a:solidFill>
                  <a:srgbClr val="666666"/>
                </a:solidFill>
                <a:latin typeface="Courier"/>
              </a:rPr>
              <a:t>=</a:t>
            </a:r>
            <a:r>
              <a:rPr>
                <a:latin typeface="Courier"/>
              </a:rPr>
              <a:t> JWT</a:t>
            </a:r>
            <a:r>
              <a:rPr>
                <a:solidFill>
                  <a:srgbClr val="666666"/>
                </a:solidFill>
                <a:latin typeface="Courier"/>
              </a:rPr>
              <a:t>.</a:t>
            </a:r>
            <a:r>
              <a:rPr>
                <a:latin typeface="Courier"/>
              </a:rPr>
              <a:t>require</a:t>
            </a:r>
            <a:r>
              <a:rPr>
                <a:solidFill>
                  <a:srgbClr val="666666"/>
                </a:solidFill>
                <a:latin typeface="Courier"/>
              </a:rPr>
              <a:t>(</a:t>
            </a:r>
            <a:r>
              <a:rPr>
                <a:latin typeface="Courier"/>
              </a:rPr>
              <a:t>algorithm</a:t>
            </a:r>
            <a:r>
              <a:rPr>
                <a:solidFill>
                  <a:srgbClr val="666666"/>
                </a:solidFill>
                <a:latin typeface="Courier"/>
              </a:rPr>
              <a:t>)</a:t>
            </a:r>
            <a:br/>
            <a:r>
              <a:rPr>
                <a:latin typeface="Courier"/>
              </a:rPr>
              <a:t>        </a:t>
            </a:r>
            <a:r>
              <a:rPr>
                <a:solidFill>
                  <a:srgbClr val="666666"/>
                </a:solidFill>
                <a:latin typeface="Courier"/>
              </a:rPr>
              <a:t>.</a:t>
            </a:r>
            <a:r>
              <a:rPr>
                <a:latin typeface="Courier"/>
              </a:rPr>
              <a:t>withIssuer</a:t>
            </a:r>
            <a:r>
              <a:rPr>
                <a:solidFill>
                  <a:srgbClr val="666666"/>
                </a:solidFill>
                <a:latin typeface="Courier"/>
              </a:rPr>
              <a:t>(</a:t>
            </a:r>
            <a:r>
              <a:rPr>
                <a:latin typeface="Courier"/>
              </a:rPr>
              <a:t>config</a:t>
            </a:r>
            <a:r>
              <a:rPr>
                <a:solidFill>
                  <a:srgbClr val="666666"/>
                </a:solidFill>
                <a:latin typeface="Courier"/>
              </a:rPr>
              <a:t>.</a:t>
            </a:r>
            <a:r>
              <a:rPr>
                <a:latin typeface="Courier"/>
              </a:rPr>
              <a:t>issuer</a:t>
            </a:r>
            <a:r>
              <a:rPr>
                <a:solidFill>
                  <a:srgbClr val="666666"/>
                </a:solidFill>
                <a:latin typeface="Courier"/>
              </a:rPr>
              <a:t>).</a:t>
            </a:r>
            <a:r>
              <a:rPr>
                <a:latin typeface="Courier"/>
              </a:rPr>
              <a:t>withAudience</a:t>
            </a:r>
            <a:r>
              <a:rPr>
                <a:solidFill>
                  <a:srgbClr val="666666"/>
                </a:solidFill>
                <a:latin typeface="Courier"/>
              </a:rPr>
              <a:t>(</a:t>
            </a:r>
            <a:r>
              <a:rPr>
                <a:latin typeface="Courier"/>
              </a:rPr>
              <a:t>config</a:t>
            </a:r>
            <a:r>
              <a:rPr>
                <a:solidFill>
                  <a:srgbClr val="666666"/>
                </a:solidFill>
                <a:latin typeface="Courier"/>
              </a:rPr>
              <a:t>.</a:t>
            </a:r>
            <a:r>
              <a:rPr>
                <a:latin typeface="Courier"/>
              </a:rPr>
              <a:t>audience</a:t>
            </a:r>
            <a:r>
              <a:rPr>
                <a:solidFill>
                  <a:srgbClr val="666666"/>
                </a:solidFill>
                <a:latin typeface="Courier"/>
              </a:rPr>
              <a:t>).</a:t>
            </a:r>
            <a:r>
              <a:rPr>
                <a:latin typeface="Courier"/>
              </a:rPr>
              <a:t>build</a:t>
            </a:r>
            <a:r>
              <a:rPr>
                <a:solidFill>
                  <a:srgbClr val="666666"/>
                </a:solidFill>
                <a:latin typeface="Courier"/>
              </a:rPr>
              <a:t>()</a:t>
            </a:r>
            <a:br/>
            <a:r>
              <a:rPr>
                <a:latin typeface="Courier"/>
              </a:rPr>
              <a:t>      </a:t>
            </a:r>
            <a:r>
              <a:rPr b="1">
                <a:solidFill>
                  <a:srgbClr val="007020"/>
                </a:solidFill>
                <a:latin typeface="Courier"/>
              </a:rPr>
              <a:t>val</a:t>
            </a:r>
            <a:r>
              <a:rPr>
                <a:latin typeface="Courier"/>
              </a:rPr>
              <a:t> </a:t>
            </a:r>
            <a:r>
              <a:rPr>
                <a:solidFill>
                  <a:srgbClr val="19177C"/>
                </a:solidFill>
                <a:latin typeface="Courier"/>
              </a:rPr>
              <a:t>jwt</a:t>
            </a:r>
            <a:r>
              <a:rPr>
                <a:latin typeface="Courier"/>
              </a:rPr>
              <a:t> </a:t>
            </a:r>
            <a:r>
              <a:rPr>
                <a:solidFill>
                  <a:srgbClr val="666666"/>
                </a:solidFill>
                <a:latin typeface="Courier"/>
              </a:rPr>
              <a:t>=</a:t>
            </a:r>
            <a:r>
              <a:rPr>
                <a:latin typeface="Courier"/>
              </a:rPr>
              <a:t> verifier</a:t>
            </a:r>
            <a:r>
              <a:rPr>
                <a:solidFill>
                  <a:srgbClr val="666666"/>
                </a:solidFill>
                <a:latin typeface="Courier"/>
              </a:rPr>
              <a:t>.</a:t>
            </a:r>
            <a:r>
              <a:rPr>
                <a:latin typeface="Courier"/>
              </a:rPr>
              <a:t>verify</a:t>
            </a:r>
            <a:r>
              <a:rPr>
                <a:solidFill>
                  <a:srgbClr val="666666"/>
                </a:solidFill>
                <a:latin typeface="Courier"/>
              </a:rPr>
              <a:t>(</a:t>
            </a:r>
            <a:r>
              <a:rPr>
                <a:latin typeface="Courier"/>
              </a:rPr>
              <a:t>token</a:t>
            </a:r>
            <a:r>
              <a:rPr>
                <a:solidFill>
                  <a:srgbClr val="666666"/>
                </a:solidFill>
                <a:latin typeface="Courier"/>
              </a:rPr>
              <a:t>)</a:t>
            </a:r>
            <a:br/>
            <a:r>
              <a:rPr>
                <a:latin typeface="Courier"/>
              </a:rPr>
              <a:t>      AuthenticatedUser</a:t>
            </a:r>
            <a:r>
              <a:rPr>
                <a:solidFill>
                  <a:srgbClr val="666666"/>
                </a:solidFill>
                <a:latin typeface="Courier"/>
              </a:rPr>
              <a:t>(</a:t>
            </a:r>
            <a:r>
              <a:rPr>
                <a:latin typeface="Courier"/>
              </a:rPr>
              <a:t>userId </a:t>
            </a:r>
            <a:r>
              <a:rPr>
                <a:solidFill>
                  <a:srgbClr val="666666"/>
                </a:solidFill>
                <a:latin typeface="Courier"/>
              </a:rPr>
              <a:t>=</a:t>
            </a:r>
            <a:r>
              <a:rPr>
                <a:latin typeface="Courier"/>
              </a:rPr>
              <a:t> jwt</a:t>
            </a:r>
            <a:r>
              <a:rPr>
                <a:solidFill>
                  <a:srgbClr val="666666"/>
                </a:solidFill>
                <a:latin typeface="Courier"/>
              </a:rPr>
              <a:t>.</a:t>
            </a:r>
            <a:r>
              <a:rPr>
                <a:latin typeface="Courier"/>
              </a:rPr>
              <a:t>subject</a:t>
            </a:r>
            <a:r>
              <a:rPr>
                <a:solidFill>
                  <a:srgbClr val="666666"/>
                </a:solidFill>
                <a:latin typeface="Courier"/>
              </a:rPr>
              <a:t>,</a:t>
            </a:r>
            <a:r>
              <a:rPr>
                <a:latin typeface="Courier"/>
              </a:rPr>
              <a:t> email </a:t>
            </a:r>
            <a:r>
              <a:rPr>
                <a:solidFill>
                  <a:srgbClr val="666666"/>
                </a:solidFill>
                <a:latin typeface="Courier"/>
              </a:rPr>
              <a:t>=</a:t>
            </a:r>
            <a:r>
              <a:rPr>
                <a:latin typeface="Courier"/>
              </a:rPr>
              <a:t> jwt</a:t>
            </a:r>
            <a:r>
              <a:rPr>
                <a:solidFill>
                  <a:srgbClr val="666666"/>
                </a:solidFill>
                <a:latin typeface="Courier"/>
              </a:rPr>
              <a:t>.</a:t>
            </a:r>
            <a:r>
              <a:rPr>
                <a:latin typeface="Courier"/>
              </a:rPr>
              <a:t>getClaim</a:t>
            </a:r>
            <a:r>
              <a:rPr>
                <a:solidFill>
                  <a:srgbClr val="666666"/>
                </a:solidFill>
                <a:latin typeface="Courier"/>
              </a:rPr>
              <a:t>(</a:t>
            </a:r>
            <a:r>
              <a:rPr>
                <a:solidFill>
                  <a:srgbClr val="4070A0"/>
                </a:solidFill>
                <a:latin typeface="Courier"/>
              </a:rPr>
              <a:t>"email"</a:t>
            </a:r>
            <a:r>
              <a:rPr>
                <a:solidFill>
                  <a:srgbClr val="666666"/>
                </a:solidFill>
                <a:latin typeface="Courier"/>
              </a:rPr>
              <a:t>).</a:t>
            </a:r>
            <a:r>
              <a:rPr>
                <a:latin typeface="Courier"/>
              </a:rPr>
              <a:t>asString</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a:p>
            <a:pPr lvl="0"/>
            <a:r>
              <a:rPr b="1"/>
              <a:t>Plugin Ktor custom</a:t>
            </a:r>
            <a:r>
              <a:rPr/>
              <a:t> : contrôle total sur le flux d’authentification</a:t>
            </a:r>
          </a:p>
          <a:p>
            <a:pPr lvl="0"/>
            <a:r>
              <a:rPr b="1"/>
              <a:t>Triple validation</a:t>
            </a:r>
            <a:r>
              <a:rPr/>
              <a:t> : issuer + audience + expiration</a:t>
            </a:r>
          </a:p>
          <a:p>
            <a:pPr lvl="0"/>
            <a:r>
              <a:rPr b="1"/>
              <a:t>Secret</a:t>
            </a:r>
            <a:r>
              <a:rPr/>
              <a:t> en variable d’environnement, jamais dans le code</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Endpoint REST : CreateEventEndpoint</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infrastructure/event/create/driving/CreateEventEndpoint.kt</a:t>
            </a:r>
            <a:br/>
            <a:br/>
            <a:r>
              <a:rPr b="1">
                <a:solidFill>
                  <a:srgbClr val="007020"/>
                </a:solidFill>
                <a:latin typeface="Courier"/>
              </a:rPr>
              <a:t>fun</a:t>
            </a:r>
            <a:r>
              <a:rPr>
                <a:latin typeface="Courier"/>
              </a:rPr>
              <a:t> </a:t>
            </a:r>
            <a:r>
              <a:rPr>
                <a:solidFill>
                  <a:srgbClr val="06287E"/>
                </a:solidFill>
                <a:latin typeface="Courier"/>
              </a:rPr>
              <a:t>Route</a:t>
            </a:r>
            <a:r>
              <a:rPr>
                <a:solidFill>
                  <a:srgbClr val="666666"/>
                </a:solidFill>
                <a:latin typeface="Courier"/>
              </a:rPr>
              <a:t>.</a:t>
            </a:r>
            <a:r>
              <a:rPr>
                <a:solidFill>
                  <a:srgbClr val="06287E"/>
                </a:solidFill>
                <a:latin typeface="Courier"/>
              </a:rPr>
              <a:t>createEventEndpoint</a:t>
            </a:r>
            <a:r>
              <a:rPr>
                <a:solidFill>
                  <a:srgbClr val="666666"/>
                </a:solidFill>
                <a:latin typeface="Courier"/>
              </a:rPr>
              <a:t>(</a:t>
            </a:r>
            <a:r>
              <a:rPr>
                <a:solidFill>
                  <a:srgbClr val="19177C"/>
                </a:solidFill>
                <a:latin typeface="Courier"/>
              </a:rPr>
              <a:t>createEventUseCase</a:t>
            </a:r>
            <a:r>
              <a:rPr>
                <a:solidFill>
                  <a:srgbClr val="666666"/>
                </a:solidFill>
                <a:latin typeface="Courier"/>
              </a:rPr>
              <a:t>:</a:t>
            </a:r>
            <a:r>
              <a:rPr>
                <a:latin typeface="Courier"/>
              </a:rPr>
              <a:t> </a:t>
            </a:r>
            <a:r>
              <a:rPr>
                <a:solidFill>
                  <a:srgbClr val="902000"/>
                </a:solidFill>
                <a:latin typeface="Courier"/>
              </a:rPr>
              <a:t>CreateEventUseCase</a:t>
            </a:r>
            <a:r>
              <a:rPr>
                <a:solidFill>
                  <a:srgbClr val="666666"/>
                </a:solidFill>
                <a:latin typeface="Courier"/>
              </a:rPr>
              <a:t>)</a:t>
            </a:r>
            <a:r>
              <a:rPr>
                <a:latin typeface="Courier"/>
              </a:rPr>
              <a:t> </a:t>
            </a:r>
            <a:r>
              <a:rPr>
                <a:solidFill>
                  <a:srgbClr val="666666"/>
                </a:solidFill>
                <a:latin typeface="Courier"/>
              </a:rPr>
              <a:t>=</a:t>
            </a:r>
            <a:r>
              <a:rPr>
                <a:latin typeface="Courier"/>
              </a:rPr>
              <a:t> route</a:t>
            </a:r>
            <a:r>
              <a:rPr>
                <a:solidFill>
                  <a:srgbClr val="666666"/>
                </a:solidFill>
                <a:latin typeface="Courier"/>
              </a:rPr>
              <a:t>(</a:t>
            </a:r>
            <a:r>
              <a:rPr>
                <a:solidFill>
                  <a:srgbClr val="4070A0"/>
                </a:solidFill>
                <a:latin typeface="Courier"/>
              </a:rPr>
              <a:t>""</a:t>
            </a:r>
            <a:r>
              <a:rPr>
                <a:solidFill>
                  <a:srgbClr val="666666"/>
                </a:solidFill>
                <a:latin typeface="Courier"/>
              </a:rPr>
              <a:t>)</a:t>
            </a:r>
            <a:r>
              <a:rPr>
                <a:latin typeface="Courier"/>
              </a:rPr>
              <a:t> </a:t>
            </a:r>
            <a:r>
              <a:rPr>
                <a:solidFill>
                  <a:srgbClr val="666666"/>
                </a:solidFill>
                <a:latin typeface="Courier"/>
              </a:rPr>
              <a:t>{</a:t>
            </a:r>
            <a:br/>
            <a:r>
              <a:rPr>
                <a:latin typeface="Courier"/>
              </a:rPr>
              <a:t>  post </a:t>
            </a:r>
            <a:r>
              <a:rPr>
                <a:solidFill>
                  <a:srgbClr val="666666"/>
                </a:solidFill>
                <a:latin typeface="Courier"/>
              </a:rPr>
              <a:t>{</a:t>
            </a:r>
            <a:br/>
            <a:r>
              <a:rPr>
                <a:latin typeface="Courier"/>
              </a:rPr>
              <a:t>    Either</a:t>
            </a:r>
            <a:r>
              <a:rPr>
                <a:solidFill>
                  <a:srgbClr val="666666"/>
                </a:solidFill>
                <a:latin typeface="Courier"/>
              </a:rPr>
              <a:t>.</a:t>
            </a:r>
            <a:r>
              <a:rPr b="1">
                <a:solidFill>
                  <a:srgbClr val="007020"/>
                </a:solidFill>
                <a:latin typeface="Courier"/>
              </a:rPr>
              <a:t>catch</a:t>
            </a:r>
            <a:r>
              <a:rPr>
                <a:latin typeface="Courier"/>
              </a:rPr>
              <a:t> </a:t>
            </a:r>
            <a:r>
              <a:rPr>
                <a:solidFill>
                  <a:srgbClr val="666666"/>
                </a:solidFill>
                <a:latin typeface="Courier"/>
              </a:rPr>
              <a:t>{</a:t>
            </a:r>
            <a:br/>
            <a:r>
              <a:rPr>
                <a:latin typeface="Courier"/>
              </a:rPr>
              <a:t>      </a:t>
            </a:r>
            <a:r>
              <a:rPr b="1">
                <a:solidFill>
                  <a:srgbClr val="007020"/>
                </a:solidFill>
                <a:latin typeface="Courier"/>
              </a:rPr>
              <a:t>val</a:t>
            </a:r>
            <a:r>
              <a:rPr>
                <a:latin typeface="Courier"/>
              </a:rPr>
              <a:t> </a:t>
            </a:r>
            <a:r>
              <a:rPr>
                <a:solidFill>
                  <a:srgbClr val="19177C"/>
                </a:solidFill>
                <a:latin typeface="Courier"/>
              </a:rPr>
              <a:t>user</a:t>
            </a:r>
            <a:r>
              <a:rPr>
                <a:latin typeface="Courier"/>
              </a:rPr>
              <a:t> </a:t>
            </a:r>
            <a:r>
              <a:rPr>
                <a:solidFill>
                  <a:srgbClr val="666666"/>
                </a:solidFill>
                <a:latin typeface="Courier"/>
              </a:rPr>
              <a:t>=</a:t>
            </a:r>
            <a:r>
              <a:rPr>
                <a:latin typeface="Courier"/>
              </a:rPr>
              <a:t> call</a:t>
            </a:r>
            <a:r>
              <a:rPr>
                <a:solidFill>
                  <a:srgbClr val="666666"/>
                </a:solidFill>
                <a:latin typeface="Courier"/>
              </a:rPr>
              <a:t>.</a:t>
            </a:r>
            <a:r>
              <a:rPr>
                <a:latin typeface="Courier"/>
              </a:rPr>
              <a:t>authenticatedUser</a:t>
            </a:r>
            <a:r>
              <a:rPr>
                <a:solidFill>
                  <a:srgbClr val="666666"/>
                </a:solidFill>
                <a:latin typeface="Courier"/>
              </a:rPr>
              <a:t>()</a:t>
            </a:r>
            <a:r>
              <a:rPr>
                <a:latin typeface="Courier"/>
              </a:rPr>
              <a:t>          </a:t>
            </a:r>
            <a:r>
              <a:rPr i="1">
                <a:solidFill>
                  <a:srgbClr val="60A0B0"/>
                </a:solidFill>
                <a:latin typeface="Courier"/>
              </a:rPr>
              <a:t>// Extraction utilisateur JWT</a:t>
            </a:r>
            <a:br/>
            <a:r>
              <a:rPr>
                <a:latin typeface="Courier"/>
              </a:rPr>
              <a:t>      </a:t>
            </a:r>
            <a:r>
              <a:rPr b="1">
                <a:solidFill>
                  <a:srgbClr val="007020"/>
                </a:solidFill>
                <a:latin typeface="Courier"/>
              </a:rPr>
              <a:t>val</a:t>
            </a:r>
            <a:r>
              <a:rPr>
                <a:latin typeface="Courier"/>
              </a:rPr>
              <a:t> </a:t>
            </a:r>
            <a:r>
              <a:rPr>
                <a:solidFill>
                  <a:srgbClr val="19177C"/>
                </a:solidFill>
                <a:latin typeface="Courier"/>
              </a:rPr>
              <a:t>requestDto</a:t>
            </a:r>
            <a:r>
              <a:rPr>
                <a:latin typeface="Courier"/>
              </a:rPr>
              <a:t> </a:t>
            </a:r>
            <a:r>
              <a:rPr>
                <a:solidFill>
                  <a:srgbClr val="666666"/>
                </a:solidFill>
                <a:latin typeface="Courier"/>
              </a:rPr>
              <a:t>=</a:t>
            </a:r>
            <a:r>
              <a:rPr>
                <a:latin typeface="Courier"/>
              </a:rPr>
              <a:t> call</a:t>
            </a:r>
            <a:r>
              <a:rPr>
                <a:solidFill>
                  <a:srgbClr val="666666"/>
                </a:solidFill>
                <a:latin typeface="Courier"/>
              </a:rPr>
              <a:t>.</a:t>
            </a:r>
            <a:r>
              <a:rPr>
                <a:latin typeface="Courier"/>
              </a:rPr>
              <a:t>receive</a:t>
            </a:r>
            <a:r>
              <a:rPr>
                <a:solidFill>
                  <a:srgbClr val="666666"/>
                </a:solidFill>
                <a:latin typeface="Courier"/>
              </a:rPr>
              <a:t>&lt;</a:t>
            </a:r>
            <a:r>
              <a:rPr>
                <a:latin typeface="Courier"/>
              </a:rPr>
              <a:t>CreateEventRequestDto</a:t>
            </a:r>
            <a:r>
              <a:rPr>
                <a:solidFill>
                  <a:srgbClr val="666666"/>
                </a:solidFill>
                <a:latin typeface="Courier"/>
              </a:rPr>
              <a:t>&gt;()</a:t>
            </a:r>
            <a:br/>
            <a:r>
              <a:rPr>
                <a:latin typeface="Courier"/>
              </a:rPr>
              <a:t>      requestDto</a:t>
            </a:r>
            <a:r>
              <a:rPr>
                <a:solidFill>
                  <a:srgbClr val="666666"/>
                </a:solidFill>
                <a:latin typeface="Courier"/>
              </a:rPr>
              <a:t>.</a:t>
            </a:r>
            <a:r>
              <a:rPr>
                <a:latin typeface="Courier"/>
              </a:rPr>
              <a:t>toDomain</a:t>
            </a:r>
            <a:r>
              <a:rPr>
                <a:solidFill>
                  <a:srgbClr val="666666"/>
                </a:solidFill>
                <a:latin typeface="Courier"/>
              </a:rPr>
              <a:t>(</a:t>
            </a:r>
            <a:r>
              <a:rPr>
                <a:latin typeface="Courier"/>
              </a:rPr>
              <a:t>user</a:t>
            </a:r>
            <a:r>
              <a:rPr>
                <a:solidFill>
                  <a:srgbClr val="666666"/>
                </a:solidFill>
                <a:latin typeface="Courier"/>
              </a:rPr>
              <a:t>.</a:t>
            </a:r>
            <a:r>
              <a:rPr>
                <a:latin typeface="Courier"/>
              </a:rPr>
              <a:t>email</a:t>
            </a:r>
            <a:r>
              <a:rPr>
                <a:solidFill>
                  <a:srgbClr val="666666"/>
                </a:solidFill>
                <a:latin typeface="Courier"/>
              </a:rPr>
              <a:t>)</a:t>
            </a:r>
            <a:r>
              <a:rPr>
                <a:latin typeface="Courier"/>
              </a:rPr>
              <a:t>              </a:t>
            </a:r>
            <a:r>
              <a:rPr i="1">
                <a:solidFill>
                  <a:srgbClr val="60A0B0"/>
                </a:solidFill>
                <a:latin typeface="Courier"/>
              </a:rPr>
              <a:t>// Conversion DTO → domaine</a:t>
            </a:r>
            <a:br/>
            <a:r>
              <a:rPr>
                <a:latin typeface="Courier"/>
              </a:rPr>
              <a:t>    </a:t>
            </a:r>
            <a:r>
              <a:rPr>
                <a:solidFill>
                  <a:srgbClr val="666666"/>
                </a:solidFill>
                <a:latin typeface="Courier"/>
              </a:rPr>
              <a:t>}</a:t>
            </a:r>
            <a:br/>
            <a:r>
              <a:rPr>
                <a:latin typeface="Courier"/>
              </a:rPr>
              <a:t>      </a:t>
            </a:r>
            <a:r>
              <a:rPr>
                <a:solidFill>
                  <a:srgbClr val="666666"/>
                </a:solidFill>
                <a:latin typeface="Courier"/>
              </a:rPr>
              <a:t>.</a:t>
            </a:r>
            <a:r>
              <a:rPr>
                <a:latin typeface="Courier"/>
              </a:rPr>
              <a:t>mapLeft </a:t>
            </a:r>
            <a:r>
              <a:rPr>
                <a:solidFill>
                  <a:srgbClr val="666666"/>
                </a:solidFill>
                <a:latin typeface="Courier"/>
              </a:rPr>
              <a:t>{</a:t>
            </a:r>
            <a:r>
              <a:rPr>
                <a:latin typeface="Courier"/>
              </a:rPr>
              <a:t> BadRequestException</a:t>
            </a:r>
            <a:r>
              <a:rPr>
                <a:solidFill>
                  <a:srgbClr val="666666"/>
                </a:solidFill>
                <a:latin typeface="Courier"/>
              </a:rPr>
              <a:t>.</a:t>
            </a:r>
            <a:r>
              <a:rPr>
                <a:latin typeface="Courier"/>
              </a:rPr>
              <a:t>InvalidBodyException</a:t>
            </a:r>
            <a:r>
              <a:rPr>
                <a:solidFill>
                  <a:srgbClr val="666666"/>
                </a:solidFill>
                <a:latin typeface="Courier"/>
              </a:rPr>
              <a:t>(</a:t>
            </a:r>
            <a:r>
              <a:rPr>
                <a:latin typeface="Courier"/>
              </a:rPr>
              <a:t>it</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666666"/>
                </a:solidFill>
                <a:latin typeface="Courier"/>
              </a:rPr>
              <a:t>.</a:t>
            </a:r>
            <a:r>
              <a:rPr>
                <a:latin typeface="Courier"/>
              </a:rPr>
              <a:t>flatMap </a:t>
            </a:r>
            <a:r>
              <a:rPr>
                <a:solidFill>
                  <a:srgbClr val="666666"/>
                </a:solidFill>
                <a:latin typeface="Courier"/>
              </a:rPr>
              <a:t>{</a:t>
            </a:r>
            <a:r>
              <a:rPr>
                <a:latin typeface="Courier"/>
              </a:rPr>
              <a:t> request </a:t>
            </a:r>
            <a:r>
              <a:rPr>
                <a:solidFill>
                  <a:srgbClr val="666666"/>
                </a:solidFill>
                <a:latin typeface="Courier"/>
              </a:rPr>
              <a:t>-&gt;</a:t>
            </a:r>
            <a:r>
              <a:rPr>
                <a:latin typeface="Courier"/>
              </a:rPr>
              <a:t> createEventUseCase</a:t>
            </a:r>
            <a:r>
              <a:rPr>
                <a:solidFill>
                  <a:srgbClr val="666666"/>
                </a:solidFill>
                <a:latin typeface="Courier"/>
              </a:rPr>
              <a:t>.</a:t>
            </a:r>
            <a:r>
              <a:rPr>
                <a:latin typeface="Courier"/>
              </a:rPr>
              <a:t>create</a:t>
            </a:r>
            <a:r>
              <a:rPr>
                <a:solidFill>
                  <a:srgbClr val="666666"/>
                </a:solidFill>
                <a:latin typeface="Courier"/>
              </a:rPr>
              <a:t>(</a:t>
            </a:r>
            <a:r>
              <a:rPr>
                <a:latin typeface="Courier"/>
              </a:rPr>
              <a:t>request</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666666"/>
                </a:solidFill>
                <a:latin typeface="Courier"/>
              </a:rPr>
              <a:t>.</a:t>
            </a:r>
            <a:r>
              <a:rPr>
                <a:latin typeface="Courier"/>
              </a:rPr>
              <a:t>map </a:t>
            </a:r>
            <a:r>
              <a:rPr>
                <a:solidFill>
                  <a:srgbClr val="666666"/>
                </a:solidFill>
                <a:latin typeface="Courier"/>
              </a:rPr>
              <a:t>{</a:t>
            </a:r>
            <a:r>
              <a:rPr>
                <a:latin typeface="Courier"/>
              </a:rPr>
              <a:t> it</a:t>
            </a:r>
            <a:r>
              <a:rPr>
                <a:solidFill>
                  <a:srgbClr val="666666"/>
                </a:solidFill>
                <a:latin typeface="Courier"/>
              </a:rPr>
              <a:t>.</a:t>
            </a:r>
            <a:r>
              <a:rPr>
                <a:latin typeface="Courier"/>
              </a:rPr>
              <a:t>toDto</a:t>
            </a:r>
            <a:r>
              <a:rPr>
                <a:solidFill>
                  <a:srgbClr val="666666"/>
                </a:solidFill>
                <a:latin typeface="Courier"/>
              </a:rPr>
              <a:t>()</a:t>
            </a:r>
            <a:r>
              <a:rPr>
                <a:latin typeface="Courier"/>
              </a:rPr>
              <a:t> </a:t>
            </a:r>
            <a:r>
              <a:rPr>
                <a:solidFill>
                  <a:srgbClr val="666666"/>
                </a:solidFill>
                <a:latin typeface="Courier"/>
              </a:rPr>
              <a:t>}</a:t>
            </a:r>
            <a:r>
              <a:rPr>
                <a:latin typeface="Courier"/>
              </a:rPr>
              <a:t>                          </a:t>
            </a:r>
            <a:r>
              <a:rPr i="1">
                <a:solidFill>
                  <a:srgbClr val="60A0B0"/>
                </a:solidFill>
                <a:latin typeface="Courier"/>
              </a:rPr>
              <a:t>// Conversion domaine → DTO réponse</a:t>
            </a:r>
            <a:br/>
            <a:r>
              <a:rPr>
                <a:latin typeface="Courier"/>
              </a:rPr>
              <a:t>      </a:t>
            </a:r>
            <a:r>
              <a:rPr>
                <a:solidFill>
                  <a:srgbClr val="666666"/>
                </a:solidFill>
                <a:latin typeface="Courier"/>
              </a:rPr>
              <a:t>.</a:t>
            </a:r>
            <a:r>
              <a:rPr>
                <a:latin typeface="Courier"/>
              </a:rPr>
              <a:t>fold</a:t>
            </a:r>
            <a:r>
              <a:rPr>
                <a:solidFill>
                  <a:srgbClr val="666666"/>
                </a:solidFill>
                <a:latin typeface="Courier"/>
              </a:rPr>
              <a:t>(</a:t>
            </a:r>
            <a:br/>
            <a:r>
              <a:rPr>
                <a:latin typeface="Courier"/>
              </a:rPr>
              <a:t>        </a:t>
            </a:r>
            <a:r>
              <a:rPr>
                <a:solidFill>
                  <a:srgbClr val="666666"/>
                </a:solidFill>
                <a:latin typeface="Courier"/>
              </a:rPr>
              <a:t>{</a:t>
            </a:r>
            <a:r>
              <a:rPr>
                <a:latin typeface="Courier"/>
              </a:rPr>
              <a:t> it</a:t>
            </a:r>
            <a:r>
              <a:rPr>
                <a:solidFill>
                  <a:srgbClr val="666666"/>
                </a:solidFill>
                <a:latin typeface="Courier"/>
              </a:rPr>
              <a:t>.</a:t>
            </a:r>
            <a:r>
              <a:rPr>
                <a:latin typeface="Courier"/>
              </a:rPr>
              <a:t>handleFailure</a:t>
            </a:r>
            <a:r>
              <a:rPr>
                <a:solidFill>
                  <a:srgbClr val="666666"/>
                </a:solidFill>
                <a:latin typeface="Courier"/>
              </a:rPr>
              <a:t>(</a:t>
            </a:r>
            <a:r>
              <a:rPr>
                <a:latin typeface="Courier"/>
              </a:rPr>
              <a:t>call</a:t>
            </a:r>
            <a:r>
              <a:rPr>
                <a:solidFill>
                  <a:srgbClr val="666666"/>
                </a:solidFill>
                <a:latin typeface="Courier"/>
              </a:rPr>
              <a:t>)</a:t>
            </a:r>
            <a:r>
              <a:rPr>
                <a:latin typeface="Courier"/>
              </a:rPr>
              <a:t> </a:t>
            </a:r>
            <a:r>
              <a:rPr>
                <a:solidFill>
                  <a:srgbClr val="666666"/>
                </a:solidFill>
                <a:latin typeface="Courier"/>
              </a:rPr>
              <a:t>},</a:t>
            </a:r>
            <a:r>
              <a:rPr>
                <a:latin typeface="Courier"/>
              </a:rPr>
              <a:t>                </a:t>
            </a:r>
            <a:r>
              <a:rPr i="1">
                <a:solidFill>
                  <a:srgbClr val="60A0B0"/>
                </a:solidFill>
                <a:latin typeface="Courier"/>
              </a:rPr>
              <a:t>// Gestion d'erreur</a:t>
            </a:r>
            <a:br/>
            <a:r>
              <a:rPr>
                <a:latin typeface="Courier"/>
              </a:rPr>
              <a:t>        </a:t>
            </a:r>
            <a:r>
              <a:rPr>
                <a:solidFill>
                  <a:srgbClr val="666666"/>
                </a:solidFill>
                <a:latin typeface="Courier"/>
              </a:rPr>
              <a:t>{</a:t>
            </a:r>
            <a:r>
              <a:rPr>
                <a:latin typeface="Courier"/>
              </a:rPr>
              <a:t> call</a:t>
            </a:r>
            <a:r>
              <a:rPr>
                <a:solidFill>
                  <a:srgbClr val="666666"/>
                </a:solidFill>
                <a:latin typeface="Courier"/>
              </a:rPr>
              <a:t>.</a:t>
            </a:r>
            <a:r>
              <a:rPr>
                <a:latin typeface="Courier"/>
              </a:rPr>
              <a:t>respond</a:t>
            </a:r>
            <a:r>
              <a:rPr>
                <a:solidFill>
                  <a:srgbClr val="666666"/>
                </a:solidFill>
                <a:latin typeface="Courier"/>
              </a:rPr>
              <a:t>(</a:t>
            </a:r>
            <a:r>
              <a:rPr>
                <a:latin typeface="Courier"/>
              </a:rPr>
              <a:t>HttpStatusCode</a:t>
            </a:r>
            <a:r>
              <a:rPr>
                <a:solidFill>
                  <a:srgbClr val="666666"/>
                </a:solidFill>
                <a:latin typeface="Courier"/>
              </a:rPr>
              <a:t>.</a:t>
            </a:r>
            <a:r>
              <a:rPr>
                <a:latin typeface="Courier"/>
              </a:rPr>
              <a:t>Created</a:t>
            </a:r>
            <a:r>
              <a:rPr>
                <a:solidFill>
                  <a:srgbClr val="666666"/>
                </a:solidFill>
                <a:latin typeface="Courier"/>
              </a:rPr>
              <a:t>,</a:t>
            </a:r>
            <a:r>
              <a:rPr>
                <a:latin typeface="Courier"/>
              </a:rPr>
              <a:t> it</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a:p>
            <a:pPr lvl="0"/>
            <a:r>
              <a:rPr>
                <a:latin typeface="Courier"/>
              </a:rPr>
              <a:t>Either.catch</a:t>
            </a:r>
            <a:r>
              <a:rPr/>
              <a:t> capture les exceptions de désérialisation → erreur typée</a:t>
            </a:r>
          </a:p>
          <a:p>
            <a:pPr lvl="0"/>
            <a:r>
              <a:rPr>
                <a:latin typeface="Courier"/>
              </a:rPr>
              <a:t>flatMap</a:t>
            </a:r>
            <a:r>
              <a:rPr/>
              <a:t> chaîne le use case : si désérialisation échoue, use case non appelé</a:t>
            </a:r>
          </a:p>
          <a:p>
            <a:pPr lvl="0"/>
            <a:r>
              <a:rPr>
                <a:latin typeface="Courier"/>
              </a:rPr>
              <a:t>toDomain()</a:t>
            </a:r>
            <a:r>
              <a:rPr/>
              <a:t> / </a:t>
            </a:r>
            <a:r>
              <a:rPr>
                <a:latin typeface="Courier"/>
              </a:rPr>
              <a:t>toDto()</a:t>
            </a:r>
            <a:r>
              <a:rPr/>
              <a:t> : isolation objets API ↔ objets domaine</a:t>
            </a:r>
          </a:p>
          <a:p>
            <a:pPr lvl="0"/>
            <a:r>
              <a:rPr>
                <a:latin typeface="Courier"/>
              </a:rPr>
              <a:t>fold</a:t>
            </a:r>
            <a:r>
              <a:rPr/>
              <a:t> sépare le chemin d’erreur du chemin de succès</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b="1">
                <a:solidFill>
                  <a:srgbClr val="3D5A6C"/>
                </a:solidFill>
              </a:rPr>
              <a:t>Gestion des erreurs HTTP</a:t>
            </a:r>
          </a:p>
        </p:txBody>
      </p:sp>
      <p:sp>
        <p:nvSpPr>
          <p:cNvPr id="4" name="Text Placeholder 3"/>
          <p:cNvSpPr>
            <a:spLocks noGrp="1"/>
          </p:cNvSpPr>
          <p:nvPr>
            <p:ph idx="2" sz="half" type="body"/>
          </p:nvPr>
        </p:nvSpPr>
        <p:spPr/>
        <p:txBody>
          <a:bodyPr/>
          <a:lstStyle/>
          <a:p>
            <a:pPr lvl="0" indent="0">
              <a:buNone/>
            </a:pPr>
            <a:r>
              <a:rPr i="1">
                <a:solidFill>
                  <a:srgbClr val="60A0B0"/>
                </a:solidFill>
                <a:latin typeface="Courier"/>
              </a:rPr>
              <a:t>// infrastructure/contribution/add/driving/AddContributionEndpoint.kt</a:t>
            </a:r>
            <a:br/>
            <a:br/>
            <a:r>
              <a:rPr b="1">
                <a:solidFill>
                  <a:srgbClr val="007020"/>
                </a:solidFill>
                <a:latin typeface="Courier"/>
              </a:rPr>
              <a:t>private</a:t>
            </a:r>
            <a:r>
              <a:rPr>
                <a:latin typeface="Courier"/>
              </a:rPr>
              <a:t> suspend </a:t>
            </a:r>
            <a:r>
              <a:rPr b="1">
                <a:solidFill>
                  <a:srgbClr val="007020"/>
                </a:solidFill>
                <a:latin typeface="Courier"/>
              </a:rPr>
              <a:t>fun</a:t>
            </a:r>
            <a:r>
              <a:rPr>
                <a:latin typeface="Courier"/>
              </a:rPr>
              <a:t> </a:t>
            </a:r>
            <a:r>
              <a:rPr>
                <a:solidFill>
                  <a:srgbClr val="06287E"/>
                </a:solidFill>
                <a:latin typeface="Courier"/>
              </a:rPr>
              <a:t>AddContributionException</a:t>
            </a:r>
            <a:r>
              <a:rPr>
                <a:solidFill>
                  <a:srgbClr val="666666"/>
                </a:solidFill>
                <a:latin typeface="Courier"/>
              </a:rPr>
              <a:t>.</a:t>
            </a:r>
            <a:r>
              <a:rPr>
                <a:solidFill>
                  <a:srgbClr val="06287E"/>
                </a:solidFill>
                <a:latin typeface="Courier"/>
              </a:rPr>
              <a:t>handleAddContributionFailure</a:t>
            </a:r>
            <a:r>
              <a:rPr>
                <a:solidFill>
                  <a:srgbClr val="666666"/>
                </a:solidFill>
                <a:latin typeface="Courier"/>
              </a:rPr>
              <a:t>(</a:t>
            </a:r>
            <a:br/>
            <a:r>
              <a:rPr>
                <a:latin typeface="Courier"/>
              </a:rPr>
              <a:t>  </a:t>
            </a:r>
            <a:r>
              <a:rPr>
                <a:solidFill>
                  <a:srgbClr val="19177C"/>
                </a:solidFill>
                <a:latin typeface="Courier"/>
              </a:rPr>
              <a:t>call</a:t>
            </a:r>
            <a:r>
              <a:rPr>
                <a:solidFill>
                  <a:srgbClr val="666666"/>
                </a:solidFill>
                <a:latin typeface="Courier"/>
              </a:rPr>
              <a:t>:</a:t>
            </a:r>
            <a:r>
              <a:rPr>
                <a:latin typeface="Courier"/>
              </a:rPr>
              <a:t> </a:t>
            </a:r>
            <a:r>
              <a:rPr>
                <a:solidFill>
                  <a:srgbClr val="902000"/>
                </a:solidFill>
                <a:latin typeface="Courier"/>
              </a:rPr>
              <a:t>ApplicationCall</a:t>
            </a:r>
            <a:b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val</a:t>
            </a:r>
            <a:r>
              <a:rPr>
                <a:latin typeface="Courier"/>
              </a:rPr>
              <a:t> </a:t>
            </a:r>
            <a:r>
              <a:rPr>
                <a:solidFill>
                  <a:srgbClr val="19177C"/>
                </a:solidFill>
                <a:latin typeface="Courier"/>
              </a:rPr>
              <a:t>rootCause</a:t>
            </a:r>
            <a:r>
              <a:rPr>
                <a:latin typeface="Courier"/>
              </a:rPr>
              <a:t> </a:t>
            </a:r>
            <a:r>
              <a:rPr>
                <a:solidFill>
                  <a:srgbClr val="666666"/>
                </a:solidFill>
                <a:latin typeface="Courier"/>
              </a:rPr>
              <a:t>=</a:t>
            </a:r>
            <a:r>
              <a:rPr>
                <a:latin typeface="Courier"/>
              </a:rPr>
              <a:t> generateSequence</a:t>
            </a:r>
            <a:r>
              <a:rPr>
                <a:solidFill>
                  <a:srgbClr val="666666"/>
                </a:solidFill>
                <a:latin typeface="Courier"/>
              </a:rPr>
              <a:t>&lt;</a:t>
            </a:r>
            <a:r>
              <a:rPr>
                <a:latin typeface="Courier"/>
              </a:rPr>
              <a:t>Throwable</a:t>
            </a:r>
            <a:r>
              <a:rPr>
                <a:solidFill>
                  <a:srgbClr val="666666"/>
                </a:solidFill>
                <a:latin typeface="Courier"/>
              </a:rPr>
              <a:t>&gt;(</a:t>
            </a:r>
            <a:r>
              <a:rPr b="1">
                <a:solidFill>
                  <a:srgbClr val="007020"/>
                </a:solidFill>
                <a:latin typeface="Courier"/>
              </a:rPr>
              <a:t>this</a:t>
            </a:r>
            <a:r>
              <a:rPr>
                <a:solidFill>
                  <a:srgbClr val="666666"/>
                </a:solidFill>
                <a:latin typeface="Courier"/>
              </a:rPr>
              <a:t>.</a:t>
            </a:r>
            <a:r>
              <a:rPr>
                <a:latin typeface="Courier"/>
              </a:rPr>
              <a:t>cause</a:t>
            </a:r>
            <a:r>
              <a:rPr>
                <a:solidFill>
                  <a:srgbClr val="666666"/>
                </a:solidFill>
                <a:latin typeface="Courier"/>
              </a:rPr>
              <a:t>)</a:t>
            </a:r>
            <a:r>
              <a:rPr>
                <a:latin typeface="Courier"/>
              </a:rPr>
              <a:t> </a:t>
            </a:r>
            <a:r>
              <a:rPr>
                <a:solidFill>
                  <a:srgbClr val="666666"/>
                </a:solidFill>
                <a:latin typeface="Courier"/>
              </a:rPr>
              <a:t>{</a:t>
            </a:r>
            <a:r>
              <a:rPr>
                <a:latin typeface="Courier"/>
              </a:rPr>
              <a:t> it</a:t>
            </a:r>
            <a:r>
              <a:rPr>
                <a:solidFill>
                  <a:srgbClr val="666666"/>
                </a:solidFill>
                <a:latin typeface="Courier"/>
              </a:rPr>
              <a:t>.</a:t>
            </a:r>
            <a:r>
              <a:rPr>
                <a:latin typeface="Courier"/>
              </a:rPr>
              <a:t>cause </a:t>
            </a:r>
            <a:r>
              <a:rPr>
                <a:solidFill>
                  <a:srgbClr val="666666"/>
                </a:solidFill>
                <a:latin typeface="Courier"/>
              </a:rPr>
              <a:t>}.</a:t>
            </a:r>
            <a:r>
              <a:rPr>
                <a:latin typeface="Courier"/>
              </a:rPr>
              <a:t>lastOrNull</a:t>
            </a:r>
            <a:r>
              <a:rPr>
                <a:solidFill>
                  <a:srgbClr val="666666"/>
                </a:solidFill>
                <a:latin typeface="Courier"/>
              </a:rPr>
              <a:t>()</a:t>
            </a:r>
            <a:br/>
            <a:r>
              <a:rPr>
                <a:latin typeface="Courier"/>
              </a:rPr>
              <a:t>  </a:t>
            </a:r>
            <a:r>
              <a:rPr b="1">
                <a:solidFill>
                  <a:srgbClr val="007020"/>
                </a:solidFill>
                <a:latin typeface="Courier"/>
              </a:rPr>
              <a:t>when</a:t>
            </a:r>
            <a:r>
              <a:rPr>
                <a:latin typeface="Courier"/>
              </a:rPr>
              <a:t> </a:t>
            </a:r>
            <a:r>
              <a:rPr>
                <a:solidFill>
                  <a:srgbClr val="666666"/>
                </a:solidFill>
                <a:latin typeface="Courier"/>
              </a:rPr>
              <a:t>(</a:t>
            </a:r>
            <a:r>
              <a:rPr>
                <a:latin typeface="Courier"/>
              </a:rPr>
              <a:t>rootCause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is</a:t>
            </a:r>
            <a:r>
              <a:rPr>
                <a:latin typeface="Courier"/>
              </a:rPr>
              <a:t> OptimisticLockException </a:t>
            </a:r>
            <a:r>
              <a:rPr>
                <a:solidFill>
                  <a:srgbClr val="666666"/>
                </a:solidFill>
                <a:latin typeface="Courier"/>
              </a:rPr>
              <a:t>-&gt;</a:t>
            </a:r>
            <a:r>
              <a:rPr>
                <a:latin typeface="Courier"/>
              </a:rPr>
              <a:t> call</a:t>
            </a:r>
            <a:r>
              <a:rPr>
                <a:solidFill>
                  <a:srgbClr val="666666"/>
                </a:solidFill>
                <a:latin typeface="Courier"/>
              </a:rPr>
              <a:t>.</a:t>
            </a:r>
            <a:r>
              <a:rPr>
                <a:latin typeface="Courier"/>
              </a:rPr>
              <a:t>logAndRespond</a:t>
            </a:r>
            <a:r>
              <a:rPr>
                <a:solidFill>
                  <a:srgbClr val="666666"/>
                </a:solidFill>
                <a:latin typeface="Courier"/>
              </a:rPr>
              <a:t>(</a:t>
            </a:r>
            <a:br/>
            <a:r>
              <a:rPr>
                <a:latin typeface="Courier"/>
              </a:rPr>
              <a:t>      status </a:t>
            </a:r>
            <a:r>
              <a:rPr>
                <a:solidFill>
                  <a:srgbClr val="666666"/>
                </a:solidFill>
                <a:latin typeface="Courier"/>
              </a:rPr>
              <a:t>=</a:t>
            </a:r>
            <a:r>
              <a:rPr>
                <a:latin typeface="Courier"/>
              </a:rPr>
              <a:t> HttpStatusCode</a:t>
            </a:r>
            <a:r>
              <a:rPr>
                <a:solidFill>
                  <a:srgbClr val="666666"/>
                </a:solidFill>
                <a:latin typeface="Courier"/>
              </a:rPr>
              <a:t>.</a:t>
            </a:r>
            <a:r>
              <a:rPr>
                <a:latin typeface="Courier"/>
              </a:rPr>
              <a:t>Conflict</a:t>
            </a:r>
            <a:r>
              <a:rPr>
                <a:solidFill>
                  <a:srgbClr val="666666"/>
                </a:solidFill>
                <a:latin typeface="Courier"/>
              </a:rPr>
              <a:t>,</a:t>
            </a:r>
            <a:br/>
            <a:r>
              <a:rPr>
                <a:latin typeface="Courier"/>
              </a:rPr>
              <a:t>      responseMessage </a:t>
            </a:r>
            <a:r>
              <a:rPr>
                <a:solidFill>
                  <a:srgbClr val="666666"/>
                </a:solidFill>
                <a:latin typeface="Courier"/>
              </a:rPr>
              <a:t>=</a:t>
            </a:r>
            <a:r>
              <a:rPr>
                <a:latin typeface="Courier"/>
              </a:rPr>
              <a:t> ClientErrorMessage</a:t>
            </a:r>
            <a:r>
              <a:rPr>
                <a:solidFill>
                  <a:srgbClr val="666666"/>
                </a:solidFill>
                <a:latin typeface="Courier"/>
              </a:rPr>
              <a:t>.</a:t>
            </a:r>
            <a:r>
              <a:rPr>
                <a:latin typeface="Courier"/>
              </a:rPr>
              <a:t>of</a:t>
            </a:r>
            <a:r>
              <a:rPr>
                <a:solidFill>
                  <a:srgbClr val="666666"/>
                </a:solidFill>
                <a:latin typeface="Courier"/>
              </a:rPr>
              <a:t>(</a:t>
            </a:r>
            <a:br/>
            <a:r>
              <a:rPr>
                <a:latin typeface="Courier"/>
              </a:rPr>
              <a:t>        type </a:t>
            </a:r>
            <a:r>
              <a:rPr>
                <a:solidFill>
                  <a:srgbClr val="666666"/>
                </a:solidFill>
                <a:latin typeface="Courier"/>
              </a:rPr>
              <a:t>=</a:t>
            </a:r>
            <a:r>
              <a:rPr>
                <a:latin typeface="Courier"/>
              </a:rPr>
              <a:t> </a:t>
            </a:r>
            <a:r>
              <a:rPr>
                <a:solidFill>
                  <a:srgbClr val="4070A0"/>
                </a:solidFill>
                <a:latin typeface="Courier"/>
              </a:rPr>
              <a:t>"OPTIMISTIC_LOCK_FAILURE"</a:t>
            </a:r>
            <a:r>
              <a:rPr>
                <a:solidFill>
                  <a:srgbClr val="666666"/>
                </a:solidFill>
                <a:latin typeface="Courier"/>
              </a:rPr>
              <a:t>,</a:t>
            </a:r>
            <a:br/>
            <a:r>
              <a:rPr>
                <a:latin typeface="Courier"/>
              </a:rPr>
              <a:t>        detail </a:t>
            </a:r>
            <a:r>
              <a:rPr>
                <a:solidFill>
                  <a:srgbClr val="666666"/>
                </a:solidFill>
                <a:latin typeface="Courier"/>
              </a:rPr>
              <a:t>=</a:t>
            </a:r>
            <a:r>
              <a:rPr>
                <a:latin typeface="Courier"/>
              </a:rPr>
              <a:t> </a:t>
            </a:r>
            <a:r>
              <a:rPr>
                <a:solidFill>
                  <a:srgbClr val="4070A0"/>
                </a:solidFill>
                <a:latin typeface="Courier"/>
              </a:rPr>
              <a:t>"Resource was modified. Please refresh and try again."</a:t>
            </a:r>
            <a:r>
              <a:rPr>
                <a:solidFill>
                  <a:srgbClr val="666666"/>
                </a:solidFill>
                <a:latin typeface="Courier"/>
              </a:rPr>
              <a:t>,</a:t>
            </a:r>
            <a:br/>
            <a:r>
              <a:rPr>
                <a:latin typeface="Courier"/>
              </a:rPr>
              <a:t>      </a:t>
            </a:r>
            <a:r>
              <a:rPr>
                <a:solidFill>
                  <a:srgbClr val="666666"/>
                </a:solidFill>
                <a:latin typeface="Courier"/>
              </a:rPr>
              <a:t>),</a:t>
            </a:r>
            <a:br/>
            <a:r>
              <a:rPr>
                <a:latin typeface="Courier"/>
              </a:rPr>
              <a:t>      failure </a:t>
            </a:r>
            <a:r>
              <a:rPr>
                <a:solidFill>
                  <a:srgbClr val="666666"/>
                </a:solidFill>
                <a:latin typeface="Courier"/>
              </a:rPr>
              <a:t>=</a:t>
            </a:r>
            <a:r>
              <a:rPr>
                <a:latin typeface="Courier"/>
              </a:rPr>
              <a:t> </a:t>
            </a:r>
            <a:r>
              <a:rPr b="1">
                <a:solidFill>
                  <a:srgbClr val="007020"/>
                </a:solidFill>
                <a:latin typeface="Courier"/>
              </a:rPr>
              <a:t>this</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else</a:t>
            </a:r>
            <a:r>
              <a:rPr>
                <a:latin typeface="Courier"/>
              </a:rPr>
              <a:t> </a:t>
            </a:r>
            <a:r>
              <a:rPr>
                <a:solidFill>
                  <a:srgbClr val="666666"/>
                </a:solidFill>
                <a:latin typeface="Courier"/>
              </a:rPr>
              <a:t>-&gt;</a:t>
            </a:r>
            <a:r>
              <a:rPr>
                <a:latin typeface="Courier"/>
              </a:rPr>
              <a:t> call</a:t>
            </a:r>
            <a:r>
              <a:rPr>
                <a:solidFill>
                  <a:srgbClr val="666666"/>
                </a:solidFill>
                <a:latin typeface="Courier"/>
              </a:rPr>
              <a:t>.</a:t>
            </a:r>
            <a:r>
              <a:rPr>
                <a:latin typeface="Courier"/>
              </a:rPr>
              <a:t>logAndRespond</a:t>
            </a:r>
            <a:r>
              <a:rPr>
                <a:solidFill>
                  <a:srgbClr val="666666"/>
                </a:solidFill>
                <a:latin typeface="Courier"/>
              </a:rPr>
              <a:t>(</a:t>
            </a:r>
            <a:br/>
            <a:r>
              <a:rPr>
                <a:latin typeface="Courier"/>
              </a:rPr>
              <a:t>      status </a:t>
            </a:r>
            <a:r>
              <a:rPr>
                <a:solidFill>
                  <a:srgbClr val="666666"/>
                </a:solidFill>
                <a:latin typeface="Courier"/>
              </a:rPr>
              <a:t>=</a:t>
            </a:r>
            <a:r>
              <a:rPr>
                <a:latin typeface="Courier"/>
              </a:rPr>
              <a:t> HttpStatusCode</a:t>
            </a:r>
            <a:r>
              <a:rPr>
                <a:solidFill>
                  <a:srgbClr val="666666"/>
                </a:solidFill>
                <a:latin typeface="Courier"/>
              </a:rPr>
              <a:t>.</a:t>
            </a:r>
            <a:r>
              <a:rPr>
                <a:latin typeface="Courier"/>
              </a:rPr>
              <a:t>InternalServerError</a:t>
            </a:r>
            <a:r>
              <a:rPr>
                <a:solidFill>
                  <a:srgbClr val="666666"/>
                </a:solidFill>
                <a:latin typeface="Courier"/>
              </a:rPr>
              <a:t>,</a:t>
            </a:r>
            <a:br/>
            <a:r>
              <a:rPr>
                <a:latin typeface="Courier"/>
              </a:rPr>
              <a:t>      responseMessage </a:t>
            </a:r>
            <a:r>
              <a:rPr>
                <a:solidFill>
                  <a:srgbClr val="666666"/>
                </a:solidFill>
                <a:latin typeface="Courier"/>
              </a:rPr>
              <a:t>=</a:t>
            </a:r>
            <a:r>
              <a:rPr>
                <a:latin typeface="Courier"/>
              </a:rPr>
              <a:t> technicalErrorMessage</a:t>
            </a:r>
            <a:r>
              <a:rPr>
                <a:solidFill>
                  <a:srgbClr val="666666"/>
                </a:solidFill>
                <a:latin typeface="Courier"/>
              </a:rPr>
              <a:t>(),</a:t>
            </a:r>
            <a:br/>
            <a:r>
              <a:rPr i="1">
                <a:solidFill>
                  <a:srgbClr val="60A0B0"/>
                </a:solidFill>
                <a:latin typeface="Courier"/>
              </a:rPr>
              <a:t>// ...</a:t>
            </a:r>
          </a:p>
          <a:p>
            <a:pPr lvl="0" indent="0" marL="0">
              <a:buNone/>
            </a:pPr>
            <a:r>
              <a:rPr b="1"/>
              <a:t>Codes HTTP utilisés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Code</a:t>
                      </a:r>
                    </a:p>
                  </a:txBody>
                  <a:tcPr/>
                </a:tc>
                <a:tc>
                  <a:txBody>
                    <a:bodyPr/>
                    <a:lstStyle/>
                    <a:p>
                      <a:pPr lvl="0" indent="0" marL="0">
                        <a:buNone/>
                      </a:pPr>
                      <a:r>
                        <a:rPr/>
                        <a:t>Situation</a:t>
                      </a:r>
                    </a:p>
                  </a:txBody>
                  <a:tcPr/>
                </a:tc>
              </a:tr>
              <a:tr h="0">
                <a:tc>
                  <a:txBody>
                    <a:bodyPr/>
                    <a:lstStyle/>
                    <a:p>
                      <a:pPr lvl="0" indent="0" marL="0">
                        <a:buNone/>
                      </a:pPr>
                      <a:r>
                        <a:rPr>
                          <a:latin typeface="Courier"/>
                        </a:rPr>
                        <a:t>201</a:t>
                      </a:r>
                    </a:p>
                  </a:txBody>
                </a:tc>
                <a:tc>
                  <a:txBody>
                    <a:bodyPr/>
                    <a:lstStyle/>
                    <a:p>
                      <a:pPr lvl="0" indent="0" marL="0">
                        <a:buNone/>
                      </a:pPr>
                      <a:r>
                        <a:rPr/>
                        <a:t>Création réussie</a:t>
                      </a:r>
                    </a:p>
                  </a:txBody>
                </a:tc>
              </a:tr>
              <a:tr h="0">
                <a:tc>
                  <a:txBody>
                    <a:bodyPr/>
                    <a:lstStyle/>
                    <a:p>
                      <a:pPr lvl="0" indent="0" marL="0">
                        <a:buNone/>
                      </a:pPr>
                      <a:r>
                        <a:rPr>
                          <a:latin typeface="Courier"/>
                        </a:rPr>
                        <a:t>200</a:t>
                      </a:r>
                    </a:p>
                  </a:txBody>
                </a:tc>
                <a:tc>
                  <a:txBody>
                    <a:bodyPr/>
                    <a:lstStyle/>
                    <a:p>
                      <a:pPr lvl="0" indent="0" marL="0">
                        <a:buNone/>
                      </a:pPr>
                      <a:r>
                        <a:rPr/>
                        <a:t>Opération réussie</a:t>
                      </a:r>
                    </a:p>
                  </a:txBody>
                </a:tc>
              </a:tr>
              <a:tr h="0">
                <a:tc>
                  <a:txBody>
                    <a:bodyPr/>
                    <a:lstStyle/>
                    <a:p>
                      <a:pPr lvl="0" indent="0" marL="0">
                        <a:buNone/>
                      </a:pPr>
                      <a:r>
                        <a:rPr>
                          <a:latin typeface="Courier"/>
                        </a:rPr>
                        <a:t>400</a:t>
                      </a:r>
                    </a:p>
                  </a:txBody>
                </a:tc>
                <a:tc>
                  <a:txBody>
                    <a:bodyPr/>
                    <a:lstStyle/>
                    <a:p>
                      <a:pPr lvl="0" indent="0" marL="0">
                        <a:buNone/>
                      </a:pPr>
                      <a:r>
                        <a:rPr/>
                        <a:t>Requête invalide (body mal formé)</a:t>
                      </a:r>
                    </a:p>
                  </a:txBody>
                </a:tc>
              </a:tr>
              <a:tr h="0">
                <a:tc>
                  <a:txBody>
                    <a:bodyPr/>
                    <a:lstStyle/>
                    <a:p>
                      <a:pPr lvl="0" indent="0" marL="0">
                        <a:buNone/>
                      </a:pPr>
                      <a:r>
                        <a:rPr>
                          <a:latin typeface="Courier"/>
                        </a:rPr>
                        <a:t>401</a:t>
                      </a:r>
                    </a:p>
                  </a:txBody>
                </a:tc>
                <a:tc>
                  <a:txBody>
                    <a:bodyPr/>
                    <a:lstStyle/>
                    <a:p>
                      <a:pPr lvl="0" indent="0" marL="0">
                        <a:buNone/>
                      </a:pPr>
                      <a:r>
                        <a:rPr/>
                        <a:t>Token JWT manquant ou invalide</a:t>
                      </a:r>
                    </a:p>
                  </a:txBody>
                </a:tc>
              </a:tr>
              <a:tr h="0">
                <a:tc>
                  <a:txBody>
                    <a:bodyPr/>
                    <a:lstStyle/>
                    <a:p>
                      <a:pPr lvl="0" indent="0" marL="0">
                        <a:buNone/>
                      </a:pPr>
                      <a:r>
                        <a:rPr>
                          <a:latin typeface="Courier"/>
                        </a:rPr>
                        <a:t>403</a:t>
                      </a:r>
                    </a:p>
                  </a:txBody>
                </a:tc>
                <a:tc>
                  <a:txBody>
                    <a:bodyPr/>
                    <a:lstStyle/>
                    <a:p>
                      <a:pPr lvl="0" indent="0" marL="0">
                        <a:buNone/>
                      </a:pPr>
                      <a:r>
                        <a:rPr/>
                        <a:t>Action non autorisée</a:t>
                      </a:r>
                    </a:p>
                  </a:txBody>
                </a:tc>
              </a:tr>
              <a:tr h="0">
                <a:tc>
                  <a:txBody>
                    <a:bodyPr/>
                    <a:lstStyle/>
                    <a:p>
                      <a:pPr lvl="0" indent="0" marL="0">
                        <a:buNone/>
                      </a:pPr>
                      <a:r>
                        <a:rPr>
                          <a:latin typeface="Courier"/>
                        </a:rPr>
                        <a:t>409</a:t>
                      </a:r>
                    </a:p>
                  </a:txBody>
                </a:tc>
                <a:tc>
                  <a:txBody>
                    <a:bodyPr/>
                    <a:lstStyle/>
                    <a:p>
                      <a:pPr lvl="0" indent="0" marL="0">
                        <a:buNone/>
                      </a:pPr>
                      <a:r>
                        <a:rPr/>
                        <a:t>Conflit (verrou optimiste, nom dupliqué)</a:t>
                      </a:r>
                    </a:p>
                  </a:txBody>
                </a:tc>
              </a:tr>
              <a:tr h="0">
                <a:tc>
                  <a:txBody>
                    <a:bodyPr/>
                    <a:lstStyle/>
                    <a:p>
                      <a:pPr lvl="0" indent="0" marL="0">
                        <a:buNone/>
                      </a:pPr>
                      <a:r>
                        <a:rPr>
                          <a:latin typeface="Courier"/>
                        </a:rPr>
                        <a:t>500</a:t>
                      </a:r>
                    </a:p>
                  </a:txBody>
                </a:tc>
                <a:tc>
                  <a:txBody>
                    <a:bodyPr/>
                    <a:lstStyle/>
                    <a:p>
                      <a:pPr lvl="0" indent="0" marL="0">
                        <a:buNone/>
                      </a:pPr>
                      <a:r>
                        <a:rPr/>
                        <a:t>Erreur technique (message générique)</a:t>
                      </a:r>
                    </a:p>
                  </a:txBody>
                </a:tc>
              </a:tr>
            </a:tbl>
          </a:graphicData>
        </a:graphic>
      </p:graphicFrame>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Authentification et autorisation</a:t>
            </a:r>
          </a:p>
        </p:txBody>
      </p:sp>
      <p:pic>
        <p:nvPicPr>
          <p:cNvPr descr="mermaid-images/diagram_7.png" id="0" name="Picture 1"/>
          <p:cNvPicPr>
            <a:picLocks noGrp="1" noChangeAspect="1"/>
          </p:cNvPicPr>
          <p:nvPr/>
        </p:nvPicPr>
        <p:blipFill>
          <a:blip r:embed="rId2"/>
          <a:stretch>
            <a:fillRect/>
          </a:stretch>
        </p:blipFill>
        <p:spPr bwMode="auto">
          <a:xfrm>
            <a:off x="2032000" y="1193800"/>
            <a:ext cx="50800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Diagramme</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Sécurité applicative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3467100"/>
                <a:gridCol w="4762500"/>
              </a:tblGrid>
              <a:tr h="0">
                <a:tc>
                  <a:txBody>
                    <a:bodyPr/>
                    <a:lstStyle/>
                    <a:p>
                      <a:pPr lvl="0" indent="0" marL="0">
                        <a:buNone/>
                      </a:pPr>
                      <a:r>
                        <a:rPr/>
                        <a:t>Menace</a:t>
                      </a:r>
                    </a:p>
                  </a:txBody>
                  <a:tcPr/>
                </a:tc>
                <a:tc>
                  <a:txBody>
                    <a:bodyPr/>
                    <a:lstStyle/>
                    <a:p>
                      <a:pPr lvl="0" indent="0" marL="0">
                        <a:buNone/>
                      </a:pPr>
                      <a:r>
                        <a:rPr/>
                        <a:t>Protection</a:t>
                      </a:r>
                    </a:p>
                  </a:txBody>
                  <a:tcPr/>
                </a:tc>
              </a:tr>
              <a:tr h="0">
                <a:tc>
                  <a:txBody>
                    <a:bodyPr/>
                    <a:lstStyle/>
                    <a:p>
                      <a:pPr lvl="0" indent="0" marL="0">
                        <a:buNone/>
                      </a:pPr>
                      <a:r>
                        <a:rPr b="1"/>
                        <a:t>Injection SQL</a:t>
                      </a:r>
                    </a:p>
                  </a:txBody>
                </a:tc>
                <a:tc>
                  <a:txBody>
                    <a:bodyPr/>
                    <a:lstStyle/>
                    <a:p>
                      <a:pPr lvl="0" indent="0" marL="0">
                        <a:buNone/>
                      </a:pPr>
                      <a:r>
                        <a:rPr/>
                        <a:t>Exposed ORM — requêtes paramétrées exclusivement</a:t>
                      </a:r>
                    </a:p>
                  </a:txBody>
                </a:tc>
              </a:tr>
              <a:tr h="0">
                <a:tc>
                  <a:txBody>
                    <a:bodyPr/>
                    <a:lstStyle/>
                    <a:p>
                      <a:pPr lvl="0" indent="0" marL="0">
                        <a:buNone/>
                      </a:pPr>
                      <a:r>
                        <a:rPr b="1"/>
                        <a:t>XSS</a:t>
                      </a:r>
                    </a:p>
                  </a:txBody>
                </a:tc>
                <a:tc>
                  <a:txBody>
                    <a:bodyPr/>
                    <a:lstStyle/>
                    <a:p>
                      <a:pPr lvl="0" indent="0" marL="0">
                        <a:buNone/>
                      </a:pPr>
                      <a:r>
                        <a:rPr/>
                        <a:t>API retourne du JSON uniquement, échappement React côté front</a:t>
                      </a:r>
                    </a:p>
                  </a:txBody>
                </a:tc>
              </a:tr>
              <a:tr h="0">
                <a:tc>
                  <a:txBody>
                    <a:bodyPr/>
                    <a:lstStyle/>
                    <a:p>
                      <a:pPr lvl="0" indent="0" marL="0">
                        <a:buNone/>
                      </a:pPr>
                      <a:r>
                        <a:rPr b="1"/>
                        <a:t>CORS</a:t>
                      </a:r>
                    </a:p>
                  </a:txBody>
                </a:tc>
                <a:tc>
                  <a:txBody>
                    <a:bodyPr/>
                    <a:lstStyle/>
                    <a:p>
                      <a:pPr lvl="0" indent="0" marL="0">
                        <a:buNone/>
                      </a:pPr>
                      <a:r>
                        <a:rPr/>
                        <a:t>Liste blanche d’origines, pas de wildcard </a:t>
                      </a:r>
                      <a:r>
                        <a:rPr>
                          <a:latin typeface="Courier"/>
                        </a:rPr>
                        <a:t>*</a:t>
                      </a:r>
                    </a:p>
                  </a:txBody>
                </a:tc>
              </a:tr>
              <a:tr h="0">
                <a:tc>
                  <a:txBody>
                    <a:bodyPr/>
                    <a:lstStyle/>
                    <a:p>
                      <a:pPr lvl="0" indent="0" marL="0">
                        <a:buNone/>
                      </a:pPr>
                      <a:r>
                        <a:rPr b="1"/>
                        <a:t>Secrets exposés</a:t>
                      </a:r>
                    </a:p>
                  </a:txBody>
                </a:tc>
                <a:tc>
                  <a:txBody>
                    <a:bodyPr/>
                    <a:lstStyle/>
                    <a:p>
                      <a:pPr lvl="0" indent="0" marL="0">
                        <a:buNone/>
                      </a:pPr>
                      <a:r>
                        <a:rPr/>
                        <a:t>Variables d’environnement, Detekt vérifie l’absence de secrets codés en dur</a:t>
                      </a:r>
                    </a:p>
                  </a:txBody>
                </a:tc>
              </a:tr>
              <a:tr h="0">
                <a:tc>
                  <a:txBody>
                    <a:bodyPr/>
                    <a:lstStyle/>
                    <a:p>
                      <a:pPr lvl="0" indent="0" marL="0">
                        <a:buNone/>
                      </a:pPr>
                      <a:r>
                        <a:rPr b="1"/>
                        <a:t>Erreurs techniques</a:t>
                      </a:r>
                    </a:p>
                  </a:txBody>
                </a:tc>
                <a:tc>
                  <a:txBody>
                    <a:bodyPr/>
                    <a:lstStyle/>
                    <a:p>
                      <a:pPr lvl="0" indent="0" marL="0">
                        <a:buNone/>
                      </a:pPr>
                      <a:r>
                        <a:rPr/>
                        <a:t>Messages génériques côté client, logs détaillés côté serveur</a:t>
                      </a:r>
                    </a:p>
                  </a:txBody>
                </a:tc>
              </a:tr>
              <a:tr h="0">
                <a:tc>
                  <a:txBody>
                    <a:bodyPr/>
                    <a:lstStyle/>
                    <a:p>
                      <a:pPr lvl="0" indent="0" marL="0">
                        <a:buNone/>
                      </a:pPr>
                      <a:r>
                        <a:rPr b="1"/>
                        <a:t>Usurpation d’identité</a:t>
                      </a:r>
                    </a:p>
                  </a:txBody>
                </a:tc>
                <a:tc>
                  <a:txBody>
                    <a:bodyPr/>
                    <a:lstStyle/>
                    <a:p>
                      <a:pPr lvl="0" indent="0" marL="0">
                        <a:buNone/>
                      </a:pPr>
                      <a:r>
                        <a:rPr/>
                        <a:t>Email extrait du JWT serveur, jamais du body client</a:t>
                      </a:r>
                    </a:p>
                  </a:txBody>
                </a:tc>
              </a:tr>
            </a:tbl>
          </a:graphicData>
        </a:graphic>
      </p:graphicFrame>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Sécurité infrastructure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Mesure</a:t>
                      </a:r>
                    </a:p>
                  </a:txBody>
                  <a:tcPr/>
                </a:tc>
                <a:tc>
                  <a:txBody>
                    <a:bodyPr/>
                    <a:lstStyle/>
                    <a:p>
                      <a:pPr lvl="0" indent="0" marL="0">
                        <a:buNone/>
                      </a:pPr>
                      <a:r>
                        <a:rPr/>
                        <a:t>Détail</a:t>
                      </a:r>
                    </a:p>
                  </a:txBody>
                  <a:tcPr/>
                </a:tc>
              </a:tr>
              <a:tr h="0">
                <a:tc>
                  <a:txBody>
                    <a:bodyPr/>
                    <a:lstStyle/>
                    <a:p>
                      <a:pPr lvl="0" indent="0" marL="0">
                        <a:buNone/>
                      </a:pPr>
                      <a:r>
                        <a:rPr b="1"/>
                        <a:t>HTTPS</a:t>
                      </a:r>
                    </a:p>
                  </a:txBody>
                </a:tc>
                <a:tc>
                  <a:txBody>
                    <a:bodyPr/>
                    <a:lstStyle/>
                    <a:p>
                      <a:pPr lvl="0" indent="0" marL="0">
                        <a:buNone/>
                      </a:pPr>
                      <a:r>
                        <a:rPr/>
                        <a:t>Forcé par Render en production (TLS automatique)</a:t>
                      </a:r>
                    </a:p>
                  </a:txBody>
                </a:tc>
              </a:tr>
              <a:tr h="0">
                <a:tc>
                  <a:txBody>
                    <a:bodyPr/>
                    <a:lstStyle/>
                    <a:p>
                      <a:pPr lvl="0" indent="0" marL="0">
                        <a:buNone/>
                      </a:pPr>
                      <a:r>
                        <a:rPr b="1"/>
                        <a:t>SSL PostgreSQL</a:t>
                      </a:r>
                    </a:p>
                  </a:txBody>
                </a:tc>
                <a:tc>
                  <a:txBody>
                    <a:bodyPr/>
                    <a:lstStyle/>
                    <a:p>
                      <a:pPr lvl="0" indent="0" marL="0">
                        <a:buNone/>
                      </a:pPr>
                      <a:r>
                        <a:rPr>
                          <a:latin typeface="Courier"/>
                        </a:rPr>
                        <a:t>DB_SSL_MODE=require</a:t>
                      </a:r>
                    </a:p>
                  </a:txBody>
                </a:tc>
              </a:tr>
              <a:tr h="0">
                <a:tc>
                  <a:txBody>
                    <a:bodyPr/>
                    <a:lstStyle/>
                    <a:p>
                      <a:pPr lvl="0" indent="0" marL="0">
                        <a:buNone/>
                      </a:pPr>
                      <a:r>
                        <a:rPr b="1"/>
                        <a:t>Docker non-root</a:t>
                      </a:r>
                    </a:p>
                  </a:txBody>
                </a:tc>
                <a:tc>
                  <a:txBody>
                    <a:bodyPr/>
                    <a:lstStyle/>
                    <a:p>
                      <a:pPr lvl="0" indent="0" marL="0">
                        <a:buNone/>
                      </a:pPr>
                      <a:r>
                        <a:rPr>
                          <a:latin typeface="Courier"/>
                        </a:rPr>
                        <a:t>USER 1000:1000</a:t>
                      </a:r>
                      <a:r>
                        <a:rPr/>
                        <a:t> dans le Dockerfile</a:t>
                      </a:r>
                    </a:p>
                  </a:txBody>
                </a:tc>
              </a:tr>
              <a:tr h="0">
                <a:tc>
                  <a:txBody>
                    <a:bodyPr/>
                    <a:lstStyle/>
                    <a:p>
                      <a:pPr lvl="0" indent="0" marL="0">
                        <a:buNone/>
                      </a:pPr>
                      <a:r>
                        <a:rPr b="1"/>
                        <a:t>Utilisateur DB restreint</a:t>
                      </a:r>
                    </a:p>
                  </a:txBody>
                </a:tc>
                <a:tc>
                  <a:txBody>
                    <a:bodyPr/>
                    <a:lstStyle/>
                    <a:p>
                      <a:pPr lvl="0" indent="0" marL="0">
                        <a:buNone/>
                      </a:pPr>
                      <a:r>
                        <a:rPr>
                          <a:latin typeface="Courier"/>
                        </a:rPr>
                        <a:t>happyrow_user</a:t>
                      </a:r>
                      <a:r>
                        <a:rPr/>
                        <a:t> — droits limités au schéma </a:t>
                      </a:r>
                      <a:r>
                        <a:rPr>
                          <a:latin typeface="Courier"/>
                        </a:rPr>
                        <a:t>configuration</a:t>
                      </a:r>
                    </a:p>
                  </a:txBody>
                </a:tc>
              </a:tr>
              <a:tr h="0">
                <a:tc>
                  <a:txBody>
                    <a:bodyPr/>
                    <a:lstStyle/>
                    <a:p>
                      <a:pPr lvl="0" indent="0" marL="0">
                        <a:buNone/>
                      </a:pPr>
                      <a:r>
                        <a:rPr b="1"/>
                        <a:t>Secrets CI/CD</a:t>
                      </a:r>
                    </a:p>
                  </a:txBody>
                </a:tc>
                <a:tc>
                  <a:txBody>
                    <a:bodyPr/>
                    <a:lstStyle/>
                    <a:p>
                      <a:pPr lvl="0" indent="0" marL="0">
                        <a:buNone/>
                      </a:pPr>
                      <a:r>
                        <a:rPr/>
                        <a:t>GitHub Secrets pour </a:t>
                      </a:r>
                      <a:r>
                        <a:rPr>
                          <a:latin typeface="Courier"/>
                        </a:rPr>
                        <a:t>RENDER_SERVICE_ID</a:t>
                      </a:r>
                      <a:r>
                        <a:rPr/>
                        <a:t>, </a:t>
                      </a:r>
                      <a:r>
                        <a:rPr>
                          <a:latin typeface="Courier"/>
                        </a:rPr>
                        <a:t>RENDER_API_KEY</a:t>
                      </a:r>
                      <a:r>
                        <a:rPr/>
                        <a:t>, Supabase</a:t>
                      </a:r>
                    </a:p>
                  </a:txBody>
                </a:tc>
              </a:tr>
              <a:tr h="0">
                <a:tc>
                  <a:txBody>
                    <a:bodyPr/>
                    <a:lstStyle/>
                    <a:p>
                      <a:pPr lvl="0" indent="0" marL="0">
                        <a:buNone/>
                      </a:pPr>
                      <a:r>
                        <a:rPr b="1"/>
                        <a:t>Dependabot</a:t>
                      </a:r>
                    </a:p>
                  </a:txBody>
                </a:tc>
                <a:tc>
                  <a:txBody>
                    <a:bodyPr/>
                    <a:lstStyle/>
                    <a:p>
                      <a:pPr lvl="0" indent="0" marL="0">
                        <a:buNone/>
                      </a:pPr>
                      <a:r>
                        <a:rPr/>
                        <a:t>Alertes automatiques sur les dépendances vulnérables</a:t>
                      </a:r>
                    </a:p>
                  </a:txBody>
                </a:tc>
              </a:tr>
            </a:tbl>
          </a:graphicData>
        </a:graphic>
      </p:graphicFrame>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Éco-conception</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286000"/>
                <a:gridCol w="5943600"/>
              </a:tblGrid>
              <a:tr h="0">
                <a:tc>
                  <a:txBody>
                    <a:bodyPr/>
                    <a:lstStyle/>
                    <a:p>
                      <a:pPr lvl="0" indent="0" marL="0">
                        <a:buNone/>
                      </a:pPr>
                      <a:r>
                        <a:rPr/>
                        <a:t>Principe</a:t>
                      </a:r>
                    </a:p>
                  </a:txBody>
                  <a:tcPr/>
                </a:tc>
                <a:tc>
                  <a:txBody>
                    <a:bodyPr/>
                    <a:lstStyle/>
                    <a:p>
                      <a:pPr lvl="0" indent="0" marL="0">
                        <a:buNone/>
                      </a:pPr>
                      <a:r>
                        <a:rPr/>
                        <a:t>Application dans HappyRow</a:t>
                      </a:r>
                    </a:p>
                  </a:txBody>
                  <a:tcPr/>
                </a:tc>
              </a:tr>
              <a:tr h="0">
                <a:tc>
                  <a:txBody>
                    <a:bodyPr/>
                    <a:lstStyle/>
                    <a:p>
                      <a:pPr lvl="0" indent="0" marL="0">
                        <a:buNone/>
                      </a:pPr>
                      <a:r>
                        <a:rPr b="1"/>
                        <a:t>Sobriété fonctionnelle</a:t>
                      </a:r>
                    </a:p>
                  </a:txBody>
                </a:tc>
                <a:tc>
                  <a:txBody>
                    <a:bodyPr/>
                    <a:lstStyle/>
                    <a:p>
                      <a:pPr lvl="0" indent="0" marL="0">
                        <a:buNone/>
                      </a:pPr>
                      <a:r>
                        <a:rPr/>
                        <a:t>Périmètre limité aux besoins réels, pas de fonctionnalités superflues</a:t>
                      </a:r>
                    </a:p>
                  </a:txBody>
                </a:tc>
              </a:tr>
              <a:tr h="0">
                <a:tc>
                  <a:txBody>
                    <a:bodyPr/>
                    <a:lstStyle/>
                    <a:p>
                      <a:pPr lvl="0" indent="0" marL="0">
                        <a:buNone/>
                      </a:pPr>
                      <a:r>
                        <a:rPr b="1"/>
                        <a:t>Minimalisme des dépendances</a:t>
                      </a:r>
                    </a:p>
                  </a:txBody>
                </a:tc>
                <a:tc>
                  <a:txBody>
                    <a:bodyPr/>
                    <a:lstStyle/>
                    <a:p>
                      <a:pPr lvl="0" indent="0" marL="0">
                        <a:buNone/>
                      </a:pPr>
                      <a:r>
                        <a:rPr/>
                        <a:t>3 deps de production front-end (React, Router, Supabase), API </a:t>
                      </a:r>
                      <a:r>
                        <a:rPr>
                          <a:latin typeface="Courier"/>
                        </a:rPr>
                        <a:t>fetch</a:t>
                      </a:r>
                      <a:r>
                        <a:rPr/>
                        <a:t> native</a:t>
                      </a:r>
                    </a:p>
                  </a:txBody>
                </a:tc>
              </a:tr>
              <a:tr h="0">
                <a:tc>
                  <a:txBody>
                    <a:bodyPr/>
                    <a:lstStyle/>
                    <a:p>
                      <a:pPr lvl="0" indent="0" marL="0">
                        <a:buNone/>
                      </a:pPr>
                      <a:r>
                        <a:rPr b="1"/>
                        <a:t>Images Docker optimisées</a:t>
                      </a:r>
                    </a:p>
                  </a:txBody>
                </a:tc>
                <a:tc>
                  <a:txBody>
                    <a:bodyPr/>
                    <a:lstStyle/>
                    <a:p>
                      <a:pPr lvl="0" indent="0" marL="0">
                        <a:buNone/>
                      </a:pPr>
                      <a:r>
                        <a:rPr/>
                        <a:t>Build multi-stage : image prod = JRE 21 + JAR uniquement, pas de SDK</a:t>
                      </a:r>
                    </a:p>
                  </a:txBody>
                </a:tc>
              </a:tr>
              <a:tr h="0">
                <a:tc>
                  <a:txBody>
                    <a:bodyPr/>
                    <a:lstStyle/>
                    <a:p>
                      <a:pPr lvl="0" indent="0" marL="0">
                        <a:buNone/>
                      </a:pPr>
                      <a:r>
                        <a:rPr b="1"/>
                        <a:t>PWA et mode offline</a:t>
                      </a:r>
                    </a:p>
                  </a:txBody>
                </a:tc>
                <a:tc>
                  <a:txBody>
                    <a:bodyPr/>
                    <a:lstStyle/>
                    <a:p>
                      <a:pPr lvl="0" indent="0" marL="0">
                        <a:buNone/>
                      </a:pPr>
                      <a:r>
                        <a:rPr/>
                        <a:t>Service Worker (Workbox) cache les assets, réduit les requêtes réseau</a:t>
                      </a:r>
                    </a:p>
                  </a:txBody>
                </a:tc>
              </a:tr>
              <a:tr h="0">
                <a:tc>
                  <a:txBody>
                    <a:bodyPr/>
                    <a:lstStyle/>
                    <a:p>
                      <a:pPr lvl="0" indent="0" marL="0">
                        <a:buNone/>
                      </a:pPr>
                      <a:r>
                        <a:rPr b="1"/>
                        <a:t>Pool de connexions</a:t>
                      </a:r>
                    </a:p>
                  </a:txBody>
                </a:tc>
                <a:tc>
                  <a:txBody>
                    <a:bodyPr/>
                    <a:lstStyle/>
                    <a:p>
                      <a:pPr lvl="0" indent="0" marL="0">
                        <a:buNone/>
                      </a:pPr>
                      <a:r>
                        <a:rPr/>
                        <a:t>HikariCP mutualise les connexions PostgreSQL</a:t>
                      </a:r>
                    </a:p>
                  </a:txBody>
                </a:tc>
              </a:tr>
              <a:tr h="0">
                <a:tc>
                  <a:txBody>
                    <a:bodyPr/>
                    <a:lstStyle/>
                    <a:p>
                      <a:pPr lvl="0" indent="0" marL="0">
                        <a:buNone/>
                      </a:pPr>
                      <a:r>
                        <a:rPr b="1"/>
                        <a:t>JVM tunée</a:t>
                      </a:r>
                    </a:p>
                  </a:txBody>
                </a:tc>
                <a:tc>
                  <a:txBody>
                    <a:bodyPr/>
                    <a:lstStyle/>
                    <a:p>
                      <a:pPr lvl="0" indent="0" marL="0">
                        <a:buNone/>
                      </a:pPr>
                      <a:r>
                        <a:rPr>
                          <a:latin typeface="Courier"/>
                        </a:rPr>
                        <a:t>-Xmx512m -Xms256m</a:t>
                      </a:r>
                      <a:r>
                        <a:rPr/>
                        <a:t> — consomme uniquement la mémoire nécessaire</a:t>
                      </a:r>
                    </a:p>
                  </a:txBody>
                </a:tc>
              </a:tr>
              <a:tr h="0">
                <a:tc>
                  <a:txBody>
                    <a:bodyPr/>
                    <a:lstStyle/>
                    <a:p>
                      <a:pPr lvl="0" indent="0" marL="0">
                        <a:buNone/>
                      </a:pPr>
                      <a:r>
                        <a:rPr b="1"/>
                        <a:t>Requêtes optimisées</a:t>
                      </a:r>
                    </a:p>
                  </a:txBody>
                </a:tc>
                <a:tc>
                  <a:txBody>
                    <a:bodyPr/>
                    <a:lstStyle/>
                    <a:p>
                      <a:pPr lvl="0" indent="0" marL="0">
                        <a:buNone/>
                      </a:pPr>
                      <a:r>
                        <a:rPr/>
                        <a:t>Index ciblés, verrou optimiste (pas de SELECT FOR UPDATE bloquant)</a:t>
                      </a:r>
                    </a:p>
                  </a:txBody>
                </a:tc>
              </a:tr>
            </a:tbl>
          </a:graphicData>
        </a:graphic>
      </p:graphicFrame>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b="1">
                <a:solidFill>
                  <a:srgbClr val="3D5A6C"/>
                </a:solidFill>
              </a:rPr>
              <a:t>Stratégie de tests</a:t>
            </a:r>
          </a:p>
        </p:txBody>
      </p:sp>
      <p:sp>
        <p:nvSpPr>
          <p:cNvPr id="4" name="Text Placeholder 3"/>
          <p:cNvSpPr>
            <a:spLocks noGrp="1"/>
          </p:cNvSpPr>
          <p:nvPr>
            <p:ph idx="2" sz="half" type="body"/>
          </p:nvPr>
        </p:nvSpPr>
        <p:spPr/>
        <p:txBody>
          <a:bodyPr/>
          <a:lstStyle/>
          <a:p>
            <a:pPr lvl="0" indent="0" marL="0">
              <a:buNone/>
            </a:pPr>
            <a:r>
              <a:rPr b="1"/>
              <a:t>Pyramide de tests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117600"/>
                <a:gridCol w="1117600"/>
                <a:gridCol w="1600200"/>
              </a:tblGrid>
              <a:tr h="0">
                <a:tc>
                  <a:txBody>
                    <a:bodyPr/>
                    <a:lstStyle/>
                    <a:p>
                      <a:pPr lvl="0" indent="0" marL="0">
                        <a:buNone/>
                      </a:pPr>
                      <a:r>
                        <a:rPr/>
                        <a:t>Niveau</a:t>
                      </a:r>
                    </a:p>
                  </a:txBody>
                  <a:tcPr/>
                </a:tc>
                <a:tc>
                  <a:txBody>
                    <a:bodyPr/>
                    <a:lstStyle/>
                    <a:p>
                      <a:pPr lvl="0" indent="0" marL="0">
                        <a:buNone/>
                      </a:pPr>
                      <a:r>
                        <a:rPr/>
                        <a:t>Outil</a:t>
                      </a:r>
                    </a:p>
                  </a:txBody>
                  <a:tcPr/>
                </a:tc>
                <a:tc>
                  <a:txBody>
                    <a:bodyPr/>
                    <a:lstStyle/>
                    <a:p>
                      <a:pPr lvl="0" indent="0" marL="0">
                        <a:buNone/>
                      </a:pPr>
                      <a:r>
                        <a:rPr/>
                        <a:t>Scope</a:t>
                      </a:r>
                    </a:p>
                  </a:txBody>
                  <a:tcPr/>
                </a:tc>
                <a:tc>
                  <a:txBody>
                    <a:bodyPr/>
                    <a:lstStyle/>
                    <a:p>
                      <a:pPr lvl="0" indent="0" marL="0">
                        <a:buNone/>
                      </a:pPr>
                      <a:r>
                        <a:rPr/>
                        <a:t>Quantité</a:t>
                      </a:r>
                    </a:p>
                  </a:txBody>
                  <a:tcPr/>
                </a:tc>
              </a:tr>
              <a:tr h="0">
                <a:tc>
                  <a:txBody>
                    <a:bodyPr/>
                    <a:lstStyle/>
                    <a:p>
                      <a:pPr lvl="0" indent="0" marL="0">
                        <a:buNone/>
                      </a:pPr>
                      <a:r>
                        <a:rPr b="1"/>
                        <a:t>Tests unitaires</a:t>
                      </a:r>
                    </a:p>
                  </a:txBody>
                </a:tc>
                <a:tc>
                  <a:txBody>
                    <a:bodyPr/>
                    <a:lstStyle/>
                    <a:p>
                      <a:pPr lvl="0" indent="0" marL="0">
                        <a:buNone/>
                      </a:pPr>
                      <a:r>
                        <a:rPr/>
                        <a:t>Kotest + MockK</a:t>
                      </a:r>
                    </a:p>
                  </a:txBody>
                </a:tc>
                <a:tc>
                  <a:txBody>
                    <a:bodyPr/>
                    <a:lstStyle/>
                    <a:p>
                      <a:pPr lvl="0" indent="0" marL="0">
                        <a:buNone/>
                      </a:pPr>
                      <a:r>
                        <a:rPr/>
                        <a:t>Use cases, logique métier</a:t>
                      </a:r>
                    </a:p>
                  </a:txBody>
                </a:tc>
                <a:tc>
                  <a:txBody>
                    <a:bodyPr/>
                    <a:lstStyle/>
                    <a:p>
                      <a:pPr lvl="0" indent="0" marL="0">
                        <a:buNone/>
                      </a:pPr>
                      <a:r>
                        <a:rPr/>
                        <a:t>~2 tests (domaine)</a:t>
                      </a:r>
                    </a:p>
                  </a:txBody>
                </a:tc>
              </a:tr>
              <a:tr h="0">
                <a:tc>
                  <a:txBody>
                    <a:bodyPr/>
                    <a:lstStyle/>
                    <a:p>
                      <a:pPr lvl="0" indent="0" marL="0">
                        <a:buNone/>
                      </a:pPr>
                      <a:r>
                        <a:rPr b="1"/>
                        <a:t>Tests d’intégration</a:t>
                      </a:r>
                    </a:p>
                  </a:txBody>
                </a:tc>
                <a:tc>
                  <a:txBody>
                    <a:bodyPr/>
                    <a:lstStyle/>
                    <a:p>
                      <a:pPr lvl="0" indent="0" marL="0">
                        <a:buNone/>
                      </a:pPr>
                      <a:r>
                        <a:rPr/>
                        <a:t>Testcontainers</a:t>
                      </a:r>
                    </a:p>
                  </a:txBody>
                </a:tc>
                <a:tc>
                  <a:txBody>
                    <a:bodyPr/>
                    <a:lstStyle/>
                    <a:p>
                      <a:pPr lvl="0" indent="0" marL="0">
                        <a:buNone/>
                      </a:pPr>
                      <a:r>
                        <a:rPr/>
                        <a:t>Repositories SQL, PostgreSQL réel</a:t>
                      </a:r>
                    </a:p>
                  </a:txBody>
                </a:tc>
                <a:tc>
                  <a:txBody>
                    <a:bodyPr/>
                    <a:lstStyle/>
                    <a:p>
                      <a:pPr lvl="0" indent="0" marL="0">
                        <a:buNone/>
                      </a:pPr>
                      <a:r>
                        <a:rPr/>
                        <a:t>~40 scénarios</a:t>
                      </a:r>
                    </a:p>
                  </a:txBody>
                </a:tc>
              </a:tr>
              <a:tr h="0">
                <a:tc>
                  <a:txBody>
                    <a:bodyPr/>
                    <a:lstStyle/>
                    <a:p>
                      <a:pPr lvl="0" indent="0" marL="0">
                        <a:buNone/>
                      </a:pPr>
                      <a:r>
                        <a:rPr b="1"/>
                        <a:t>Analyse statique</a:t>
                      </a:r>
                    </a:p>
                  </a:txBody>
                </a:tc>
                <a:tc>
                  <a:txBody>
                    <a:bodyPr/>
                    <a:lstStyle/>
                    <a:p>
                      <a:pPr lvl="0" indent="0" marL="0">
                        <a:buNone/>
                      </a:pPr>
                      <a:r>
                        <a:rPr/>
                        <a:t>Detekt</a:t>
                      </a:r>
                    </a:p>
                  </a:txBody>
                </a:tc>
                <a:tc>
                  <a:txBody>
                    <a:bodyPr/>
                    <a:lstStyle/>
                    <a:p>
                      <a:pPr lvl="0" indent="0" marL="0">
                        <a:buNone/>
                      </a:pPr>
                      <a:r>
                        <a:rPr/>
                        <a:t>Code smells, complexité, sécurité</a:t>
                      </a:r>
                    </a:p>
                  </a:txBody>
                </a:tc>
                <a:tc>
                  <a:txBody>
                    <a:bodyPr/>
                    <a:lstStyle/>
                    <a:p>
                      <a:pPr lvl="0" indent="0" marL="0">
                        <a:buNone/>
                      </a:pPr>
                      <a:r>
                        <a:rPr/>
                        <a:t>À chaque push</a:t>
                      </a:r>
                    </a:p>
                  </a:txBody>
                </a:tc>
              </a:tr>
              <a:tr h="0">
                <a:tc>
                  <a:txBody>
                    <a:bodyPr/>
                    <a:lstStyle/>
                    <a:p>
                      <a:pPr lvl="0" indent="0" marL="0">
                        <a:buNone/>
                      </a:pPr>
                      <a:r>
                        <a:rPr b="1"/>
                        <a:t>Tests unitaires front</a:t>
                      </a:r>
                    </a:p>
                  </a:txBody>
                </a:tc>
                <a:tc>
                  <a:txBody>
                    <a:bodyPr/>
                    <a:lstStyle/>
                    <a:p>
                      <a:pPr lvl="0" indent="0" marL="0">
                        <a:buNone/>
                      </a:pPr>
                      <a:r>
                        <a:rPr/>
                        <a:t>Vitest + Testing Library</a:t>
                      </a:r>
                    </a:p>
                  </a:txBody>
                </a:tc>
                <a:tc>
                  <a:txBody>
                    <a:bodyPr/>
                    <a:lstStyle/>
                    <a:p>
                      <a:pPr lvl="0" indent="0" marL="0">
                        <a:buNone/>
                      </a:pPr>
                      <a:r>
                        <a:rPr/>
                        <a:t>Auth (4 fichiers)</a:t>
                      </a:r>
                    </a:p>
                  </a:txBody>
                </a:tc>
                <a:tc>
                  <a:txBody>
                    <a:bodyPr/>
                    <a:lstStyle/>
                    <a:p>
                      <a:pPr lvl="0" indent="0" marL="0">
                        <a:buNone/>
                      </a:pPr>
                      <a:r>
                        <a:rPr/>
                        <a:t>46 tests</a:t>
                      </a:r>
                    </a:p>
                  </a:txBody>
                </a:tc>
              </a:tr>
              <a:tr h="0">
                <a:tc>
                  <a:txBody>
                    <a:bodyPr/>
                    <a:lstStyle/>
                    <a:p>
                      <a:pPr lvl="0" indent="0" marL="0">
                        <a:buNone/>
                      </a:pPr>
                      <a:r>
                        <a:rPr b="1"/>
                        <a:t>Tests E2E</a:t>
                      </a:r>
                    </a:p>
                  </a:txBody>
                </a:tc>
                <a:tc>
                  <a:txBody>
                    <a:bodyPr/>
                    <a:lstStyle/>
                    <a:p>
                      <a:pPr lvl="0" indent="0" marL="0">
                        <a:buNone/>
                      </a:pPr>
                      <a:r>
                        <a:rPr/>
                        <a:t>Playwright</a:t>
                      </a:r>
                    </a:p>
                  </a:txBody>
                </a:tc>
                <a:tc>
                  <a:txBody>
                    <a:bodyPr/>
                    <a:lstStyle/>
                    <a:p>
                      <a:pPr lvl="0" indent="0" marL="0">
                        <a:buNone/>
                      </a:pPr>
                      <a:r>
                        <a:rPr/>
                        <a:t>PWA (manifest, SW, offline)</a:t>
                      </a:r>
                    </a:p>
                  </a:txBody>
                </a:tc>
                <a:tc>
                  <a:txBody>
                    <a:bodyPr/>
                    <a:lstStyle/>
                    <a:p>
                      <a:pPr lvl="0" indent="0" marL="0">
                        <a:buNone/>
                      </a:pPr>
                      <a:r>
                        <a:rPr/>
                        <a:t>6 tests</a:t>
                      </a:r>
                    </a:p>
                  </a:txBody>
                </a:tc>
              </a:tr>
            </a:tbl>
          </a:graphicData>
        </a:graphic>
      </p:graphicFrame>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Tests unitaires : exemple Kotest BDD</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domain/event/create/CreateEventUseCaseTestUT.kt</a:t>
            </a:r>
            <a:br/>
            <a:br/>
            <a:r>
              <a:rPr b="1">
                <a:solidFill>
                  <a:srgbClr val="007020"/>
                </a:solidFill>
                <a:latin typeface="Courier"/>
              </a:rPr>
              <a:t>class</a:t>
            </a:r>
            <a:r>
              <a:rPr>
                <a:latin typeface="Courier"/>
              </a:rPr>
              <a:t> CreateEventUseCaseTestUT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b="1">
                <a:solidFill>
                  <a:srgbClr val="007020"/>
                </a:solidFill>
                <a:latin typeface="Courier"/>
              </a:rPr>
              <a:t>val</a:t>
            </a:r>
            <a:r>
              <a:rPr>
                <a:latin typeface="Courier"/>
              </a:rPr>
              <a:t> </a:t>
            </a:r>
            <a:r>
              <a:rPr>
                <a:solidFill>
                  <a:srgbClr val="19177C"/>
                </a:solidFill>
                <a:latin typeface="Courier"/>
              </a:rPr>
              <a:t>eventRepositoryMock</a:t>
            </a:r>
            <a:r>
              <a:rPr>
                <a:latin typeface="Courier"/>
              </a:rPr>
              <a:t> </a:t>
            </a:r>
            <a:r>
              <a:rPr>
                <a:solidFill>
                  <a:srgbClr val="666666"/>
                </a:solidFill>
                <a:latin typeface="Courier"/>
              </a:rPr>
              <a:t>=</a:t>
            </a:r>
            <a:r>
              <a:rPr>
                <a:latin typeface="Courier"/>
              </a:rPr>
              <a:t> mockk</a:t>
            </a:r>
            <a:r>
              <a:rPr>
                <a:solidFill>
                  <a:srgbClr val="666666"/>
                </a:solidFill>
                <a:latin typeface="Courier"/>
              </a:rPr>
              <a:t>&lt;</a:t>
            </a:r>
            <a:r>
              <a:rPr>
                <a:latin typeface="Courier"/>
              </a:rPr>
              <a:t>EventRepository</a:t>
            </a:r>
            <a:r>
              <a:rPr>
                <a:solidFill>
                  <a:srgbClr val="666666"/>
                </a:solidFill>
                <a:latin typeface="Courier"/>
              </a:rPr>
              <a:t>&gt;()</a:t>
            </a:r>
            <a:br/>
            <a:r>
              <a:rPr>
                <a:latin typeface="Courier"/>
              </a:rPr>
              <a:t>  </a:t>
            </a:r>
            <a:r>
              <a:rPr b="1">
                <a:solidFill>
                  <a:srgbClr val="007020"/>
                </a:solidFill>
                <a:latin typeface="Courier"/>
              </a:rPr>
              <a:t>private</a:t>
            </a:r>
            <a:r>
              <a:rPr>
                <a:latin typeface="Courier"/>
              </a:rPr>
              <a:t> </a:t>
            </a:r>
            <a:r>
              <a:rPr b="1">
                <a:solidFill>
                  <a:srgbClr val="007020"/>
                </a:solidFill>
                <a:latin typeface="Courier"/>
              </a:rPr>
              <a:t>val</a:t>
            </a:r>
            <a:r>
              <a:rPr>
                <a:latin typeface="Courier"/>
              </a:rPr>
              <a:t> </a:t>
            </a:r>
            <a:r>
              <a:rPr>
                <a:solidFill>
                  <a:srgbClr val="19177C"/>
                </a:solidFill>
                <a:latin typeface="Courier"/>
              </a:rPr>
              <a:t>participantRepositoryMock</a:t>
            </a:r>
            <a:r>
              <a:rPr>
                <a:latin typeface="Courier"/>
              </a:rPr>
              <a:t> </a:t>
            </a:r>
            <a:r>
              <a:rPr>
                <a:solidFill>
                  <a:srgbClr val="666666"/>
                </a:solidFill>
                <a:latin typeface="Courier"/>
              </a:rPr>
              <a:t>=</a:t>
            </a:r>
            <a:r>
              <a:rPr>
                <a:latin typeface="Courier"/>
              </a:rPr>
              <a:t> mockk</a:t>
            </a:r>
            <a:r>
              <a:rPr>
                <a:solidFill>
                  <a:srgbClr val="666666"/>
                </a:solidFill>
                <a:latin typeface="Courier"/>
              </a:rPr>
              <a:t>&lt;</a:t>
            </a:r>
            <a:r>
              <a:rPr>
                <a:latin typeface="Courier"/>
              </a:rPr>
              <a:t>ParticipantRepository</a:t>
            </a:r>
            <a:r>
              <a:rPr>
                <a:solidFill>
                  <a:srgbClr val="666666"/>
                </a:solidFill>
                <a:latin typeface="Courier"/>
              </a:rPr>
              <a:t>&gt;()</a:t>
            </a:r>
            <a:br/>
            <a:r>
              <a:rPr>
                <a:latin typeface="Courier"/>
              </a:rPr>
              <a:t>  </a:t>
            </a:r>
            <a:r>
              <a:rPr b="1">
                <a:solidFill>
                  <a:srgbClr val="007020"/>
                </a:solidFill>
                <a:latin typeface="Courier"/>
              </a:rPr>
              <a:t>private</a:t>
            </a:r>
            <a:r>
              <a:rPr>
                <a:latin typeface="Courier"/>
              </a:rPr>
              <a:t> </a:t>
            </a:r>
            <a:r>
              <a:rPr b="1">
                <a:solidFill>
                  <a:srgbClr val="007020"/>
                </a:solidFill>
                <a:latin typeface="Courier"/>
              </a:rPr>
              <a:t>val</a:t>
            </a:r>
            <a:r>
              <a:rPr>
                <a:latin typeface="Courier"/>
              </a:rPr>
              <a:t> </a:t>
            </a:r>
            <a:r>
              <a:rPr>
                <a:solidFill>
                  <a:srgbClr val="19177C"/>
                </a:solidFill>
                <a:latin typeface="Courier"/>
              </a:rPr>
              <a:t>useCase</a:t>
            </a:r>
            <a:r>
              <a:rPr>
                <a:latin typeface="Courier"/>
              </a:rPr>
              <a:t> </a:t>
            </a:r>
            <a:r>
              <a:rPr>
                <a:solidFill>
                  <a:srgbClr val="666666"/>
                </a:solidFill>
                <a:latin typeface="Courier"/>
              </a:rPr>
              <a:t>=</a:t>
            </a:r>
            <a:r>
              <a:rPr>
                <a:latin typeface="Courier"/>
              </a:rPr>
              <a:t> CreateEventUseCase</a:t>
            </a:r>
            <a:r>
              <a:rPr>
                <a:solidFill>
                  <a:srgbClr val="666666"/>
                </a:solidFill>
                <a:latin typeface="Courier"/>
              </a:rPr>
              <a:t>(</a:t>
            </a:r>
            <a:br/>
            <a:r>
              <a:rPr>
                <a:latin typeface="Courier"/>
              </a:rPr>
              <a:t>    eventRepositoryMock</a:t>
            </a:r>
            <a:r>
              <a:rPr>
                <a:solidFill>
                  <a:srgbClr val="666666"/>
                </a:solidFill>
                <a:latin typeface="Courier"/>
              </a:rPr>
              <a:t>,</a:t>
            </a:r>
            <a:r>
              <a:rPr>
                <a:latin typeface="Courier"/>
              </a:rPr>
              <a:t> participantRepositoryMock</a:t>
            </a:r>
            <a:br/>
            <a:r>
              <a:rPr>
                <a:latin typeface="Courier"/>
              </a:rPr>
              <a:t>  </a:t>
            </a:r>
            <a:r>
              <a:rPr>
                <a:solidFill>
                  <a:srgbClr val="666666"/>
                </a:solidFill>
                <a:latin typeface="Courier"/>
              </a:rPr>
              <a:t>)</a:t>
            </a:r>
            <a:br/>
            <a:br/>
            <a:r>
              <a:rPr>
                <a:latin typeface="Courier"/>
              </a:rPr>
              <a:t>  </a:t>
            </a:r>
            <a:r>
              <a:rPr>
                <a:solidFill>
                  <a:srgbClr val="7D9029"/>
                </a:solidFill>
                <a:latin typeface="Courier"/>
              </a:rPr>
              <a:t>@Test</a:t>
            </a:r>
            <a:br/>
            <a:r>
              <a:rPr>
                <a:latin typeface="Courier"/>
              </a:rPr>
              <a:t>  </a:t>
            </a:r>
            <a:r>
              <a:rPr b="1">
                <a:solidFill>
                  <a:srgbClr val="007020"/>
                </a:solidFill>
                <a:latin typeface="Courier"/>
              </a:rPr>
              <a:t>fun</a:t>
            </a:r>
            <a:r>
              <a:rPr>
                <a:latin typeface="Courier"/>
              </a:rPr>
              <a:t> `</a:t>
            </a:r>
            <a:r>
              <a:rPr>
                <a:solidFill>
                  <a:srgbClr val="06287E"/>
                </a:solidFill>
                <a:latin typeface="Courier"/>
              </a:rPr>
              <a:t>should</a:t>
            </a:r>
            <a:r>
              <a:rPr>
                <a:latin typeface="Courier"/>
              </a:rPr>
              <a:t> </a:t>
            </a:r>
            <a:r>
              <a:rPr>
                <a:solidFill>
                  <a:srgbClr val="06287E"/>
                </a:solidFill>
                <a:latin typeface="Courier"/>
              </a:rPr>
              <a:t>create</a:t>
            </a:r>
            <a:r>
              <a:rPr>
                <a:latin typeface="Courier"/>
              </a:rPr>
              <a:t> </a:t>
            </a:r>
            <a:r>
              <a:rPr>
                <a:solidFill>
                  <a:srgbClr val="06287E"/>
                </a:solidFill>
                <a:latin typeface="Courier"/>
              </a:rPr>
              <a:t>event</a:t>
            </a:r>
            <a:r>
              <a:rPr>
                <a:latin typeface="Courier"/>
              </a:rPr>
              <a:t> </a:t>
            </a:r>
            <a:r>
              <a:rPr>
                <a:solidFill>
                  <a:srgbClr val="06287E"/>
                </a:solidFill>
                <a:latin typeface="Courier"/>
              </a:rPr>
              <a:t>and</a:t>
            </a:r>
            <a:r>
              <a:rPr>
                <a:latin typeface="Courier"/>
              </a:rPr>
              <a:t> </a:t>
            </a:r>
            <a:r>
              <a:rPr>
                <a:solidFill>
                  <a:srgbClr val="06287E"/>
                </a:solidFill>
                <a:latin typeface="Courier"/>
              </a:rPr>
              <a:t>auto</a:t>
            </a:r>
            <a:r>
              <a:rPr>
                <a:latin typeface="Courier"/>
              </a:rPr>
              <a:t>-</a:t>
            </a:r>
            <a:r>
              <a:rPr>
                <a:solidFill>
                  <a:srgbClr val="06287E"/>
                </a:solidFill>
                <a:latin typeface="Courier"/>
              </a:rPr>
              <a:t>add</a:t>
            </a:r>
            <a:r>
              <a:rPr>
                <a:latin typeface="Courier"/>
              </a:rPr>
              <a:t> </a:t>
            </a:r>
            <a:r>
              <a:rPr>
                <a:solidFill>
                  <a:srgbClr val="06287E"/>
                </a:solidFill>
                <a:latin typeface="Courier"/>
              </a:rPr>
              <a:t>creator</a:t>
            </a:r>
            <a:r>
              <a:rPr>
                <a:latin typeface="Courier"/>
              </a:rPr>
              <a:t> </a:t>
            </a:r>
            <a:r>
              <a:rPr b="1">
                <a:solidFill>
                  <a:srgbClr val="007020"/>
                </a:solidFill>
                <a:latin typeface="Courier"/>
              </a:rPr>
              <a:t>as</a:t>
            </a:r>
            <a:r>
              <a:rPr>
                <a:latin typeface="Courier"/>
              </a:rPr>
              <a:t> </a:t>
            </a:r>
            <a:r>
              <a:rPr>
                <a:solidFill>
                  <a:srgbClr val="06287E"/>
                </a:solidFill>
                <a:latin typeface="Courier"/>
              </a:rPr>
              <a:t>participant</a:t>
            </a:r>
            <a:r>
              <a:rPr>
                <a:latin typeface="Courier"/>
              </a:rPr>
              <a:t>`</a:t>
            </a:r>
            <a:r>
              <a:rPr>
                <a:solidFill>
                  <a:srgbClr val="666666"/>
                </a:solidFill>
                <a:latin typeface="Courier"/>
              </a:rPr>
              <a:t>()</a:t>
            </a:r>
            <a:r>
              <a:rPr>
                <a:latin typeface="Courier"/>
              </a:rPr>
              <a:t> </a:t>
            </a:r>
            <a:r>
              <a:rPr>
                <a:solidFill>
                  <a:srgbClr val="666666"/>
                </a:solidFill>
                <a:latin typeface="Courier"/>
              </a:rPr>
              <a:t>{</a:t>
            </a:r>
            <a:br/>
            <a:r>
              <a:rPr>
                <a:latin typeface="Courier"/>
              </a:rPr>
              <a:t>    givenACreateRequest</a:t>
            </a:r>
            <a:r>
              <a:rPr>
                <a:solidFill>
                  <a:srgbClr val="666666"/>
                </a:solidFill>
                <a:latin typeface="Courier"/>
              </a:rPr>
              <a:t>()</a:t>
            </a:r>
            <a:br/>
            <a:r>
              <a:rPr>
                <a:latin typeface="Courier"/>
              </a:rPr>
              <a:t>      </a:t>
            </a:r>
            <a:r>
              <a:rPr>
                <a:solidFill>
                  <a:srgbClr val="666666"/>
                </a:solidFill>
                <a:latin typeface="Courier"/>
              </a:rPr>
              <a:t>.</a:t>
            </a:r>
            <a:r>
              <a:rPr>
                <a:latin typeface="Courier"/>
              </a:rPr>
              <a:t>andAWorkingCreation</a:t>
            </a:r>
            <a:r>
              <a:rPr>
                <a:solidFill>
                  <a:srgbClr val="666666"/>
                </a:solidFill>
                <a:latin typeface="Courier"/>
              </a:rPr>
              <a:t>()</a:t>
            </a:r>
            <a:br/>
            <a:r>
              <a:rPr>
                <a:latin typeface="Courier"/>
              </a:rPr>
              <a:t>      </a:t>
            </a:r>
            <a:r>
              <a:rPr>
                <a:solidFill>
                  <a:srgbClr val="666666"/>
                </a:solidFill>
                <a:latin typeface="Courier"/>
              </a:rPr>
              <a:t>.</a:t>
            </a:r>
            <a:r>
              <a:rPr>
                <a:latin typeface="Courier"/>
              </a:rPr>
              <a:t>whenCreating</a:t>
            </a:r>
            <a:r>
              <a:rPr>
                <a:solidFill>
                  <a:srgbClr val="666666"/>
                </a:solidFill>
                <a:latin typeface="Courier"/>
              </a:rPr>
              <a:t>()</a:t>
            </a:r>
            <a:br/>
            <a:r>
              <a:rPr>
                <a:latin typeface="Courier"/>
              </a:rPr>
              <a:t>      </a:t>
            </a:r>
            <a:r>
              <a:rPr>
                <a:solidFill>
                  <a:srgbClr val="666666"/>
                </a:solidFill>
                <a:latin typeface="Courier"/>
              </a:rPr>
              <a:t>.</a:t>
            </a:r>
            <a:r>
              <a:rPr>
                <a:latin typeface="Courier"/>
              </a:rPr>
              <a:t>then </a:t>
            </a:r>
            <a:r>
              <a:rPr>
                <a:solidFill>
                  <a:srgbClr val="666666"/>
                </a:solidFill>
                <a:latin typeface="Courier"/>
              </a:rPr>
              <a:t>{</a:t>
            </a:r>
            <a:r>
              <a:rPr>
                <a:latin typeface="Courier"/>
              </a:rPr>
              <a:t> </a:t>
            </a:r>
            <a:r>
              <a:rPr>
                <a:solidFill>
                  <a:srgbClr val="666666"/>
                </a:solidFill>
                <a:latin typeface="Courier"/>
              </a:rPr>
              <a:t>(</a:t>
            </a:r>
            <a:r>
              <a:rPr>
                <a:latin typeface="Courier"/>
              </a:rPr>
              <a:t>result</a:t>
            </a:r>
            <a:r>
              <a:rPr>
                <a:solidFill>
                  <a:srgbClr val="666666"/>
                </a:solidFill>
                <a:latin typeface="Courier"/>
              </a:rPr>
              <a:t>)</a:t>
            </a:r>
            <a:r>
              <a:rPr>
                <a:latin typeface="Courier"/>
              </a:rPr>
              <a:t> </a:t>
            </a:r>
            <a:r>
              <a:rPr>
                <a:solidFill>
                  <a:srgbClr val="666666"/>
                </a:solidFill>
                <a:latin typeface="Courier"/>
              </a:rPr>
              <a:t>-&gt;</a:t>
            </a:r>
            <a:br/>
            <a:r>
              <a:rPr>
                <a:latin typeface="Courier"/>
              </a:rPr>
              <a:t>        result shouldBeRight Persona</a:t>
            </a:r>
            <a:r>
              <a:rPr>
                <a:solidFill>
                  <a:srgbClr val="666666"/>
                </a:solidFill>
                <a:latin typeface="Courier"/>
              </a:rPr>
              <a:t>.</a:t>
            </a:r>
            <a:r>
              <a:rPr>
                <a:latin typeface="Courier"/>
              </a:rPr>
              <a:t>Event</a:t>
            </a:r>
            <a:r>
              <a:rPr>
                <a:solidFill>
                  <a:srgbClr val="666666"/>
                </a:solidFill>
                <a:latin typeface="Courier"/>
              </a:rPr>
              <a:t>.</a:t>
            </a:r>
            <a:r>
              <a:rPr>
                <a:latin typeface="Courier"/>
              </a:rPr>
              <a:t>anEvent</a:t>
            </a:r>
            <a:br/>
            <a:r>
              <a:rPr>
                <a:latin typeface="Courier"/>
              </a:rPr>
              <a:t>      </a:t>
            </a:r>
            <a:r>
              <a:rPr>
                <a:solidFill>
                  <a:srgbClr val="666666"/>
                </a:solidFill>
                <a:latin typeface="Courier"/>
              </a:rPr>
              <a:t>}</a:t>
            </a:r>
            <a:br/>
            <a:r>
              <a:rPr>
                <a:latin typeface="Courier"/>
              </a:rPr>
              <a:t>  </a:t>
            </a:r>
            <a:r>
              <a:rPr>
                <a:solidFill>
                  <a:srgbClr val="666666"/>
                </a:solidFill>
                <a:latin typeface="Courier"/>
              </a:rPr>
              <a:t>}</a:t>
            </a:r>
            <a:br/>
            <a:r>
              <a:rPr i="1">
                <a:solidFill>
                  <a:srgbClr val="60A0B0"/>
                </a:solidFill>
                <a:latin typeface="Courier"/>
              </a:rPr>
              <a:t>// ...</a:t>
            </a:r>
          </a:p>
          <a:p>
            <a:pPr lvl="0"/>
            <a:r>
              <a:rPr/>
              <a:t>Structure </a:t>
            </a:r>
            <a:r>
              <a:rPr b="1"/>
              <a:t>BDD</a:t>
            </a:r>
            <a:r>
              <a:rPr/>
              <a:t> : Given / When / Then via fonctions d’aide</a:t>
            </a:r>
          </a:p>
          <a:p>
            <a:pPr lvl="0"/>
            <a:r>
              <a:rPr b="1"/>
              <a:t>Personas</a:t>
            </a:r>
            <a:r>
              <a:rPr/>
              <a:t> : données de test centralisées (</a:t>
            </a:r>
            <a:r>
              <a:rPr>
                <a:latin typeface="Courier"/>
              </a:rPr>
              <a:t>Persona.Event.anEvent</a:t>
            </a:r>
            <a:r>
              <a:rPr/>
              <a:t>)</a:t>
            </a:r>
          </a:p>
          <a:p>
            <a:pPr lvl="0"/>
            <a:r>
              <a:rPr b="1"/>
              <a:t>Arrow Test</a:t>
            </a:r>
            <a:r>
              <a:rPr/>
              <a:t> : assertions </a:t>
            </a:r>
            <a:r>
              <a:rPr>
                <a:latin typeface="Courier"/>
              </a:rPr>
              <a:t>shouldBeRight</a:t>
            </a:r>
            <a:r>
              <a:rPr/>
              <a:t>, </a:t>
            </a:r>
            <a:r>
              <a:rPr>
                <a:latin typeface="Courier"/>
              </a:rPr>
              <a:t>shouldBeLeft</a:t>
            </a:r>
          </a:p>
          <a:p>
            <a:pPr lvl="0"/>
            <a:r>
              <a:rPr b="1"/>
              <a:t>MockK</a:t>
            </a:r>
            <a:r>
              <a:rPr/>
              <a:t> : mocking des repositories (ports du domaine)</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b="1">
                <a:solidFill>
                  <a:srgbClr val="3D5A6C"/>
                </a:solidFill>
              </a:rPr>
              <a:t>Jeu d’essai : scénarios nominal et conflit</a:t>
            </a:r>
          </a:p>
        </p:txBody>
      </p:sp>
      <p:sp>
        <p:nvSpPr>
          <p:cNvPr id="4" name="Text Placeholder 3"/>
          <p:cNvSpPr>
            <a:spLocks noGrp="1"/>
          </p:cNvSpPr>
          <p:nvPr>
            <p:ph idx="2" sz="half" type="body"/>
          </p:nvPr>
        </p:nvSpPr>
        <p:spPr/>
        <p:txBody>
          <a:bodyPr/>
          <a:lstStyle/>
          <a:p>
            <a:pPr lvl="0" indent="0" marL="0">
              <a:buNone/>
            </a:pPr>
            <a:r>
              <a:rPr b="1"/>
              <a:t>Fonctionnalité représentative : ajout contribution + verrou optimiste</a:t>
            </a:r>
          </a:p>
          <a:p>
            <a:pPr lvl="0" indent="0" marL="0">
              <a:buNone/>
            </a:pPr>
            <a:r>
              <a:rPr b="1"/>
              <a:t>Scénario nominal</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117600"/>
                <a:gridCol w="1270000"/>
                <a:gridCol w="1435100"/>
                <a:gridCol w="1270000"/>
              </a:tblGrid>
              <a:tr h="0">
                <a:tc>
                  <a:txBody>
                    <a:bodyPr/>
                    <a:lstStyle/>
                    <a:p>
                      <a:pPr lvl="0" indent="0" marL="0">
                        <a:buNone/>
                      </a:pPr>
                      <a:r>
                        <a:rPr/>
                        <a:t>Étape</a:t>
                      </a:r>
                    </a:p>
                  </a:txBody>
                  <a:tcPr/>
                </a:tc>
                <a:tc>
                  <a:txBody>
                    <a:bodyPr/>
                    <a:lstStyle/>
                    <a:p>
                      <a:pPr lvl="0" indent="0" marL="0">
                        <a:buNone/>
                      </a:pPr>
                      <a:r>
                        <a:rPr/>
                        <a:t>Entrée</a:t>
                      </a:r>
                    </a:p>
                  </a:txBody>
                  <a:tcPr/>
                </a:tc>
                <a:tc>
                  <a:txBody>
                    <a:bodyPr/>
                    <a:lstStyle/>
                    <a:p>
                      <a:pPr lvl="0" indent="0" marL="0">
                        <a:buNone/>
                      </a:pPr>
                      <a:r>
                        <a:rPr/>
                        <a:t>Attendu</a:t>
                      </a:r>
                    </a:p>
                  </a:txBody>
                  <a:tcPr/>
                </a:tc>
                <a:tc>
                  <a:txBody>
                    <a:bodyPr/>
                    <a:lstStyle/>
                    <a:p>
                      <a:pPr lvl="0" indent="0" marL="0">
                        <a:buNone/>
                      </a:pPr>
                      <a:r>
                        <a:rPr/>
                        <a:t>Obtenu</a:t>
                      </a:r>
                    </a:p>
                  </a:txBody>
                  <a:tcPr/>
                </a:tc>
              </a:tr>
              <a:tr h="0">
                <a:tc>
                  <a:txBody>
                    <a:bodyPr/>
                    <a:lstStyle/>
                    <a:p>
                      <a:pPr lvl="0" indent="0" marL="0">
                        <a:buNone/>
                      </a:pPr>
                      <a:r>
                        <a:rPr/>
                        <a:t>1. Requête HTTP</a:t>
                      </a:r>
                    </a:p>
                  </a:txBody>
                </a:tc>
                <a:tc>
                  <a:txBody>
                    <a:bodyPr/>
                    <a:lstStyle/>
                    <a:p>
                      <a:pPr lvl="0" indent="0" marL="0">
                        <a:buNone/>
                      </a:pPr>
                      <a:r>
                        <a:rPr>
                          <a:latin typeface="Courier"/>
                        </a:rPr>
                        <a:t>POST .../contributions</a:t>
                      </a:r>
                      <a:r>
                        <a:rPr/>
                        <a:t> + JWT + </a:t>
                      </a:r>
                      <a:r>
                        <a:rPr>
                          <a:latin typeface="Courier"/>
                        </a:rPr>
                        <a:t>{ "quantity": 3 }</a:t>
                      </a:r>
                    </a:p>
                  </a:txBody>
                </a:tc>
                <a:tc>
                  <a:txBody>
                    <a:bodyPr/>
                    <a:lstStyle/>
                    <a:p>
                      <a:pPr lvl="0" indent="0" marL="0">
                        <a:buNone/>
                      </a:pPr>
                      <a:r>
                        <a:rPr/>
                        <a:t>Acceptée</a:t>
                      </a:r>
                    </a:p>
                  </a:txBody>
                </a:tc>
                <a:tc>
                  <a:txBody>
                    <a:bodyPr/>
                    <a:lstStyle/>
                    <a:p>
                      <a:pPr lvl="0" indent="0" marL="0">
                        <a:buNone/>
                      </a:pPr>
                      <a:r>
                        <a:rPr/>
                        <a:t>OK</a:t>
                      </a:r>
                    </a:p>
                  </a:txBody>
                </a:tc>
              </a:tr>
              <a:tr h="0">
                <a:tc>
                  <a:txBody>
                    <a:bodyPr/>
                    <a:lstStyle/>
                    <a:p>
                      <a:pPr lvl="0" indent="0" marL="0">
                        <a:buNone/>
                      </a:pPr>
                      <a:r>
                        <a:rPr/>
                        <a:t>2. Auth</a:t>
                      </a:r>
                    </a:p>
                  </a:txBody>
                </a:tc>
                <a:tc>
                  <a:txBody>
                    <a:bodyPr/>
                    <a:lstStyle/>
                    <a:p>
                      <a:pPr lvl="0" indent="0" marL="0">
                        <a:buNone/>
                      </a:pPr>
                      <a:r>
                        <a:rPr/>
                        <a:t>JWT valide</a:t>
                      </a:r>
                    </a:p>
                  </a:txBody>
                </a:tc>
                <a:tc>
                  <a:txBody>
                    <a:bodyPr/>
                    <a:lstStyle/>
                    <a:p>
                      <a:pPr lvl="0" indent="0" marL="0">
                        <a:buNone/>
                      </a:pPr>
                      <a:r>
                        <a:rPr/>
                        <a:t>AuthenticatedUser extrait</a:t>
                      </a:r>
                    </a:p>
                  </a:txBody>
                </a:tc>
                <a:tc>
                  <a:txBody>
                    <a:bodyPr/>
                    <a:lstStyle/>
                    <a:p>
                      <a:pPr lvl="0" indent="0" marL="0">
                        <a:buNone/>
                      </a:pPr>
                      <a:r>
                        <a:rPr/>
                        <a:t>OK</a:t>
                      </a:r>
                    </a:p>
                  </a:txBody>
                </a:tc>
              </a:tr>
              <a:tr h="0">
                <a:tc>
                  <a:txBody>
                    <a:bodyPr/>
                    <a:lstStyle/>
                    <a:p>
                      <a:pPr lvl="0" indent="0" marL="0">
                        <a:buNone/>
                      </a:pPr>
                      <a:r>
                        <a:rPr/>
                        <a:t>3. Participant</a:t>
                      </a:r>
                    </a:p>
                  </a:txBody>
                </a:tc>
                <a:tc>
                  <a:txBody>
                    <a:bodyPr/>
                    <a:lstStyle/>
                    <a:p>
                      <a:pPr lvl="0" indent="0" marL="0">
                        <a:buNone/>
                      </a:pPr>
                      <a:r>
                        <a:rPr/>
                        <a:t>email + eventId</a:t>
                      </a:r>
                    </a:p>
                  </a:txBody>
                </a:tc>
                <a:tc>
                  <a:txBody>
                    <a:bodyPr/>
                    <a:lstStyle/>
                    <a:p>
                      <a:pPr lvl="0" indent="0" marL="0">
                        <a:buNone/>
                      </a:pPr>
                      <a:r>
                        <a:rPr/>
                        <a:t>findOrCreate retourne participant</a:t>
                      </a:r>
                    </a:p>
                  </a:txBody>
                </a:tc>
                <a:tc>
                  <a:txBody>
                    <a:bodyPr/>
                    <a:lstStyle/>
                    <a:p>
                      <a:pPr lvl="0" indent="0" marL="0">
                        <a:buNone/>
                      </a:pPr>
                      <a:r>
                        <a:rPr/>
                        <a:t>OK</a:t>
                      </a:r>
                    </a:p>
                  </a:txBody>
                </a:tc>
              </a:tr>
              <a:tr h="0">
                <a:tc>
                  <a:txBody>
                    <a:bodyPr/>
                    <a:lstStyle/>
                    <a:p>
                      <a:pPr lvl="0" indent="0" marL="0">
                        <a:buNone/>
                      </a:pPr>
                      <a:r>
                        <a:rPr/>
                        <a:t>4. Contribution</a:t>
                      </a:r>
                    </a:p>
                  </a:txBody>
                </a:tc>
                <a:tc>
                  <a:txBody>
                    <a:bodyPr/>
                    <a:lstStyle/>
                    <a:p>
                      <a:pPr lvl="0" indent="0" marL="0">
                        <a:buNone/>
                      </a:pPr>
                      <a:r>
                        <a:rPr/>
                        <a:t>participantId + resourceId</a:t>
                      </a:r>
                    </a:p>
                  </a:txBody>
                </a:tc>
                <a:tc>
                  <a:txBody>
                    <a:bodyPr/>
                    <a:lstStyle/>
                    <a:p>
                      <a:pPr lvl="0" indent="0" marL="0">
                        <a:buNone/>
                      </a:pPr>
                      <a:r>
                        <a:rPr/>
                        <a:t>INSERT contribution</a:t>
                      </a:r>
                    </a:p>
                  </a:txBody>
                </a:tc>
                <a:tc>
                  <a:txBody>
                    <a:bodyPr/>
                    <a:lstStyle/>
                    <a:p>
                      <a:pPr lvl="0" indent="0" marL="0">
                        <a:buNone/>
                      </a:pPr>
                      <a:r>
                        <a:rPr/>
                        <a:t>OK</a:t>
                      </a:r>
                    </a:p>
                  </a:txBody>
                </a:tc>
              </a:tr>
              <a:tr h="0">
                <a:tc>
                  <a:txBody>
                    <a:bodyPr/>
                    <a:lstStyle/>
                    <a:p>
                      <a:pPr lvl="0" indent="0" marL="0">
                        <a:buNone/>
                      </a:pPr>
                      <a:r>
                        <a:rPr/>
                        <a:t>5. Ressource</a:t>
                      </a:r>
                    </a:p>
                  </a:txBody>
                </a:tc>
                <a:tc>
                  <a:txBody>
                    <a:bodyPr/>
                    <a:lstStyle/>
                    <a:p>
                      <a:pPr lvl="0" indent="0" marL="0">
                        <a:buNone/>
                      </a:pPr>
                      <a:r>
                        <a:rPr/>
                        <a:t>delta=+3, version=0</a:t>
                      </a:r>
                    </a:p>
                  </a:txBody>
                </a:tc>
                <a:tc>
                  <a:txBody>
                    <a:bodyPr/>
                    <a:lstStyle/>
                    <a:p>
                      <a:pPr lvl="0" indent="0" marL="0">
                        <a:buNone/>
                      </a:pPr>
                      <a:r>
                        <a:rPr/>
                        <a:t>quantity 0→3, version 0→1</a:t>
                      </a:r>
                    </a:p>
                  </a:txBody>
                </a:tc>
                <a:tc>
                  <a:txBody>
                    <a:bodyPr/>
                    <a:lstStyle/>
                    <a:p>
                      <a:pPr lvl="0" indent="0" marL="0">
                        <a:buNone/>
                      </a:pPr>
                      <a:r>
                        <a:rPr/>
                        <a:t>UPDATE 1 row</a:t>
                      </a:r>
                    </a:p>
                  </a:txBody>
                </a:tc>
              </a:tr>
              <a:tr h="0">
                <a:tc>
                  <a:txBody>
                    <a:bodyPr/>
                    <a:lstStyle/>
                    <a:p>
                      <a:pPr lvl="0" indent="0" marL="0">
                        <a:buNone/>
                      </a:pPr>
                      <a:r>
                        <a:rPr/>
                        <a:t>6. Réponse</a:t>
                      </a:r>
                    </a:p>
                  </a:txBody>
                </a:tc>
                <a:tc>
                  <a:txBody>
                    <a:bodyPr/>
                    <a:lstStyle/>
                    <a:p>
                      <a:pPr lvl="0" indent="0" marL="0">
                        <a:buNone/>
                      </a:pPr>
                      <a:r>
                        <a:rPr/>
                        <a:t>—</a:t>
                      </a:r>
                    </a:p>
                  </a:txBody>
                </a:tc>
                <a:tc>
                  <a:txBody>
                    <a:bodyPr/>
                    <a:lstStyle/>
                    <a:p>
                      <a:pPr lvl="0" indent="0" marL="0">
                        <a:buNone/>
                      </a:pPr>
                      <a:r>
                        <a:rPr/>
                        <a:t>200 OK + ContributionDto</a:t>
                      </a:r>
                    </a:p>
                  </a:txBody>
                </a:tc>
                <a:tc>
                  <a:txBody>
                    <a:bodyPr/>
                    <a:lstStyle/>
                    <a:p>
                      <a:pPr lvl="0" indent="0" marL="0">
                        <a:buNone/>
                      </a:pPr>
                      <a:r>
                        <a:rPr/>
                        <a:t>200 OK</a:t>
                      </a:r>
                    </a:p>
                  </a:txBody>
                </a:tc>
              </a:tr>
            </a:tbl>
          </a:graphicData>
        </a:graphic>
      </p:graphicFrame>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Tests de sécurité</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596900"/>
                <a:gridCol w="2603500"/>
                <a:gridCol w="1600200"/>
                <a:gridCol w="1803400"/>
                <a:gridCol w="1600200"/>
              </a:tblGrid>
              <a:tr h="0">
                <a:tc>
                  <a:txBody>
                    <a:bodyPr/>
                    <a:lstStyle/>
                    <a:p>
                      <a:pPr lvl="0" indent="0" marL="0">
                        <a:buNone/>
                      </a:pPr>
                      <a:r>
                        <a:rPr/>
                        <a:t>#</a:t>
                      </a:r>
                    </a:p>
                  </a:txBody>
                  <a:tcPr/>
                </a:tc>
                <a:tc>
                  <a:txBody>
                    <a:bodyPr/>
                    <a:lstStyle/>
                    <a:p>
                      <a:pPr lvl="0" indent="0" marL="0">
                        <a:buNone/>
                      </a:pPr>
                      <a:r>
                        <a:rPr/>
                        <a:t>Cas de test</a:t>
                      </a:r>
                    </a:p>
                  </a:txBody>
                  <a:tcPr/>
                </a:tc>
                <a:tc>
                  <a:txBody>
                    <a:bodyPr/>
                    <a:lstStyle/>
                    <a:p>
                      <a:pPr lvl="0" indent="0" marL="0">
                        <a:buNone/>
                      </a:pPr>
                      <a:r>
                        <a:rPr/>
                        <a:t>Entrée</a:t>
                      </a:r>
                    </a:p>
                  </a:txBody>
                  <a:tcPr/>
                </a:tc>
                <a:tc>
                  <a:txBody>
                    <a:bodyPr/>
                    <a:lstStyle/>
                    <a:p>
                      <a:pPr lvl="0" indent="0" marL="0">
                        <a:buNone/>
                      </a:pPr>
                      <a:r>
                        <a:rPr/>
                        <a:t>Attendu</a:t>
                      </a:r>
                    </a:p>
                  </a:txBody>
                  <a:tcPr/>
                </a:tc>
                <a:tc>
                  <a:txBody>
                    <a:bodyPr/>
                    <a:lstStyle/>
                    <a:p>
                      <a:pPr lvl="0" indent="0" marL="0">
                        <a:buNone/>
                      </a:pPr>
                      <a:r>
                        <a:rPr/>
                        <a:t>Obtenu</a:t>
                      </a:r>
                    </a:p>
                  </a:txBody>
                  <a:tcPr/>
                </a:tc>
              </a:tr>
              <a:tr h="0">
                <a:tc>
                  <a:txBody>
                    <a:bodyPr/>
                    <a:lstStyle/>
                    <a:p>
                      <a:pPr lvl="0" indent="0" marL="0">
                        <a:buNone/>
                      </a:pPr>
                      <a:r>
                        <a:rPr/>
                        <a:t>S1</a:t>
                      </a:r>
                    </a:p>
                  </a:txBody>
                </a:tc>
                <a:tc>
                  <a:txBody>
                    <a:bodyPr/>
                    <a:lstStyle/>
                    <a:p>
                      <a:pPr lvl="0" indent="0" marL="0">
                        <a:buNone/>
                      </a:pPr>
                      <a:r>
                        <a:rPr/>
                        <a:t>Sans JWT</a:t>
                      </a:r>
                    </a:p>
                  </a:txBody>
                </a:tc>
                <a:tc>
                  <a:txBody>
                    <a:bodyPr/>
                    <a:lstStyle/>
                    <a:p>
                      <a:pPr lvl="0" indent="0" marL="0">
                        <a:buNone/>
                      </a:pPr>
                      <a:r>
                        <a:rPr/>
                        <a:t>Requête sans Authorization</a:t>
                      </a:r>
                    </a:p>
                  </a:txBody>
                </a:tc>
                <a:tc>
                  <a:txBody>
                    <a:bodyPr/>
                    <a:lstStyle/>
                    <a:p>
                      <a:pPr lvl="0" indent="0" marL="0">
                        <a:buNone/>
                      </a:pPr>
                      <a:r>
                        <a:rPr/>
                        <a:t>401 MISSING_TOKEN</a:t>
                      </a:r>
                    </a:p>
                  </a:txBody>
                </a:tc>
                <a:tc>
                  <a:txBody>
                    <a:bodyPr/>
                    <a:lstStyle/>
                    <a:p>
                      <a:pPr lvl="0" indent="0" marL="0">
                        <a:buNone/>
                      </a:pPr>
                      <a:r>
                        <a:rPr/>
                        <a:t>Conforme</a:t>
                      </a:r>
                    </a:p>
                  </a:txBody>
                </a:tc>
              </a:tr>
              <a:tr h="0">
                <a:tc>
                  <a:txBody>
                    <a:bodyPr/>
                    <a:lstStyle/>
                    <a:p>
                      <a:pPr lvl="0" indent="0" marL="0">
                        <a:buNone/>
                      </a:pPr>
                      <a:r>
                        <a:rPr/>
                        <a:t>S2</a:t>
                      </a:r>
                    </a:p>
                  </a:txBody>
                </a:tc>
                <a:tc>
                  <a:txBody>
                    <a:bodyPr/>
                    <a:lstStyle/>
                    <a:p>
                      <a:pPr lvl="0" indent="0" marL="0">
                        <a:buNone/>
                      </a:pPr>
                      <a:r>
                        <a:rPr/>
                        <a:t>JWT expiré</a:t>
                      </a:r>
                    </a:p>
                  </a:txBody>
                </a:tc>
                <a:tc>
                  <a:txBody>
                    <a:bodyPr/>
                    <a:lstStyle/>
                    <a:p>
                      <a:pPr lvl="0" indent="0" marL="0">
                        <a:buNone/>
                      </a:pPr>
                      <a:r>
                        <a:rPr/>
                        <a:t>Token avec </a:t>
                      </a:r>
                      <a:r>
                        <a:rPr>
                          <a:latin typeface="Courier"/>
                        </a:rPr>
                        <a:t>exp</a:t>
                      </a:r>
                      <a:r>
                        <a:rPr/>
                        <a:t> passé</a:t>
                      </a:r>
                    </a:p>
                  </a:txBody>
                </a:tc>
                <a:tc>
                  <a:txBody>
                    <a:bodyPr/>
                    <a:lstStyle/>
                    <a:p>
                      <a:pPr lvl="0" indent="0" marL="0">
                        <a:buNone/>
                      </a:pPr>
                      <a:r>
                        <a:rPr/>
                        <a:t>401 INVALID_TOKEN</a:t>
                      </a:r>
                    </a:p>
                  </a:txBody>
                </a:tc>
                <a:tc>
                  <a:txBody>
                    <a:bodyPr/>
                    <a:lstStyle/>
                    <a:p>
                      <a:pPr lvl="0" indent="0" marL="0">
                        <a:buNone/>
                      </a:pPr>
                      <a:r>
                        <a:rPr/>
                        <a:t>Conforme</a:t>
                      </a:r>
                    </a:p>
                  </a:txBody>
                </a:tc>
              </a:tr>
              <a:tr h="0">
                <a:tc>
                  <a:txBody>
                    <a:bodyPr/>
                    <a:lstStyle/>
                    <a:p>
                      <a:pPr lvl="0" indent="0" marL="0">
                        <a:buNone/>
                      </a:pPr>
                      <a:r>
                        <a:rPr/>
                        <a:t>S3</a:t>
                      </a:r>
                    </a:p>
                  </a:txBody>
                </a:tc>
                <a:tc>
                  <a:txBody>
                    <a:bodyPr/>
                    <a:lstStyle/>
                    <a:p>
                      <a:pPr lvl="0" indent="0" marL="0">
                        <a:buNone/>
                      </a:pPr>
                      <a:r>
                        <a:rPr/>
                        <a:t>Mauvaise signature</a:t>
                      </a:r>
                    </a:p>
                  </a:txBody>
                </a:tc>
                <a:tc>
                  <a:txBody>
                    <a:bodyPr/>
                    <a:lstStyle/>
                    <a:p>
                      <a:pPr lvl="0" indent="0" marL="0">
                        <a:buNone/>
                      </a:pPr>
                      <a:r>
                        <a:rPr/>
                        <a:t>Token signé avec autre secret</a:t>
                      </a:r>
                    </a:p>
                  </a:txBody>
                </a:tc>
                <a:tc>
                  <a:txBody>
                    <a:bodyPr/>
                    <a:lstStyle/>
                    <a:p>
                      <a:pPr lvl="0" indent="0" marL="0">
                        <a:buNone/>
                      </a:pPr>
                      <a:r>
                        <a:rPr/>
                        <a:t>401 INVALID_TOKEN</a:t>
                      </a:r>
                    </a:p>
                  </a:txBody>
                </a:tc>
                <a:tc>
                  <a:txBody>
                    <a:bodyPr/>
                    <a:lstStyle/>
                    <a:p>
                      <a:pPr lvl="0" indent="0" marL="0">
                        <a:buNone/>
                      </a:pPr>
                      <a:r>
                        <a:rPr/>
                        <a:t>Conforme</a:t>
                      </a:r>
                    </a:p>
                  </a:txBody>
                </a:tc>
              </a:tr>
              <a:tr h="0">
                <a:tc>
                  <a:txBody>
                    <a:bodyPr/>
                    <a:lstStyle/>
                    <a:p>
                      <a:pPr lvl="0" indent="0" marL="0">
                        <a:buNone/>
                      </a:pPr>
                      <a:r>
                        <a:rPr/>
                        <a:t>S4</a:t>
                      </a:r>
                    </a:p>
                  </a:txBody>
                </a:tc>
                <a:tc>
                  <a:txBody>
                    <a:bodyPr/>
                    <a:lstStyle/>
                    <a:p>
                      <a:pPr lvl="0" indent="0" marL="0">
                        <a:buNone/>
                      </a:pPr>
                      <a:r>
                        <a:rPr/>
                        <a:t>Quantité négative</a:t>
                      </a:r>
                    </a:p>
                  </a:txBody>
                </a:tc>
                <a:tc>
                  <a:txBody>
                    <a:bodyPr/>
                    <a:lstStyle/>
                    <a:p>
                      <a:pPr lvl="0" indent="0" marL="0">
                        <a:buNone/>
                      </a:pPr>
                      <a:r>
                        <a:rPr>
                          <a:latin typeface="Courier"/>
                        </a:rPr>
                        <a:t>{ "quantity": -5 }</a:t>
                      </a:r>
                    </a:p>
                  </a:txBody>
                </a:tc>
                <a:tc>
                  <a:txBody>
                    <a:bodyPr/>
                    <a:lstStyle/>
                    <a:p>
                      <a:pPr lvl="0" indent="0" marL="0">
                        <a:buNone/>
                      </a:pPr>
                      <a:r>
                        <a:rPr/>
                        <a:t>400 Bad Request</a:t>
                      </a:r>
                    </a:p>
                  </a:txBody>
                </a:tc>
                <a:tc>
                  <a:txBody>
                    <a:bodyPr/>
                    <a:lstStyle/>
                    <a:p>
                      <a:pPr lvl="0" indent="0" marL="0">
                        <a:buNone/>
                      </a:pPr>
                      <a:r>
                        <a:rPr/>
                        <a:t>Conforme</a:t>
                      </a:r>
                    </a:p>
                  </a:txBody>
                </a:tc>
              </a:tr>
              <a:tr h="0">
                <a:tc>
                  <a:txBody>
                    <a:bodyPr/>
                    <a:lstStyle/>
                    <a:p>
                      <a:pPr lvl="0" indent="0" marL="0">
                        <a:buNone/>
                      </a:pPr>
                      <a:r>
                        <a:rPr/>
                        <a:t>S5</a:t>
                      </a:r>
                    </a:p>
                  </a:txBody>
                </a:tc>
                <a:tc>
                  <a:txBody>
                    <a:bodyPr/>
                    <a:lstStyle/>
                    <a:p>
                      <a:pPr lvl="0" indent="0" marL="0">
                        <a:buNone/>
                      </a:pPr>
                      <a:r>
                        <a:rPr/>
                        <a:t>Quantité non-numérique</a:t>
                      </a:r>
                    </a:p>
                  </a:txBody>
                </a:tc>
                <a:tc>
                  <a:txBody>
                    <a:bodyPr/>
                    <a:lstStyle/>
                    <a:p>
                      <a:pPr lvl="0" indent="0" marL="0">
                        <a:buNone/>
                      </a:pPr>
                      <a:r>
                        <a:rPr>
                          <a:latin typeface="Courier"/>
                        </a:rPr>
                        <a:t>{ "quantity": "abc" }</a:t>
                      </a:r>
                    </a:p>
                  </a:txBody>
                </a:tc>
                <a:tc>
                  <a:txBody>
                    <a:bodyPr/>
                    <a:lstStyle/>
                    <a:p>
                      <a:pPr lvl="0" indent="0" marL="0">
                        <a:buNone/>
                      </a:pPr>
                      <a:r>
                        <a:rPr/>
                        <a:t>400 Bad Request</a:t>
                      </a:r>
                    </a:p>
                  </a:txBody>
                </a:tc>
                <a:tc>
                  <a:txBody>
                    <a:bodyPr/>
                    <a:lstStyle/>
                    <a:p>
                      <a:pPr lvl="0" indent="0" marL="0">
                        <a:buNone/>
                      </a:pPr>
                      <a:r>
                        <a:rPr/>
                        <a:t>Conforme</a:t>
                      </a:r>
                    </a:p>
                  </a:txBody>
                </a:tc>
              </a:tr>
              <a:tr h="0">
                <a:tc>
                  <a:txBody>
                    <a:bodyPr/>
                    <a:lstStyle/>
                    <a:p>
                      <a:pPr lvl="0" indent="0" marL="0">
                        <a:buNone/>
                      </a:pPr>
                      <a:r>
                        <a:rPr/>
                        <a:t>S6</a:t>
                      </a:r>
                    </a:p>
                  </a:txBody>
                </a:tc>
                <a:tc>
                  <a:txBody>
                    <a:bodyPr/>
                    <a:lstStyle/>
                    <a:p>
                      <a:pPr lvl="0" indent="0" marL="0">
                        <a:buNone/>
                      </a:pPr>
                      <a:r>
                        <a:rPr/>
                        <a:t>Injection SQL</a:t>
                      </a:r>
                    </a:p>
                  </a:txBody>
                </a:tc>
                <a:tc>
                  <a:txBody>
                    <a:bodyPr/>
                    <a:lstStyle/>
                    <a:p>
                      <a:pPr lvl="0" indent="0" marL="0">
                        <a:buNone/>
                      </a:pPr>
                      <a:r>
                        <a:rPr>
                          <a:latin typeface="Courier"/>
                        </a:rPr>
                        <a:t>"1; DROP TABLE..."</a:t>
                      </a:r>
                    </a:p>
                  </a:txBody>
                </a:tc>
                <a:tc>
                  <a:txBody>
                    <a:bodyPr/>
                    <a:lstStyle/>
                    <a:p>
                      <a:pPr lvl="0" indent="0" marL="0">
                        <a:buNone/>
                      </a:pPr>
                      <a:r>
                        <a:rPr/>
                        <a:t>400 Bad Request</a:t>
                      </a:r>
                    </a:p>
                  </a:txBody>
                </a:tc>
                <a:tc>
                  <a:txBody>
                    <a:bodyPr/>
                    <a:lstStyle/>
                    <a:p>
                      <a:pPr lvl="0" indent="0" marL="0">
                        <a:buNone/>
                      </a:pPr>
                      <a:r>
                        <a:rPr/>
                        <a:t>Conforme</a:t>
                      </a:r>
                    </a:p>
                  </a:txBody>
                </a:tc>
              </a:tr>
              <a:tr h="0">
                <a:tc>
                  <a:txBody>
                    <a:bodyPr/>
                    <a:lstStyle/>
                    <a:p>
                      <a:pPr lvl="0" indent="0" marL="0">
                        <a:buNone/>
                      </a:pPr>
                      <a:r>
                        <a:rPr/>
                        <a:t>S7</a:t>
                      </a:r>
                    </a:p>
                  </a:txBody>
                </a:tc>
                <a:tc>
                  <a:txBody>
                    <a:bodyPr/>
                    <a:lstStyle/>
                    <a:p>
                      <a:pPr lvl="0" indent="0" marL="0">
                        <a:buNone/>
                      </a:pPr>
                      <a:r>
                        <a:rPr/>
                        <a:t>Usurpation identité</a:t>
                      </a:r>
                    </a:p>
                  </a:txBody>
                </a:tc>
                <a:tc>
                  <a:txBody>
                    <a:bodyPr/>
                    <a:lstStyle/>
                    <a:p>
                      <a:pPr lvl="0" indent="0" marL="0">
                        <a:buNone/>
                      </a:pPr>
                      <a:r>
                        <a:rPr/>
                        <a:t>JWT de A, email de B</a:t>
                      </a:r>
                    </a:p>
                  </a:txBody>
                </a:tc>
                <a:tc>
                  <a:txBody>
                    <a:bodyPr/>
                    <a:lstStyle/>
                    <a:p>
                      <a:pPr lvl="0" indent="0" marL="0">
                        <a:buNone/>
                      </a:pPr>
                      <a:r>
                        <a:rPr/>
                        <a:t>Contribution avec email A</a:t>
                      </a:r>
                    </a:p>
                  </a:txBody>
                </a:tc>
                <a:tc>
                  <a:txBody>
                    <a:bodyPr/>
                    <a:lstStyle/>
                    <a:p>
                      <a:pPr lvl="0" indent="0" marL="0">
                        <a:buNone/>
                      </a:pPr>
                      <a:r>
                        <a:rPr/>
                        <a:t>Conforme</a:t>
                      </a:r>
                    </a:p>
                  </a:txBody>
                </a:tc>
              </a:tr>
            </a:tbl>
          </a:graphicData>
        </a:graphic>
      </p:graphicFrame>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Architecture de déploiement</a:t>
            </a:r>
          </a:p>
        </p:txBody>
      </p:sp>
      <p:pic>
        <p:nvPicPr>
          <p:cNvPr descr="mermaid-images/diagram_9.png" id="0" name="Picture 1"/>
          <p:cNvPicPr>
            <a:picLocks noGrp="1" noChangeAspect="1"/>
          </p:cNvPicPr>
          <p:nvPr/>
        </p:nvPicPr>
        <p:blipFill>
          <a:blip r:embed="rId2"/>
          <a:stretch>
            <a:fillRect/>
          </a:stretch>
        </p:blipFill>
        <p:spPr bwMode="auto">
          <a:xfrm>
            <a:off x="457200" y="1701800"/>
            <a:ext cx="8229600" cy="18542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Diagramme</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Pipeline CI/CD détaillé</a:t>
            </a:r>
          </a:p>
        </p:txBody>
      </p:sp>
      <p:sp>
        <p:nvSpPr>
          <p:cNvPr id="3" name="Content Placeholder 2"/>
          <p:cNvSpPr>
            <a:spLocks noGrp="1"/>
          </p:cNvSpPr>
          <p:nvPr>
            <p:ph idx="1"/>
          </p:nvPr>
        </p:nvSpPr>
        <p:spPr/>
        <p:txBody>
          <a:bodyPr/>
          <a:lstStyle/>
          <a:p>
            <a:pPr lvl="0" indent="0" marL="0">
              <a:buNone/>
            </a:pPr>
            <a:r>
              <a:rPr b="1"/>
              <a:t>Back-end (deploy-render.yml)</a:t>
            </a:r>
          </a:p>
          <a:p>
            <a:pPr lvl="0" indent="0">
              <a:buNone/>
            </a:pPr>
            <a:r>
              <a:rPr>
                <a:solidFill>
                  <a:srgbClr val="06287E"/>
                </a:solidFill>
                <a:latin typeface="Courier"/>
              </a:rPr>
              <a:t>on</a:t>
            </a:r>
            <a:r>
              <a:rPr b="1">
                <a:solidFill>
                  <a:srgbClr val="007020"/>
                </a:solidFill>
                <a:latin typeface="Courier"/>
              </a:rPr>
              <a:t>:</a:t>
            </a:r>
            <a:br/>
            <a:r>
              <a:rPr>
                <a:solidFill>
                  <a:srgbClr val="7D9029"/>
                </a:solidFill>
                <a:latin typeface="Courier"/>
              </a:rPr>
              <a:t>  </a:t>
            </a:r>
            <a:r>
              <a:rPr>
                <a:solidFill>
                  <a:srgbClr val="06287E"/>
                </a:solidFill>
                <a:latin typeface="Courier"/>
              </a:rPr>
              <a:t>push</a:t>
            </a:r>
            <a:r>
              <a:rPr b="1">
                <a:solidFill>
                  <a:srgbClr val="007020"/>
                </a:solidFill>
                <a:latin typeface="Courier"/>
              </a:rPr>
              <a:t>:</a:t>
            </a:r>
            <a:br/>
            <a:r>
              <a:rPr>
                <a:solidFill>
                  <a:srgbClr val="7D9029"/>
                </a:solidFill>
                <a:latin typeface="Courier"/>
              </a:rPr>
              <a:t>    </a:t>
            </a:r>
            <a:r>
              <a:rPr>
                <a:solidFill>
                  <a:srgbClr val="06287E"/>
                </a:solidFill>
                <a:latin typeface="Courier"/>
              </a:rPr>
              <a:t>branches</a:t>
            </a:r>
            <a:r>
              <a:rPr b="1">
                <a:solidFill>
                  <a:srgbClr val="007020"/>
                </a:solidFill>
                <a:latin typeface="Courier"/>
              </a:rPr>
              <a:t>:</a:t>
            </a:r>
            <a:r>
              <a:rPr>
                <a:solidFill>
                  <a:srgbClr val="7D9029"/>
                </a:solidFill>
                <a:latin typeface="Courier"/>
              </a:rPr>
              <a:t> </a:t>
            </a:r>
            <a:r>
              <a:rPr b="1">
                <a:solidFill>
                  <a:srgbClr val="007020"/>
                </a:solidFill>
                <a:latin typeface="Courier"/>
              </a:rPr>
              <a:t>[</a:t>
            </a:r>
            <a:r>
              <a:rPr>
                <a:solidFill>
                  <a:srgbClr val="7D9029"/>
                </a:solidFill>
                <a:latin typeface="Courier"/>
              </a:rPr>
              <a:t> main </a:t>
            </a:r>
            <a:r>
              <a:rPr b="1">
                <a:solidFill>
                  <a:srgbClr val="007020"/>
                </a:solidFill>
                <a:latin typeface="Courier"/>
              </a:rPr>
              <a:t>]</a:t>
            </a:r>
            <a:br/>
            <a:br/>
            <a:r>
              <a:rPr>
                <a:solidFill>
                  <a:srgbClr val="06287E"/>
                </a:solidFill>
                <a:latin typeface="Courier"/>
              </a:rPr>
              <a:t>jobs</a:t>
            </a:r>
            <a:r>
              <a:rPr b="1">
                <a:solidFill>
                  <a:srgbClr val="007020"/>
                </a:solidFill>
                <a:latin typeface="Courier"/>
              </a:rPr>
              <a:t>:</a:t>
            </a:r>
            <a:br/>
            <a:r>
              <a:rPr>
                <a:solidFill>
                  <a:srgbClr val="7D9029"/>
                </a:solidFill>
                <a:latin typeface="Courier"/>
              </a:rPr>
              <a:t>  </a:t>
            </a:r>
            <a:r>
              <a:rPr>
                <a:solidFill>
                  <a:srgbClr val="06287E"/>
                </a:solidFill>
                <a:latin typeface="Courier"/>
              </a:rPr>
              <a:t>detekt</a:t>
            </a:r>
            <a:r>
              <a:rPr b="1">
                <a:solidFill>
                  <a:srgbClr val="007020"/>
                </a:solidFill>
                <a:latin typeface="Courier"/>
              </a:rPr>
              <a:t>:</a:t>
            </a:r>
            <a:r>
              <a:rPr i="1">
                <a:solidFill>
                  <a:srgbClr val="60A0B0"/>
                </a:solidFill>
                <a:latin typeface="Courier"/>
              </a:rPr>
              <a:t>        # Analyse statique (Detekt)</a:t>
            </a:r>
            <a:br/>
            <a:r>
              <a:rPr>
                <a:solidFill>
                  <a:srgbClr val="7D9029"/>
                </a:solidFill>
                <a:latin typeface="Courier"/>
              </a:rPr>
              <a:t>    </a:t>
            </a:r>
            <a:r>
              <a:rPr>
                <a:solidFill>
                  <a:srgbClr val="06287E"/>
                </a:solidFill>
                <a:latin typeface="Courier"/>
              </a:rPr>
              <a:t>run</a:t>
            </a:r>
            <a:r>
              <a:rPr b="1">
                <a:solidFill>
                  <a:srgbClr val="007020"/>
                </a:solidFill>
                <a:latin typeface="Courier"/>
              </a:rPr>
              <a:t>:</a:t>
            </a:r>
            <a:r>
              <a:rPr>
                <a:solidFill>
                  <a:srgbClr val="7D9029"/>
                </a:solidFill>
                <a:latin typeface="Courier"/>
              </a:rPr>
              <a:t> ./gradlew detekt</a:t>
            </a:r>
            <a:br/>
            <a:br/>
            <a:r>
              <a:rPr>
                <a:solidFill>
                  <a:srgbClr val="7D9029"/>
                </a:solidFill>
                <a:latin typeface="Courier"/>
              </a:rPr>
              <a:t>  </a:t>
            </a:r>
            <a:r>
              <a:rPr>
                <a:solidFill>
                  <a:srgbClr val="06287E"/>
                </a:solidFill>
                <a:latin typeface="Courier"/>
              </a:rPr>
              <a:t>test</a:t>
            </a:r>
            <a:r>
              <a:rPr b="1">
                <a:solidFill>
                  <a:srgbClr val="007020"/>
                </a:solidFill>
                <a:latin typeface="Courier"/>
              </a:rPr>
              <a:t>:</a:t>
            </a:r>
            <a:r>
              <a:rPr i="1">
                <a:solidFill>
                  <a:srgbClr val="60A0B0"/>
                </a:solidFill>
                <a:latin typeface="Courier"/>
              </a:rPr>
              <a:t>          # Tests unitaires (Kotest + MockK)</a:t>
            </a:r>
            <a:br/>
            <a:r>
              <a:rPr>
                <a:solidFill>
                  <a:srgbClr val="7D9029"/>
                </a:solidFill>
                <a:latin typeface="Courier"/>
              </a:rPr>
              <a:t>    </a:t>
            </a:r>
            <a:r>
              <a:rPr>
                <a:solidFill>
                  <a:srgbClr val="06287E"/>
                </a:solidFill>
                <a:latin typeface="Courier"/>
              </a:rPr>
              <a:t>needs</a:t>
            </a:r>
            <a:r>
              <a:rPr b="1">
                <a:solidFill>
                  <a:srgbClr val="007020"/>
                </a:solidFill>
                <a:latin typeface="Courier"/>
              </a:rPr>
              <a:t>:</a:t>
            </a:r>
            <a:r>
              <a:rPr>
                <a:solidFill>
                  <a:srgbClr val="7D9029"/>
                </a:solidFill>
                <a:latin typeface="Courier"/>
              </a:rPr>
              <a:t> detekt</a:t>
            </a:r>
            <a:br/>
            <a:r>
              <a:rPr>
                <a:solidFill>
                  <a:srgbClr val="7D9029"/>
                </a:solidFill>
                <a:latin typeface="Courier"/>
              </a:rPr>
              <a:t>    </a:t>
            </a:r>
            <a:r>
              <a:rPr>
                <a:solidFill>
                  <a:srgbClr val="06287E"/>
                </a:solidFill>
                <a:latin typeface="Courier"/>
              </a:rPr>
              <a:t>run</a:t>
            </a:r>
            <a:r>
              <a:rPr b="1">
                <a:solidFill>
                  <a:srgbClr val="007020"/>
                </a:solidFill>
                <a:latin typeface="Courier"/>
              </a:rPr>
              <a:t>:</a:t>
            </a:r>
            <a:r>
              <a:rPr>
                <a:solidFill>
                  <a:srgbClr val="7D9029"/>
                </a:solidFill>
                <a:latin typeface="Courier"/>
              </a:rPr>
              <a:t> ./gradlew test -PWithoutIntegrationTests</a:t>
            </a:r>
            <a:br/>
            <a:br/>
            <a:r>
              <a:rPr>
                <a:solidFill>
                  <a:srgbClr val="7D9029"/>
                </a:solidFill>
                <a:latin typeface="Courier"/>
              </a:rPr>
              <a:t>  </a:t>
            </a:r>
            <a:r>
              <a:rPr>
                <a:solidFill>
                  <a:srgbClr val="06287E"/>
                </a:solidFill>
                <a:latin typeface="Courier"/>
              </a:rPr>
              <a:t>deploy</a:t>
            </a:r>
            <a:r>
              <a:rPr b="1">
                <a:solidFill>
                  <a:srgbClr val="007020"/>
                </a:solidFill>
                <a:latin typeface="Courier"/>
              </a:rPr>
              <a:t>:</a:t>
            </a:r>
            <a:r>
              <a:rPr i="1">
                <a:solidFill>
                  <a:srgbClr val="60A0B0"/>
                </a:solidFill>
                <a:latin typeface="Courier"/>
              </a:rPr>
              <a:t>        # Déploiement Render via API</a:t>
            </a:r>
            <a:br/>
            <a:r>
              <a:rPr>
                <a:solidFill>
                  <a:srgbClr val="7D9029"/>
                </a:solidFill>
                <a:latin typeface="Courier"/>
              </a:rPr>
              <a:t>    </a:t>
            </a:r>
            <a:r>
              <a:rPr>
                <a:solidFill>
                  <a:srgbClr val="06287E"/>
                </a:solidFill>
                <a:latin typeface="Courier"/>
              </a:rPr>
              <a:t>needs</a:t>
            </a:r>
            <a:r>
              <a:rPr b="1">
                <a:solidFill>
                  <a:srgbClr val="007020"/>
                </a:solidFill>
                <a:latin typeface="Courier"/>
              </a:rPr>
              <a:t>:</a:t>
            </a:r>
            <a:r>
              <a:rPr>
                <a:solidFill>
                  <a:srgbClr val="7D9029"/>
                </a:solidFill>
                <a:latin typeface="Courier"/>
              </a:rPr>
              <a:t> test</a:t>
            </a:r>
            <a:br/>
            <a:r>
              <a:rPr>
                <a:solidFill>
                  <a:srgbClr val="7D9029"/>
                </a:solidFill>
                <a:latin typeface="Courier"/>
              </a:rPr>
              <a:t>    </a:t>
            </a:r>
            <a:r>
              <a:rPr>
                <a:solidFill>
                  <a:srgbClr val="06287E"/>
                </a:solidFill>
                <a:latin typeface="Courier"/>
              </a:rPr>
              <a:t>uses</a:t>
            </a:r>
            <a:r>
              <a:rPr b="1">
                <a:solidFill>
                  <a:srgbClr val="007020"/>
                </a:solidFill>
                <a:latin typeface="Courier"/>
              </a:rPr>
              <a:t>:</a:t>
            </a:r>
            <a:r>
              <a:rPr>
                <a:solidFill>
                  <a:srgbClr val="7D9029"/>
                </a:solidFill>
                <a:latin typeface="Courier"/>
              </a:rPr>
              <a:t> johnbeynon/render-deploy-action@v0.0.8</a:t>
            </a:r>
            <a:br/>
            <a:r>
              <a:rPr>
                <a:solidFill>
                  <a:srgbClr val="7D9029"/>
                </a:solidFill>
                <a:latin typeface="Courier"/>
              </a:rPr>
              <a:t>    </a:t>
            </a:r>
            <a:r>
              <a:rPr>
                <a:solidFill>
                  <a:srgbClr val="06287E"/>
                </a:solidFill>
                <a:latin typeface="Courier"/>
              </a:rPr>
              <a:t>with</a:t>
            </a:r>
            <a:r>
              <a:rPr b="1">
                <a:solidFill>
                  <a:srgbClr val="007020"/>
                </a:solidFill>
                <a:latin typeface="Courier"/>
              </a:rPr>
              <a:t>:</a:t>
            </a:r>
            <a:br/>
            <a:r>
              <a:rPr>
                <a:solidFill>
                  <a:srgbClr val="7D9029"/>
                </a:solidFill>
                <a:latin typeface="Courier"/>
              </a:rPr>
              <a:t>      </a:t>
            </a:r>
            <a:r>
              <a:rPr>
                <a:solidFill>
                  <a:srgbClr val="06287E"/>
                </a:solidFill>
                <a:latin typeface="Courier"/>
              </a:rPr>
              <a:t>service-id</a:t>
            </a:r>
            <a:r>
              <a:rPr b="1">
                <a:solidFill>
                  <a:srgbClr val="007020"/>
                </a:solidFill>
                <a:latin typeface="Courier"/>
              </a:rPr>
              <a:t>:</a:t>
            </a:r>
            <a:r>
              <a:rPr>
                <a:solidFill>
                  <a:srgbClr val="7D9029"/>
                </a:solidFill>
                <a:latin typeface="Courier"/>
              </a:rPr>
              <a:t> ${{ secrets.RENDER_SERVICE_ID }}</a:t>
            </a:r>
            <a:br/>
            <a:r>
              <a:rPr>
                <a:solidFill>
                  <a:srgbClr val="7D9029"/>
                </a:solidFill>
                <a:latin typeface="Courier"/>
              </a:rPr>
              <a:t>      </a:t>
            </a:r>
            <a:r>
              <a:rPr>
                <a:solidFill>
                  <a:srgbClr val="06287E"/>
                </a:solidFill>
                <a:latin typeface="Courier"/>
              </a:rPr>
              <a:t>api-key</a:t>
            </a:r>
            <a:r>
              <a:rPr b="1">
                <a:solidFill>
                  <a:srgbClr val="007020"/>
                </a:solidFill>
                <a:latin typeface="Courier"/>
              </a:rPr>
              <a:t>:</a:t>
            </a:r>
            <a:r>
              <a:rPr>
                <a:solidFill>
                  <a:srgbClr val="7D9029"/>
                </a:solidFill>
                <a:latin typeface="Courier"/>
              </a:rPr>
              <a:t> ${{ secrets.RENDER_API_KEY }}</a:t>
            </a:r>
          </a:p>
          <a:p>
            <a:pPr lvl="0" indent="0" marL="0">
              <a:buNone/>
            </a:pPr>
            <a:r>
              <a:rPr b="1"/>
              <a:t>Front-end (4 jobs)</a:t>
            </a:r>
          </a:p>
          <a:p>
            <a:pPr lvl="0" indent="-342900" marL="342900">
              <a:buAutoNum type="arabicPeriod"/>
            </a:pPr>
            <a:r>
              <a:rPr b="1"/>
              <a:t>Test</a:t>
            </a:r>
            <a:r>
              <a:rPr/>
              <a:t> : lockfile-lint → </a:t>
            </a:r>
            <a:r>
              <a:rPr>
                <a:latin typeface="Courier"/>
              </a:rPr>
              <a:t>npm ci --ignore-scripts</a:t>
            </a:r>
            <a:r>
              <a:rPr/>
              <a:t> → ESLint → Vitest → build</a:t>
            </a:r>
          </a:p>
          <a:p>
            <a:pPr lvl="0" indent="-342900" marL="342900">
              <a:buAutoNum type="arabicPeriod"/>
            </a:pPr>
            <a:r>
              <a:rPr b="1"/>
              <a:t>Build Docker</a:t>
            </a:r>
            <a:r>
              <a:rPr/>
              <a:t> : image multi-stage → push </a:t>
            </a:r>
            <a:r>
              <a:rPr>
                <a:latin typeface="Courier"/>
              </a:rPr>
              <a:t>ghcr.io</a:t>
            </a:r>
          </a:p>
          <a:p>
            <a:pPr lvl="0" indent="-342900" marL="342900">
              <a:buAutoNum type="arabicPeriod"/>
            </a:pPr>
            <a:r>
              <a:rPr b="1"/>
              <a:t>Approval</a:t>
            </a:r>
            <a:r>
              <a:rPr/>
              <a:t> : approbation manuelle (GitHub Environment “production”)</a:t>
            </a:r>
          </a:p>
          <a:p>
            <a:pPr lvl="0" indent="-342900" marL="342900">
              <a:buAutoNum type="arabicPeriod"/>
            </a:pPr>
            <a:r>
              <a:rPr b="1"/>
              <a:t>Deploy</a:t>
            </a:r>
            <a:r>
              <a:rPr/>
              <a:t> : </a:t>
            </a:r>
            <a:r>
              <a:rPr>
                <a:latin typeface="Courier"/>
              </a:rPr>
              <a:t>vercel --prod</a:t>
            </a:r>
          </a:p>
          <a:p>
            <a:pPr lvl="0" indent="0" marL="0">
              <a:buNone/>
            </a:pPr>
            <a:r>
              <a:rPr b="1"/>
              <a:t>Sécurité quotidienne (cron)</a:t>
            </a:r>
          </a:p>
          <a:p>
            <a:pPr lvl="0"/>
            <a:r>
              <a:rPr>
                <a:latin typeface="Courier"/>
              </a:rPr>
              <a:t>npm audit</a:t>
            </a:r>
            <a:r>
              <a:rPr/>
              <a:t> — vulnérabilités connues</a:t>
            </a:r>
          </a:p>
          <a:p>
            <a:pPr lvl="0"/>
            <a:r>
              <a:rPr>
                <a:latin typeface="Courier"/>
              </a:rPr>
              <a:t>lockfile-lint</a:t>
            </a:r>
            <a:r>
              <a:rPr/>
              <a:t> — intégrité du lockfile</a:t>
            </a:r>
          </a:p>
          <a:p>
            <a:pPr lvl="0"/>
            <a:r>
              <a:rPr/>
              <a:t>Détection de scripts d’installation suspects</a:t>
            </a:r>
          </a:p>
          <a:p>
            <a:pPr lvl="0"/>
            <a:r>
              <a:rPr/>
              <a:t>Contrôle de fraîcheur des dépendances</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b="1">
                <a:solidFill>
                  <a:srgbClr val="3D5A6C"/>
                </a:solidFill>
              </a:rPr>
              <a:t>Mise en production</a:t>
            </a:r>
          </a:p>
        </p:txBody>
      </p:sp>
      <p:sp>
        <p:nvSpPr>
          <p:cNvPr id="4" name="Text Placeholder 3"/>
          <p:cNvSpPr>
            <a:spLocks noGrp="1"/>
          </p:cNvSpPr>
          <p:nvPr>
            <p:ph idx="2" sz="half" type="body"/>
          </p:nvPr>
        </p:nvSpPr>
        <p:spPr/>
        <p:txBody>
          <a:bodyPr/>
          <a:lstStyle/>
          <a:p>
            <a:pPr lvl="0" indent="0" marL="0">
              <a:buNone/>
            </a:pPr>
            <a:r>
              <a:rPr b="1"/>
              <a:t>Dockerfile multi-stage (back-end)</a:t>
            </a:r>
          </a:p>
          <a:p>
            <a:pPr lvl="0" indent="0">
              <a:buNone/>
            </a:pPr>
            <a:r>
              <a:rPr i="1">
                <a:solidFill>
                  <a:srgbClr val="60A0B0"/>
                </a:solidFill>
                <a:latin typeface="Courier"/>
              </a:rPr>
              <a:t># Stage 1 — Build (image complète Gradle)</a:t>
            </a:r>
            <a:br/>
            <a:r>
              <a:rPr b="1">
                <a:solidFill>
                  <a:srgbClr val="007020"/>
                </a:solidFill>
                <a:latin typeface="Courier"/>
              </a:rPr>
              <a:t>FROM</a:t>
            </a:r>
            <a:r>
              <a:rPr>
                <a:latin typeface="Courier"/>
              </a:rPr>
              <a:t> gradle:8-jdk21 </a:t>
            </a:r>
            <a:r>
              <a:rPr b="1">
                <a:solidFill>
                  <a:srgbClr val="007020"/>
                </a:solidFill>
                <a:latin typeface="Courier"/>
              </a:rPr>
              <a:t>AS</a:t>
            </a:r>
            <a:r>
              <a:rPr>
                <a:latin typeface="Courier"/>
              </a:rPr>
              <a:t> build</a:t>
            </a:r>
            <a:br/>
            <a:r>
              <a:rPr b="1">
                <a:solidFill>
                  <a:srgbClr val="007020"/>
                </a:solidFill>
                <a:latin typeface="Courier"/>
              </a:rPr>
              <a:t>WORKDIR</a:t>
            </a:r>
            <a:r>
              <a:rPr>
                <a:latin typeface="Courier"/>
              </a:rPr>
              <a:t> /app</a:t>
            </a:r>
            <a:br/>
            <a:r>
              <a:rPr b="1">
                <a:solidFill>
                  <a:srgbClr val="007020"/>
                </a:solidFill>
                <a:latin typeface="Courier"/>
              </a:rPr>
              <a:t>COPY</a:t>
            </a:r>
            <a:r>
              <a:rPr>
                <a:latin typeface="Courier"/>
              </a:rPr>
              <a:t> . .</a:t>
            </a:r>
            <a:br/>
            <a:r>
              <a:rPr b="1">
                <a:solidFill>
                  <a:srgbClr val="007020"/>
                </a:solidFill>
                <a:latin typeface="Courier"/>
              </a:rPr>
              <a:t>RUN</a:t>
            </a:r>
            <a:r>
              <a:rPr>
                <a:latin typeface="Courier"/>
              </a:rPr>
              <a:t> ./gradlew clean build </a:t>
            </a:r>
            <a:r>
              <a:rPr>
                <a:solidFill>
                  <a:srgbClr val="7D9029"/>
                </a:solidFill>
                <a:latin typeface="Courier"/>
              </a:rPr>
              <a:t>--no-daemon</a:t>
            </a:r>
            <a:r>
              <a:rPr>
                <a:latin typeface="Courier"/>
              </a:rPr>
              <a:t> </a:t>
            </a:r>
            <a:r>
              <a:rPr>
                <a:solidFill>
                  <a:srgbClr val="7D9029"/>
                </a:solidFill>
                <a:latin typeface="Courier"/>
              </a:rPr>
              <a:t>-x</a:t>
            </a:r>
            <a:r>
              <a:rPr>
                <a:latin typeface="Courier"/>
              </a:rPr>
              <a:t> test</a:t>
            </a:r>
            <a:br/>
            <a:br/>
            <a:r>
              <a:rPr i="1">
                <a:solidFill>
                  <a:srgbClr val="60A0B0"/>
                </a:solidFill>
                <a:latin typeface="Courier"/>
              </a:rPr>
              <a:t># Stage 2 — Runtime (image légère JRE)</a:t>
            </a:r>
            <a:br/>
            <a:r>
              <a:rPr b="1">
                <a:solidFill>
                  <a:srgbClr val="007020"/>
                </a:solidFill>
                <a:latin typeface="Courier"/>
              </a:rPr>
              <a:t>FROM</a:t>
            </a:r>
            <a:r>
              <a:rPr>
                <a:latin typeface="Courier"/>
              </a:rPr>
              <a:t> eclipse-temurin:21-jre-jammy</a:t>
            </a:r>
            <a:br/>
            <a:r>
              <a:rPr b="1">
                <a:solidFill>
                  <a:srgbClr val="007020"/>
                </a:solidFill>
                <a:latin typeface="Courier"/>
              </a:rPr>
              <a:t>USER</a:t>
            </a:r>
            <a:r>
              <a:rPr>
                <a:latin typeface="Courier"/>
              </a:rPr>
              <a:t> 1000:1000</a:t>
            </a:r>
            <a:br/>
            <a:r>
              <a:rPr b="1">
                <a:solidFill>
                  <a:srgbClr val="007020"/>
                </a:solidFill>
                <a:latin typeface="Courier"/>
              </a:rPr>
              <a:t>WORKDIR</a:t>
            </a:r>
            <a:r>
              <a:rPr>
                <a:latin typeface="Courier"/>
              </a:rPr>
              <a:t> /app</a:t>
            </a:r>
            <a:br/>
            <a:r>
              <a:rPr b="1">
                <a:solidFill>
                  <a:srgbClr val="007020"/>
                </a:solidFill>
                <a:latin typeface="Courier"/>
              </a:rPr>
              <a:t>COPY</a:t>
            </a:r>
            <a:r>
              <a:rPr>
                <a:latin typeface="Courier"/>
              </a:rPr>
              <a:t> </a:t>
            </a:r>
            <a:r>
              <a:rPr>
                <a:solidFill>
                  <a:srgbClr val="666666"/>
                </a:solidFill>
                <a:latin typeface="Courier"/>
              </a:rPr>
              <a:t>--from=build</a:t>
            </a:r>
            <a:r>
              <a:rPr>
                <a:latin typeface="Courier"/>
              </a:rPr>
              <a:t> /app/build/libs/*.jar happyrow-core.jar</a:t>
            </a:r>
            <a:br/>
            <a:r>
              <a:rPr b="1">
                <a:solidFill>
                  <a:srgbClr val="007020"/>
                </a:solidFill>
                <a:latin typeface="Courier"/>
              </a:rPr>
              <a:t>EXPOSE</a:t>
            </a:r>
            <a:r>
              <a:rPr>
                <a:latin typeface="Courier"/>
              </a:rPr>
              <a:t> 8080</a:t>
            </a:r>
            <a:br/>
            <a:r>
              <a:rPr b="1">
                <a:solidFill>
                  <a:srgbClr val="007020"/>
                </a:solidFill>
                <a:latin typeface="Courier"/>
              </a:rPr>
              <a:t>CMD</a:t>
            </a:r>
            <a:r>
              <a:rPr>
                <a:latin typeface="Courier"/>
              </a:rPr>
              <a:t> [</a:t>
            </a:r>
            <a:r>
              <a:rPr>
                <a:solidFill>
                  <a:srgbClr val="4070A0"/>
                </a:solidFill>
                <a:latin typeface="Courier"/>
              </a:rPr>
              <a:t>"-Xmx512m"</a:t>
            </a:r>
            <a:r>
              <a:rPr>
                <a:latin typeface="Courier"/>
              </a:rPr>
              <a:t>, </a:t>
            </a:r>
            <a:r>
              <a:rPr>
                <a:solidFill>
                  <a:srgbClr val="4070A0"/>
                </a:solidFill>
                <a:latin typeface="Courier"/>
              </a:rPr>
              <a:t>"-Xms256m"</a:t>
            </a:r>
            <a:r>
              <a:rPr>
                <a:latin typeface="Courier"/>
              </a:rPr>
              <a:t>, </a:t>
            </a:r>
            <a:r>
              <a:rPr>
                <a:solidFill>
                  <a:srgbClr val="4070A0"/>
                </a:solidFill>
                <a:latin typeface="Courier"/>
              </a:rPr>
              <a:t>"-XX:+UseG1GC"</a:t>
            </a:r>
            <a:r>
              <a:rPr>
                <a:latin typeface="Courier"/>
              </a:rPr>
              <a:t>, </a:t>
            </a:r>
            <a:r>
              <a:rPr>
                <a:solidFill>
                  <a:srgbClr val="4070A0"/>
                </a:solidFill>
                <a:latin typeface="Courier"/>
              </a:rPr>
              <a:t>"-jar"</a:t>
            </a:r>
            <a:r>
              <a:rPr>
                <a:latin typeface="Courier"/>
              </a:rPr>
              <a:t>, </a:t>
            </a:r>
            <a:r>
              <a:rPr>
                <a:solidFill>
                  <a:srgbClr val="4070A0"/>
                </a:solidFill>
                <a:latin typeface="Courier"/>
              </a:rPr>
              <a:t>"happyrow-core.jar"</a:t>
            </a:r>
            <a:r>
              <a:rPr>
                <a:latin typeface="Courier"/>
              </a:rPr>
              <a:t>]</a:t>
            </a:r>
          </a:p>
          <a:p>
            <a:pPr lvl="0" indent="0" marL="0">
              <a:buNone/>
            </a:pPr>
            <a:r>
              <a:rPr b="1"/>
              <a:t>Variables d’environnement (Render)</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Variable</a:t>
                      </a:r>
                    </a:p>
                  </a:txBody>
                  <a:tcPr/>
                </a:tc>
                <a:tc>
                  <a:txBody>
                    <a:bodyPr/>
                    <a:lstStyle/>
                    <a:p>
                      <a:pPr lvl="0" indent="0" marL="0">
                        <a:buNone/>
                      </a:pPr>
                      <a:r>
                        <a:rPr/>
                        <a:t>Description</a:t>
                      </a:r>
                    </a:p>
                  </a:txBody>
                  <a:tcPr/>
                </a:tc>
              </a:tr>
              <a:tr h="0">
                <a:tc>
                  <a:txBody>
                    <a:bodyPr/>
                    <a:lstStyle/>
                    <a:p>
                      <a:pPr lvl="0" indent="0" marL="0">
                        <a:buNone/>
                      </a:pPr>
                      <a:r>
                        <a:rPr>
                          <a:latin typeface="Courier"/>
                        </a:rPr>
                        <a:t>DATABASE_URL</a:t>
                      </a:r>
                    </a:p>
                  </a:txBody>
                </a:tc>
                <a:tc>
                  <a:txBody>
                    <a:bodyPr/>
                    <a:lstStyle/>
                    <a:p>
                      <a:pPr lvl="0" indent="0" marL="0">
                        <a:buNone/>
                      </a:pPr>
                      <a:r>
                        <a:rPr/>
                        <a:t>URL de connexion PostgreSQL</a:t>
                      </a:r>
                    </a:p>
                  </a:txBody>
                </a:tc>
              </a:tr>
              <a:tr h="0">
                <a:tc>
                  <a:txBody>
                    <a:bodyPr/>
                    <a:lstStyle/>
                    <a:p>
                      <a:pPr lvl="0" indent="0" marL="0">
                        <a:buNone/>
                      </a:pPr>
                      <a:r>
                        <a:rPr>
                          <a:latin typeface="Courier"/>
                        </a:rPr>
                        <a:t>SUPABASE_JWT_SECRET</a:t>
                      </a:r>
                    </a:p>
                  </a:txBody>
                </a:tc>
                <a:tc>
                  <a:txBody>
                    <a:bodyPr/>
                    <a:lstStyle/>
                    <a:p>
                      <a:pPr lvl="0" indent="0" marL="0">
                        <a:buNone/>
                      </a:pPr>
                      <a:r>
                        <a:rPr/>
                        <a:t>Secret HMAC256 pour vérification JWT</a:t>
                      </a:r>
                    </a:p>
                  </a:txBody>
                </a:tc>
              </a:tr>
              <a:tr h="0">
                <a:tc>
                  <a:txBody>
                    <a:bodyPr/>
                    <a:lstStyle/>
                    <a:p>
                      <a:pPr lvl="0" indent="0" marL="0">
                        <a:buNone/>
                      </a:pPr>
                      <a:r>
                        <a:rPr>
                          <a:latin typeface="Courier"/>
                        </a:rPr>
                        <a:t>DB_SSL_MODE</a:t>
                      </a:r>
                    </a:p>
                  </a:txBody>
                </a:tc>
                <a:tc>
                  <a:txBody>
                    <a:bodyPr/>
                    <a:lstStyle/>
                    <a:p>
                      <a:pPr lvl="0" indent="0" marL="0">
                        <a:buNone/>
                      </a:pPr>
                      <a:r>
                        <a:rPr>
                          <a:latin typeface="Courier"/>
                        </a:rPr>
                        <a:t>require</a:t>
                      </a:r>
                      <a:r>
                        <a:rPr/>
                        <a:t> — connexion SSL obligatoire</a:t>
                      </a:r>
                    </a:p>
                  </a:txBody>
                </a:tc>
              </a:tr>
              <a:tr h="0">
                <a:tc>
                  <a:txBody>
                    <a:bodyPr/>
                    <a:lstStyle/>
                    <a:p>
                      <a:pPr lvl="0" indent="0" marL="0">
                        <a:buNone/>
                      </a:pPr>
                      <a:r>
                        <a:rPr>
                          <a:latin typeface="Courier"/>
                        </a:rPr>
                        <a:t>CORS_ALLOWED_ORIGINS</a:t>
                      </a:r>
                    </a:p>
                  </a:txBody>
                </a:tc>
                <a:tc>
                  <a:txBody>
                    <a:bodyPr/>
                    <a:lstStyle/>
                    <a:p>
                      <a:pPr lvl="0" indent="0" marL="0">
                        <a:buNone/>
                      </a:pPr>
                      <a:r>
                        <a:rPr/>
                        <a:t>URL front-end Vercel autorisée</a:t>
                      </a:r>
                    </a:p>
                  </a:txBody>
                </a:tc>
              </a:tr>
            </a:tbl>
          </a:graphicData>
        </a:graphic>
      </p:graphicFrame>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solidFill>
                  <a:srgbClr val="3D5A6C"/>
                </a:solidFill>
              </a:rPr>
              <a:t>Démarche et chronologie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438400"/>
                <a:gridCol w="3048000"/>
              </a:tblGrid>
              <a:tr h="0">
                <a:tc>
                  <a:txBody>
                    <a:bodyPr/>
                    <a:lstStyle/>
                    <a:p>
                      <a:pPr lvl="0" indent="0" marL="0">
                        <a:buNone/>
                      </a:pPr>
                      <a:r>
                        <a:rPr/>
                        <a:t>Période</a:t>
                      </a:r>
                    </a:p>
                  </a:txBody>
                  <a:tcPr/>
                </a:tc>
                <a:tc>
                  <a:txBody>
                    <a:bodyPr/>
                    <a:lstStyle/>
                    <a:p>
                      <a:pPr lvl="0" indent="0" marL="0">
                        <a:buNone/>
                      </a:pPr>
                      <a:r>
                        <a:rPr/>
                        <a:t>Action</a:t>
                      </a:r>
                    </a:p>
                  </a:txBody>
                  <a:tcPr/>
                </a:tc>
                <a:tc>
                  <a:txBody>
                    <a:bodyPr/>
                    <a:lstStyle/>
                    <a:p>
                      <a:pPr lvl="0" indent="0" marL="0">
                        <a:buNone/>
                      </a:pPr>
                      <a:r>
                        <a:rPr/>
                        <a:t>Résultat</a:t>
                      </a:r>
                    </a:p>
                  </a:txBody>
                  <a:tcPr/>
                </a:tc>
              </a:tr>
              <a:tr h="0">
                <a:tc>
                  <a:txBody>
                    <a:bodyPr/>
                    <a:lstStyle/>
                    <a:p>
                      <a:pPr lvl="0" indent="0" marL="0">
                        <a:buNone/>
                      </a:pPr>
                      <a:r>
                        <a:rPr b="1"/>
                        <a:t>Phase 1</a:t>
                      </a:r>
                      <a:r>
                        <a:rPr/>
                        <a:t> — Fondations</a:t>
                      </a:r>
                    </a:p>
                  </a:txBody>
                </a:tc>
                <a:tc>
                  <a:txBody>
                    <a:bodyPr/>
                    <a:lstStyle/>
                    <a:p>
                      <a:pPr lvl="0" indent="0" marL="0">
                        <a:buNone/>
                      </a:pPr>
                      <a:r>
                        <a:rPr/>
                        <a:t>Étude OWASP Top 10 (2021)</a:t>
                      </a:r>
                    </a:p>
                  </a:txBody>
                </a:tc>
                <a:tc>
                  <a:txBody>
                    <a:bodyPr/>
                    <a:lstStyle/>
                    <a:p>
                      <a:pPr lvl="0" indent="0" marL="0">
                        <a:buNone/>
                      </a:pPr>
                      <a:r>
                        <a:rPr/>
                        <a:t>6 catégories pertinentes identifiées</a:t>
                      </a:r>
                    </a:p>
                  </a:txBody>
                </a:tc>
              </a:tr>
              <a:tr h="0">
                <a:tc>
                  <a:txBody>
                    <a:bodyPr/>
                    <a:lstStyle/>
                    <a:p>
                      <a:pPr lvl="0" indent="0" marL="0">
                        <a:buNone/>
                      </a:pPr>
                      <a:r>
                        <a:rPr b="1"/>
                        <a:t>Phase 2</a:t>
                      </a:r>
                      <a:r>
                        <a:rPr/>
                        <a:t> — Authentification</a:t>
                      </a:r>
                    </a:p>
                  </a:txBody>
                </a:tc>
                <a:tc>
                  <a:txBody>
                    <a:bodyPr/>
                    <a:lstStyle/>
                    <a:p>
                      <a:pPr lvl="0" indent="0" marL="0">
                        <a:buNone/>
                      </a:pPr>
                      <a:r>
                        <a:rPr/>
                        <a:t>Docs Ktor Security + Supabase Auth, vérification CVE auth0 java-jwt</a:t>
                      </a:r>
                    </a:p>
                  </a:txBody>
                </a:tc>
                <a:tc>
                  <a:txBody>
                    <a:bodyPr/>
                    <a:lstStyle/>
                    <a:p>
                      <a:pPr lvl="0" indent="0" marL="0">
                        <a:buNone/>
                      </a:pPr>
                      <a:r>
                        <a:rPr/>
                        <a:t>Aucune CVE critique, HMAC256 validé (RFC 7518)</a:t>
                      </a:r>
                    </a:p>
                  </a:txBody>
                </a:tc>
              </a:tr>
              <a:tr h="0">
                <a:tc>
                  <a:txBody>
                    <a:bodyPr/>
                    <a:lstStyle/>
                    <a:p>
                      <a:pPr lvl="0" indent="0" marL="0">
                        <a:buNone/>
                      </a:pPr>
                      <a:r>
                        <a:rPr b="1"/>
                        <a:t>Phase 3</a:t>
                      </a:r>
                      <a:r>
                        <a:rPr/>
                        <a:t> — Participants</a:t>
                      </a:r>
                    </a:p>
                  </a:txBody>
                </a:tc>
                <a:tc>
                  <a:txBody>
                    <a:bodyPr/>
                    <a:lstStyle/>
                    <a:p>
                      <a:pPr lvl="0" indent="0" marL="0">
                        <a:buNone/>
                      </a:pPr>
                      <a:r>
                        <a:rPr/>
                        <a:t>Activation Dependabot, vérification advisories Exposed ORM</a:t>
                      </a:r>
                    </a:p>
                  </a:txBody>
                </a:tc>
                <a:tc>
                  <a:txBody>
                    <a:bodyPr/>
                    <a:lstStyle/>
                    <a:p>
                      <a:pPr lvl="0" indent="0" marL="0">
                        <a:buNone/>
                      </a:pPr>
                      <a:r>
                        <a:rPr/>
                        <a:t>Alertes automatiques configurées</a:t>
                      </a:r>
                    </a:p>
                  </a:txBody>
                </a:tc>
              </a:tr>
              <a:tr h="0">
                <a:tc>
                  <a:txBody>
                    <a:bodyPr/>
                    <a:lstStyle/>
                    <a:p>
                      <a:pPr lvl="0" indent="0" marL="0">
                        <a:buNone/>
                      </a:pPr>
                      <a:r>
                        <a:rPr b="1"/>
                        <a:t>Phase 4</a:t>
                      </a:r>
                      <a:r>
                        <a:rPr/>
                        <a:t> — Contributions</a:t>
                      </a:r>
                    </a:p>
                  </a:txBody>
                </a:tc>
                <a:tc>
                  <a:txBody>
                    <a:bodyPr/>
                    <a:lstStyle/>
                    <a:p>
                      <a:pPr lvl="0" indent="0" marL="0">
                        <a:buNone/>
                      </a:pPr>
                      <a:r>
                        <a:rPr/>
                        <a:t>Recherche vulnérabilités concurrence (TOCTOU), docs PostgreSQL isolation</a:t>
                      </a:r>
                    </a:p>
                  </a:txBody>
                </a:tc>
                <a:tc>
                  <a:txBody>
                    <a:bodyPr/>
                    <a:lstStyle/>
                    <a:p>
                      <a:pPr lvl="0" indent="0" marL="0">
                        <a:buNone/>
                      </a:pPr>
                      <a:r>
                        <a:rPr/>
                        <a:t>Verrou optimiste avec double vérification</a:t>
                      </a:r>
                    </a:p>
                  </a:txBody>
                </a:tc>
              </a:tr>
              <a:tr h="0">
                <a:tc>
                  <a:txBody>
                    <a:bodyPr/>
                    <a:lstStyle/>
                    <a:p>
                      <a:pPr lvl="0" indent="0" marL="0">
                        <a:buNone/>
                      </a:pPr>
                      <a:r>
                        <a:rPr b="1"/>
                        <a:t>Phase 5</a:t>
                      </a:r>
                      <a:r>
                        <a:rPr/>
                        <a:t> — Qualité</a:t>
                      </a:r>
                    </a:p>
                  </a:txBody>
                </a:tc>
                <a:tc>
                  <a:txBody>
                    <a:bodyPr/>
                    <a:lstStyle/>
                    <a:p>
                      <a:pPr lvl="0" indent="0" marL="0">
                        <a:buNone/>
                      </a:pPr>
                      <a:r>
                        <a:rPr/>
                        <a:t>Audit npm, workflow Security Audit quotidien (cron GitHub Actions)</a:t>
                      </a:r>
                    </a:p>
                  </a:txBody>
                </a:tc>
                <a:tc>
                  <a:txBody>
                    <a:bodyPr/>
                    <a:lstStyle/>
                    <a:p>
                      <a:pPr lvl="0" indent="0" marL="0">
                        <a:buNone/>
                      </a:pPr>
                      <a:r>
                        <a:rPr/>
                        <a:t>Pipeline sécurité front-end automatisé</a:t>
                      </a:r>
                    </a:p>
                  </a:txBody>
                </a:tc>
              </a:tr>
              <a:tr h="0">
                <a:tc>
                  <a:txBody>
                    <a:bodyPr/>
                    <a:lstStyle/>
                    <a:p>
                      <a:pPr lvl="0" indent="0" marL="0">
                        <a:buNone/>
                      </a:pPr>
                      <a:r>
                        <a:rPr b="1"/>
                        <a:t>En continu</a:t>
                      </a:r>
                    </a:p>
                  </a:txBody>
                </a:tc>
                <a:tc>
                  <a:txBody>
                    <a:bodyPr/>
                    <a:lstStyle/>
                    <a:p>
                      <a:pPr lvl="0" indent="0" marL="0">
                        <a:buNone/>
                      </a:pPr>
                      <a:r>
                        <a:rPr/>
                        <a:t>Surveillance Dependabot, mises à jour Ktor/Supabase</a:t>
                      </a:r>
                    </a:p>
                  </a:txBody>
                </a:tc>
                <a:tc>
                  <a:txBody>
                    <a:bodyPr/>
                    <a:lstStyle/>
                    <a:p>
                      <a:pPr lvl="0" indent="0" marL="0">
                        <a:buNone/>
                      </a:pPr>
                      <a:r>
                        <a:rPr/>
                        <a:t>Mises à jour mineures appliquées</a:t>
                      </a:r>
                    </a:p>
                  </a:txBody>
                </a:tc>
              </a:tr>
            </a:tbl>
          </a:graphicData>
        </a:graphic>
      </p:graphicFrame>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b="1">
                <a:solidFill>
                  <a:srgbClr val="3D5A6C"/>
                </a:solidFill>
              </a:rPr>
              <a:t>OWASP Top 10 : couverture</a:t>
            </a:r>
          </a:p>
        </p:txBody>
      </p:sp>
      <p:sp>
        <p:nvSpPr>
          <p:cNvPr id="4" name="Text Placeholder 3"/>
          <p:cNvSpPr>
            <a:spLocks noGrp="1"/>
          </p:cNvSpPr>
          <p:nvPr>
            <p:ph idx="2" sz="half" type="body"/>
          </p:nvPr>
        </p:nvSpPr>
        <p:spPr/>
        <p:txBody>
          <a:bodyPr/>
          <a:lstStyle/>
          <a:p>
            <a:pPr lvl="0" indent="0" marL="0">
              <a:buNone/>
            </a:pPr>
            <a:r>
              <a:rPr b="1"/>
              <a:t>Catégories traitées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52600"/>
                <a:gridCol w="3352800"/>
              </a:tblGrid>
              <a:tr h="0">
                <a:tc>
                  <a:txBody>
                    <a:bodyPr/>
                    <a:lstStyle/>
                    <a:p>
                      <a:pPr lvl="0" indent="0" marL="0">
                        <a:buNone/>
                      </a:pPr>
                      <a:r>
                        <a:rPr/>
                        <a:t>Catégorie</a:t>
                      </a:r>
                    </a:p>
                  </a:txBody>
                  <a:tcPr/>
                </a:tc>
                <a:tc>
                  <a:txBody>
                    <a:bodyPr/>
                    <a:lstStyle/>
                    <a:p>
                      <a:pPr lvl="0" indent="0" marL="0">
                        <a:buNone/>
                      </a:pPr>
                      <a:r>
                        <a:rPr/>
                        <a:t>Protection appliquée</a:t>
                      </a:r>
                    </a:p>
                  </a:txBody>
                  <a:tcPr/>
                </a:tc>
              </a:tr>
              <a:tr h="0">
                <a:tc>
                  <a:txBody>
                    <a:bodyPr/>
                    <a:lstStyle/>
                    <a:p>
                      <a:pPr lvl="0" indent="0" marL="0">
                        <a:buNone/>
                      </a:pPr>
                      <a:r>
                        <a:rPr b="1"/>
                        <a:t>A01 — Broken Access Control</a:t>
                      </a:r>
                    </a:p>
                  </a:txBody>
                </a:tc>
                <a:tc>
                  <a:txBody>
                    <a:bodyPr/>
                    <a:lstStyle/>
                    <a:p>
                      <a:pPr lvl="0" indent="0" marL="0">
                        <a:buNone/>
                      </a:pPr>
                      <a:r>
                        <a:rPr/>
                        <a:t>JWT obligatoire, autorisation créateur, email du JWT serveur</a:t>
                      </a:r>
                    </a:p>
                  </a:txBody>
                </a:tc>
              </a:tr>
              <a:tr h="0">
                <a:tc>
                  <a:txBody>
                    <a:bodyPr/>
                    <a:lstStyle/>
                    <a:p>
                      <a:pPr lvl="0" indent="0" marL="0">
                        <a:buNone/>
                      </a:pPr>
                      <a:r>
                        <a:rPr b="1"/>
                        <a:t>A02 — Cryptographic Failures</a:t>
                      </a:r>
                    </a:p>
                  </a:txBody>
                </a:tc>
                <a:tc>
                  <a:txBody>
                    <a:bodyPr/>
                    <a:lstStyle/>
                    <a:p>
                      <a:pPr lvl="0" indent="0" marL="0">
                        <a:buNone/>
                      </a:pPr>
                      <a:r>
                        <a:rPr/>
                        <a:t>HMAC256, HTTPS, SSL PostgreSQL, secrets en env vars</a:t>
                      </a:r>
                    </a:p>
                  </a:txBody>
                </a:tc>
              </a:tr>
              <a:tr h="0">
                <a:tc>
                  <a:txBody>
                    <a:bodyPr/>
                    <a:lstStyle/>
                    <a:p>
                      <a:pPr lvl="0" indent="0" marL="0">
                        <a:buNone/>
                      </a:pPr>
                      <a:r>
                        <a:rPr b="1"/>
                        <a:t>A03 — Injection</a:t>
                      </a:r>
                    </a:p>
                  </a:txBody>
                </a:tc>
                <a:tc>
                  <a:txBody>
                    <a:bodyPr/>
                    <a:lstStyle/>
                    <a:p>
                      <a:pPr lvl="0" indent="0" marL="0">
                        <a:buNone/>
                      </a:pPr>
                      <a:r>
                        <a:rPr/>
                        <a:t>Exposed ORM, requêtes paramétrées, pas de SQL brut</a:t>
                      </a:r>
                    </a:p>
                  </a:txBody>
                </a:tc>
              </a:tr>
              <a:tr h="0">
                <a:tc>
                  <a:txBody>
                    <a:bodyPr/>
                    <a:lstStyle/>
                    <a:p>
                      <a:pPr lvl="0" indent="0" marL="0">
                        <a:buNone/>
                      </a:pPr>
                      <a:r>
                        <a:rPr b="1"/>
                        <a:t>A05 — Security Misconfiguration</a:t>
                      </a:r>
                    </a:p>
                  </a:txBody>
                </a:tc>
                <a:tc>
                  <a:txBody>
                    <a:bodyPr/>
                    <a:lstStyle/>
                    <a:p>
                      <a:pPr lvl="0" indent="0" marL="0">
                        <a:buNone/>
                      </a:pPr>
                      <a:r>
                        <a:rPr/>
                        <a:t>CORS whitelist, Docker non-root, erreurs génériques</a:t>
                      </a:r>
                    </a:p>
                  </a:txBody>
                </a:tc>
              </a:tr>
              <a:tr h="0">
                <a:tc>
                  <a:txBody>
                    <a:bodyPr/>
                    <a:lstStyle/>
                    <a:p>
                      <a:pPr lvl="0" indent="0" marL="0">
                        <a:buNone/>
                      </a:pPr>
                      <a:r>
                        <a:rPr b="1"/>
                        <a:t>A07 — XSS</a:t>
                      </a:r>
                    </a:p>
                  </a:txBody>
                </a:tc>
                <a:tc>
                  <a:txBody>
                    <a:bodyPr/>
                    <a:lstStyle/>
                    <a:p>
                      <a:pPr lvl="0" indent="0" marL="0">
                        <a:buNone/>
                      </a:pPr>
                      <a:r>
                        <a:rPr/>
                        <a:t>API JSON only, échappement React</a:t>
                      </a:r>
                    </a:p>
                  </a:txBody>
                </a:tc>
              </a:tr>
              <a:tr h="0">
                <a:tc>
                  <a:txBody>
                    <a:bodyPr/>
                    <a:lstStyle/>
                    <a:p>
                      <a:pPr lvl="0" indent="0" marL="0">
                        <a:buNone/>
                      </a:pPr>
                      <a:r>
                        <a:rPr b="1"/>
                        <a:t>A08 — Data Integrity</a:t>
                      </a:r>
                    </a:p>
                  </a:txBody>
                </a:tc>
                <a:tc>
                  <a:txBody>
                    <a:bodyPr/>
                    <a:lstStyle/>
                    <a:p>
                      <a:pPr lvl="0" indent="0" marL="0">
                        <a:buNone/>
                      </a:pPr>
                      <a:r>
                        <a:rPr/>
                        <a:t>Dependabot, versions fixées, verrou optimiste, FK/CHECK</a:t>
                      </a:r>
                    </a:p>
                  </a:txBody>
                </a:tc>
              </a:tr>
            </a:tbl>
          </a:graphicData>
        </a:graphic>
      </p:graphicFrame>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b="1">
                <a:solidFill>
                  <a:srgbClr val="3D5A6C"/>
                </a:solidFill>
              </a:rPr>
              <a:t>Bilan et satisfactions</a:t>
            </a:r>
          </a:p>
        </p:txBody>
      </p:sp>
      <p:sp>
        <p:nvSpPr>
          <p:cNvPr id="4" name="Text Placeholder 3"/>
          <p:cNvSpPr>
            <a:spLocks noGrp="1"/>
          </p:cNvSpPr>
          <p:nvPr>
            <p:ph idx="2" sz="half" type="body"/>
          </p:nvPr>
        </p:nvSpPr>
        <p:spPr/>
        <p:txBody>
          <a:bodyPr/>
          <a:lstStyle/>
          <a:p>
            <a:pPr lvl="0" indent="0" marL="0">
              <a:buNone/>
            </a:pPr>
            <a:r>
              <a:rPr b="1"/>
              <a:t>Chiffres clés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635000"/>
                <a:gridCol w="2133600"/>
                <a:gridCol w="2336800"/>
              </a:tblGrid>
              <a:tr h="0">
                <a:tc>
                  <a:txBody>
                    <a:bodyPr/>
                    <a:lstStyle/>
                    <a:p>
                      <a:endParaRPr/>
                    </a:p>
                  </a:txBody>
                  <a:tcPr/>
                </a:tc>
                <a:tc>
                  <a:txBody>
                    <a:bodyPr/>
                    <a:lstStyle/>
                    <a:p>
                      <a:pPr lvl="0" indent="0" marL="0">
                        <a:buNone/>
                      </a:pPr>
                      <a:r>
                        <a:rPr/>
                        <a:t>Back-end</a:t>
                      </a:r>
                    </a:p>
                  </a:txBody>
                  <a:tcPr/>
                </a:tc>
                <a:tc>
                  <a:txBody>
                    <a:bodyPr/>
                    <a:lstStyle/>
                    <a:p>
                      <a:pPr lvl="0" indent="0" marL="0">
                        <a:buNone/>
                      </a:pPr>
                      <a:r>
                        <a:rPr/>
                        <a:t>Front-end</a:t>
                      </a:r>
                    </a:p>
                  </a:txBody>
                  <a:tcPr/>
                </a:tc>
              </a:tr>
              <a:tr h="0">
                <a:tc>
                  <a:txBody>
                    <a:bodyPr/>
                    <a:lstStyle/>
                    <a:p>
                      <a:pPr lvl="0" indent="0" marL="0">
                        <a:buNone/>
                      </a:pPr>
                      <a:r>
                        <a:rPr b="1"/>
                        <a:t>Endpoints / Écrans</a:t>
                      </a:r>
                    </a:p>
                  </a:txBody>
                </a:tc>
                <a:tc>
                  <a:txBody>
                    <a:bodyPr/>
                    <a:lstStyle/>
                    <a:p>
                      <a:pPr lvl="0" indent="0" marL="0">
                        <a:buNone/>
                      </a:pPr>
                      <a:r>
                        <a:rPr/>
                        <a:t>15 endpoints REST</a:t>
                      </a:r>
                    </a:p>
                  </a:txBody>
                </a:tc>
                <a:tc>
                  <a:txBody>
                    <a:bodyPr/>
                    <a:lstStyle/>
                    <a:p>
                      <a:pPr lvl="0" indent="0" marL="0">
                        <a:buNone/>
                      </a:pPr>
                      <a:r>
                        <a:rPr/>
                        <a:t>8 écrans + 6 modales</a:t>
                      </a:r>
                    </a:p>
                  </a:txBody>
                </a:tc>
              </a:tr>
              <a:tr h="0">
                <a:tc>
                  <a:txBody>
                    <a:bodyPr/>
                    <a:lstStyle/>
                    <a:p>
                      <a:pPr lvl="0" indent="0" marL="0">
                        <a:buNone/>
                      </a:pPr>
                      <a:r>
                        <a:rPr b="1"/>
                        <a:t>Code</a:t>
                      </a:r>
                    </a:p>
                  </a:txBody>
                </a:tc>
                <a:tc>
                  <a:txBody>
                    <a:bodyPr/>
                    <a:lstStyle/>
                    <a:p>
                      <a:pPr lvl="0" indent="0" marL="0">
                        <a:buNone/>
                      </a:pPr>
                      <a:r>
                        <a:rPr/>
                        <a:t>~5 000 lignes Kotlin</a:t>
                      </a:r>
                    </a:p>
                  </a:txBody>
                </a:tc>
                <a:tc>
                  <a:txBody>
                    <a:bodyPr/>
                    <a:lstStyle/>
                    <a:p>
                      <a:pPr lvl="0" indent="0" marL="0">
                        <a:buNone/>
                      </a:pPr>
                      <a:r>
                        <a:rPr/>
                        <a:t>React 19 / TypeScript</a:t>
                      </a:r>
                    </a:p>
                  </a:txBody>
                </a:tc>
              </a:tr>
              <a:tr h="0">
                <a:tc>
                  <a:txBody>
                    <a:bodyPr/>
                    <a:lstStyle/>
                    <a:p>
                      <a:pPr lvl="0" indent="0" marL="0">
                        <a:buNone/>
                      </a:pPr>
                      <a:r>
                        <a:rPr b="1"/>
                        <a:t>Tests</a:t>
                      </a:r>
                    </a:p>
                  </a:txBody>
                </a:tc>
                <a:tc>
                  <a:txBody>
                    <a:bodyPr/>
                    <a:lstStyle/>
                    <a:p>
                      <a:pPr lvl="0" indent="0" marL="0">
                        <a:buNone/>
                      </a:pPr>
                      <a:r>
                        <a:rPr/>
                        <a:t>Kotest + MockK + Testcontainers</a:t>
                      </a:r>
                    </a:p>
                  </a:txBody>
                </a:tc>
                <a:tc>
                  <a:txBody>
                    <a:bodyPr/>
                    <a:lstStyle/>
                    <a:p>
                      <a:pPr lvl="0" indent="0" marL="0">
                        <a:buNone/>
                      </a:pPr>
                      <a:r>
                        <a:rPr/>
                        <a:t>46 tests Vitest + 6 E2E Playwright</a:t>
                      </a:r>
                    </a:p>
                  </a:txBody>
                </a:tc>
              </a:tr>
              <a:tr h="0">
                <a:tc>
                  <a:txBody>
                    <a:bodyPr/>
                    <a:lstStyle/>
                    <a:p>
                      <a:pPr lvl="0" indent="0" marL="0">
                        <a:buNone/>
                      </a:pPr>
                      <a:r>
                        <a:rPr b="1"/>
                        <a:t>CI/CD</a:t>
                      </a:r>
                    </a:p>
                  </a:txBody>
                </a:tc>
                <a:tc>
                  <a:txBody>
                    <a:bodyPr/>
                    <a:lstStyle/>
                    <a:p>
                      <a:pPr lvl="0" indent="0" marL="0">
                        <a:buNone/>
                      </a:pPr>
                      <a:r>
                        <a:rPr/>
                        <a:t>Detekt → Tests → Render</a:t>
                      </a:r>
                    </a:p>
                  </a:txBody>
                </a:tc>
                <a:tc>
                  <a:txBody>
                    <a:bodyPr/>
                    <a:lstStyle/>
                    <a:p>
                      <a:pPr lvl="0" indent="0" marL="0">
                        <a:buNone/>
                      </a:pPr>
                      <a:r>
                        <a:rPr/>
                        <a:t>ESLint → Tests → Docker → Vercel</a:t>
                      </a:r>
                    </a:p>
                  </a:txBody>
                </a:tc>
              </a:tr>
              <a:tr h="0">
                <a:tc>
                  <a:txBody>
                    <a:bodyPr/>
                    <a:lstStyle/>
                    <a:p>
                      <a:pPr lvl="0" indent="0" marL="0">
                        <a:buNone/>
                      </a:pPr>
                      <a:r>
                        <a:rPr b="1"/>
                        <a:t>Dépendances</a:t>
                      </a:r>
                    </a:p>
                  </a:txBody>
                </a:tc>
                <a:tc>
                  <a:txBody>
                    <a:bodyPr/>
                    <a:lstStyle/>
                    <a:p>
                      <a:pPr lvl="0" indent="0" marL="0">
                        <a:buNone/>
                      </a:pPr>
                      <a:r>
                        <a:rPr/>
                        <a:t>Kotlin, Ktor, Exposed, Arrow</a:t>
                      </a:r>
                    </a:p>
                  </a:txBody>
                </a:tc>
                <a:tc>
                  <a:txBody>
                    <a:bodyPr/>
                    <a:lstStyle/>
                    <a:p>
                      <a:pPr lvl="0" indent="0" marL="0">
                        <a:buNone/>
                      </a:pPr>
                      <a:r>
                        <a:rPr/>
                        <a:t>3 deps prod (React, Router, Supabase)</a:t>
                      </a:r>
                    </a:p>
                  </a:txBody>
                </a:tc>
              </a:tr>
            </a:tbl>
          </a:graphicData>
        </a:graphic>
      </p:graphicFrame>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b="1">
                <a:solidFill>
                  <a:srgbClr val="3D5A6C"/>
                </a:solidFill>
              </a:rPr>
              <a:t>Difficultés et perspectives</a:t>
            </a:r>
          </a:p>
        </p:txBody>
      </p:sp>
      <p:sp>
        <p:nvSpPr>
          <p:cNvPr id="4" name="Text Placeholder 3"/>
          <p:cNvSpPr>
            <a:spLocks noGrp="1"/>
          </p:cNvSpPr>
          <p:nvPr>
            <p:ph idx="2" sz="half" type="body"/>
          </p:nvPr>
        </p:nvSpPr>
        <p:spPr/>
        <p:txBody>
          <a:bodyPr/>
          <a:lstStyle/>
          <a:p>
            <a:pPr lvl="0" indent="0" marL="0">
              <a:buNone/>
            </a:pPr>
            <a:r>
              <a:rPr b="1"/>
              <a:t>Difficultés rencontrées</a:t>
            </a:r>
          </a:p>
          <a:p>
            <a:pPr lvl="0"/>
            <a:r>
              <a:rPr b="1"/>
              <a:t>Concurrence</a:t>
            </a:r>
            <a:r>
              <a:rPr/>
              <a:t> : propager la </a:t>
            </a:r>
            <a:r>
              <a:rPr>
                <a:latin typeface="Courier"/>
              </a:rPr>
              <a:t>version</a:t>
            </a:r>
            <a:r>
              <a:rPr/>
              <a:t> à travers toutes les couches (Repository → UseCase → Endpoint → 409)</a:t>
            </a:r>
          </a:p>
          <a:p>
            <a:pPr lvl="0"/>
            <a:r>
              <a:rPr b="1"/>
              <a:t>Suppression en cascade</a:t>
            </a:r>
            <a:r>
              <a:rPr/>
              <a:t> : ordre imposé par les FK (contributions → ressources → participants → événement)</a:t>
            </a:r>
          </a:p>
          <a:p>
            <a:pPr lvl="0"/>
            <a:r>
              <a:rPr b="1"/>
              <a:t>SSL Raspberry Pi</a:t>
            </a:r>
            <a:r>
              <a:rPr/>
              <a:t> : tunnel Cloudflare + certificats PostgreSQL → centralisation des secrets en env vars</a:t>
            </a:r>
          </a:p>
          <a:p>
            <a:pPr lvl="0" indent="0" marL="0">
              <a:buNone/>
            </a:pPr>
            <a:r>
              <a:rPr b="1"/>
              <a:t>Perspectives d’évolution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Évolution</a:t>
                      </a:r>
                    </a:p>
                  </a:txBody>
                  <a:tcPr/>
                </a:tc>
                <a:tc>
                  <a:txBody>
                    <a:bodyPr/>
                    <a:lstStyle/>
                    <a:p>
                      <a:pPr lvl="0" indent="0" marL="0">
                        <a:buNone/>
                      </a:pPr>
                      <a:r>
                        <a:rPr/>
                        <a:t>Description</a:t>
                      </a:r>
                    </a:p>
                  </a:txBody>
                  <a:tcPr/>
                </a:tc>
              </a:tr>
              <a:tr h="0">
                <a:tc>
                  <a:txBody>
                    <a:bodyPr/>
                    <a:lstStyle/>
                    <a:p>
                      <a:pPr lvl="0" indent="0" marL="0">
                        <a:buNone/>
                      </a:pPr>
                      <a:r>
                        <a:rPr/>
                        <a:t>Application mobile</a:t>
                      </a:r>
                    </a:p>
                  </a:txBody>
                </a:tc>
                <a:tc>
                  <a:txBody>
                    <a:bodyPr/>
                    <a:lstStyle/>
                    <a:p>
                      <a:pPr lvl="0" indent="0" marL="0">
                        <a:buNone/>
                      </a:pPr>
                      <a:r>
                        <a:rPr/>
                        <a:t>Client natif ou cross-platform</a:t>
                      </a:r>
                    </a:p>
                  </a:txBody>
                </a:tc>
              </a:tr>
              <a:tr h="0">
                <a:tc>
                  <a:txBody>
                    <a:bodyPr/>
                    <a:lstStyle/>
                    <a:p>
                      <a:pPr lvl="0" indent="0" marL="0">
                        <a:buNone/>
                      </a:pPr>
                      <a:r>
                        <a:rPr/>
                        <a:t>Notifications temps réel</a:t>
                      </a:r>
                    </a:p>
                  </a:txBody>
                </a:tc>
                <a:tc>
                  <a:txBody>
                    <a:bodyPr/>
                    <a:lstStyle/>
                    <a:p>
                      <a:pPr lvl="0" indent="0" marL="0">
                        <a:buNone/>
                      </a:pPr>
                      <a:r>
                        <a:rPr/>
                        <a:t>WebSocket ou SSE</a:t>
                      </a:r>
                    </a:p>
                  </a:txBody>
                </a:tc>
              </a:tr>
              <a:tr h="0">
                <a:tc>
                  <a:txBody>
                    <a:bodyPr/>
                    <a:lstStyle/>
                    <a:p>
                      <a:pPr lvl="0" indent="0" marL="0">
                        <a:buNone/>
                      </a:pPr>
                      <a:r>
                        <a:rPr/>
                        <a:t>NoSQL</a:t>
                      </a:r>
                    </a:p>
                  </a:txBody>
                </a:tc>
                <a:tc>
                  <a:txBody>
                    <a:bodyPr/>
                    <a:lstStyle/>
                    <a:p>
                      <a:pPr lvl="0" indent="0" marL="0">
                        <a:buNone/>
                      </a:pPr>
                      <a:r>
                        <a:rPr/>
                        <a:t>Logs d’activité, historique contributions</a:t>
                      </a:r>
                    </a:p>
                  </a:txBody>
                </a:tc>
              </a:tr>
              <a:tr h="0">
                <a:tc>
                  <a:txBody>
                    <a:bodyPr/>
                    <a:lstStyle/>
                    <a:p>
                      <a:pPr lvl="0" indent="0" marL="0">
                        <a:buNone/>
                      </a:pPr>
                      <a:r>
                        <a:rPr/>
                        <a:t>Tests intégration en CI</a:t>
                      </a:r>
                    </a:p>
                  </a:txBody>
                </a:tc>
                <a:tc>
                  <a:txBody>
                    <a:bodyPr/>
                    <a:lstStyle/>
                    <a:p>
                      <a:pPr lvl="0" indent="0" marL="0">
                        <a:buNone/>
                      </a:pPr>
                      <a:r>
                        <a:rPr/>
                        <a:t>Testcontainers dans GitHub Actions</a:t>
                      </a:r>
                    </a:p>
                  </a:txBody>
                </a:tc>
              </a:tr>
              <a:tr h="0">
                <a:tc>
                  <a:txBody>
                    <a:bodyPr/>
                    <a:lstStyle/>
                    <a:p>
                      <a:pPr lvl="0" indent="0" marL="0">
                        <a:buNone/>
                      </a:pPr>
                      <a:r>
                        <a:rPr/>
                        <a:t>Monitoring</a:t>
                      </a:r>
                    </a:p>
                  </a:txBody>
                </a:tc>
                <a:tc>
                  <a:txBody>
                    <a:bodyPr/>
                    <a:lstStyle/>
                    <a:p>
                      <a:pPr lvl="0" indent="0" marL="0">
                        <a:buNone/>
                      </a:pPr>
                      <a:r>
                        <a:rPr/>
                        <a:t>Micrometer + Grafana</a:t>
                      </a: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HappyRow</dc:title>
  <dc:creator>[Nom Prénom]</dc:creator>
  <cp:keywords/>
  <dcterms:created xsi:type="dcterms:W3CDTF">2026-03-12T14:19:13Z</dcterms:created>
  <dcterms:modified xsi:type="dcterms:W3CDTF">2026-03-12T14:19:13Z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[Date de session]</vt:lpwstr>
  </property>
  <property fmtid="{D5CDD505-2E9C-101B-9397-08002B2CF9AE}" pid="3" name="subtitle">
    <vt:lpwstr>Plateforme collaborative de gestion d’événements — Titre Professionnel CDA</vt:lpwstr>
  </property>
</Properties>
</file>