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3" Type="http://schemas.openxmlformats.org/officeDocument/2006/relationships/viewProps" Target="viewProps.xml" /><Relationship Id="rId6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5" Type="http://schemas.openxmlformats.org/officeDocument/2006/relationships/tableStyles" Target="tableStyles.xml" /><Relationship Id="rId6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HappyRow Core - API Backend de Gestion d’Événements Festifs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Soutenance CDA - Concepteur Développeur d’Applications</a:t>
            </a:r>
            <a:br/>
            <a:br/>
            <a:r>
              <a:rPr/>
              <a:t>[Votre Nom]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[Date de soutenance]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HappyRow Core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 Backend de Gestion d’Événements Festifs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Soutenance CDA</a:t>
            </a:r>
          </a:p>
          <a:p>
            <a:pPr lvl="0" indent="0" marL="0">
              <a:buNone/>
            </a:pPr>
            <a:r>
              <a:rPr b="1"/>
              <a:t>Concepteur Développeur d’Applications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Contexte et Problématique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La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Comment simplifier l’organisation d’événements entre amis ou en famille 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Situation actuelle (dispersée)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Problème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📱 </a:t>
                      </a:r>
                      <a:r>
                        <a:rPr b="1"/>
                        <a:t>WhatsApp/SMS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Communication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Informations perdues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📊 </a:t>
                      </a:r>
                      <a:r>
                        <a:rPr b="1"/>
                        <a:t>Excel/Google Sheets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Suivi contributions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 collaboratif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📝 </a:t>
                      </a:r>
                      <a:r>
                        <a:rPr b="1"/>
                        <a:t>Notes papier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Liste des besoins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Risque de perte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🧠 </a:t>
                      </a:r>
                      <a:r>
                        <a:rPr b="1"/>
                        <a:t>Mémoire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Rappels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Charge mentale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Conséquences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❌ Oublis fréquents</a:t>
            </a:r>
          </a:p>
          <a:p>
            <a:pPr lvl="0"/>
            <a:r>
              <a:rPr/>
              <a:t>❌ Doublons (2 personnes apportent la même chose)</a:t>
            </a:r>
          </a:p>
          <a:p>
            <a:pPr lvl="0"/>
            <a:r>
              <a:rPr/>
              <a:t>❌ Charge mentale pour l’organisateur</a:t>
            </a:r>
          </a:p>
          <a:p>
            <a:pPr lvl="0"/>
            <a:r>
              <a:rPr/>
              <a:t>❌ Manque de visibilité pour les participants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 Solution : HappyRow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API centralisée pour :</a:t>
            </a:r>
          </a:p>
          <a:p>
            <a:pPr lvl="0"/>
            <a:r>
              <a:rPr/>
              <a:t>✅ Créer et gérer des événements</a:t>
            </a:r>
          </a:p>
          <a:p>
            <a:pPr lvl="0"/>
            <a:r>
              <a:rPr/>
              <a:t>✅ Inviter des participants</a:t>
            </a:r>
          </a:p>
          <a:p>
            <a:pPr lvl="0"/>
            <a:r>
              <a:rPr/>
              <a:t>✅ Définir les ressources nécessaires</a:t>
            </a:r>
          </a:p>
          <a:p>
            <a:pPr lvl="0"/>
            <a:r>
              <a:rPr/>
              <a:t>✅ Suivre les contributions de chacun</a:t>
            </a:r>
          </a:p>
          <a:p>
            <a:pPr lvl="0"/>
            <a:r>
              <a:rPr/>
              <a:t>✅ Réduire la charge mentale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🎓 Objectif : Démontrer les 9 compétences CDA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Architecture Hexagonale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🏗️ Architecture Ports et Adaptateurs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Les 3 Couches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ADAPTATEURS ENTRANTS</a:t>
            </a:r>
          </a:p>
          <a:p>
            <a:pPr lvl="0"/>
            <a:r>
              <a:rPr/>
              <a:t>Points d’entrée</a:t>
            </a:r>
          </a:p>
          <a:p>
            <a:pPr lvl="0"/>
            <a:r>
              <a:rPr/>
              <a:t>Endpoints REST</a:t>
            </a:r>
          </a:p>
          <a:p>
            <a:pPr lvl="0"/>
            <a:r>
              <a:rPr/>
              <a:t>Ktor</a:t>
            </a:r>
          </a:p>
          <a:p>
            <a:pPr lvl="0"/>
            <a:r>
              <a:rPr/>
              <a:t>Transformation DTO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DOMAIN (Centre)</a:t>
            </a:r>
          </a:p>
          <a:p>
            <a:pPr lvl="0"/>
            <a:r>
              <a:rPr/>
              <a:t>Logique métier pure</a:t>
            </a:r>
          </a:p>
          <a:p>
            <a:pPr lvl="0"/>
            <a:r>
              <a:rPr/>
              <a:t>Entities</a:t>
            </a:r>
          </a:p>
          <a:p>
            <a:pPr lvl="0"/>
            <a:r>
              <a:rPr/>
              <a:t>Use Cases</a:t>
            </a:r>
          </a:p>
          <a:p>
            <a:pPr lvl="0"/>
            <a:r>
              <a:rPr/>
              <a:t>Ports (Interfaces)</a:t>
            </a:r>
          </a:p>
          <a:p>
            <a:pPr lvl="0"/>
            <a:r>
              <a:rPr/>
              <a:t>Indépendant des technos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Avantages de l’Architecture Hexagonale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Bénéfice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🎯 Isolation du métier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 métier protégé des détails techniques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🧪 Testabilité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Tests unitaires sans base de données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🔄 Évolutivité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Changement de framework sans impact métier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📚 Maintenabilité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Responsabilités clairement séparées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🎓 Compétence CDA-2.1</a:t>
            </a:r>
            <a:r>
              <a:rPr/>
              <a:t> : Concevoir une application organisée en couches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Stack Technique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🛠️ Technologies Choisies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Catégorie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Technologie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Langage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Kotlin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Framework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2.3+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Base de données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PostgreSQL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0.44+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Arrow (Either)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1.2+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JUnit 5, Kotest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Qualité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Detekt, Spotless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Déploiement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Docker, Render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Justifications des Choix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Kotlin</a:t>
            </a:r>
            <a:r>
              <a:rPr/>
              <a:t> : Typage fort, null-safety, fonctionnel, interopérabilité Java</a:t>
            </a:r>
          </a:p>
          <a:p>
            <a:pPr lvl="0" indent="0" marL="0">
              <a:buNone/>
            </a:pPr>
            <a:r>
              <a:rPr b="1"/>
              <a:t>Ktor</a:t>
            </a:r>
            <a:r>
              <a:rPr/>
              <a:t> : Framework léger, asynchrone (coroutines), modulaire</a:t>
            </a:r>
          </a:p>
          <a:p>
            <a:pPr lvl="0" indent="0" marL="0">
              <a:buNone/>
            </a:pPr>
            <a:r>
              <a:rPr b="1"/>
              <a:t>PostgreSQL</a:t>
            </a:r>
            <a:r>
              <a:rPr/>
              <a:t> : SGBD relationnel robuste, open-source, transactions ACID</a:t>
            </a:r>
          </a:p>
          <a:p>
            <a:pPr lvl="0" indent="0" marL="0">
              <a:buNone/>
            </a:pPr>
            <a:r>
              <a:rPr b="1"/>
              <a:t>Exposed</a:t>
            </a:r>
            <a:r>
              <a:rPr/>
              <a:t> : ORM Kotlin natif, type-safe, support Arrow</a:t>
            </a:r>
          </a:p>
          <a:p>
            <a:pPr lvl="0" indent="0" marL="0">
              <a:buNone/>
            </a:pPr>
            <a:r>
              <a:rPr b="1"/>
              <a:t>Arrow</a:t>
            </a:r>
            <a:r>
              <a:rPr/>
              <a:t> : Programmation fonctionnelle, gestion erreurs avec Either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Modèle de Données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Entités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EVENTS</a:t>
            </a:r>
            <a:r>
              <a:rPr/>
              <a:t> - id (UUID, PK) - title - description - event_date - location - distance_km - max_participants</a:t>
            </a:r>
          </a:p>
          <a:p>
            <a:pPr lvl="0" indent="0" marL="0">
              <a:buNone/>
            </a:pPr>
            <a:r>
              <a:rPr b="1"/>
              <a:t>PARTICIPANTS</a:t>
            </a:r>
            <a:r>
              <a:rPr/>
              <a:t> - id (UUID, PK) - user_id (FK) - event_id (FK) - status (ENUM) - registered_at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RESULTS</a:t>
            </a:r>
            <a:r>
              <a:rPr/>
              <a:t> - id (UUID, PK) - event_id (FK) - participant_id (FK) - finish_time (INTERVAL) - ranking</a:t>
            </a:r>
          </a:p>
          <a:p>
            <a:pPr lvl="0" indent="0" marL="0">
              <a:buNone/>
            </a:pPr>
            <a:r>
              <a:rPr b="1"/>
              <a:t>TEAMS</a:t>
            </a:r>
            <a:r>
              <a:rPr/>
              <a:t> - id (UUID, PK) - event_id (FK) - team_name - max_members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Event ↔ Participants</a:t>
            </a:r>
            <a:r>
              <a:rPr/>
              <a:t> : 1-N (un événement a plusieurs participants)</a:t>
            </a:r>
          </a:p>
          <a:p>
            <a:pPr lvl="0"/>
            <a:r>
              <a:rPr b="1"/>
              <a:t>Participant ↔ Results</a:t>
            </a:r>
            <a:r>
              <a:rPr/>
              <a:t> : 1-N (un participant peut avoir plusieurs résultats)</a:t>
            </a:r>
          </a:p>
          <a:p>
            <a:pPr lvl="0"/>
            <a:r>
              <a:rPr b="1"/>
              <a:t>Event ↔ Teams</a:t>
            </a:r>
            <a:r>
              <a:rPr/>
              <a:t> : 1-N (un événement peut avoir plusieurs équipes)</a:t>
            </a:r>
          </a:p>
          <a:p>
            <a:pPr lvl="0" indent="0" marL="0">
              <a:buNone/>
            </a:pPr>
            <a:r>
              <a:rPr b="1"/>
              <a:t>🎓 Compétence CDA-1.3</a:t>
            </a:r>
            <a:r>
              <a:rPr/>
              <a:t> : Développer la persistance des données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Endpoints REST API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🌐 15 Endpoints Disponibles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Events (9 endpoints)</a:t>
            </a:r>
          </a:p>
          <a:p>
            <a:pPr lvl="0" indent="0">
              <a:buNone/>
            </a:pPr>
            <a:r>
              <a:rPr>
                <a:latin typeface="Courier"/>
              </a:rPr>
              <a:t>GET    /api/events              # Liste tous les événements
POST   /api/events              # Créer un événement
GET    /api/events/{id}         # Détails d'un événement
PUT    /api/events/{id}         # Modifier un événement
DELETE /api/events/{id}         # Supprimer un événement
GET    /api/events/{id}/participants
POST   /api/events/{id}/participants
GET    /api/events/{id}/results
POST   /api/events/{id}/results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Endpoints REST (suite)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Participants (3 endpoints)</a:t>
            </a:r>
          </a:p>
          <a:p>
            <a:pPr lvl="0" indent="0">
              <a:buNone/>
            </a:pPr>
            <a:r>
              <a:rPr>
                <a:latin typeface="Courier"/>
              </a:rPr>
              <a:t>GET    /api/participants/{id}
PUT    /api/participants/{id}
DELETE /api/participants/{id}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Results (3 endpoints)</a:t>
            </a:r>
          </a:p>
          <a:p>
            <a:pPr lvl="0" indent="0">
              <a:buNone/>
            </a:pPr>
            <a:r>
              <a:rPr>
                <a:latin typeface="Courier"/>
              </a:rPr>
              <a:t>GET    /api/results/{id}
PUT    /api/results/{id}
DELETE /api/results/{id}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Conventions REST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Méthode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 Succès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Récupération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 OK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Création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 Created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Modification complète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 OK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DELETE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204 No Content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Codes d’erreur</a:t>
            </a:r>
            <a:r>
              <a:rPr/>
              <a:t> : 400 (Bad Request), 404 (Not Found), 500 (Server Error)</a:t>
            </a:r>
          </a:p>
          <a:p>
            <a:pPr lvl="0" indent="0" marL="0">
              <a:buNone/>
            </a:pPr>
            <a:r>
              <a:rPr b="1"/>
              <a:t>🎓 Compétence CDA-1.1</a:t>
            </a:r>
            <a:r>
              <a:rPr/>
              <a:t> : Développer la partie back-end d’une application web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Use Cases Métier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Architecture des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interface</a:t>
            </a:r>
            <a:r>
              <a:rPr>
                <a:latin typeface="Courier"/>
              </a:rPr>
              <a:t> CreateEventUseCase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execute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request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CreateEventRequest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Either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DomainError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EventResponse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Principe</a:t>
            </a:r>
            <a:r>
              <a:rPr/>
              <a:t> : Un Use Case = Une action métier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Exemple : CreateEventUseCase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CreateEventUseCaseImpl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eventRepository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EventRepository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clock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Clock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CreateEventUseCase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override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execute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request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CreateEventRequest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Either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DomainError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EventResponse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request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validate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flatMap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validRequest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event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create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  title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validRequest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title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eventDate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validRequest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eventDate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location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validRequest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location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maxParticipants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validRequest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maxParticipants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clock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clock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eventRepository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save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event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EventResponse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Gestion des Erreurs avec Arrow Either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sealed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interface</a:t>
            </a:r>
            <a:r>
              <a:rPr>
                <a:latin typeface="Courier"/>
              </a:rPr>
              <a:t> DomainError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data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ValidationError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message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DomainError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data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NotFoundError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DomainError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data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ConflictError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message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DomainError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data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DatabaseError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cause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Throwable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DomainError</a:t>
            </a:r>
            <a:br/>
            <a:r>
              <a:rPr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Avantage</a:t>
            </a:r>
            <a:r>
              <a:rPr/>
              <a:t> : Erreurs typées, pas d’exceptions, composition fonctionnelle</a:t>
            </a:r>
          </a:p>
          <a:p>
            <a:pPr lvl="0" indent="0" marL="0">
              <a:buNone/>
            </a:pPr>
            <a:r>
              <a:rPr b="1"/>
              <a:t>🎓 Compétence CDA-1.2</a:t>
            </a:r>
            <a:r>
              <a:rPr/>
              <a:t> : Développer les composants métier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Repositories et Persistance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💾 Pattern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Interface Domain (Port)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interface</a:t>
            </a:r>
            <a:r>
              <a:rPr>
                <a:latin typeface="Courier"/>
              </a:rPr>
              <a:t> EventRepository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findAll</a:t>
            </a:r>
            <a:r>
              <a:rPr>
                <a:solidFill>
                  <a:srgbClr val="666666"/>
                </a:solidFill>
                <a:latin typeface="Courier"/>
              </a:rPr>
              <a:t>():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Either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DomainError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Event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findById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UUID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Either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DomainError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Event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save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event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Event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Either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DomainError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Event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update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event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Event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Either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DomainError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Event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delete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UUID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Either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DomainError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Unit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}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Implémentation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EventRepositoryImpl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database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Database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EventRepository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override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findById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UUID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Either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DomainError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Event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Either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catch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database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transaction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EventTable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select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EventTable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 eq id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singleOrNull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666666"/>
                </a:solidFill>
                <a:latin typeface="Courier"/>
              </a:rPr>
              <a:t>?.</a:t>
            </a:r>
            <a:r>
              <a:rPr>
                <a:latin typeface="Courier"/>
              </a:rPr>
              <a:t>toEvent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NotFoundException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"Event not found"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}.</a:t>
            </a:r>
            <a:r>
              <a:rPr>
                <a:latin typeface="Courier"/>
              </a:rPr>
              <a:t>mapLeft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DomainError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DatabaseError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Gestion des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transactional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block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Either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DomainError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Either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catch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transaction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block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}.</a:t>
            </a:r>
            <a:r>
              <a:rPr>
                <a:latin typeface="Courier"/>
              </a:rPr>
              <a:t>mapLeft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DomainError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DatabaseError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Points clés</a:t>
            </a:r>
            <a:r>
              <a:rPr/>
              <a:t> : - Transactions ACID garanties - Connection pooling (HikariCP) - Mapping Domain ↔ Table</a:t>
            </a:r>
          </a:p>
          <a:p>
            <a:pPr lvl="0" indent="0" marL="0">
              <a:buNone/>
            </a:pPr>
            <a:r>
              <a:rPr b="1"/>
              <a:t>🎓 Compétences CDA-1.3 + CDA-2.3</a:t>
            </a:r>
            <a:r>
              <a:rPr/>
              <a:t> : Persistance et composants d’accès aux données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Authentification JWT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🔐 Architecture JWT avec Supabase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Flow d’authentification</a:t>
            </a:r>
          </a:p>
          <a:p>
            <a:pPr lvl="0" indent="-342900" marL="342900">
              <a:buAutoNum type="arabicPeriod"/>
            </a:pPr>
            <a:r>
              <a:rPr/>
              <a:t>Client → Supabase Auth</a:t>
            </a:r>
          </a:p>
          <a:p>
            <a:pPr lvl="0" indent="-342900" marL="342900">
              <a:buAutoNum type="arabicPeriod"/>
            </a:pPr>
            <a:r>
              <a:rPr/>
              <a:t>Supabase → JWT Token</a:t>
            </a:r>
          </a:p>
          <a:p>
            <a:pPr lvl="0" indent="-342900" marL="342900">
              <a:buAutoNum type="arabicPeriod"/>
            </a:pPr>
            <a:r>
              <a:rPr/>
              <a:t>Client → API avec Header </a:t>
            </a:r>
            <a:r>
              <a:rPr>
                <a:latin typeface="Courier"/>
              </a:rPr>
              <a:t>Authorization: Bearer &lt;token&gt;</a:t>
            </a:r>
          </a:p>
          <a:p>
            <a:pPr lvl="0" indent="-342900" marL="342900">
              <a:buAutoNum type="arabicPeriod"/>
            </a:pPr>
            <a:r>
              <a:rPr/>
              <a:t>API → Validation du token</a:t>
            </a:r>
          </a:p>
          <a:p>
            <a:pPr lvl="0" indent="-342900" marL="342900">
              <a:buAutoNum type="arabicPeriod"/>
            </a:pPr>
            <a:r>
              <a:rPr/>
              <a:t>API → Extraction userId</a:t>
            </a:r>
          </a:p>
          <a:p>
            <a:pPr lvl="0" indent="-342900" marL="342900">
              <a:buAutoNum type="arabicPeriod"/>
            </a:pPr>
            <a:r>
              <a:rPr/>
              <a:t>API → Traitement sécurisé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Sécurité</a:t>
            </a:r>
          </a:p>
          <a:p>
            <a:pPr lvl="0" indent="0" marL="0">
              <a:buNone/>
            </a:pPr>
            <a:r>
              <a:rPr/>
              <a:t>✅ Signature HMAC256</a:t>
            </a:r>
            <a:br/>
            <a:r>
              <a:rPr/>
              <a:t>✅ Vérification issuer</a:t>
            </a:r>
            <a:br/>
            <a:r>
              <a:rPr/>
              <a:t>✅ Vérification audience</a:t>
            </a:r>
            <a:br/>
            <a:r>
              <a:rPr/>
              <a:t>✅ Extraction claims sécurisée</a:t>
            </a:r>
            <a:br/>
            <a:r>
              <a:rPr/>
              <a:t>✅ Gestion des erreurs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Service de Validation JWT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SupabaseJwtService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config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SupabaseJwtConfig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algorithm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Algorithm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HMAC256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config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jwtSecret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validateToken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token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Either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Throwable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AuthenticatedUser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Either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catch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verifier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JWT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require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algorithm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withIssuer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config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issuer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withAudience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config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audience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build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  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verifiedJwt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verifier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verify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token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extractUser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verifiedJwt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Plugin Ktor Personnalisé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JwtAuthenticationPlugin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jwtService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SupabaseJwtService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intercept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call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ApplicationCall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authHeader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call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request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header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"Authorization"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authHeader</a:t>
            </a:r>
            <a:r>
              <a:rPr>
                <a:solidFill>
                  <a:srgbClr val="666666"/>
                </a:solidFill>
                <a:latin typeface="Courier"/>
              </a:rPr>
              <a:t>?.</a:t>
            </a:r>
            <a:r>
              <a:rPr>
                <a:latin typeface="Courier"/>
              </a:rPr>
              <a:t>startsWith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"Bearer 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token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authHeader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removePrefix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"Bearer 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jwtService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validateToken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token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call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attributes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put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authenticatedUserKey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🎓 Compétences CDA-3.2 + CDA-3.3</a:t>
            </a:r>
            <a:r>
              <a:rPr/>
              <a:t> : Sécurité et développement sécurisé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Démonstration API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Test avec Postman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Créer un événement (POST /api/events)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"title"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"Course des Lumières 2025"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"description"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"Course nocturne de 10km"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"eventDate"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"2025-06-15T20:00:00Z"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"location"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"Lyon"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"distanceKm"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10.0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"maxParticipants"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500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Réponse 201 Created</a:t>
            </a:r>
            <a:r>
              <a:rPr/>
              <a:t> avec l’événement créé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GET /api/events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Réponse 200 OK</a:t>
            </a:r>
            <a:r>
              <a:rPr/>
              <a:t> :</a:t>
            </a:r>
          </a:p>
          <a:p>
            <a:pPr lvl="0" indent="0">
              <a:buNone/>
            </a:pPr>
            <a:r>
              <a:rPr>
                <a:solidFill>
                  <a:srgbClr val="007020"/>
                </a:solidFill>
                <a:latin typeface="Courier"/>
              </a:rPr>
              <a:t>[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"550e8400-e29b-41d4-a716-446655440000"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"title"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"Course des Lumières 2025"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"eventDate"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"2025-06-15T20:00:00Z"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"location"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"Lyon"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"distanceKm"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10.0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"maxParticipants"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500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"currentParticipants"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solidFill>
                  <a:srgbClr val="007020"/>
                </a:solidFill>
                <a:latin typeface="Courier"/>
              </a:rPr>
              <a:t>]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avec Authentification JWT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GET /api/events/550e8400-e29b-41d4-a716-446655440000
Authorization: Bearer eyJhbGciOiJIUzI1NiIsInR5cCI6IkpXVCJ9...</a:t>
            </a:r>
          </a:p>
          <a:p>
            <a:pPr lvl="0" indent="0" marL="0">
              <a:buNone/>
            </a:pPr>
            <a:r>
              <a:rPr b="1"/>
              <a:t>✅ Token valide</a:t>
            </a:r>
            <a:r>
              <a:rPr/>
              <a:t> → Accès autorisé</a:t>
            </a:r>
            <a:br/>
            <a:r>
              <a:rPr b="1"/>
              <a:t>❌ Token invalide</a:t>
            </a:r>
            <a:r>
              <a:rPr/>
              <a:t> → 401 Unauthorized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Sécurité OWASP Top 10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🔒 Mesures de Sécurité Implémentées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Vulnérabilité OWASP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Mesure Implémentée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A01 - Broken Access 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JWT + validation tokens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A02 - Cryptographic Failures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Variables d’environnement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A03 - Injection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Exposed ORM (requêtes paramétrées)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A04 - Insecure Design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Architecture hexagonale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A05 - Security Misconfiguration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 externalisée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A07 - ID &amp; Auth Failures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JWT avec signature HMAC256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A08 - Data Integrity Failures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Validation avec Arrow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A09 - Logging Failures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Logs structurés (SLF4J)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Score : 8/10 vulnérabilités traitées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Qualité du Code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🧪 Outils de Qualité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Detekt (Analyse statique)</a:t>
            </a:r>
          </a:p>
          <a:p>
            <a:pPr lvl="0"/>
            <a:r>
              <a:rPr/>
              <a:t>0 issues majeures</a:t>
            </a:r>
          </a:p>
          <a:p>
            <a:pPr lvl="0"/>
            <a:r>
              <a:rPr/>
              <a:t>0 code smells</a:t>
            </a:r>
          </a:p>
          <a:p>
            <a:pPr lvl="0"/>
            <a:r>
              <a:rPr/>
              <a:t>Respect des conventions Kotlin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Spotless (Formatage)</a:t>
            </a:r>
          </a:p>
          <a:p>
            <a:pPr lvl="0"/>
            <a:r>
              <a:rPr/>
              <a:t>Code formaté automatiquement</a:t>
            </a:r>
          </a:p>
          <a:p>
            <a:pPr lvl="0"/>
            <a:r>
              <a:rPr/>
              <a:t>Style cohérent dans tout le projet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Tests</a:t>
            </a:r>
          </a:p>
          <a:p>
            <a:pPr lvl="0"/>
            <a:r>
              <a:rPr/>
              <a:t>Tests unitaires des Use Cases</a:t>
            </a:r>
          </a:p>
          <a:p>
            <a:pPr lvl="0"/>
            <a:r>
              <a:rPr/>
              <a:t>Tests d’intégration des Repositories</a:t>
            </a:r>
          </a:p>
          <a:p>
            <a:pPr lvl="0"/>
            <a:r>
              <a:rPr/>
              <a:t>Tests des endpoints REST</a:t>
            </a:r>
          </a:p>
          <a:p>
            <a:pPr lvl="0" indent="0" marL="0">
              <a:buNone/>
            </a:pPr>
            <a:r>
              <a:rPr b="1"/>
              <a:t>Objectif : Couverture ≥ 80%</a:t>
            </a:r>
            <a:r>
              <a:rPr/>
              <a:t> (en cours)</a:t>
            </a:r>
          </a:p>
          <a:p>
            <a:pPr lvl="0" indent="0" marL="0">
              <a:buNone/>
            </a:pPr>
            <a:r>
              <a:rPr b="1"/>
              <a:t>🎓 Compétence CDA-2.2</a:t>
            </a:r>
            <a:r>
              <a:rPr/>
              <a:t> : Concevoir une application sécurisée et respecter les bonnes pratiques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DevOps et Déploiement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Pipeline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GitHub Actions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Deploy to Render</a:t>
            </a:r>
            <a:br/>
            <a:r>
              <a:rPr>
                <a:solidFill>
                  <a:srgbClr val="06287E"/>
                </a:solidFill>
                <a:latin typeface="Courier"/>
              </a:rPr>
              <a:t>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push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branches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7D9029"/>
                </a:solidFill>
                <a:latin typeface="Courier"/>
              </a:rPr>
              <a:t> main 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jobs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deploy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Checkout code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Build JAR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Build Docker image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Push to Docker Hub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Deploy on Render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Dockerfile Multi-Stage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Stage 1: Build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gradle:8-jdk17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builder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COPY</a:t>
            </a:r>
            <a:r>
              <a:rPr>
                <a:latin typeface="Courier"/>
              </a:rPr>
              <a:t> . /app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RUN</a:t>
            </a:r>
            <a:r>
              <a:rPr>
                <a:latin typeface="Courier"/>
              </a:rPr>
              <a:t> gradle clean build </a:t>
            </a:r>
            <a:r>
              <a:rPr>
                <a:solidFill>
                  <a:srgbClr val="7D9029"/>
                </a:solidFill>
                <a:latin typeface="Courier"/>
              </a:rPr>
              <a:t>--no-daemon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Stage 2: Runtime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openjdk:17-slim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COPY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--from=builder</a:t>
            </a:r>
            <a:r>
              <a:rPr>
                <a:latin typeface="Courier"/>
              </a:rPr>
              <a:t> /app/build/libs/*.jar app.jar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EXPOSE</a:t>
            </a:r>
            <a:r>
              <a:rPr>
                <a:latin typeface="Courier"/>
              </a:rPr>
              <a:t> 8080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ENTRYPOINT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"java"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"-jar"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"/app.jar"</a:t>
            </a:r>
            <a:r>
              <a:rPr>
                <a:latin typeface="Courier"/>
              </a:rPr>
              <a:t>]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Déploiement Render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URL Production</a:t>
            </a:r>
            <a:r>
              <a:rPr/>
              <a:t> : </a:t>
            </a:r>
            <a:r>
              <a:rPr>
                <a:latin typeface="Courier"/>
              </a:rPr>
              <a:t>https://happyrow-core.onrender.com</a:t>
            </a:r>
          </a:p>
          <a:p>
            <a:pPr lvl="0" indent="0" marL="0">
              <a:buNone/>
            </a:pPr>
            <a:r>
              <a:rPr b="1"/>
              <a:t>Configuration</a:t>
            </a:r>
            <a:r>
              <a:rPr/>
              <a:t> : - PostgreSQL managé - Variables d’environnement sécurisées - HTTPS automatique - Redémarrage automatique</a:t>
            </a:r>
          </a:p>
          <a:p>
            <a:pPr lvl="0" indent="0" marL="0">
              <a:buNone/>
            </a:pPr>
            <a:r>
              <a:rPr b="1"/>
              <a:t>🎓 Compétence CDA-3.1</a:t>
            </a:r>
            <a:r>
              <a:rPr/>
              <a:t> : Préparer et exécuter le déploiement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Bilan Personnel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🎓 Difficultés Rencontrées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Architecture hexagonale</a:t>
            </a:r>
            <a:r>
              <a:rPr/>
              <a:t> : Comprendre la séparation stricte des responsabilités</a:t>
            </a:r>
          </a:p>
          <a:p>
            <a:pPr lvl="0"/>
            <a:r>
              <a:rPr b="1"/>
              <a:t>Arrow Either</a:t>
            </a:r>
            <a:r>
              <a:rPr/>
              <a:t> : Nouvelle approche de gestion d’erreurs</a:t>
            </a:r>
          </a:p>
          <a:p>
            <a:pPr lvl="0"/>
            <a:r>
              <a:rPr b="1"/>
              <a:t>JWT avec Supabase</a:t>
            </a:r>
            <a:r>
              <a:rPr/>
              <a:t> : Intégration d’un service externe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💪 Compétences Acquises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Conception d’API REST robuste</a:t>
            </a:r>
          </a:p>
          <a:p>
            <a:pPr lvl="0"/>
            <a:r>
              <a:rPr/>
              <a:t>Programmation fonctionnelle avec Kotlin</a:t>
            </a:r>
          </a:p>
          <a:p>
            <a:pPr lvl="0"/>
            <a:r>
              <a:rPr/>
              <a:t>Sécurité des applications web</a:t>
            </a:r>
          </a:p>
          <a:p>
            <a:pPr lvl="0"/>
            <a:r>
              <a:rPr/>
              <a:t>DevOps et conteneurisation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 que j’ai Appris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Technique</a:t>
            </a:r>
            <a:r>
              <a:rPr/>
              <a:t> : - Architecture propre et maintenable - Gestion des erreurs typées - Authentification sécurisée - Tests automatisés</a:t>
            </a:r>
          </a:p>
          <a:p>
            <a:pPr lvl="0" indent="0" marL="0">
              <a:buNone/>
            </a:pPr>
            <a:r>
              <a:rPr b="1"/>
              <a:t>Méthodologie</a:t>
            </a:r>
            <a:r>
              <a:rPr/>
              <a:t> : - Approche itérative (MVP puis améliorations) - Documentation continue - Code review et qualité</a:t>
            </a:r>
          </a:p>
          <a:p>
            <a:pPr lvl="0" indent="0" marL="0">
              <a:buNone/>
            </a:pPr>
            <a:r>
              <a:rPr b="1"/>
              <a:t>🎓 9/9 Compétences CDA démontrées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Perspectives d’Évolution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🔮 Roadmap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Court terme (Q1-Q2 2025)</a:t>
            </a:r>
          </a:p>
          <a:p>
            <a:pPr lvl="0"/>
            <a:r>
              <a:rPr/>
              <a:t>🔄 Gestion des rôles (ADMIN, ORGANIZER, PARTICIPANT)</a:t>
            </a:r>
          </a:p>
          <a:p>
            <a:pPr lvl="0"/>
            <a:r>
              <a:rPr/>
              <a:t>🔄 Refresh tokens et révocation</a:t>
            </a:r>
          </a:p>
          <a:p>
            <a:pPr lvl="0"/>
            <a:r>
              <a:rPr/>
              <a:t>✅ Tests automatisés (≥ 80% couverture)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Moyen terme (2025)</a:t>
            </a:r>
          </a:p>
          <a:p>
            <a:pPr lvl="0"/>
            <a:r>
              <a:rPr/>
              <a:t>Frontend React + TypeScript</a:t>
            </a:r>
          </a:p>
          <a:p>
            <a:pPr lvl="0"/>
            <a:r>
              <a:rPr/>
              <a:t>Application mobile (React Native)</a:t>
            </a:r>
          </a:p>
          <a:p>
            <a:pPr lvl="0"/>
            <a:r>
              <a:rPr/>
              <a:t>Notifications push</a:t>
            </a:r>
          </a:p>
          <a:p>
            <a:pPr lvl="0"/>
            <a:r>
              <a:rPr/>
              <a:t>Monitoring et observabilité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Long terme (2026+)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Intelligence artificielle (suggestions d’événements)</a:t>
            </a:r>
          </a:p>
          <a:p>
            <a:pPr lvl="0"/>
            <a:r>
              <a:rPr/>
              <a:t>Intégration calendrier (Google, Outlook)</a:t>
            </a:r>
          </a:p>
          <a:p>
            <a:pPr lvl="0"/>
            <a:r>
              <a:rPr/>
              <a:t>Système de recommandations</a:t>
            </a:r>
          </a:p>
          <a:p>
            <a:pPr lvl="0"/>
            <a:r>
              <a:rPr/>
              <a:t>Analyse de données et statistiques avancées</a:t>
            </a:r>
          </a:p>
          <a:p>
            <a:pPr lvl="0" indent="0" marL="0">
              <a:buNone/>
            </a:pPr>
            <a:r>
              <a:rPr b="1"/>
              <a:t>Vision</a:t>
            </a:r>
            <a:r>
              <a:rPr/>
              <a:t> : Plateforme complète de gestion d’événements festifs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Merci pour votre Attention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🎓 Questions du Jury ?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</a:t>
            </a:r>
            <a:br/>
            <a:r>
              <a:rPr/>
              <a:t>📧 [votre.email@example.com]</a:t>
            </a:r>
            <a:br/>
            <a:r>
              <a:rPr/>
              <a:t>💻 [github.com/jimni6/happyrow-core]</a:t>
            </a:r>
            <a:br/>
            <a:r>
              <a:rPr/>
              <a:t>🌐 [happyrow-core.onrender.com]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Points à Approfondir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Architecture hexagonale</a:t>
            </a:r>
          </a:p>
          <a:p>
            <a:pPr lvl="0"/>
            <a:r>
              <a:rPr/>
              <a:t>JWT et sécurité</a:t>
            </a:r>
          </a:p>
          <a:p>
            <a:pPr lvl="0"/>
            <a:r>
              <a:rPr/>
              <a:t>Gestion des erreurs avec Arrow</a:t>
            </a:r>
          </a:p>
          <a:p>
            <a:pPr lvl="0"/>
            <a:r>
              <a:rPr/>
              <a:t>DevOps et déploiement</a:t>
            </a:r>
          </a:p>
          <a:p>
            <a:pPr lvl="0"/>
            <a:r>
              <a:rPr/>
              <a:t>Modèle de données SQL</a:t>
            </a:r>
          </a:p>
          <a:p>
            <a:pPr lvl="0"/>
            <a:r>
              <a:rPr/>
              <a:t>Tests et qualité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HappyRow Core - API Backend de Gestion d’Événements Festifs</dc:title>
  <dc:creator>[Votre Nom]</dc:creator>
  <cp:keywords/>
  <dcterms:created xsi:type="dcterms:W3CDTF">2026-01-07T09:53:56Z</dcterms:created>
  <dcterms:modified xsi:type="dcterms:W3CDTF">2026-01-07T09:53:56Z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[Date de soutenance]</vt:lpwstr>
  </property>
  <property fmtid="{D5CDD505-2E9C-101B-9397-08002B2CF9AE}" pid="3" name="subtitle">
    <vt:lpwstr>Soutenance CDA - Concepteur Développeur d’Applications</vt:lpwstr>
  </property>
</Properties>
</file>